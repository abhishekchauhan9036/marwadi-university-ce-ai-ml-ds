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8" r:id="rId14"/>
    <p:sldId id="271" r:id="rId15"/>
    <p:sldId id="272" r:id="rId16"/>
    <p:sldId id="274" r:id="rId17"/>
    <p:sldId id="275" r:id="rId18"/>
    <p:sldId id="276" r:id="rId19"/>
    <p:sldId id="277" r:id="rId20"/>
    <p:sldId id="25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17" autoAdjust="0"/>
    <p:restoredTop sz="94660"/>
  </p:normalViewPr>
  <p:slideViewPr>
    <p:cSldViewPr snapToGrid="0">
      <p:cViewPr varScale="1">
        <p:scale>
          <a:sx n="85" d="100"/>
          <a:sy n="85" d="100"/>
        </p:scale>
        <p:origin x="73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22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59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703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561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26-03-2025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65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26-03-2025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276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26-03-2025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29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87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97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684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38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3A372-BE42-451E-B14C-5FF9C6C0F46F}" type="datetimeFigureOut">
              <a:rPr lang="en-IN" smtClean="0"/>
              <a:pPr/>
              <a:t>26-03-2025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36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78275" y="196514"/>
            <a:ext cx="468852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Department of CSE-AI/ML</a:t>
            </a:r>
            <a:endParaRPr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9462AB-6293-2266-521E-D4C3D31A4D39}"/>
              </a:ext>
            </a:extLst>
          </p:cNvPr>
          <p:cNvSpPr txBox="1"/>
          <p:nvPr/>
        </p:nvSpPr>
        <p:spPr>
          <a:xfrm>
            <a:off x="1111927" y="2332153"/>
            <a:ext cx="451651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Design and Programming (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Proxima Nova"/>
              </a:rPr>
              <a:t>01AI0403)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7B1B34-8E78-E497-B2E4-6FCB104B2CE0}"/>
              </a:ext>
            </a:extLst>
          </p:cNvPr>
          <p:cNvSpPr txBox="1"/>
          <p:nvPr/>
        </p:nvSpPr>
        <p:spPr>
          <a:xfrm>
            <a:off x="322924" y="4569421"/>
            <a:ext cx="60945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Proxima Nova"/>
              </a:rPr>
              <a:t>Unit – 7</a:t>
            </a:r>
          </a:p>
          <a:p>
            <a:pPr lvl="0"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Polymorphism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118E72-6713-D678-B3E8-D02B06330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361" y="1837660"/>
            <a:ext cx="4584891" cy="429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187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472"/>
            <a:ext cx="67104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itchFamily="34" charset="0"/>
              </a:rPr>
              <a:t>Department of CSE-AI/ML</a:t>
            </a:r>
            <a:endParaRPr lang="en-IN" sz="2400" dirty="0">
              <a:latin typeface="Corbe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CB5EF1-B65F-39FD-E8F0-45A9A58A0896}"/>
              </a:ext>
            </a:extLst>
          </p:cNvPr>
          <p:cNvSpPr/>
          <p:nvPr/>
        </p:nvSpPr>
        <p:spPr>
          <a:xfrm>
            <a:off x="464149" y="1247268"/>
            <a:ext cx="11352179" cy="4890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Pointers in C++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05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Objects and Pointers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05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Virtual and Pure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irtual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unctions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05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run time polymorphism</a:t>
            </a:r>
            <a:endParaRPr kumimoji="0" lang="en-IN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342633"/>
      </p:ext>
    </p:extLst>
  </p:cSld>
  <p:clrMapOvr>
    <a:masterClrMapping/>
  </p:clrMapOvr>
  <p:transition>
    <p:pull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01C22-092C-A6E9-0E13-A634F6275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DBE5131A-A26E-C78B-1B2A-F6E3FB5DFB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8003" y="312472"/>
            <a:ext cx="67104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itchFamily="34" charset="0"/>
              </a:rPr>
              <a:t>Department of CSE-AI/ML</a:t>
            </a:r>
            <a:endParaRPr lang="en-IN" sz="2400" dirty="0">
              <a:latin typeface="Corbe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FDAA9E-6FBE-580C-7C1D-CBF128C089AB}"/>
              </a:ext>
            </a:extLst>
          </p:cNvPr>
          <p:cNvSpPr/>
          <p:nvPr/>
        </p:nvSpPr>
        <p:spPr>
          <a:xfrm>
            <a:off x="358588" y="1004046"/>
            <a:ext cx="11627223" cy="51341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Pointers in C++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C++ is a variable that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the memory address of another variable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Pointers allow dynamic memory allocation, efficient data manipulation, and faster execution of programs.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an object is created from its class, </a:t>
            </a:r>
            <a:r>
              <a:rPr lang="en-I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member variables and member functions are allocated memory spaces</a:t>
            </a:r>
            <a:r>
              <a:rPr lang="en-I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memory spaces have </a:t>
            </a:r>
            <a:r>
              <a:rPr lang="en-IN" sz="20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addresses.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Pointer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is a mechanism to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access these memory locations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using their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the name assigned to them.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Pointer is a variable which can hold the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address of a memory location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the value at the location. Consider the following statement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 num =84;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This statement instructs the compiler to reserve a 2-byte of memory location and puts the value 84 in that location.</a:t>
            </a:r>
            <a:endParaRPr kumimoji="0" lang="en-IN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638948"/>
      </p:ext>
    </p:extLst>
  </p:cSld>
  <p:clrMapOvr>
    <a:masterClrMapping/>
  </p:clrMapOvr>
  <p:transition>
    <p:pull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0B5E8F-B24E-5233-B707-FA9C9ED31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9045B07F-A562-32DA-8499-F5E7D455A2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8003" y="312472"/>
            <a:ext cx="67104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itchFamily="34" charset="0"/>
              </a:rPr>
              <a:t>Department of CSE-AI/ML</a:t>
            </a:r>
            <a:endParaRPr lang="en-IN" sz="2400" dirty="0">
              <a:latin typeface="Corbe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67CECB-75DE-7E3D-1A19-68FCAA5DE0F3}"/>
              </a:ext>
            </a:extLst>
          </p:cNvPr>
          <p:cNvSpPr/>
          <p:nvPr/>
        </p:nvSpPr>
        <p:spPr>
          <a:xfrm>
            <a:off x="419910" y="1247268"/>
            <a:ext cx="11352179" cy="4890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Pointers in C++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Assume that the compiler allocates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memory location 1001 to num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Diagrammatically, the allocation can be shown as: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IN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IN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As the memory addresses are themselves numbers, they can be assigned to some other variable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For example: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be the variable to hold the address of variable num.</a:t>
            </a:r>
            <a:endParaRPr kumimoji="0" lang="en-IN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F8E43C-7808-90CD-B163-A900905D8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325" y="3103638"/>
            <a:ext cx="5237825" cy="117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238964"/>
      </p:ext>
    </p:extLst>
  </p:cSld>
  <p:clrMapOvr>
    <a:masterClrMapping/>
  </p:clrMapOvr>
  <p:transition>
    <p:pull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9D4FBB-E8B9-F03E-BB2C-8D502C8BB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FEC6AF9B-2266-50D4-41D3-705AC523EB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8003" y="312472"/>
            <a:ext cx="67104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itchFamily="34" charset="0"/>
              </a:rPr>
              <a:t>Department of CSE-AI/ML</a:t>
            </a:r>
            <a:endParaRPr lang="en-IN" sz="2400" dirty="0">
              <a:latin typeface="Corbe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64579B-6F08-91F0-E50D-3B56B4F5C39C}"/>
              </a:ext>
            </a:extLst>
          </p:cNvPr>
          <p:cNvSpPr/>
          <p:nvPr/>
        </p:nvSpPr>
        <p:spPr>
          <a:xfrm>
            <a:off x="464149" y="1247268"/>
            <a:ext cx="11352179" cy="4890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Pointers in C++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Thus, we can access the value of </a:t>
            </a:r>
            <a:r>
              <a:rPr kumimoji="0" lang="en-I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num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by the variable </a:t>
            </a:r>
            <a:r>
              <a:rPr kumimoji="0" lang="en-I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ptr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. We can say “</a:t>
            </a:r>
            <a:r>
              <a:rPr kumimoji="0" lang="en-I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ptr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points to </a:t>
            </a:r>
            <a:r>
              <a:rPr kumimoji="0" lang="en-I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num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” as shown in the figure below.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C9044A-865B-52D0-0DBC-4B77F3F46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6175" y="3295788"/>
            <a:ext cx="4500978" cy="178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47073"/>
      </p:ext>
    </p:extLst>
  </p:cSld>
  <p:clrMapOvr>
    <a:masterClrMapping/>
  </p:clrMapOvr>
  <p:transition>
    <p:pull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FF032-AB1E-BCE3-22C5-7593F19E4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B73B68EA-3A25-0946-97FB-3D99EBD1EC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8003" y="312472"/>
            <a:ext cx="67104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itchFamily="34" charset="0"/>
              </a:rPr>
              <a:t>Department of CSE-AI/ML</a:t>
            </a:r>
            <a:endParaRPr lang="en-IN" sz="2400" dirty="0">
              <a:latin typeface="Corbe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929884-FD65-1BCE-42F7-BD79EB075614}"/>
              </a:ext>
            </a:extLst>
          </p:cNvPr>
          <p:cNvSpPr/>
          <p:nvPr/>
        </p:nvSpPr>
        <p:spPr>
          <a:xfrm>
            <a:off x="295835" y="1075765"/>
            <a:ext cx="11520493" cy="56925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Pointers to Objects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object of a class behaves </a:t>
            </a:r>
            <a:r>
              <a:rPr lang="en-IN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identically as any other variable.</a:t>
            </a:r>
            <a:r>
              <a:rPr lang="en-IN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Just as pointers can be defined in case of base C++ variables so </a:t>
            </a:r>
            <a:r>
              <a:rPr lang="en-IN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 pointers can be defined for an object type</a:t>
            </a:r>
            <a:r>
              <a:rPr lang="en-IN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create a pointer variable from class:</a:t>
            </a:r>
          </a:p>
          <a:p>
            <a:pPr marL="714375" lvl="2" indent="95250" algn="just"/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marL="714375" lvl="2" indent="95250" algn="just"/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 marL="714375" lvl="2" indent="95250" algn="just"/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Employee { </a:t>
            </a:r>
          </a:p>
          <a:p>
            <a:pPr marL="714375" lvl="2" indent="95250" algn="just"/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int code; </a:t>
            </a:r>
          </a:p>
          <a:p>
            <a:pPr marL="714375" lvl="2" indent="95250" algn="just"/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string name; </a:t>
            </a:r>
          </a:p>
          <a:p>
            <a:pPr marL="714375" lvl="2" indent="95250" algn="just"/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public: </a:t>
            </a:r>
          </a:p>
          <a:p>
            <a:pPr marL="714375" lvl="2" indent="95250" algn="just"/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IN" sz="16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setData</a:t>
            </a:r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(int c, string n) { </a:t>
            </a:r>
          </a:p>
          <a:p>
            <a:pPr marL="714375" lvl="2" indent="95250" algn="just"/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code = c; </a:t>
            </a:r>
          </a:p>
          <a:p>
            <a:pPr marL="714375" lvl="2" indent="95250" algn="just"/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name = n; </a:t>
            </a:r>
          </a:p>
          <a:p>
            <a:pPr marL="714375" lvl="2" indent="95250" algn="just"/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714375" lvl="2" indent="95250" algn="just"/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void display() { </a:t>
            </a:r>
          </a:p>
          <a:p>
            <a:pPr marL="714375" lvl="2" indent="95250" algn="just"/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&lt;&lt; "Employee Code: " &lt;&lt; code &lt;&lt; </a:t>
            </a:r>
            <a:r>
              <a:rPr lang="en-IN" sz="16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714375" lvl="2" indent="95250" algn="just"/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&lt;&lt; "Employee Name: " &lt;&lt; name &lt;&lt; </a:t>
            </a:r>
            <a:r>
              <a:rPr lang="en-IN" sz="16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714375" lvl="2" indent="95250" algn="just"/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 </a:t>
            </a:r>
          </a:p>
          <a:p>
            <a:pPr marL="714375" lvl="2" indent="95250" algn="just"/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3C1711-B4B6-847E-A198-78C865014F53}"/>
              </a:ext>
            </a:extLst>
          </p:cNvPr>
          <p:cNvSpPr/>
          <p:nvPr/>
        </p:nvSpPr>
        <p:spPr>
          <a:xfrm>
            <a:off x="5692587" y="2940424"/>
            <a:ext cx="6276139" cy="3757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14375" lvl="2" indent="95250" algn="just"/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marL="714375" lvl="2" indent="95250" algn="just"/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Employee e1; </a:t>
            </a:r>
          </a:p>
          <a:p>
            <a:pPr marL="714375" lvl="2" indent="95250" algn="just"/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*</a:t>
            </a:r>
            <a:r>
              <a:rPr lang="en-IN" sz="16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    </a:t>
            </a:r>
            <a:r>
              <a:rPr lang="en-IN" sz="16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Pointer to Employee class</a:t>
            </a:r>
          </a:p>
          <a:p>
            <a:pPr marL="714375" lvl="2" indent="95250" algn="just"/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&amp;e1;          </a:t>
            </a:r>
            <a:r>
              <a:rPr lang="en-IN" sz="16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Assign address of e1 to pointer</a:t>
            </a:r>
          </a:p>
          <a:p>
            <a:pPr marL="714375" lvl="2" indent="95250" algn="just"/>
            <a:r>
              <a:rPr lang="en-IN" sz="16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714375" lvl="2" indent="95250" algn="just"/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Using pointer to call member function</a:t>
            </a:r>
          </a:p>
          <a:p>
            <a:pPr marL="714375" lvl="2" indent="95250" algn="just"/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IN" sz="16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setData</a:t>
            </a:r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(101, "John Doe"); </a:t>
            </a:r>
          </a:p>
          <a:p>
            <a:pPr marL="714375" lvl="2" indent="95250" algn="just"/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-&gt;display();     </a:t>
            </a:r>
            <a:r>
              <a:rPr lang="en-IN" sz="16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‘-&gt;’ Member Access Operator</a:t>
            </a:r>
          </a:p>
          <a:p>
            <a:pPr marL="714375" lvl="2" indent="95250" algn="just"/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marL="714375" lvl="2" indent="95250" algn="just"/>
            <a:r>
              <a:rPr lang="en-IN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8730051"/>
      </p:ext>
    </p:extLst>
  </p:cSld>
  <p:clrMapOvr>
    <a:masterClrMapping/>
  </p:clrMapOvr>
  <p:transition>
    <p:pull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FB23C7-5E71-31EA-8F00-B8B214755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8583BE9E-BE86-CAB6-45AD-30B4BA3B1D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8003" y="312472"/>
            <a:ext cx="67104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itchFamily="34" charset="0"/>
              </a:rPr>
              <a:t>Department of CSE-AI/ML</a:t>
            </a:r>
            <a:endParaRPr lang="en-IN" sz="2400" dirty="0">
              <a:latin typeface="Corbe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F0F7A9-5F7D-1C5E-195A-BA1B63286B32}"/>
              </a:ext>
            </a:extLst>
          </p:cNvPr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Pointers to Objects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codes is written: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employee *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This declaration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creates a pointer variable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that can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point to any object of employee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type.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Access members</a:t>
            </a:r>
            <a:r>
              <a:rPr kumimoji="0" lang="en-I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'-&gt;'</a:t>
            </a:r>
          </a:p>
        </p:txBody>
      </p:sp>
    </p:spTree>
    <p:extLst>
      <p:ext uri="{BB962C8B-B14F-4D97-AF65-F5344CB8AC3E}">
        <p14:creationId xmlns:p14="http://schemas.microsoft.com/office/powerpoint/2010/main" val="1917888666"/>
      </p:ext>
    </p:extLst>
  </p:cSld>
  <p:clrMapOvr>
    <a:masterClrMapping/>
  </p:clrMapOvr>
  <p:transition>
    <p:pull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28D12C-A634-7C5F-3ACE-D50C45E47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81C521CE-D04A-7FED-074B-5B03E22FBF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8003" y="312472"/>
            <a:ext cx="67104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itchFamily="34" charset="0"/>
              </a:rPr>
              <a:t>Department of CSE-AI/ML</a:t>
            </a:r>
            <a:endParaRPr lang="en-IN" sz="2400" dirty="0">
              <a:latin typeface="Corbe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FC7015-D266-C127-66D9-5541904C073F}"/>
              </a:ext>
            </a:extLst>
          </p:cNvPr>
          <p:cNvSpPr/>
          <p:nvPr/>
        </p:nvSpPr>
        <p:spPr>
          <a:xfrm>
            <a:off x="488003" y="1066800"/>
            <a:ext cx="11328325" cy="51386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this Pointer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C++ uses a unique keyword called "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" to represent an object that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invokes a member function.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This pointer is used to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return the address of the current object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distinguish b/w data member from local member(arguments) when both are declared with same name.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'this' is a pointer that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points to the object for which this function was called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IN" sz="2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886260"/>
      </p:ext>
    </p:extLst>
  </p:cSld>
  <p:clrMapOvr>
    <a:masterClrMapping/>
  </p:clrMapOvr>
  <p:transition>
    <p:pull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7C1539-BCAE-6E4D-096D-CE563590C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4E02FBFB-4342-FDF9-03F1-300A4C39CC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8003" y="312472"/>
            <a:ext cx="67104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itchFamily="34" charset="0"/>
              </a:rPr>
              <a:t>Department of CSE-AI/ML</a:t>
            </a:r>
            <a:endParaRPr lang="en-IN" sz="2400" dirty="0">
              <a:latin typeface="Corbe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E30516-A3CB-FA19-C208-A79A26AA57FF}"/>
              </a:ext>
            </a:extLst>
          </p:cNvPr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this Pointer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6575" marR="0" lvl="2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6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536575" marR="0" lvl="2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6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536575" marR="0" lvl="2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class ABC</a:t>
            </a:r>
          </a:p>
          <a:p>
            <a:pPr marL="536575" marR="0" lvl="2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{</a:t>
            </a:r>
          </a:p>
          <a:p>
            <a:pPr marL="536575" marR="0" lvl="2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private:</a:t>
            </a:r>
          </a:p>
          <a:p>
            <a:pPr marL="536575" marR="0" lvl="2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int a ;</a:t>
            </a:r>
          </a:p>
          <a:p>
            <a:pPr marL="536575" marR="0" lvl="2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-----</a:t>
            </a:r>
          </a:p>
          <a:p>
            <a:pPr marL="536575" marR="0" lvl="2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};</a:t>
            </a:r>
          </a:p>
          <a:p>
            <a:pPr marL="536575" marR="0" lvl="2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285750" marR="0" lvl="0" indent="-28575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The private variable ‘a’ can be used directly inside a member function, like</a:t>
            </a:r>
          </a:p>
          <a:p>
            <a:pPr marR="0" lvl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	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a=123;</a:t>
            </a:r>
          </a:p>
          <a:p>
            <a:pPr marL="285750" marR="0" lvl="0" indent="-28575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We can also use the following statement to do the same job.</a:t>
            </a:r>
          </a:p>
          <a:p>
            <a:pPr marR="0" lvl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	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this -&gt; a = 123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460705"/>
      </p:ext>
    </p:extLst>
  </p:cSld>
  <p:clrMapOvr>
    <a:masterClrMapping/>
  </p:clrMapOvr>
  <p:transition>
    <p:pull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2C108E-74AF-A2E4-D7B8-45BFF705E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A1916856-CD88-0123-34CB-1F2483A746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8003" y="312472"/>
            <a:ext cx="67104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itchFamily="34" charset="0"/>
              </a:rPr>
              <a:t>Department of CSE-AI/ML</a:t>
            </a:r>
            <a:endParaRPr lang="en-IN" sz="2400" dirty="0">
              <a:latin typeface="Corbe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5B362D-9651-6448-B423-A7E1C5E7DAB5}"/>
              </a:ext>
            </a:extLst>
          </p:cNvPr>
          <p:cNvSpPr/>
          <p:nvPr/>
        </p:nvSpPr>
        <p:spPr>
          <a:xfrm>
            <a:off x="358588" y="1093694"/>
            <a:ext cx="11443870" cy="55386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this Pointer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endParaRPr lang="en-US" sz="1600" b="0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6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 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int a; 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public: 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void set(int a) 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 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160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a;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1600" b="0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void show() 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 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&lt;&lt; "a value is: " &lt;&lt; a &lt;&lt; </a:t>
            </a:r>
            <a:r>
              <a:rPr lang="en-US" sz="1600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 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 </a:t>
            </a:r>
          </a:p>
          <a:p>
            <a:endParaRPr lang="en-US" sz="1600" b="0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7188" lvl="1"/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945CEA-BDF4-C720-05DB-548FF740F60C}"/>
              </a:ext>
            </a:extLst>
          </p:cNvPr>
          <p:cNvSpPr txBox="1"/>
          <p:nvPr/>
        </p:nvSpPr>
        <p:spPr>
          <a:xfrm>
            <a:off x="4966448" y="1828800"/>
            <a:ext cx="722555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main() 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stud S1, S2; 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S1.set(5);  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S1.show();  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S2.set(10); 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S2.show();  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600" b="0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566593"/>
      </p:ext>
    </p:extLst>
  </p:cSld>
  <p:clrMapOvr>
    <a:masterClrMapping/>
  </p:clrMapOvr>
  <p:transition>
    <p:pull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0E18DF-7FD0-F394-9495-3FE1CC20A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A4053DCB-BD08-6EC2-3576-730DDA0470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8003" y="312472"/>
            <a:ext cx="67104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itchFamily="34" charset="0"/>
              </a:rPr>
              <a:t>Department of CSE-AI/ML</a:t>
            </a:r>
            <a:endParaRPr lang="en-IN" sz="2400" dirty="0">
              <a:latin typeface="Corbe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3CF5CB-41A3-C070-6B5A-E1949FE43446}"/>
              </a:ext>
            </a:extLst>
          </p:cNvPr>
          <p:cNvSpPr/>
          <p:nvPr/>
        </p:nvSpPr>
        <p:spPr>
          <a:xfrm>
            <a:off x="367553" y="1030941"/>
            <a:ext cx="11448775" cy="56992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Polymorphism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800" b="1" i="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i="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Compile Time Polymorphism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Overloading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 Overloading</a:t>
            </a:r>
          </a:p>
          <a:p>
            <a:pPr marL="342900" indent="-342900">
              <a:lnSpc>
                <a:spcPct val="150000"/>
              </a:lnSpc>
              <a:buAutoNum type="arabicPeriod" startAt="2"/>
            </a:pPr>
            <a:r>
              <a:rPr lang="en-US" sz="2000" b="1" i="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 Time Polymorphism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overriding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refers to the process of creating a new definition of a function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derived class 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is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already defined inside its base class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Some rules that must be followed while overriding a method are: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names must be the same.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parameters must be the same.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lang="en-US" sz="2000" b="0" i="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Achieve </a:t>
            </a:r>
            <a:r>
              <a:rPr lang="en-US" sz="2000" b="0" i="0" u="sng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 time polymorphism</a:t>
            </a:r>
            <a:r>
              <a:rPr lang="en-US" sz="2000" b="0" i="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we will use </a:t>
            </a:r>
            <a:r>
              <a:rPr lang="en-US" sz="20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function</a:t>
            </a:r>
            <a:r>
              <a:rPr lang="en-US" sz="2000" b="0" i="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I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181771"/>
      </p:ext>
    </p:extLst>
  </p:cSld>
  <p:clrMapOvr>
    <a:masterClrMapping/>
  </p:clrMapOvr>
  <p:transition>
    <p:pull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BA8251-4B03-5C9F-0D51-62FD27C6D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63612386-2336-A2C9-5CA5-B91FD4F848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8003" y="312472"/>
            <a:ext cx="67104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itchFamily="34" charset="0"/>
              </a:rPr>
              <a:t>Department of CSE-AI/ML</a:t>
            </a:r>
            <a:endParaRPr lang="en-IN" sz="2400" dirty="0">
              <a:latin typeface="Corbe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608E8B-C29D-7276-DF29-F3F25C472141}"/>
              </a:ext>
            </a:extLst>
          </p:cNvPr>
          <p:cNvSpPr/>
          <p:nvPr/>
        </p:nvSpPr>
        <p:spPr>
          <a:xfrm>
            <a:off x="340659" y="1048871"/>
            <a:ext cx="11475669" cy="56813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Run-time Polymorphism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Run-time polymorphism in C++ is achieved through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overriding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where a function in a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derived class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the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name and parameters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a function in the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class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but with a different implementation. This allows the program to determine which function to call at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instead of compile time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functions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you want </a:t>
            </a:r>
            <a:r>
              <a:rPr lang="en-US" sz="2400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optional</a:t>
            </a:r>
            <a:r>
              <a:rPr lang="en-US" sz="2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overriding.</a:t>
            </a:r>
          </a:p>
          <a:p>
            <a:pPr marL="457200" marR="0" lvl="0" indent="-4572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pure virtual functions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you </a:t>
            </a:r>
            <a:r>
              <a:rPr lang="en-US" sz="2400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want to enforce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overriding in derived classes.</a:t>
            </a:r>
          </a:p>
        </p:txBody>
      </p:sp>
    </p:spTree>
    <p:extLst>
      <p:ext uri="{BB962C8B-B14F-4D97-AF65-F5344CB8AC3E}">
        <p14:creationId xmlns:p14="http://schemas.microsoft.com/office/powerpoint/2010/main" val="784386665"/>
      </p:ext>
    </p:extLst>
  </p:cSld>
  <p:clrMapOvr>
    <a:masterClrMapping/>
  </p:clrMapOvr>
  <p:transition>
    <p:pull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24D78-E1E0-BBB3-CA66-66AAB0A05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3AFB2D11-C212-1E12-A357-F05566FB3E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8003" y="312472"/>
            <a:ext cx="67104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itchFamily="34" charset="0"/>
              </a:rPr>
              <a:t>Department of CSE-AI/ML</a:t>
            </a:r>
            <a:endParaRPr lang="en-IN" sz="2400" dirty="0">
              <a:latin typeface="Corbe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C1B5B7-2CB1-3084-EED0-35CB1ED40E6C}"/>
              </a:ext>
            </a:extLst>
          </p:cNvPr>
          <p:cNvSpPr/>
          <p:nvPr/>
        </p:nvSpPr>
        <p:spPr>
          <a:xfrm>
            <a:off x="340659" y="1048871"/>
            <a:ext cx="11475669" cy="56813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Virtual functions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virtual function 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(also known as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virtual methods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 is a member function that is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declared within a base class 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and is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re-defined (over-ridden)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by a derived class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When you refer to a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derived class object using a pointer or a reference to the base class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you can call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virtual function 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for that object and execute the derived class version of the method.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Virtual functions ensure that the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correct function 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is called for an 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object,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regardless of the type of reference (or pointer) used for the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function call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They are mainly used to achieve </a:t>
            </a:r>
            <a:r>
              <a:rPr kumimoji="0" lang="en-US" sz="22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Runtime polymorphism.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Functions are declared with a 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virtual 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keyword in a 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base class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resolving of a function call is done at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IN" sz="2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766254"/>
      </p:ext>
    </p:extLst>
  </p:cSld>
  <p:clrMapOvr>
    <a:masterClrMapping/>
  </p:clrMapOvr>
  <p:transition>
    <p:pull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5AEE44-6F6F-AA68-98F1-DF81ED291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59988A51-F370-5BD0-F862-C2F5AA79AC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8003" y="312472"/>
            <a:ext cx="67104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itchFamily="34" charset="0"/>
              </a:rPr>
              <a:t>Department of CSE-AI/ML</a:t>
            </a:r>
            <a:endParaRPr lang="en-IN" sz="2400" dirty="0">
              <a:latin typeface="Corbe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67F69A-8C0E-9328-19CD-1B552F0DD09D}"/>
              </a:ext>
            </a:extLst>
          </p:cNvPr>
          <p:cNvSpPr/>
          <p:nvPr/>
        </p:nvSpPr>
        <p:spPr>
          <a:xfrm>
            <a:off x="488003" y="1039905"/>
            <a:ext cx="11328325" cy="56723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Virtual functions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lvl="1">
              <a:lnSpc>
                <a:spcPct val="150000"/>
              </a:lnSpc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use_defined_name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lvl="1">
              <a:lnSpc>
                <a:spcPct val="150000"/>
              </a:lnSpc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</a:p>
          <a:p>
            <a:pPr lvl="1">
              <a:lnSpc>
                <a:spcPct val="150000"/>
              </a:lnSpc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lvl="1">
              <a:lnSpc>
                <a:spcPct val="150000"/>
              </a:lnSpc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virtual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return_type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function_name1 (arguments);</a:t>
            </a:r>
          </a:p>
          <a:p>
            <a:pPr lvl="1">
              <a:lnSpc>
                <a:spcPct val="150000"/>
              </a:lnSpc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------------------</a:t>
            </a:r>
          </a:p>
          <a:p>
            <a:pPr lvl="1">
              <a:lnSpc>
                <a:spcPct val="150000"/>
              </a:lnSpc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kumimoji="0" lang="en-IN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766208"/>
      </p:ext>
    </p:extLst>
  </p:cSld>
  <p:clrMapOvr>
    <a:masterClrMapping/>
  </p:clrMapOvr>
  <p:transition>
    <p:pull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E4C159-784A-AA53-0D00-EDE063740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9D420790-568A-94DD-3B2C-1929246758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8003" y="312472"/>
            <a:ext cx="67104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itchFamily="34" charset="0"/>
              </a:rPr>
              <a:t>Department of CSE-AI/ML</a:t>
            </a:r>
            <a:endParaRPr lang="en-IN" sz="2400" dirty="0">
              <a:latin typeface="Corbe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7FD9CA-733F-BB42-F80B-D80BAA307AAF}"/>
              </a:ext>
            </a:extLst>
          </p:cNvPr>
          <p:cNvSpPr/>
          <p:nvPr/>
        </p:nvSpPr>
        <p:spPr>
          <a:xfrm>
            <a:off x="349625" y="1066800"/>
            <a:ext cx="11466704" cy="56633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Virtual functions - Example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#include &lt;iostream&gt;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using namespace std;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class </a:t>
            </a: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Add 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// Base class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{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public: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virtual void print()  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// Virtual function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{ 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    int a = 20, b = 30;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    </a:t>
            </a:r>
            <a:r>
              <a:rPr kumimoji="0" lang="en-I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cout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&lt;&lt; "Base class Action: " &lt;&lt; a + b &lt;&lt; </a:t>
            </a:r>
            <a:r>
              <a:rPr kumimoji="0" lang="en-I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endl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;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}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void show()  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// Non-virtual function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{ 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    </a:t>
            </a:r>
            <a:r>
              <a:rPr kumimoji="0" lang="en-I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cout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&lt;&lt; "Show base class" &lt;&lt; </a:t>
            </a:r>
            <a:r>
              <a:rPr kumimoji="0" lang="en-I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endl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; 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}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};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class </a:t>
            </a: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Sub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: public Add  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// Derived class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{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public: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void print() override  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// Overriding virtual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A433A3-BA89-3632-6D44-A7AD3F74D48E}"/>
              </a:ext>
            </a:extLst>
          </p:cNvPr>
          <p:cNvSpPr txBox="1"/>
          <p:nvPr/>
        </p:nvSpPr>
        <p:spPr>
          <a:xfrm>
            <a:off x="5916706" y="1066800"/>
            <a:ext cx="6032638" cy="4742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{ 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    int x = 20, y = 10;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    </a:t>
            </a:r>
            <a:r>
              <a:rPr kumimoji="0" lang="en-I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cout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&lt;&lt; "Derived class Action: " &lt;&lt; x - y &lt;&lt; </a:t>
            </a:r>
            <a:r>
              <a:rPr kumimoji="0" lang="en-I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endl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; 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}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void show()  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// Overriding non-virtual function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{ 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    </a:t>
            </a:r>
            <a:r>
              <a:rPr kumimoji="0" lang="en-I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cout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&lt;&lt; "Show derived class" &lt;&lt; </a:t>
            </a:r>
            <a:r>
              <a:rPr kumimoji="0" lang="en-I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endl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;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}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};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int main()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{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Add* </a:t>
            </a:r>
            <a:r>
              <a:rPr kumimoji="0" lang="en-I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aptr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; 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// Base class pointer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Sub s;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</a:t>
            </a:r>
            <a:r>
              <a:rPr kumimoji="0" lang="en-I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aptr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= &amp;s;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</a:t>
            </a:r>
            <a:r>
              <a:rPr kumimoji="0" lang="en-I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aptr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-&gt;print();  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// Calls Derived class function (dynamic binding)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</a:t>
            </a:r>
            <a:r>
              <a:rPr kumimoji="0" lang="en-I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aptr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-&gt;show();   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// Calls Base class function (static binding)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return 0;</a:t>
            </a:r>
          </a:p>
          <a:p>
            <a:pPr marL="0" marR="0" lvl="0" indent="0" algn="l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257043-2C1B-D661-0524-C48ACD6588CC}"/>
              </a:ext>
            </a:extLst>
          </p:cNvPr>
          <p:cNvSpPr txBox="1"/>
          <p:nvPr/>
        </p:nvSpPr>
        <p:spPr>
          <a:xfrm>
            <a:off x="6024283" y="5809125"/>
            <a:ext cx="273423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70C0"/>
                </a:solidFill>
              </a:rPr>
              <a:t>Output:</a:t>
            </a:r>
          </a:p>
          <a:p>
            <a:r>
              <a:rPr lang="en-IN" sz="1600" dirty="0"/>
              <a:t>Derived class Action:10</a:t>
            </a:r>
          </a:p>
          <a:p>
            <a:r>
              <a:rPr lang="en-IN" sz="1600" dirty="0"/>
              <a:t>Show base class</a:t>
            </a:r>
          </a:p>
        </p:txBody>
      </p:sp>
    </p:spTree>
    <p:extLst>
      <p:ext uri="{BB962C8B-B14F-4D97-AF65-F5344CB8AC3E}">
        <p14:creationId xmlns:p14="http://schemas.microsoft.com/office/powerpoint/2010/main" val="1892830750"/>
      </p:ext>
    </p:extLst>
  </p:cSld>
  <p:clrMapOvr>
    <a:masterClrMapping/>
  </p:clrMapOvr>
  <p:transition>
    <p:pull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AEF593-5058-C763-E2F9-CE4999865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4DFC1E22-4EA6-CBB5-5DCA-7EBB58ABC5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8003" y="312472"/>
            <a:ext cx="67104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itchFamily="34" charset="0"/>
              </a:rPr>
              <a:t>Department of CSE-AI/ML</a:t>
            </a:r>
            <a:endParaRPr lang="en-IN" sz="2400" dirty="0">
              <a:latin typeface="Corbe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253B6B-FDE2-B1FA-5698-FA3245D26727}"/>
              </a:ext>
            </a:extLst>
          </p:cNvPr>
          <p:cNvSpPr/>
          <p:nvPr/>
        </p:nvSpPr>
        <p:spPr>
          <a:xfrm>
            <a:off x="367553" y="995082"/>
            <a:ext cx="11448775" cy="51457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Rules for Virtual Functions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functions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cannot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static.</a:t>
            </a:r>
          </a:p>
          <a:p>
            <a:pPr marL="342900" indent="-342900"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virtual function can be a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friend function 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another class.</a:t>
            </a:r>
          </a:p>
          <a:p>
            <a:pPr marL="342900" indent="-342900"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functions should be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accessed using a pointer or reference of base class type 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achieve </a:t>
            </a:r>
            <a:r>
              <a:rPr lang="en-US" sz="2000" b="0" i="0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runtime polymorphism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prototype of virtual functions should be the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same in the base as well as the derived class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are always </a:t>
            </a:r>
            <a:r>
              <a:rPr lang="en-US" sz="20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defined in the base class and overridden in a derived class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It is not mandatory for the derived class to override (or re-define the virtual function), in that case, the base class version of the function is used.</a:t>
            </a:r>
          </a:p>
          <a:p>
            <a:pPr marL="342900" indent="-342900"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class may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destructor 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but it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cannot have 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virtual constructor.</a:t>
            </a: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200348"/>
      </p:ext>
    </p:extLst>
  </p:cSld>
  <p:clrMapOvr>
    <a:masterClrMapping/>
  </p:clrMapOvr>
  <p:transition>
    <p:pull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E3252-D588-D664-3096-294259291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791A47BB-B4AE-E9E7-8134-8E39828C60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8003" y="312472"/>
            <a:ext cx="67104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itchFamily="34" charset="0"/>
              </a:rPr>
              <a:t>Department of CSE-AI/ML</a:t>
            </a:r>
            <a:endParaRPr lang="en-IN" sz="2400" dirty="0">
              <a:latin typeface="Corbe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D18BE9-2853-CF0C-5A9C-8D69C3A8CB09}"/>
              </a:ext>
            </a:extLst>
          </p:cNvPr>
          <p:cNvSpPr/>
          <p:nvPr/>
        </p:nvSpPr>
        <p:spPr>
          <a:xfrm>
            <a:off x="464149" y="1247268"/>
            <a:ext cx="11352179" cy="54829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Pure Virtual functions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When the function has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no definition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we call such functions as:</a:t>
            </a:r>
          </a:p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“Do-nothing function or Pure virtual function”. 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declaration of this function happens in the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base class with no definition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IN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328698"/>
      </p:ext>
    </p:extLst>
  </p:cSld>
  <p:clrMapOvr>
    <a:masterClrMapping/>
  </p:clrMapOvr>
  <p:transition>
    <p:pull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AA587B-A521-E956-3F48-2B9C8D43C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F9E868AB-790C-B6F6-52FD-2EDCFE87C7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8003" y="312472"/>
            <a:ext cx="67104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itchFamily="34" charset="0"/>
              </a:rPr>
              <a:t>Department of CSE-AI/ML</a:t>
            </a:r>
            <a:endParaRPr lang="en-IN" sz="2400" dirty="0">
              <a:latin typeface="Corbe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1E9138-B738-6351-5660-110040E970E9}"/>
              </a:ext>
            </a:extLst>
          </p:cNvPr>
          <p:cNvSpPr/>
          <p:nvPr/>
        </p:nvSpPr>
        <p:spPr>
          <a:xfrm>
            <a:off x="394447" y="986118"/>
            <a:ext cx="11421881" cy="57440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Pure Virtual function - Example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class Person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public: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virtual void show() = 0;  </a:t>
            </a: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//Pure virtual function declaration</a:t>
            </a:r>
            <a:endParaRPr kumimoji="0" lang="en-IN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class Man: public Person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public: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void show()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IN" sz="1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&lt;&lt; "Man is also person " &lt;&lt; </a:t>
            </a:r>
            <a:r>
              <a:rPr kumimoji="0" lang="en-IN" sz="1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000F53-FE0E-A993-64C0-DF209B0E7D28}"/>
              </a:ext>
            </a:extLst>
          </p:cNvPr>
          <p:cNvSpPr txBox="1"/>
          <p:nvPr/>
        </p:nvSpPr>
        <p:spPr>
          <a:xfrm>
            <a:off x="7679984" y="1803517"/>
            <a:ext cx="46411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D72AF-DBDB-E5A3-1535-9C1DFBB0F686}"/>
              </a:ext>
            </a:extLst>
          </p:cNvPr>
          <p:cNvSpPr txBox="1"/>
          <p:nvPr/>
        </p:nvSpPr>
        <p:spPr>
          <a:xfrm>
            <a:off x="6176681" y="1631577"/>
            <a:ext cx="572844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Person *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aptr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//Base class pointer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Man m;  </a:t>
            </a:r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//derived class object creation.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aptr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&amp;m;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aptr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-&gt;show();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934636"/>
      </p:ext>
    </p:extLst>
  </p:cSld>
  <p:clrMapOvr>
    <a:masterClrMapping/>
  </p:clrMapOvr>
  <p:transition>
    <p:pull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D12B25-A1B5-5D95-6D98-DC8B6E9F0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FE3748F1-AC48-ACF0-BC18-13B8766ECF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8003" y="312472"/>
            <a:ext cx="67104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itchFamily="34" charset="0"/>
              </a:rPr>
              <a:t>Department of CSE-AI/ML</a:t>
            </a:r>
            <a:endParaRPr lang="en-IN" sz="2400" dirty="0">
              <a:latin typeface="Corbe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0BBE3B-13D6-1B0F-14F5-ACD5F977BF24}"/>
              </a:ext>
            </a:extLst>
          </p:cNvPr>
          <p:cNvSpPr/>
          <p:nvPr/>
        </p:nvSpPr>
        <p:spPr>
          <a:xfrm>
            <a:off x="349639" y="1810871"/>
            <a:ext cx="5638784" cy="49193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Run-time Polymorphism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Run time is the time period where the executable code is running.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Errors can be detected only 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the execution of the program.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Errors that occur during the execution of a program are called 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run-time errors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Run time errors aren’t detected by the compiler.</a:t>
            </a:r>
            <a:endParaRPr kumimoji="0" lang="en-IN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44FAD6-99B5-32EF-1594-88F67E4608AA}"/>
              </a:ext>
            </a:extLst>
          </p:cNvPr>
          <p:cNvSpPr/>
          <p:nvPr/>
        </p:nvSpPr>
        <p:spPr>
          <a:xfrm>
            <a:off x="5988423" y="1810870"/>
            <a:ext cx="5980307" cy="50717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2400" b="1" i="0" u="none" strike="noStrike" baseline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ompile-time Polymorphism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Compile time is the time period where the code typed is converted into executable code.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Errors are detected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the execution of the program.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Errors that occur during compile time are called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compile-time errors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Two types of compile-time errors area)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Semantics error occurs when the statements aren’t meaningful to the compiler.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Syntax error occurs when the programmer doesn’t follow the syntax.</a:t>
            </a:r>
            <a:endParaRPr kumimoji="0" lang="en-I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1F0D9A2-27BE-2DF4-76F8-586C54C4A741}"/>
              </a:ext>
            </a:extLst>
          </p:cNvPr>
          <p:cNvCxnSpPr>
            <a:cxnSpLocks/>
          </p:cNvCxnSpPr>
          <p:nvPr/>
        </p:nvCxnSpPr>
        <p:spPr>
          <a:xfrm>
            <a:off x="5988424" y="1810871"/>
            <a:ext cx="0" cy="49193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25A32E4-CEC5-6E58-0144-4CE83DB12FFA}"/>
              </a:ext>
            </a:extLst>
          </p:cNvPr>
          <p:cNvSpPr/>
          <p:nvPr/>
        </p:nvSpPr>
        <p:spPr>
          <a:xfrm>
            <a:off x="349637" y="1084729"/>
            <a:ext cx="11466692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run-time and compile-time Polymorphism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837134"/>
      </p:ext>
    </p:extLst>
  </p:cSld>
  <p:clrMapOvr>
    <a:masterClrMapping/>
  </p:clrMapOvr>
  <p:transition>
    <p:pull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57284"/>
      </p:ext>
    </p:extLst>
  </p:cSld>
  <p:clrMapOvr>
    <a:masterClrMapping/>
  </p:clrMapOvr>
  <p:transition>
    <p:pull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1738</Words>
  <Application>Microsoft Office PowerPoint</Application>
  <PresentationFormat>Widescreen</PresentationFormat>
  <Paragraphs>263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Corbel</vt:lpstr>
      <vt:lpstr>Times New Roman</vt:lpstr>
      <vt:lpstr>Wingdings</vt:lpstr>
      <vt:lpstr>Office Theme</vt:lpstr>
      <vt:lpstr>Department of CSE-AI/ML</vt:lpstr>
      <vt:lpstr>Department of CSE-AI/ML</vt:lpstr>
      <vt:lpstr>Department of CSE-AI/ML</vt:lpstr>
      <vt:lpstr>Department of CSE-AI/ML</vt:lpstr>
      <vt:lpstr>Department of CSE-AI/ML</vt:lpstr>
      <vt:lpstr>Department of CSE-AI/ML</vt:lpstr>
      <vt:lpstr>Department of CSE-AI/ML</vt:lpstr>
      <vt:lpstr>Department of CSE-AI/ML</vt:lpstr>
      <vt:lpstr>Department of CSE-AI/ML</vt:lpstr>
      <vt:lpstr>Department of CSE-AI/ML</vt:lpstr>
      <vt:lpstr>Department of CSE-AI/ML</vt:lpstr>
      <vt:lpstr>Department of CSE-AI/ML</vt:lpstr>
      <vt:lpstr>Department of CSE-AI/ML</vt:lpstr>
      <vt:lpstr>Department of CSE-AI/ML</vt:lpstr>
      <vt:lpstr>Department of CSE-AI/ML</vt:lpstr>
      <vt:lpstr>Department of CSE-AI/ML</vt:lpstr>
      <vt:lpstr>Department of CSE-AI/ML</vt:lpstr>
      <vt:lpstr>Department of CSE-AI/ML</vt:lpstr>
      <vt:lpstr>Department of CSE-AI/ML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Ayush Gour</cp:lastModifiedBy>
  <cp:revision>58</cp:revision>
  <dcterms:created xsi:type="dcterms:W3CDTF">2023-12-05T07:58:57Z</dcterms:created>
  <dcterms:modified xsi:type="dcterms:W3CDTF">2025-03-26T11:18:40Z</dcterms:modified>
</cp:coreProperties>
</file>
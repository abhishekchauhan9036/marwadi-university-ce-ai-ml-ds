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7" r:id="rId2"/>
    <p:sldId id="260" r:id="rId3"/>
    <p:sldId id="261" r:id="rId4"/>
    <p:sldId id="280" r:id="rId5"/>
    <p:sldId id="262" r:id="rId6"/>
    <p:sldId id="281" r:id="rId7"/>
    <p:sldId id="282" r:id="rId8"/>
    <p:sldId id="283" r:id="rId9"/>
    <p:sldId id="263" r:id="rId10"/>
    <p:sldId id="284" r:id="rId11"/>
    <p:sldId id="264" r:id="rId12"/>
    <p:sldId id="285" r:id="rId13"/>
    <p:sldId id="286" r:id="rId14"/>
    <p:sldId id="313" r:id="rId15"/>
    <p:sldId id="287" r:id="rId16"/>
    <p:sldId id="265" r:id="rId17"/>
    <p:sldId id="267" r:id="rId18"/>
    <p:sldId id="288" r:id="rId19"/>
    <p:sldId id="289" r:id="rId20"/>
    <p:sldId id="290" r:id="rId21"/>
    <p:sldId id="291" r:id="rId22"/>
    <p:sldId id="299" r:id="rId23"/>
    <p:sldId id="300" r:id="rId24"/>
    <p:sldId id="301" r:id="rId25"/>
    <p:sldId id="302" r:id="rId26"/>
    <p:sldId id="303" r:id="rId27"/>
    <p:sldId id="304" r:id="rId28"/>
    <p:sldId id="307" r:id="rId29"/>
    <p:sldId id="308" r:id="rId30"/>
    <p:sldId id="305" r:id="rId31"/>
    <p:sldId id="306" r:id="rId32"/>
    <p:sldId id="309" r:id="rId33"/>
    <p:sldId id="310" r:id="rId34"/>
    <p:sldId id="311" r:id="rId35"/>
    <p:sldId id="312" r:id="rId36"/>
    <p:sldId id="258" r:id="rId3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67"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114" autoAdjust="0"/>
    <p:restoredTop sz="94660"/>
  </p:normalViewPr>
  <p:slideViewPr>
    <p:cSldViewPr snapToGrid="0" showGuides="1">
      <p:cViewPr varScale="1">
        <p:scale>
          <a:sx n="85" d="100"/>
          <a:sy n="85" d="100"/>
        </p:scale>
        <p:origin x="677" y="62"/>
      </p:cViewPr>
      <p:guideLst>
        <p:guide orient="horz" pos="2160"/>
        <p:guide pos="3867"/>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10B3A372-BE42-451E-B14C-5FF9C6C0F46F}" type="datetimeFigureOut">
              <a:rPr lang="en-IN" smtClean="0"/>
              <a:t>08-04-2025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1B8729A-A80B-48B4-A1F8-161E6CCF1013}" type="slidenum">
              <a:rPr lang="en-IN" smtClean="0"/>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10B3A372-BE42-451E-B14C-5FF9C6C0F46F}" type="datetimeFigureOut">
              <a:rPr lang="en-IN" smtClean="0"/>
              <a:t>08-04-2025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1B8729A-A80B-48B4-A1F8-161E6CCF1013}" type="slidenum">
              <a:rPr lang="en-IN" smtClean="0"/>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10B3A372-BE42-451E-B14C-5FF9C6C0F46F}" type="datetimeFigureOut">
              <a:rPr lang="en-IN" smtClean="0"/>
              <a:t>08-04-2025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1B8729A-A80B-48B4-A1F8-161E6CCF1013}" type="slidenum">
              <a:rPr lang="en-IN" smtClean="0"/>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10B3A372-BE42-451E-B14C-5FF9C6C0F46F}" type="datetimeFigureOut">
              <a:rPr lang="en-IN" smtClean="0"/>
              <a:t>08-04-2025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1B8729A-A80B-48B4-A1F8-161E6CCF1013}" type="slidenum">
              <a:rPr lang="en-IN" smtClean="0"/>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10B3A372-BE42-451E-B14C-5FF9C6C0F46F}" type="datetimeFigureOut">
              <a:rPr lang="en-IN" smtClean="0"/>
              <a:t>08-04-2025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61B8729A-A80B-48B4-A1F8-161E6CCF1013}" type="slidenum">
              <a:rPr lang="en-IN" smtClean="0"/>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10B3A372-BE42-451E-B14C-5FF9C6C0F46F}" type="datetimeFigureOut">
              <a:rPr lang="en-IN" smtClean="0"/>
              <a:t>08-04-2025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61B8729A-A80B-48B4-A1F8-161E6CCF1013}" type="slidenum">
              <a:rPr lang="en-IN" smtClean="0"/>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0B3A372-BE42-451E-B14C-5FF9C6C0F46F}" type="datetimeFigureOut">
              <a:rPr lang="en-IN" smtClean="0"/>
              <a:t>08-04-2025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61B8729A-A80B-48B4-A1F8-161E6CCF1013}" type="slidenum">
              <a:rPr lang="en-IN" smtClean="0"/>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10B3A372-BE42-451E-B14C-5FF9C6C0F46F}" type="datetimeFigureOut">
              <a:rPr lang="en-IN" smtClean="0"/>
              <a:t>08-04-2025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1B8729A-A80B-48B4-A1F8-161E6CCF1013}" type="slidenum">
              <a:rPr lang="en-IN" smtClean="0"/>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10B3A372-BE42-451E-B14C-5FF9C6C0F46F}" type="datetimeFigureOut">
              <a:rPr lang="en-IN" smtClean="0"/>
              <a:t>08-04-2025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1B8729A-A80B-48B4-A1F8-161E6CCF1013}" type="slidenum">
              <a:rPr lang="en-IN" smtClean="0"/>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10B3A372-BE42-451E-B14C-5FF9C6C0F46F}" type="datetimeFigureOut">
              <a:rPr lang="en-IN" smtClean="0"/>
              <a:t>08-04-2025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1B8729A-A80B-48B4-A1F8-161E6CCF1013}" type="slidenum">
              <a:rPr lang="en-IN" smtClean="0"/>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10B3A372-BE42-451E-B14C-5FF9C6C0F46F}" type="datetimeFigureOut">
              <a:rPr lang="en-IN" smtClean="0"/>
              <a:t>08-04-2025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1B8729A-A80B-48B4-A1F8-161E6CCF1013}" type="slidenum">
              <a:rPr lang="en-IN" smtClean="0"/>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0B3A372-BE42-451E-B14C-5FF9C6C0F46F}" type="datetimeFigureOut">
              <a:rPr lang="en-IN" smtClean="0"/>
              <a:t>08-04-2025</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1B8729A-A80B-48B4-A1F8-161E6CCF1013}" type="slidenum">
              <a:rPr lang="en-IN" smtClean="0"/>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3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3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object 3"/>
          <p:cNvSpPr txBox="1">
            <a:spLocks noGrp="1"/>
          </p:cNvSpPr>
          <p:nvPr>
            <p:ph type="title"/>
          </p:nvPr>
        </p:nvSpPr>
        <p:spPr>
          <a:xfrm>
            <a:off x="478155" y="196850"/>
            <a:ext cx="6080760" cy="381635"/>
          </a:xfrm>
          <a:prstGeom prst="rect">
            <a:avLst/>
          </a:prstGeom>
        </p:spPr>
        <p:txBody>
          <a:bodyPr vert="horz" wrap="square" lIns="0" tIns="12700" rIns="0" bIns="0" rtlCol="0">
            <a:spAutoFit/>
          </a:bodyPr>
          <a:lstStyle/>
          <a:p>
            <a:pPr marL="12700">
              <a:lnSpc>
                <a:spcPct val="100000"/>
              </a:lnSpc>
              <a:spcBef>
                <a:spcPts val="100"/>
              </a:spcBef>
            </a:pPr>
            <a:r>
              <a:rPr lang="en-US" sz="2400" dirty="0">
                <a:solidFill>
                  <a:srgbClr val="04A2B9"/>
                </a:solidFill>
                <a:latin typeface="Corbel" panose="020B0503020204020204" pitchFamily="34" charset="0"/>
              </a:rPr>
              <a:t>Department of </a:t>
            </a:r>
            <a:r>
              <a:rPr lang="en-US" sz="2400" dirty="0">
                <a:solidFill>
                  <a:srgbClr val="04A2B9"/>
                </a:solidFill>
                <a:latin typeface="Corbel" panose="020B0503020204020204" pitchFamily="34" charset="0"/>
                <a:sym typeface="+mn-ea"/>
              </a:rPr>
              <a:t>Computer Engineering</a:t>
            </a:r>
            <a:r>
              <a:rPr lang="en-US" sz="2400" dirty="0">
                <a:solidFill>
                  <a:srgbClr val="04A2B9"/>
                </a:solidFill>
                <a:latin typeface="Corbel" panose="020B0503020204020204" pitchFamily="34" charset="0"/>
              </a:rPr>
              <a:t> </a:t>
            </a:r>
            <a:endParaRPr sz="2400" dirty="0"/>
          </a:p>
        </p:txBody>
      </p:sp>
      <p:sp>
        <p:nvSpPr>
          <p:cNvPr id="17" name="TextBox 16"/>
          <p:cNvSpPr txBox="1"/>
          <p:nvPr/>
        </p:nvSpPr>
        <p:spPr>
          <a:xfrm>
            <a:off x="1111927" y="2332153"/>
            <a:ext cx="4516515" cy="1569660"/>
          </a:xfrm>
          <a:prstGeom prst="rect">
            <a:avLst/>
          </a:prstGeom>
          <a:noFill/>
        </p:spPr>
        <p:txBody>
          <a:bodyPr wrap="square">
            <a:spAutoFit/>
          </a:bodyPr>
          <a:lstStyle/>
          <a:p>
            <a:pPr algn="ctr"/>
            <a:r>
              <a:rPr lang="en-US" sz="3200" b="1" dirty="0">
                <a:latin typeface="Times New Roman" panose="02020603050405020304" pitchFamily="18" charset="0"/>
                <a:cs typeface="Times New Roman" panose="02020603050405020304" pitchFamily="18" charset="0"/>
              </a:rPr>
              <a:t>Object Oriented Design and Programming (</a:t>
            </a:r>
            <a:r>
              <a:rPr lang="en-IN" sz="3200" b="1" dirty="0">
                <a:latin typeface="Times New Roman" panose="02020603050405020304" pitchFamily="18" charset="0"/>
                <a:cs typeface="Times New Roman" panose="02020603050405020304" pitchFamily="18" charset="0"/>
                <a:sym typeface="Proxima Nova"/>
              </a:rPr>
              <a:t>01AI0403)</a:t>
            </a:r>
            <a:endParaRPr lang="en-IN" sz="3200" dirty="0">
              <a:latin typeface="Times New Roman" panose="02020603050405020304" pitchFamily="18" charset="0"/>
              <a:cs typeface="Times New Roman" panose="02020603050405020304" pitchFamily="18" charset="0"/>
            </a:endParaRPr>
          </a:p>
        </p:txBody>
      </p:sp>
      <p:sp>
        <p:nvSpPr>
          <p:cNvPr id="19" name="TextBox 18"/>
          <p:cNvSpPr txBox="1"/>
          <p:nvPr/>
        </p:nvSpPr>
        <p:spPr>
          <a:xfrm>
            <a:off x="322924" y="4569421"/>
            <a:ext cx="6094520" cy="1077218"/>
          </a:xfrm>
          <a:prstGeom prst="rect">
            <a:avLst/>
          </a:prstGeom>
          <a:noFill/>
        </p:spPr>
        <p:txBody>
          <a:bodyPr wrap="square">
            <a:spAutoFit/>
          </a:bodyPr>
          <a:lstStyle/>
          <a:p>
            <a:pPr lvl="0" algn="ctr"/>
            <a:r>
              <a:rPr lang="en-US" sz="3200" b="1" dirty="0">
                <a:latin typeface="Times New Roman" panose="02020603050405020304" pitchFamily="18" charset="0"/>
                <a:cs typeface="Times New Roman" panose="02020603050405020304" pitchFamily="18" charset="0"/>
                <a:sym typeface="Proxima Nova"/>
              </a:rPr>
              <a:t>Unit – 9</a:t>
            </a:r>
          </a:p>
          <a:p>
            <a:pPr lvl="0" algn="ctr"/>
            <a:r>
              <a:rPr lang="en-US" altLang="en-US" sz="3200" b="1" dirty="0">
                <a:latin typeface="Times New Roman" panose="02020603050405020304" pitchFamily="18" charset="0"/>
                <a:cs typeface="Times New Roman" panose="02020603050405020304" pitchFamily="18" charset="0"/>
              </a:rPr>
              <a:t>Templates &amp; Exception Handling</a:t>
            </a:r>
          </a:p>
        </p:txBody>
      </p:sp>
      <p:pic>
        <p:nvPicPr>
          <p:cNvPr id="20" name="Picture 19"/>
          <p:cNvPicPr>
            <a:picLocks noChangeAspect="1"/>
          </p:cNvPicPr>
          <p:nvPr/>
        </p:nvPicPr>
        <p:blipFill>
          <a:blip r:embed="rId3"/>
          <a:stretch>
            <a:fillRect/>
          </a:stretch>
        </p:blipFill>
        <p:spPr>
          <a:xfrm>
            <a:off x="6645361" y="1837660"/>
            <a:ext cx="4584891" cy="429681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object 3"/>
          <p:cNvSpPr txBox="1">
            <a:spLocks noGrp="1"/>
          </p:cNvSpPr>
          <p:nvPr>
            <p:ph type="title"/>
          </p:nvPr>
        </p:nvSpPr>
        <p:spPr>
          <a:xfrm>
            <a:off x="488003" y="312733"/>
            <a:ext cx="6710465" cy="381635"/>
          </a:xfrm>
          <a:prstGeom prst="rect">
            <a:avLst/>
          </a:prstGeom>
        </p:spPr>
        <p:txBody>
          <a:bodyPr vert="horz" wrap="square" lIns="0" tIns="12700" rIns="0" bIns="0" rtlCol="0">
            <a:spAutoFit/>
          </a:bodyPr>
          <a:lstStyle/>
          <a:p>
            <a:pPr marL="12700">
              <a:lnSpc>
                <a:spcPct val="100000"/>
              </a:lnSpc>
              <a:spcBef>
                <a:spcPts val="100"/>
              </a:spcBef>
            </a:pPr>
            <a:r>
              <a:rPr lang="en-US" sz="2400" dirty="0">
                <a:solidFill>
                  <a:srgbClr val="04A2B9"/>
                </a:solidFill>
                <a:latin typeface="Corbel" panose="020B0503020204020204" pitchFamily="34" charset="0"/>
              </a:rPr>
              <a:t>Department of Computer Engineering</a:t>
            </a:r>
            <a:endParaRPr lang="en-IN" sz="2400" dirty="0">
              <a:latin typeface="Corbel" panose="020B0503020204020204" pitchFamily="34" charset="0"/>
            </a:endParaRPr>
          </a:p>
        </p:txBody>
      </p:sp>
      <p:sp>
        <p:nvSpPr>
          <p:cNvPr id="8" name="Rectangle 7"/>
          <p:cNvSpPr/>
          <p:nvPr/>
        </p:nvSpPr>
        <p:spPr>
          <a:xfrm>
            <a:off x="464149" y="1247268"/>
            <a:ext cx="11352179" cy="489088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IN" sz="20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OUTLINE</a:t>
            </a:r>
          </a:p>
          <a:p>
            <a:pPr marL="0" marR="0" lvl="0" indent="0" algn="l" defTabSz="914400" rtl="0" eaLnBrk="1" fontAlgn="auto" latinLnBrk="0" hangingPunct="1">
              <a:lnSpc>
                <a:spcPct val="100000"/>
              </a:lnSpc>
              <a:spcBef>
                <a:spcPts val="0"/>
              </a:spcBef>
              <a:spcAft>
                <a:spcPts val="0"/>
              </a:spcAft>
              <a:buClrTx/>
              <a:buSzTx/>
              <a:buFontTx/>
              <a:buNone/>
              <a:defRPr/>
            </a:pPr>
            <a:r>
              <a:rPr kumimoji="0" lang="en-IN" sz="20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a:t>
            </a:r>
          </a:p>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Ø"/>
              <a:defRPr/>
            </a:pPr>
            <a:r>
              <a:rPr kumimoji="0" lang="en-US" altLang="en-US" sz="20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What is template? </a:t>
            </a:r>
          </a:p>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Ø"/>
              <a:defRPr/>
            </a:pPr>
            <a:r>
              <a:rPr kumimoji="0" lang="en-US" altLang="en-US" sz="20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Function templates and class templates </a:t>
            </a:r>
          </a:p>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Ø"/>
              <a:defRPr/>
            </a:pPr>
            <a:r>
              <a:rPr kumimoji="0" lang="en-US" altLang="en-US" sz="20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Overloading Template Functions</a:t>
            </a:r>
          </a:p>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Ø"/>
              <a:defRPr/>
            </a:pPr>
            <a:r>
              <a:rPr kumimoji="0" lang="en-US" altLang="en-US" sz="20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Introduction to Exception Handling </a:t>
            </a:r>
          </a:p>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Ø"/>
              <a:defRPr/>
            </a:pPr>
            <a:r>
              <a:rPr kumimoji="0" lang="en-US" altLang="en-US" sz="20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try-catch throw</a:t>
            </a:r>
          </a:p>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Ø"/>
              <a:defRPr/>
            </a:pPr>
            <a:r>
              <a:rPr kumimoji="0" lang="en-US" altLang="en-US" sz="20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Multiple catch</a:t>
            </a:r>
          </a:p>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Ø"/>
              <a:defRPr/>
            </a:pPr>
            <a:r>
              <a:rPr kumimoji="0" lang="en-US" altLang="en-US" sz="20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catch all</a:t>
            </a:r>
          </a:p>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Ø"/>
              <a:defRPr/>
            </a:pPr>
            <a:r>
              <a:rPr kumimoji="0" lang="en-US" altLang="en-US" sz="20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Re-throwing Exception</a:t>
            </a:r>
          </a:p>
        </p:txBody>
      </p:sp>
    </p:spTree>
  </p:cSld>
  <p:clrMapOvr>
    <a:masterClrMapping/>
  </p:clrMapOvr>
  <p:transition>
    <p:pull dir="d"/>
  </p:transition>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object 3"/>
          <p:cNvSpPr txBox="1">
            <a:spLocks noGrp="1"/>
          </p:cNvSpPr>
          <p:nvPr>
            <p:ph type="title"/>
          </p:nvPr>
        </p:nvSpPr>
        <p:spPr>
          <a:xfrm>
            <a:off x="488003" y="312733"/>
            <a:ext cx="6710465" cy="381635"/>
          </a:xfrm>
          <a:prstGeom prst="rect">
            <a:avLst/>
          </a:prstGeom>
        </p:spPr>
        <p:txBody>
          <a:bodyPr vert="horz" wrap="square" lIns="0" tIns="12700" rIns="0" bIns="0" rtlCol="0">
            <a:spAutoFit/>
          </a:bodyPr>
          <a:lstStyle/>
          <a:p>
            <a:pPr marL="12700">
              <a:lnSpc>
                <a:spcPct val="100000"/>
              </a:lnSpc>
              <a:spcBef>
                <a:spcPts val="100"/>
              </a:spcBef>
            </a:pPr>
            <a:r>
              <a:rPr lang="en-US" sz="2400" dirty="0">
                <a:solidFill>
                  <a:srgbClr val="04A2B9"/>
                </a:solidFill>
                <a:latin typeface="Corbel" panose="020B0503020204020204" pitchFamily="34" charset="0"/>
              </a:rPr>
              <a:t>Department of Computer Engineering</a:t>
            </a:r>
            <a:endParaRPr lang="en-IN" sz="2400" dirty="0">
              <a:latin typeface="Corbel" panose="020B0503020204020204" pitchFamily="34" charset="0"/>
            </a:endParaRPr>
          </a:p>
        </p:txBody>
      </p:sp>
      <p:sp>
        <p:nvSpPr>
          <p:cNvPr id="8" name="Rectangle 7"/>
          <p:cNvSpPr/>
          <p:nvPr/>
        </p:nvSpPr>
        <p:spPr>
          <a:xfrm>
            <a:off x="464149" y="1247268"/>
            <a:ext cx="11352179" cy="489088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just" defTabSz="914400" rtl="0" eaLnBrk="1" fontAlgn="auto" latinLnBrk="0" hangingPunct="1">
              <a:lnSpc>
                <a:spcPct val="100000"/>
              </a:lnSpc>
              <a:spcBef>
                <a:spcPts val="0"/>
              </a:spcBef>
              <a:spcAft>
                <a:spcPts val="0"/>
              </a:spcAft>
              <a:buClrTx/>
              <a:buSzTx/>
              <a:buFontTx/>
              <a:buNone/>
              <a:defRPr/>
            </a:pPr>
            <a:r>
              <a:rPr kumimoji="0" lang="en-US" altLang="en-US" sz="32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What is template?</a:t>
            </a:r>
          </a:p>
          <a:p>
            <a:pPr marL="0" marR="0" lvl="0" indent="0" algn="just" defTabSz="914400" rtl="0" eaLnBrk="1" fontAlgn="auto" latinLnBrk="0" hangingPunct="1">
              <a:lnSpc>
                <a:spcPct val="100000"/>
              </a:lnSpc>
              <a:spcBef>
                <a:spcPts val="0"/>
              </a:spcBef>
              <a:spcAft>
                <a:spcPts val="0"/>
              </a:spcAft>
              <a:buClrTx/>
              <a:buSzTx/>
              <a:buFontTx/>
              <a:buNone/>
              <a:defRPr/>
            </a:pPr>
            <a:r>
              <a:rPr kumimoji="0" lang="en-IN" sz="24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a:t>
            </a:r>
            <a:endParaRPr kumimoji="0" lang="en-US" altLang="en-US" sz="24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a:p>
            <a:pPr marL="342900" marR="0" lvl="0" indent="-342900" algn="just"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en-US" altLang="en-US" sz="24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C++ templates are a powerful feature of the C++ programming language that </a:t>
            </a:r>
            <a:r>
              <a:rPr kumimoji="0" lang="en-US" altLang="en-US" sz="24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allows for generic programming </a:t>
            </a:r>
            <a:r>
              <a:rPr kumimoji="0" lang="en-US" altLang="en-US" sz="2400" i="0" u="none" strike="noStrike" kern="1200" cap="none" spc="0" normalizeH="0" baseline="0" noProof="0" dirty="0">
                <a:ln>
                  <a:noFill/>
                </a:ln>
                <a:solidFill>
                  <a:srgbClr val="FF0000"/>
                </a:solidFill>
                <a:effectLst/>
                <a:uLnTx/>
                <a:uFillTx/>
                <a:latin typeface="Times New Roman" panose="02020603050405020304" pitchFamily="18" charset="0"/>
                <a:cs typeface="Times New Roman" panose="02020603050405020304" pitchFamily="18" charset="0"/>
              </a:rPr>
              <a:t>(Supports any type of datatypes). </a:t>
            </a:r>
          </a:p>
          <a:p>
            <a:pPr marL="342900" marR="0" lvl="0" indent="-342900" algn="just"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en-US" altLang="en-US" sz="24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Templates provide a way to define </a:t>
            </a:r>
            <a:r>
              <a:rPr kumimoji="0" lang="en-US" altLang="en-US" sz="24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generic classes or functions </a:t>
            </a:r>
            <a:r>
              <a:rPr kumimoji="0" lang="en-US" altLang="en-US" sz="24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that can work with different data types without sacrificing </a:t>
            </a:r>
            <a:r>
              <a:rPr kumimoji="0" lang="en-US" altLang="en-US" sz="2400" i="0" strike="noStrike" kern="1200" cap="none" spc="0" normalizeH="0" baseline="0" noProof="0" dirty="0">
                <a:ln>
                  <a:noFill/>
                </a:ln>
                <a:solidFill>
                  <a:srgbClr val="FF0000"/>
                </a:solidFill>
                <a:effectLst/>
                <a:uLnTx/>
                <a:uFillTx/>
                <a:latin typeface="Times New Roman" panose="02020603050405020304" pitchFamily="18" charset="0"/>
                <a:cs typeface="Times New Roman" panose="02020603050405020304" pitchFamily="18" charset="0"/>
              </a:rPr>
              <a:t>type safety or performance</a:t>
            </a:r>
            <a:r>
              <a:rPr kumimoji="0" lang="en-US" altLang="en-US" sz="24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a:t>
            </a:r>
          </a:p>
          <a:p>
            <a:pPr marL="342900" marR="0" lvl="0" indent="-342900" algn="just"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en-US" altLang="en-US" sz="24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Templates allow you to define </a:t>
            </a:r>
            <a:r>
              <a:rPr kumimoji="0" lang="en-US" altLang="en-US" sz="2400" i="0" u="sng"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parameterized types or functions</a:t>
            </a:r>
            <a:r>
              <a:rPr kumimoji="0" lang="en-US" altLang="en-US" sz="24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where </a:t>
            </a:r>
            <a:r>
              <a:rPr kumimoji="0" lang="en-US" altLang="en-US" sz="24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one or more types can be specified as parameters</a:t>
            </a:r>
            <a:r>
              <a:rPr kumimoji="0" lang="en-US" altLang="en-US" sz="24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a:t>
            </a:r>
          </a:p>
          <a:p>
            <a:pPr marL="342900" marR="0" lvl="0" indent="-342900" algn="just"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en-US" altLang="en-US" sz="24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These parameters can be used to define </a:t>
            </a:r>
            <a:r>
              <a:rPr kumimoji="0" lang="en-US" altLang="en-US" sz="24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variables, classes, or functions </a:t>
            </a:r>
            <a:r>
              <a:rPr kumimoji="0" lang="en-US" altLang="en-US" sz="24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that can work with any type specified when using the template.</a:t>
            </a:r>
          </a:p>
        </p:txBody>
      </p:sp>
    </p:spTree>
  </p:cSld>
  <p:clrMapOvr>
    <a:masterClrMapping/>
  </p:clrMapOvr>
  <p:transition>
    <p:pull dir="d"/>
  </p:transition>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object 3"/>
          <p:cNvSpPr txBox="1">
            <a:spLocks noGrp="1"/>
          </p:cNvSpPr>
          <p:nvPr>
            <p:ph type="title"/>
          </p:nvPr>
        </p:nvSpPr>
        <p:spPr>
          <a:xfrm>
            <a:off x="488003" y="312733"/>
            <a:ext cx="6710465" cy="381635"/>
          </a:xfrm>
          <a:prstGeom prst="rect">
            <a:avLst/>
          </a:prstGeom>
        </p:spPr>
        <p:txBody>
          <a:bodyPr vert="horz" wrap="square" lIns="0" tIns="12700" rIns="0" bIns="0" rtlCol="0">
            <a:spAutoFit/>
          </a:bodyPr>
          <a:lstStyle/>
          <a:p>
            <a:pPr marL="12700">
              <a:lnSpc>
                <a:spcPct val="100000"/>
              </a:lnSpc>
              <a:spcBef>
                <a:spcPts val="100"/>
              </a:spcBef>
            </a:pPr>
            <a:r>
              <a:rPr lang="en-US" sz="2400" dirty="0">
                <a:solidFill>
                  <a:srgbClr val="04A2B9"/>
                </a:solidFill>
                <a:latin typeface="Corbel" panose="020B0503020204020204" pitchFamily="34" charset="0"/>
              </a:rPr>
              <a:t>Department of Computer Engineering</a:t>
            </a:r>
            <a:endParaRPr lang="en-IN" sz="2400" dirty="0">
              <a:latin typeface="Corbel" panose="020B0503020204020204" pitchFamily="34" charset="0"/>
            </a:endParaRPr>
          </a:p>
        </p:txBody>
      </p:sp>
      <p:sp>
        <p:nvSpPr>
          <p:cNvPr id="8" name="Rectangle 7"/>
          <p:cNvSpPr/>
          <p:nvPr/>
        </p:nvSpPr>
        <p:spPr>
          <a:xfrm>
            <a:off x="488003" y="1247268"/>
            <a:ext cx="11328325" cy="328887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just" defTabSz="914400" rtl="0" eaLnBrk="1" fontAlgn="auto" latinLnBrk="0" hangingPunct="1">
              <a:lnSpc>
                <a:spcPct val="100000"/>
              </a:lnSpc>
              <a:spcBef>
                <a:spcPts val="0"/>
              </a:spcBef>
              <a:spcAft>
                <a:spcPts val="0"/>
              </a:spcAft>
              <a:buClrTx/>
              <a:buSzTx/>
              <a:buFontTx/>
              <a:buNone/>
              <a:defRPr/>
            </a:pPr>
            <a:r>
              <a:rPr kumimoji="0" lang="en-US" altLang="en-US" sz="32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What is template?</a:t>
            </a:r>
          </a:p>
          <a:p>
            <a:pPr marL="0" marR="0" lvl="0" indent="0" algn="just" defTabSz="914400" rtl="0" eaLnBrk="1" fontAlgn="auto" latinLnBrk="0" hangingPunct="1">
              <a:lnSpc>
                <a:spcPct val="100000"/>
              </a:lnSpc>
              <a:spcBef>
                <a:spcPts val="0"/>
              </a:spcBef>
              <a:spcAft>
                <a:spcPts val="0"/>
              </a:spcAft>
              <a:buClrTx/>
              <a:buSzTx/>
              <a:buFontTx/>
              <a:buNone/>
              <a:defRPr/>
            </a:pPr>
            <a:r>
              <a:rPr kumimoji="0" lang="en-IN" sz="24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a:t>
            </a:r>
            <a:endParaRPr kumimoji="0" lang="en-US" altLang="en-US" sz="24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a:p>
            <a:pPr marR="0" lvl="0" algn="just" defTabSz="914400" rtl="0" eaLnBrk="1" fontAlgn="auto" latinLnBrk="0" hangingPunct="1">
              <a:lnSpc>
                <a:spcPct val="100000"/>
              </a:lnSpc>
              <a:spcBef>
                <a:spcPts val="0"/>
              </a:spcBef>
              <a:spcAft>
                <a:spcPts val="0"/>
              </a:spcAft>
              <a:buClrTx/>
              <a:buSzTx/>
              <a:defRPr/>
            </a:pPr>
            <a:r>
              <a:rPr kumimoji="0" lang="en-US" altLang="en-US" sz="24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Template allows developing </a:t>
            </a:r>
            <a:r>
              <a:rPr kumimoji="0" lang="en-US" altLang="en-US" sz="24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reusable software components </a:t>
            </a:r>
            <a:r>
              <a:rPr kumimoji="0" lang="en-US" altLang="en-US" sz="24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such as functions, classes, etc supporting different data types in a single frame work.</a:t>
            </a:r>
          </a:p>
          <a:p>
            <a:pPr marL="342900" marR="0" lvl="0" indent="-342900" algn="just" defTabSz="914400" rtl="0" eaLnBrk="1" fontAlgn="auto" latinLnBrk="0" hangingPunct="1">
              <a:lnSpc>
                <a:spcPct val="100000"/>
              </a:lnSpc>
              <a:spcBef>
                <a:spcPts val="0"/>
              </a:spcBef>
              <a:spcAft>
                <a:spcPts val="0"/>
              </a:spcAft>
              <a:buClrTx/>
              <a:buSzTx/>
              <a:buFont typeface="Arial" panose="020B0604020202020204" pitchFamily="34" charset="0"/>
              <a:buChar char="•"/>
              <a:defRPr/>
            </a:pPr>
            <a:endParaRPr kumimoji="0" lang="en-US" altLang="en-US" sz="24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a:p>
            <a:pPr marR="0" lvl="0" algn="just" defTabSz="914400" rtl="0" eaLnBrk="1" fontAlgn="auto" latinLnBrk="0" hangingPunct="1">
              <a:lnSpc>
                <a:spcPct val="100000"/>
              </a:lnSpc>
              <a:spcBef>
                <a:spcPts val="0"/>
              </a:spcBef>
              <a:spcAft>
                <a:spcPts val="0"/>
              </a:spcAft>
              <a:buClrTx/>
              <a:buSzTx/>
              <a:defRPr/>
            </a:pPr>
            <a:r>
              <a:rPr kumimoji="0" lang="en-US" altLang="en-US" sz="24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A template have 2 different types. They are,</a:t>
            </a:r>
          </a:p>
          <a:p>
            <a:pPr marL="457200" marR="0" lvl="0" indent="-457200" algn="just" defTabSz="914400" rtl="0" eaLnBrk="1" fontAlgn="auto" latinLnBrk="0" hangingPunct="1">
              <a:lnSpc>
                <a:spcPct val="100000"/>
              </a:lnSpc>
              <a:spcBef>
                <a:spcPts val="0"/>
              </a:spcBef>
              <a:spcAft>
                <a:spcPts val="0"/>
              </a:spcAft>
              <a:buClrTx/>
              <a:buSzTx/>
              <a:buFont typeface="+mj-lt"/>
              <a:buAutoNum type="arabicPeriod"/>
              <a:defRPr/>
            </a:pPr>
            <a:r>
              <a:rPr kumimoji="0" lang="en-US" altLang="en-US" sz="24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Function templates</a:t>
            </a:r>
          </a:p>
          <a:p>
            <a:pPr marL="457200" marR="0" lvl="0" indent="-457200" algn="just" defTabSz="914400" rtl="0" eaLnBrk="1" fontAlgn="auto" latinLnBrk="0" hangingPunct="1">
              <a:lnSpc>
                <a:spcPct val="100000"/>
              </a:lnSpc>
              <a:spcBef>
                <a:spcPts val="0"/>
              </a:spcBef>
              <a:spcAft>
                <a:spcPts val="0"/>
              </a:spcAft>
              <a:buClrTx/>
              <a:buSzTx/>
              <a:buFont typeface="+mj-lt"/>
              <a:buAutoNum type="arabicPeriod"/>
              <a:defRPr/>
            </a:pPr>
            <a:r>
              <a:rPr kumimoji="0" lang="en-US" altLang="en-US" sz="24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Class templates</a:t>
            </a:r>
          </a:p>
        </p:txBody>
      </p:sp>
    </p:spTree>
  </p:cSld>
  <p:clrMapOvr>
    <a:masterClrMapping/>
  </p:clrMapOvr>
  <p:transition>
    <p:pull dir="d"/>
  </p:transition>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object 3"/>
          <p:cNvSpPr txBox="1">
            <a:spLocks noGrp="1"/>
          </p:cNvSpPr>
          <p:nvPr>
            <p:ph type="title"/>
          </p:nvPr>
        </p:nvSpPr>
        <p:spPr>
          <a:xfrm>
            <a:off x="488003" y="312733"/>
            <a:ext cx="6710465" cy="381635"/>
          </a:xfrm>
          <a:prstGeom prst="rect">
            <a:avLst/>
          </a:prstGeom>
        </p:spPr>
        <p:txBody>
          <a:bodyPr vert="horz" wrap="square" lIns="0" tIns="12700" rIns="0" bIns="0" rtlCol="0">
            <a:spAutoFit/>
          </a:bodyPr>
          <a:lstStyle/>
          <a:p>
            <a:pPr marL="12700">
              <a:lnSpc>
                <a:spcPct val="100000"/>
              </a:lnSpc>
              <a:spcBef>
                <a:spcPts val="100"/>
              </a:spcBef>
            </a:pPr>
            <a:r>
              <a:rPr lang="en-US" sz="2400" dirty="0">
                <a:solidFill>
                  <a:srgbClr val="04A2B9"/>
                </a:solidFill>
                <a:latin typeface="Corbel" panose="020B0503020204020204" pitchFamily="34" charset="0"/>
              </a:rPr>
              <a:t>Department of Computer Engineering</a:t>
            </a:r>
            <a:endParaRPr lang="en-IN" sz="2400" dirty="0">
              <a:latin typeface="Corbel" panose="020B0503020204020204" pitchFamily="34" charset="0"/>
            </a:endParaRPr>
          </a:p>
        </p:txBody>
      </p:sp>
      <p:sp>
        <p:nvSpPr>
          <p:cNvPr id="8" name="Rectangle 7"/>
          <p:cNvSpPr/>
          <p:nvPr/>
        </p:nvSpPr>
        <p:spPr>
          <a:xfrm>
            <a:off x="464149" y="1247268"/>
            <a:ext cx="11352179" cy="489088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just" defTabSz="914400" rtl="0" eaLnBrk="1" fontAlgn="auto" latinLnBrk="0" hangingPunct="1">
              <a:lnSpc>
                <a:spcPct val="100000"/>
              </a:lnSpc>
              <a:spcBef>
                <a:spcPts val="0"/>
              </a:spcBef>
              <a:spcAft>
                <a:spcPts val="0"/>
              </a:spcAft>
              <a:buClrTx/>
              <a:buSzTx/>
              <a:buFontTx/>
              <a:buNone/>
              <a:defRPr/>
            </a:pPr>
            <a:r>
              <a:rPr kumimoji="0" lang="en-US" altLang="en-US" sz="32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Function template</a:t>
            </a:r>
          </a:p>
          <a:p>
            <a:pPr marL="0" marR="0" lvl="0" indent="0" algn="just" defTabSz="914400" rtl="0" eaLnBrk="1" fontAlgn="auto" latinLnBrk="0" hangingPunct="1">
              <a:lnSpc>
                <a:spcPct val="100000"/>
              </a:lnSpc>
              <a:spcBef>
                <a:spcPts val="0"/>
              </a:spcBef>
              <a:spcAft>
                <a:spcPts val="0"/>
              </a:spcAft>
              <a:buClrTx/>
              <a:buSzTx/>
              <a:buFontTx/>
              <a:buNone/>
              <a:defRPr/>
            </a:pPr>
            <a:r>
              <a:rPr kumimoji="0" lang="en-IN" sz="24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a:t>
            </a:r>
          </a:p>
          <a:p>
            <a:pPr marL="342900" marR="0" lvl="0" indent="-342900" algn="just"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en-US" altLang="en-US" sz="24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A function template specifies how an </a:t>
            </a:r>
            <a:r>
              <a:rPr kumimoji="0" lang="en-US" altLang="en-US" sz="24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individual function can be constructed</a:t>
            </a:r>
            <a:r>
              <a:rPr kumimoji="0" lang="en-US" altLang="en-US" sz="24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a:t>
            </a:r>
          </a:p>
          <a:p>
            <a:pPr marL="342900" marR="0" lvl="0" indent="-342900" algn="just" defTabSz="914400" rtl="0" eaLnBrk="1" fontAlgn="auto" latinLnBrk="0" hangingPunct="1">
              <a:lnSpc>
                <a:spcPct val="100000"/>
              </a:lnSpc>
              <a:spcBef>
                <a:spcPts val="0"/>
              </a:spcBef>
              <a:spcAft>
                <a:spcPts val="0"/>
              </a:spcAft>
              <a:buClrTx/>
              <a:buSzTx/>
              <a:buFont typeface="Arial" panose="020B0604020202020204" pitchFamily="34" charset="0"/>
              <a:buChar char="•"/>
              <a:defRPr/>
            </a:pPr>
            <a:endParaRPr kumimoji="0" lang="en-US" altLang="en-US" sz="24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a:p>
            <a:pPr marL="342900" marR="0" lvl="0" indent="-342900" algn="just"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en-US" altLang="en-US" sz="24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When defining a function template, you specify the function's </a:t>
            </a:r>
            <a:r>
              <a:rPr kumimoji="0" lang="en-US" altLang="en-US" sz="2400" i="0" u="sng"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signature and behavior </a:t>
            </a:r>
            <a:r>
              <a:rPr kumimoji="0" lang="en-US" altLang="en-US" sz="24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using placeholders called </a:t>
            </a:r>
            <a:r>
              <a:rPr kumimoji="0" lang="en-US" altLang="en-US" sz="24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type parameters or template parameters</a:t>
            </a:r>
            <a:r>
              <a:rPr kumimoji="0" lang="en-US" altLang="en-US" sz="24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a:t>
            </a:r>
          </a:p>
          <a:p>
            <a:pPr marL="342900" marR="0" lvl="0" indent="-342900" algn="just" defTabSz="914400" rtl="0" eaLnBrk="1" fontAlgn="auto" latinLnBrk="0" hangingPunct="1">
              <a:lnSpc>
                <a:spcPct val="100000"/>
              </a:lnSpc>
              <a:spcBef>
                <a:spcPts val="0"/>
              </a:spcBef>
              <a:spcAft>
                <a:spcPts val="0"/>
              </a:spcAft>
              <a:buClrTx/>
              <a:buSzTx/>
              <a:buFont typeface="Arial" panose="020B0604020202020204" pitchFamily="34" charset="0"/>
              <a:buChar char="•"/>
              <a:defRPr/>
            </a:pPr>
            <a:endParaRPr kumimoji="0" lang="en-US" altLang="en-US" sz="24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a:p>
            <a:pPr marL="342900" marR="0" lvl="0" indent="-342900" algn="just"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en-US" altLang="en-US" sz="24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These parameters represent generic types and can be used throughout the function's code. </a:t>
            </a:r>
          </a:p>
          <a:p>
            <a:pPr marL="342900" marR="0" lvl="0" indent="-342900" algn="just" defTabSz="914400" rtl="0" eaLnBrk="1" fontAlgn="auto" latinLnBrk="0" hangingPunct="1">
              <a:lnSpc>
                <a:spcPct val="100000"/>
              </a:lnSpc>
              <a:spcBef>
                <a:spcPts val="0"/>
              </a:spcBef>
              <a:spcAft>
                <a:spcPts val="0"/>
              </a:spcAft>
              <a:buClrTx/>
              <a:buSzTx/>
              <a:buFont typeface="Arial" panose="020B0604020202020204" pitchFamily="34" charset="0"/>
              <a:buChar char="•"/>
              <a:defRPr/>
            </a:pPr>
            <a:endParaRPr kumimoji="0" lang="en-US" altLang="en-US" sz="24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a:p>
            <a:pPr marL="342900" marR="0" lvl="0" indent="-342900" algn="just"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en-US" altLang="en-US" sz="24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The actual types are determined when the function template is called with specific types.</a:t>
            </a:r>
          </a:p>
        </p:txBody>
      </p:sp>
    </p:spTree>
  </p:cSld>
  <p:clrMapOvr>
    <a:masterClrMapping/>
  </p:clrMapOvr>
  <p:transition>
    <p:pull dir="d"/>
  </p:transition>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object 3"/>
          <p:cNvSpPr txBox="1">
            <a:spLocks noGrp="1"/>
          </p:cNvSpPr>
          <p:nvPr>
            <p:ph type="title"/>
          </p:nvPr>
        </p:nvSpPr>
        <p:spPr>
          <a:xfrm>
            <a:off x="488003" y="312733"/>
            <a:ext cx="6710465" cy="381635"/>
          </a:xfrm>
          <a:prstGeom prst="rect">
            <a:avLst/>
          </a:prstGeom>
        </p:spPr>
        <p:txBody>
          <a:bodyPr vert="horz" wrap="square" lIns="0" tIns="12700" rIns="0" bIns="0" rtlCol="0">
            <a:spAutoFit/>
          </a:bodyPr>
          <a:lstStyle/>
          <a:p>
            <a:pPr marL="12700">
              <a:lnSpc>
                <a:spcPct val="100000"/>
              </a:lnSpc>
              <a:spcBef>
                <a:spcPts val="100"/>
              </a:spcBef>
            </a:pPr>
            <a:r>
              <a:rPr lang="en-US" sz="2400" dirty="0">
                <a:solidFill>
                  <a:srgbClr val="04A2B9"/>
                </a:solidFill>
                <a:latin typeface="Corbel" panose="020B0503020204020204" pitchFamily="34" charset="0"/>
              </a:rPr>
              <a:t>Department of Computer Engineering</a:t>
            </a:r>
            <a:endParaRPr lang="en-IN" sz="2400" dirty="0">
              <a:latin typeface="Corbel" panose="020B0503020204020204" pitchFamily="34" charset="0"/>
            </a:endParaRPr>
          </a:p>
        </p:txBody>
      </p:sp>
      <p:sp>
        <p:nvSpPr>
          <p:cNvPr id="8" name="Rectangle 7"/>
          <p:cNvSpPr/>
          <p:nvPr/>
        </p:nvSpPr>
        <p:spPr>
          <a:xfrm>
            <a:off x="464149" y="1247268"/>
            <a:ext cx="11352179" cy="489088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en-US" sz="32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Function Template</a:t>
            </a:r>
          </a:p>
          <a:p>
            <a:pPr marL="0" marR="0" lvl="0" indent="0" algn="l" defTabSz="914400" rtl="0" eaLnBrk="1" fontAlgn="auto" latinLnBrk="0" hangingPunct="1">
              <a:lnSpc>
                <a:spcPct val="100000"/>
              </a:lnSpc>
              <a:spcBef>
                <a:spcPts val="0"/>
              </a:spcBef>
              <a:spcAft>
                <a:spcPts val="0"/>
              </a:spcAft>
              <a:buClrTx/>
              <a:buSzTx/>
              <a:buFontTx/>
              <a:buNone/>
              <a:defRPr/>
            </a:pPr>
            <a:r>
              <a:rPr kumimoji="0" lang="en-IN" sz="24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a:t>
            </a:r>
          </a:p>
          <a:p>
            <a:pPr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en-US" altLang="en-US" sz="2400" b="1" i="0" u="none" strike="noStrike" kern="1200" cap="none" spc="0" normalizeH="0" baseline="0" noProof="0" dirty="0">
                <a:ln>
                  <a:noFill/>
                </a:ln>
                <a:solidFill>
                  <a:schemeClr val="accent1">
                    <a:lumMod val="75000"/>
                  </a:schemeClr>
                </a:solidFill>
                <a:effectLst/>
                <a:uLnTx/>
                <a:uFillTx/>
                <a:latin typeface="Times New Roman" panose="02020603050405020304" pitchFamily="18" charset="0"/>
                <a:cs typeface="Times New Roman" panose="02020603050405020304" pitchFamily="18" charset="0"/>
              </a:rPr>
              <a:t>Syntax:</a:t>
            </a:r>
            <a:r>
              <a:rPr kumimoji="0" lang="en-US" altLang="en-US" sz="24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a:t>
            </a:r>
          </a:p>
          <a:p>
            <a:pPr marR="0" lvl="1" indent="0" algn="l" defTabSz="914400" rtl="0" eaLnBrk="1" fontAlgn="auto" latinLnBrk="0" hangingPunct="1">
              <a:lnSpc>
                <a:spcPct val="100000"/>
              </a:lnSpc>
              <a:spcBef>
                <a:spcPts val="0"/>
              </a:spcBef>
              <a:spcAft>
                <a:spcPts val="0"/>
              </a:spcAft>
              <a:buClrTx/>
              <a:buSzTx/>
              <a:buFont typeface="Arial" panose="020B0604020202020204" pitchFamily="34" charset="0"/>
              <a:buNone/>
              <a:defRPr/>
            </a:pPr>
            <a:endParaRPr kumimoji="0" lang="en-US" altLang="en-US" sz="24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a:p>
            <a:pPr marR="0" lvl="1" indent="0" algn="l"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en-US" altLang="en-US" sz="2400" i="0" u="none" strike="noStrike" kern="1200" cap="none" spc="0" normalizeH="0" baseline="0" noProof="0" dirty="0">
                <a:ln>
                  <a:noFill/>
                </a:ln>
                <a:solidFill>
                  <a:srgbClr val="FF0000"/>
                </a:solidFill>
                <a:effectLst/>
                <a:uLnTx/>
                <a:uFillTx/>
                <a:latin typeface="Times New Roman" panose="02020603050405020304" pitchFamily="18" charset="0"/>
                <a:cs typeface="Times New Roman" panose="02020603050405020304" pitchFamily="18" charset="0"/>
              </a:rPr>
              <a:t>template &lt;typename T&gt; </a:t>
            </a:r>
          </a:p>
          <a:p>
            <a:pPr marR="0" lvl="1" indent="0" algn="l"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en-US" altLang="en-US" sz="2400" i="0" u="none" strike="noStrike" kern="1200" cap="none" spc="0" normalizeH="0" baseline="0" noProof="0" dirty="0">
                <a:ln>
                  <a:noFill/>
                </a:ln>
                <a:solidFill>
                  <a:srgbClr val="FF0000"/>
                </a:solidFill>
                <a:effectLst/>
                <a:uLnTx/>
                <a:uFillTx/>
                <a:latin typeface="Times New Roman" panose="02020603050405020304" pitchFamily="18" charset="0"/>
                <a:cs typeface="Times New Roman" panose="02020603050405020304" pitchFamily="18" charset="0"/>
              </a:rPr>
              <a:t>return type functionname(T arg1,T arg2) </a:t>
            </a:r>
          </a:p>
          <a:p>
            <a:pPr marR="0" lvl="1" indent="0" algn="l"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en-US" altLang="en-US" sz="2400" i="0" u="none" strike="noStrike" kern="1200" cap="none" spc="0" normalizeH="0" baseline="0" noProof="0" dirty="0">
                <a:ln>
                  <a:noFill/>
                </a:ln>
                <a:solidFill>
                  <a:srgbClr val="FF0000"/>
                </a:solidFill>
                <a:effectLst/>
                <a:uLnTx/>
                <a:uFillTx/>
                <a:latin typeface="Times New Roman" panose="02020603050405020304" pitchFamily="18" charset="0"/>
                <a:cs typeface="Times New Roman" panose="02020603050405020304" pitchFamily="18" charset="0"/>
              </a:rPr>
              <a:t>{ </a:t>
            </a:r>
          </a:p>
          <a:p>
            <a:pPr marR="0" lvl="1" indent="457200" algn="l"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en-US" altLang="en-US" sz="2400" i="0" u="none" strike="noStrike" kern="1200" cap="none" spc="0" normalizeH="0" baseline="0" noProof="0" dirty="0">
                <a:ln>
                  <a:noFill/>
                </a:ln>
                <a:solidFill>
                  <a:srgbClr val="FF0000"/>
                </a:solidFill>
                <a:effectLst/>
                <a:uLnTx/>
                <a:uFillTx/>
                <a:latin typeface="Times New Roman" panose="02020603050405020304" pitchFamily="18" charset="0"/>
                <a:cs typeface="Times New Roman" panose="02020603050405020304" pitchFamily="18" charset="0"/>
              </a:rPr>
              <a:t>//function body; </a:t>
            </a:r>
          </a:p>
          <a:p>
            <a:pPr marR="0" lvl="1" indent="0" algn="l"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en-US" altLang="en-US" sz="2400" i="0" u="none" strike="noStrike" kern="1200" cap="none" spc="0" normalizeH="0" baseline="0" noProof="0" dirty="0">
                <a:ln>
                  <a:noFill/>
                </a:ln>
                <a:solidFill>
                  <a:srgbClr val="FF0000"/>
                </a:solidFill>
                <a:effectLst/>
                <a:uLnTx/>
                <a:uFillTx/>
                <a:latin typeface="Times New Roman" panose="02020603050405020304" pitchFamily="18" charset="0"/>
                <a:cs typeface="Times New Roman" panose="02020603050405020304" pitchFamily="18" charset="0"/>
              </a:rPr>
              <a:t>}</a:t>
            </a:r>
          </a:p>
        </p:txBody>
      </p:sp>
    </p:spTree>
  </p:cSld>
  <p:clrMapOvr>
    <a:masterClrMapping/>
  </p:clrMapOvr>
  <p:transition>
    <p:pull dir="d"/>
  </p:transition>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object 3"/>
          <p:cNvSpPr txBox="1">
            <a:spLocks noGrp="1"/>
          </p:cNvSpPr>
          <p:nvPr>
            <p:ph type="title"/>
          </p:nvPr>
        </p:nvSpPr>
        <p:spPr>
          <a:xfrm>
            <a:off x="488003" y="312733"/>
            <a:ext cx="6710465" cy="381635"/>
          </a:xfrm>
          <a:prstGeom prst="rect">
            <a:avLst/>
          </a:prstGeom>
        </p:spPr>
        <p:txBody>
          <a:bodyPr vert="horz" wrap="square" lIns="0" tIns="12700" rIns="0" bIns="0" rtlCol="0">
            <a:spAutoFit/>
          </a:bodyPr>
          <a:lstStyle/>
          <a:p>
            <a:pPr marL="12700">
              <a:lnSpc>
                <a:spcPct val="100000"/>
              </a:lnSpc>
              <a:spcBef>
                <a:spcPts val="100"/>
              </a:spcBef>
            </a:pPr>
            <a:r>
              <a:rPr lang="en-US" sz="2400" dirty="0">
                <a:solidFill>
                  <a:srgbClr val="04A2B9"/>
                </a:solidFill>
                <a:latin typeface="Corbel" panose="020B0503020204020204" pitchFamily="34" charset="0"/>
              </a:rPr>
              <a:t>Department of Computer Engineering</a:t>
            </a:r>
            <a:endParaRPr lang="en-IN" sz="2400" dirty="0">
              <a:latin typeface="Corbel" panose="020B0503020204020204" pitchFamily="34" charset="0"/>
            </a:endParaRPr>
          </a:p>
        </p:txBody>
      </p:sp>
      <p:sp>
        <p:nvSpPr>
          <p:cNvPr id="8" name="Rectangle 7"/>
          <p:cNvSpPr/>
          <p:nvPr/>
        </p:nvSpPr>
        <p:spPr>
          <a:xfrm>
            <a:off x="394447" y="1030942"/>
            <a:ext cx="11421881" cy="510721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en-US" sz="32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Function Template - Example</a:t>
            </a:r>
            <a:endParaRPr kumimoji="0" lang="en-IN" sz="24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a:p>
            <a:pPr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en-US" altLang="en-US" sz="24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#include &lt;iostream&gt;</a:t>
            </a:r>
          </a:p>
          <a:p>
            <a:pPr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en-US" altLang="en-US" sz="24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using namespace std;</a:t>
            </a:r>
          </a:p>
          <a:p>
            <a:pPr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en-US" altLang="en-US" sz="24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template &lt;typename T&gt;  </a:t>
            </a:r>
            <a:r>
              <a:rPr kumimoji="0" lang="en-US" altLang="en-US" sz="2400" i="0" u="none" strike="noStrike" kern="1200" cap="none" spc="0" normalizeH="0" baseline="0" noProof="0" dirty="0">
                <a:ln>
                  <a:noFill/>
                </a:ln>
                <a:solidFill>
                  <a:srgbClr val="FF0000"/>
                </a:solidFill>
                <a:effectLst/>
                <a:uLnTx/>
                <a:uFillTx/>
                <a:latin typeface="Times New Roman" panose="02020603050405020304" pitchFamily="18" charset="0"/>
                <a:cs typeface="Times New Roman" panose="02020603050405020304" pitchFamily="18" charset="0"/>
              </a:rPr>
              <a:t>//support any type of data types</a:t>
            </a:r>
          </a:p>
          <a:p>
            <a:pPr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en-US" altLang="en-US" sz="24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void swapNumbers(T&amp; a, T&amp; b)</a:t>
            </a:r>
          </a:p>
          <a:p>
            <a:pPr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en-US" altLang="en-US" sz="24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a:t>
            </a:r>
          </a:p>
          <a:p>
            <a:pPr marR="0" lvl="1" indent="0" algn="l"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en-US" altLang="en-US" sz="24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T temp = a;</a:t>
            </a:r>
          </a:p>
          <a:p>
            <a:pPr marR="0" lvl="1" indent="0" algn="l"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en-US" altLang="en-US" sz="24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a = b;</a:t>
            </a:r>
          </a:p>
          <a:p>
            <a:pPr marR="0" lvl="1" indent="0" algn="l"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en-US" altLang="en-US" sz="24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b = temp;</a:t>
            </a:r>
          </a:p>
          <a:p>
            <a:pPr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en-US" altLang="en-US" sz="24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a:t>
            </a:r>
          </a:p>
          <a:p>
            <a:pPr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en-US" altLang="en-US" sz="24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int main() {</a:t>
            </a:r>
          </a:p>
          <a:p>
            <a:pPr marR="0" lvl="1" indent="0" algn="l"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en-US" altLang="en-US" sz="24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int num1 = 5, num2 = 10;</a:t>
            </a:r>
          </a:p>
          <a:p>
            <a:pPr marR="0" lvl="1" indent="0" algn="l"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en-US" altLang="en-US" sz="24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cout &lt;&lt; "Before swapping: num1 = " &lt;&lt; num1 &lt;&lt; ", num2 = " &lt;&lt; num2 &lt;&lt; endl;</a:t>
            </a:r>
          </a:p>
        </p:txBody>
      </p:sp>
    </p:spTree>
  </p:cSld>
  <p:clrMapOvr>
    <a:masterClrMapping/>
  </p:clrMapOvr>
  <p:transition>
    <p:pull dir="d"/>
  </p:transition>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object 3"/>
          <p:cNvSpPr txBox="1">
            <a:spLocks noGrp="1"/>
          </p:cNvSpPr>
          <p:nvPr>
            <p:ph type="title"/>
          </p:nvPr>
        </p:nvSpPr>
        <p:spPr>
          <a:xfrm>
            <a:off x="586740" y="273685"/>
            <a:ext cx="10705465" cy="381635"/>
          </a:xfrm>
          <a:prstGeom prst="rect">
            <a:avLst/>
          </a:prstGeom>
        </p:spPr>
        <p:txBody>
          <a:bodyPr vert="horz" wrap="square" lIns="0" tIns="12700" rIns="0" bIns="0" rtlCol="0">
            <a:spAutoFit/>
          </a:bodyPr>
          <a:lstStyle/>
          <a:p>
            <a:pPr marL="12700">
              <a:lnSpc>
                <a:spcPct val="100000"/>
              </a:lnSpc>
              <a:spcBef>
                <a:spcPts val="100"/>
              </a:spcBef>
            </a:pPr>
            <a:r>
              <a:rPr lang="en-US" sz="2400" dirty="0">
                <a:solidFill>
                  <a:srgbClr val="04A2B9"/>
                </a:solidFill>
                <a:latin typeface="Corbel" panose="020B0503020204020204" pitchFamily="34" charset="0"/>
              </a:rPr>
              <a:t>Department of Computer Engineering</a:t>
            </a:r>
            <a:endParaRPr lang="en-IN" sz="2400" dirty="0">
              <a:latin typeface="Corbel" panose="020B0503020204020204" pitchFamily="34" charset="0"/>
            </a:endParaRPr>
          </a:p>
        </p:txBody>
      </p:sp>
      <p:sp>
        <p:nvSpPr>
          <p:cNvPr id="8" name="Rectangle 7"/>
          <p:cNvSpPr/>
          <p:nvPr/>
        </p:nvSpPr>
        <p:spPr>
          <a:xfrm>
            <a:off x="376519" y="1247268"/>
            <a:ext cx="11439810" cy="379089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en-US" altLang="en-US" sz="2400" i="0" u="none" strike="noStrike" kern="1200" cap="none" spc="0" normalizeH="0" baseline="0" noProof="0" dirty="0">
                <a:ln>
                  <a:noFill/>
                </a:ln>
                <a:solidFill>
                  <a:srgbClr val="C00000"/>
                </a:solidFill>
                <a:effectLst/>
                <a:uLnTx/>
                <a:uFillTx/>
                <a:latin typeface="Times New Roman" panose="02020603050405020304" pitchFamily="18" charset="0"/>
                <a:cs typeface="Times New Roman" panose="02020603050405020304" pitchFamily="18" charset="0"/>
              </a:rPr>
              <a:t>// Swapping numbers using the function template</a:t>
            </a:r>
          </a:p>
          <a:p>
            <a:pPr marR="0" lvl="1" indent="0" algn="l"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en-US" altLang="en-US" sz="24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swapNumbers(num1, num2);</a:t>
            </a:r>
          </a:p>
          <a:p>
            <a:pPr marR="0" lvl="1" indent="0" algn="l"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en-US" altLang="en-US" sz="24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cout &lt;&lt; "After swapping: num1 = " &lt;&lt; num1 &lt;&lt; ", num2 = " &lt;&lt; num2 &lt;&lt; endl;</a:t>
            </a:r>
          </a:p>
          <a:p>
            <a:pPr marR="0" lvl="1" indent="0" algn="l"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en-US" altLang="en-US" sz="24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double num3 = 2.5, num4 = 7.8;</a:t>
            </a:r>
          </a:p>
          <a:p>
            <a:pPr marR="0" lvl="1" indent="0" algn="l"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en-US" altLang="en-US" sz="24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cout &lt;&lt; "Before swapping: num3 = " &lt;&lt; num3 &lt;&lt; ", num4 = " &lt;&lt; num4 &lt;&lt; endl;</a:t>
            </a:r>
          </a:p>
          <a:p>
            <a:pPr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en-US" altLang="en-US" sz="2400" i="0" u="none" strike="noStrike" kern="1200" cap="none" spc="0" normalizeH="0" baseline="0" noProof="0" dirty="0">
                <a:ln>
                  <a:noFill/>
                </a:ln>
                <a:solidFill>
                  <a:srgbClr val="C00000"/>
                </a:solidFill>
                <a:effectLst/>
                <a:uLnTx/>
                <a:uFillTx/>
                <a:latin typeface="Times New Roman" panose="02020603050405020304" pitchFamily="18" charset="0"/>
                <a:cs typeface="Times New Roman" panose="02020603050405020304" pitchFamily="18" charset="0"/>
              </a:rPr>
              <a:t>// Swapping numbers using the same function template</a:t>
            </a:r>
          </a:p>
          <a:p>
            <a:pPr marR="0" lvl="1" indent="0" algn="l"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en-US" altLang="en-US" sz="24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swapNumbers(num3, num4);</a:t>
            </a:r>
          </a:p>
          <a:p>
            <a:pPr marR="0" lvl="1" indent="0" algn="l"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en-US" altLang="en-US" sz="24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cout &lt;&lt; "After swapping: num3 = " &lt;&lt; num3 &lt;&lt; ", num4 = " &lt;&lt; num4 &lt;&lt; endl;</a:t>
            </a:r>
          </a:p>
          <a:p>
            <a:pPr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en-US" altLang="en-US" sz="24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return 0;</a:t>
            </a:r>
          </a:p>
          <a:p>
            <a:pPr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en-US" altLang="en-US" sz="24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a:t>
            </a:r>
          </a:p>
        </p:txBody>
      </p:sp>
      <p:pic>
        <p:nvPicPr>
          <p:cNvPr id="2" name="Content Placeholder 1"/>
          <p:cNvPicPr>
            <a:picLocks noGrp="1" noChangeAspect="1"/>
          </p:cNvPicPr>
          <p:nvPr>
            <p:ph idx="1"/>
          </p:nvPr>
        </p:nvPicPr>
        <p:blipFill>
          <a:blip r:embed="rId3"/>
          <a:stretch>
            <a:fillRect/>
          </a:stretch>
        </p:blipFill>
        <p:spPr>
          <a:xfrm>
            <a:off x="3363632" y="5038165"/>
            <a:ext cx="4959985" cy="1576705"/>
          </a:xfrm>
          <a:prstGeom prst="rect">
            <a:avLst/>
          </a:prstGeom>
        </p:spPr>
      </p:pic>
    </p:spTree>
  </p:cSld>
  <p:clrMapOvr>
    <a:masterClrMapping/>
  </p:clrMapOvr>
  <p:transition>
    <p:pull dir="d"/>
  </p:transition>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object 3"/>
          <p:cNvSpPr txBox="1">
            <a:spLocks noGrp="1"/>
          </p:cNvSpPr>
          <p:nvPr>
            <p:ph type="title"/>
          </p:nvPr>
        </p:nvSpPr>
        <p:spPr>
          <a:xfrm>
            <a:off x="488003" y="312733"/>
            <a:ext cx="6710465" cy="381635"/>
          </a:xfrm>
          <a:prstGeom prst="rect">
            <a:avLst/>
          </a:prstGeom>
        </p:spPr>
        <p:txBody>
          <a:bodyPr vert="horz" wrap="square" lIns="0" tIns="12700" rIns="0" bIns="0" rtlCol="0">
            <a:spAutoFit/>
          </a:bodyPr>
          <a:lstStyle/>
          <a:p>
            <a:pPr marL="12700">
              <a:lnSpc>
                <a:spcPct val="100000"/>
              </a:lnSpc>
              <a:spcBef>
                <a:spcPts val="100"/>
              </a:spcBef>
            </a:pPr>
            <a:r>
              <a:rPr lang="en-US" sz="2400" dirty="0">
                <a:solidFill>
                  <a:srgbClr val="04A2B9"/>
                </a:solidFill>
                <a:latin typeface="Corbel" panose="020B0503020204020204" pitchFamily="34" charset="0"/>
              </a:rPr>
              <a:t>Department of Computer Engineering</a:t>
            </a:r>
            <a:endParaRPr lang="en-IN" sz="2400" dirty="0">
              <a:latin typeface="Corbel" panose="020B0503020204020204" pitchFamily="34" charset="0"/>
            </a:endParaRPr>
          </a:p>
        </p:txBody>
      </p:sp>
      <p:sp>
        <p:nvSpPr>
          <p:cNvPr id="8" name="Rectangle 7"/>
          <p:cNvSpPr/>
          <p:nvPr/>
        </p:nvSpPr>
        <p:spPr>
          <a:xfrm>
            <a:off x="464149" y="1247268"/>
            <a:ext cx="11352179" cy="489088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just" defTabSz="914400" rtl="0" eaLnBrk="1" fontAlgn="auto" latinLnBrk="0" hangingPunct="1">
              <a:lnSpc>
                <a:spcPct val="100000"/>
              </a:lnSpc>
              <a:spcBef>
                <a:spcPts val="0"/>
              </a:spcBef>
              <a:spcAft>
                <a:spcPts val="0"/>
              </a:spcAft>
              <a:buClrTx/>
              <a:buSzTx/>
              <a:buFontTx/>
              <a:buNone/>
              <a:defRPr/>
            </a:pPr>
            <a:r>
              <a:rPr kumimoji="0" lang="en-US" altLang="en-US" sz="32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Class template</a:t>
            </a:r>
          </a:p>
          <a:p>
            <a:pPr marL="0" marR="0" lvl="0" indent="0" algn="just" defTabSz="914400" rtl="0" eaLnBrk="1" fontAlgn="auto" latinLnBrk="0" hangingPunct="1">
              <a:lnSpc>
                <a:spcPct val="100000"/>
              </a:lnSpc>
              <a:spcBef>
                <a:spcPts val="0"/>
              </a:spcBef>
              <a:spcAft>
                <a:spcPts val="0"/>
              </a:spcAft>
              <a:buClrTx/>
              <a:buSzTx/>
              <a:buFontTx/>
              <a:buNone/>
              <a:defRPr/>
            </a:pPr>
            <a:r>
              <a:rPr kumimoji="0" lang="en-IN" sz="24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a:t>
            </a:r>
          </a:p>
          <a:p>
            <a:pPr marL="342900" marR="0" lvl="0" indent="-342900" algn="just"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A class template in C++ is a </a:t>
            </a:r>
            <a:r>
              <a:rPr kumimoji="0" lang="en-US" altLang="en-US" sz="24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blueprint</a:t>
            </a:r>
            <a:r>
              <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for creating generic classes that can work with </a:t>
            </a:r>
            <a:r>
              <a:rPr kumimoji="0" lang="en-US" altLang="en-US" sz="2400" b="1" i="0" strike="noStrike" kern="1200" cap="none" spc="0" normalizeH="0" baseline="0" noProof="0" dirty="0">
                <a:ln>
                  <a:noFill/>
                </a:ln>
                <a:solidFill>
                  <a:srgbClr val="FF0000"/>
                </a:solidFill>
                <a:effectLst/>
                <a:uLnTx/>
                <a:uFillTx/>
                <a:latin typeface="Times New Roman" panose="02020603050405020304" pitchFamily="18" charset="0"/>
                <a:cs typeface="Times New Roman" panose="02020603050405020304" pitchFamily="18" charset="0"/>
              </a:rPr>
              <a:t>different data types</a:t>
            </a:r>
            <a:r>
              <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a:t>
            </a:r>
          </a:p>
          <a:p>
            <a:pPr marR="0" lvl="0" indent="0" algn="just"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a:t>
            </a:r>
          </a:p>
          <a:p>
            <a:pPr marL="342900" marR="0" lvl="0" indent="-342900" algn="just"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en-US" altLang="en-US" sz="2400" b="0" i="0"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It allows you to define a class that can be </a:t>
            </a:r>
            <a:r>
              <a:rPr kumimoji="0" lang="en-US" altLang="en-US" sz="2400" b="1" i="0"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customized to work with various types </a:t>
            </a:r>
            <a:r>
              <a:rPr kumimoji="0" lang="en-US" altLang="en-US" sz="2400" b="0" i="0"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without having to rewrite the class code for each type.</a:t>
            </a:r>
          </a:p>
          <a:p>
            <a:pPr marR="0" lvl="0" indent="0" algn="just" defTabSz="914400" rtl="0" eaLnBrk="1" fontAlgn="auto" latinLnBrk="0" hangingPunct="1">
              <a:lnSpc>
                <a:spcPct val="100000"/>
              </a:lnSpc>
              <a:spcBef>
                <a:spcPts val="0"/>
              </a:spcBef>
              <a:spcAft>
                <a:spcPts val="0"/>
              </a:spcAft>
              <a:buClrTx/>
              <a:buSzTx/>
              <a:buFont typeface="Arial" panose="020B0604020202020204" pitchFamily="34" charset="0"/>
              <a:buNone/>
              <a:defRPr/>
            </a:pPr>
            <a:endPar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a:p>
            <a:pPr marL="342900" marR="0" lvl="0" indent="-342900" algn="just"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The syntax for defining a </a:t>
            </a:r>
            <a:r>
              <a:rPr kumimoji="0" lang="en-US" altLang="en-US" sz="2400" b="1" i="0"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class template is similar to that of a regular class</a:t>
            </a:r>
            <a:r>
              <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with the addition of one or more type parameters enclosed in angle </a:t>
            </a:r>
            <a:r>
              <a:rPr kumimoji="0" lang="en-US" altLang="en-US" sz="24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brackets (&lt;&gt;).</a:t>
            </a:r>
          </a:p>
          <a:p>
            <a:pPr marR="0" lvl="0" indent="0" algn="just"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a:t>
            </a:r>
          </a:p>
          <a:p>
            <a:pPr marL="342900" marR="0" lvl="0" indent="-342900" algn="just"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These type parameters represent generic types and can be used throughout the class definition.</a:t>
            </a:r>
          </a:p>
        </p:txBody>
      </p:sp>
    </p:spTree>
  </p:cSld>
  <p:clrMapOvr>
    <a:masterClrMapping/>
  </p:clrMapOvr>
  <p:transition>
    <p:pull dir="d"/>
  </p:transition>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object 3"/>
          <p:cNvSpPr txBox="1">
            <a:spLocks noGrp="1"/>
          </p:cNvSpPr>
          <p:nvPr>
            <p:ph type="title"/>
          </p:nvPr>
        </p:nvSpPr>
        <p:spPr>
          <a:xfrm>
            <a:off x="488003" y="312733"/>
            <a:ext cx="6710465" cy="381635"/>
          </a:xfrm>
          <a:prstGeom prst="rect">
            <a:avLst/>
          </a:prstGeom>
        </p:spPr>
        <p:txBody>
          <a:bodyPr vert="horz" wrap="square" lIns="0" tIns="12700" rIns="0" bIns="0" rtlCol="0">
            <a:spAutoFit/>
          </a:bodyPr>
          <a:lstStyle/>
          <a:p>
            <a:pPr marL="12700">
              <a:lnSpc>
                <a:spcPct val="100000"/>
              </a:lnSpc>
              <a:spcBef>
                <a:spcPts val="100"/>
              </a:spcBef>
            </a:pPr>
            <a:r>
              <a:rPr lang="en-US" sz="2400" dirty="0">
                <a:solidFill>
                  <a:srgbClr val="04A2B9"/>
                </a:solidFill>
                <a:latin typeface="Corbel" panose="020B0503020204020204" pitchFamily="34" charset="0"/>
              </a:rPr>
              <a:t>Department of Computer Engineering</a:t>
            </a:r>
            <a:endParaRPr lang="en-IN" sz="2400" dirty="0">
              <a:latin typeface="Corbel" panose="020B0503020204020204" pitchFamily="34" charset="0"/>
            </a:endParaRPr>
          </a:p>
        </p:txBody>
      </p:sp>
      <p:sp>
        <p:nvSpPr>
          <p:cNvPr id="8" name="Rectangle 7"/>
          <p:cNvSpPr/>
          <p:nvPr/>
        </p:nvSpPr>
        <p:spPr>
          <a:xfrm>
            <a:off x="464149" y="1247268"/>
            <a:ext cx="11352179" cy="489088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en-US" sz="32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Class template</a:t>
            </a:r>
          </a:p>
          <a:p>
            <a:pPr marL="0" marR="0" lvl="0" indent="0" algn="l" defTabSz="914400" rtl="0" eaLnBrk="1" fontAlgn="auto" latinLnBrk="0" hangingPunct="1">
              <a:lnSpc>
                <a:spcPct val="100000"/>
              </a:lnSpc>
              <a:spcBef>
                <a:spcPts val="0"/>
              </a:spcBef>
              <a:spcAft>
                <a:spcPts val="0"/>
              </a:spcAft>
              <a:buClrTx/>
              <a:buSzTx/>
              <a:buFontTx/>
              <a:buNone/>
              <a:defRPr/>
            </a:pPr>
            <a:r>
              <a:rPr kumimoji="0" lang="en-IN" sz="2400" b="1" i="0" u="none" strike="noStrike" kern="1200" cap="none" spc="0" normalizeH="0" baseline="0" noProof="0" dirty="0">
                <a:ln>
                  <a:noFill/>
                </a:ln>
                <a:solidFill>
                  <a:schemeClr val="accent1">
                    <a:lumMod val="75000"/>
                  </a:schemeClr>
                </a:solidFill>
                <a:effectLst/>
                <a:uLnTx/>
                <a:uFillTx/>
                <a:latin typeface="Times New Roman" panose="02020603050405020304" pitchFamily="18" charset="0"/>
                <a:cs typeface="Times New Roman" panose="02020603050405020304" pitchFamily="18" charset="0"/>
              </a:rPr>
              <a:t> </a:t>
            </a:r>
            <a:r>
              <a:rPr kumimoji="0" lang="en-US" altLang="en-US" sz="2400" b="1" i="0" u="none" strike="noStrike" kern="1200" cap="none" spc="0" normalizeH="0" baseline="0" noProof="0" dirty="0">
                <a:ln>
                  <a:noFill/>
                </a:ln>
                <a:solidFill>
                  <a:schemeClr val="accent1">
                    <a:lumMod val="75000"/>
                  </a:schemeClr>
                </a:solidFill>
                <a:effectLst/>
                <a:uLnTx/>
                <a:uFillTx/>
                <a:latin typeface="Times New Roman" panose="02020603050405020304" pitchFamily="18" charset="0"/>
                <a:cs typeface="Times New Roman" panose="02020603050405020304" pitchFamily="18" charset="0"/>
              </a:rPr>
              <a:t>Syntax:</a:t>
            </a:r>
            <a:endParaRPr kumimoji="0" lang="en-US" altLang="en-US" sz="2400" b="0" i="0" u="none" strike="noStrike" kern="1200" cap="none" spc="0" normalizeH="0" baseline="0" noProof="0" dirty="0">
              <a:ln>
                <a:noFill/>
              </a:ln>
              <a:solidFill>
                <a:schemeClr val="accent1">
                  <a:lumMod val="75000"/>
                </a:schemeClr>
              </a:solidFill>
              <a:effectLst/>
              <a:uLnTx/>
              <a:uFillTx/>
              <a:latin typeface="Times New Roman" panose="02020603050405020304" pitchFamily="18" charset="0"/>
              <a:cs typeface="Times New Roman" panose="02020603050405020304" pitchFamily="18" charset="0"/>
            </a:endParaRPr>
          </a:p>
          <a:p>
            <a:pPr marR="0" lvl="1" indent="0" algn="l"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template &lt;class T&gt;</a:t>
            </a:r>
          </a:p>
          <a:p>
            <a:pPr marR="0" lvl="1" indent="0" algn="l"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class </a:t>
            </a:r>
            <a:r>
              <a:rPr kumimoji="0" lang="en-US" altLang="en-US" sz="2400" b="0" i="0" u="none" strike="noStrike" kern="1200" cap="none" spc="0" normalizeH="0" baseline="0" noProof="0" dirty="0" err="1">
                <a:ln>
                  <a:noFill/>
                </a:ln>
                <a:solidFill>
                  <a:prstClr val="black"/>
                </a:solidFill>
                <a:effectLst/>
                <a:uLnTx/>
                <a:uFillTx/>
                <a:latin typeface="Times New Roman" panose="02020603050405020304" pitchFamily="18" charset="0"/>
                <a:cs typeface="Times New Roman" panose="02020603050405020304" pitchFamily="18" charset="0"/>
              </a:rPr>
              <a:t>classname</a:t>
            </a:r>
            <a:r>
              <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a:t>
            </a:r>
          </a:p>
          <a:p>
            <a:pPr marR="0" lvl="1" indent="0" algn="l"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a:t>
            </a:r>
          </a:p>
          <a:p>
            <a:pPr marR="0" lvl="1" indent="0" algn="l"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private:</a:t>
            </a:r>
          </a:p>
          <a:p>
            <a:pPr marR="0" lvl="2" indent="0" algn="l"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T member1;</a:t>
            </a:r>
          </a:p>
          <a:p>
            <a:pPr marR="0" lvl="2" indent="0" algn="l"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T member2;</a:t>
            </a:r>
          </a:p>
          <a:p>
            <a:pPr marR="0" lvl="2" indent="0" algn="l"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a:t>
            </a:r>
          </a:p>
          <a:p>
            <a:pPr marR="0" lvl="1" indent="0" algn="l"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public:</a:t>
            </a:r>
          </a:p>
          <a:p>
            <a:pPr marR="0" lvl="2" indent="0" algn="l"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T fun();</a:t>
            </a:r>
          </a:p>
          <a:p>
            <a:pPr marR="0" lvl="2" indent="0" algn="l"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a:t>
            </a:r>
          </a:p>
          <a:p>
            <a:pPr marR="0" lvl="1" indent="0" algn="l"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a:t>
            </a:r>
          </a:p>
        </p:txBody>
      </p:sp>
      <p:sp>
        <p:nvSpPr>
          <p:cNvPr id="2" name="Text Box 1"/>
          <p:cNvSpPr txBox="1"/>
          <p:nvPr/>
        </p:nvSpPr>
        <p:spPr>
          <a:xfrm>
            <a:off x="5517515" y="2343785"/>
            <a:ext cx="5302250" cy="1198880"/>
          </a:xfrm>
          <a:prstGeom prst="rect">
            <a:avLst/>
          </a:prstGeom>
          <a:noFill/>
          <a:ln>
            <a:solidFill>
              <a:schemeClr val="tx1"/>
            </a:solidFill>
          </a:ln>
        </p:spPr>
        <p:txBody>
          <a:bodyPr wrap="square" rtlCol="0">
            <a:spAutoFit/>
          </a:bodyPr>
          <a:lstStyle/>
          <a:p>
            <a:r>
              <a:rPr lang="en-US" altLang="en-US" sz="2400" dirty="0">
                <a:solidFill>
                  <a:schemeClr val="accent1">
                    <a:lumMod val="75000"/>
                  </a:schemeClr>
                </a:solidFill>
                <a:latin typeface="Times New Roman" panose="02020603050405020304" pitchFamily="18" charset="0"/>
                <a:cs typeface="Times New Roman" panose="02020603050405020304" pitchFamily="18" charset="0"/>
              </a:rPr>
              <a:t>objects for class template is created like:</a:t>
            </a:r>
          </a:p>
          <a:p>
            <a:endParaRPr lang="en-US" altLang="en-US" sz="2400" dirty="0">
              <a:solidFill>
                <a:schemeClr val="accent1">
                  <a:lumMod val="75000"/>
                </a:schemeClr>
              </a:solidFill>
              <a:latin typeface="Times New Roman" panose="02020603050405020304" pitchFamily="18" charset="0"/>
              <a:cs typeface="Times New Roman" panose="02020603050405020304" pitchFamily="18" charset="0"/>
            </a:endParaRPr>
          </a:p>
          <a:p>
            <a:r>
              <a:rPr lang="en-US" altLang="en-US" sz="2400" dirty="0" err="1">
                <a:solidFill>
                  <a:schemeClr val="tx1"/>
                </a:solidFill>
                <a:latin typeface="Times New Roman" panose="02020603050405020304" pitchFamily="18" charset="0"/>
                <a:cs typeface="Times New Roman" panose="02020603050405020304" pitchFamily="18" charset="0"/>
              </a:rPr>
              <a:t>classname</a:t>
            </a:r>
            <a:r>
              <a:rPr lang="en-US" altLang="en-US" sz="2400" dirty="0">
                <a:solidFill>
                  <a:schemeClr val="tx1"/>
                </a:solidFill>
                <a:latin typeface="Times New Roman" panose="02020603050405020304" pitchFamily="18" charset="0"/>
                <a:cs typeface="Times New Roman" panose="02020603050405020304" pitchFamily="18" charset="0"/>
              </a:rPr>
              <a:t> &lt;datatype&gt; obj;</a:t>
            </a:r>
          </a:p>
        </p:txBody>
      </p:sp>
      <p:sp>
        <p:nvSpPr>
          <p:cNvPr id="3" name="Text Box 2"/>
          <p:cNvSpPr txBox="1"/>
          <p:nvPr/>
        </p:nvSpPr>
        <p:spPr>
          <a:xfrm>
            <a:off x="5517515" y="3837940"/>
            <a:ext cx="5487035" cy="1568450"/>
          </a:xfrm>
          <a:prstGeom prst="rect">
            <a:avLst/>
          </a:prstGeom>
          <a:noFill/>
          <a:ln>
            <a:solidFill>
              <a:schemeClr val="tx1"/>
            </a:solidFill>
          </a:ln>
        </p:spPr>
        <p:txBody>
          <a:bodyPr wrap="square" rtlCol="0">
            <a:spAutoFit/>
          </a:bodyPr>
          <a:lstStyle/>
          <a:p>
            <a:r>
              <a:rPr lang="en-US" altLang="en-US" sz="2400" dirty="0">
                <a:solidFill>
                  <a:schemeClr val="accent1">
                    <a:lumMod val="75000"/>
                  </a:schemeClr>
                </a:solidFill>
                <a:latin typeface="Times New Roman" panose="02020603050405020304" pitchFamily="18" charset="0"/>
                <a:cs typeface="Times New Roman" panose="02020603050405020304" pitchFamily="18" charset="0"/>
              </a:rPr>
              <a:t>Variable and function can be accessed like:</a:t>
            </a:r>
          </a:p>
          <a:p>
            <a:endParaRPr lang="en-US" altLang="en-US" sz="2400" dirty="0">
              <a:latin typeface="Times New Roman" panose="02020603050405020304" pitchFamily="18" charset="0"/>
              <a:cs typeface="Times New Roman" panose="02020603050405020304" pitchFamily="18" charset="0"/>
            </a:endParaRPr>
          </a:p>
          <a:p>
            <a:r>
              <a:rPr lang="en-US" altLang="en-US" sz="2400" dirty="0" err="1">
                <a:latin typeface="Times New Roman" panose="02020603050405020304" pitchFamily="18" charset="0"/>
                <a:cs typeface="Times New Roman" panose="02020603050405020304" pitchFamily="18" charset="0"/>
              </a:rPr>
              <a:t>obj.variable</a:t>
            </a:r>
            <a:r>
              <a:rPr lang="en-US" altLang="en-US" sz="2400" dirty="0">
                <a:latin typeface="Times New Roman" panose="02020603050405020304" pitchFamily="18" charset="0"/>
                <a:cs typeface="Times New Roman" panose="02020603050405020304" pitchFamily="18" charset="0"/>
              </a:rPr>
              <a:t>;</a:t>
            </a:r>
          </a:p>
          <a:p>
            <a:r>
              <a:rPr lang="en-US" altLang="en-US" sz="2400" dirty="0" err="1">
                <a:latin typeface="Times New Roman" panose="02020603050405020304" pitchFamily="18" charset="0"/>
                <a:cs typeface="Times New Roman" panose="02020603050405020304" pitchFamily="18" charset="0"/>
              </a:rPr>
              <a:t>obj.memberfunction</a:t>
            </a:r>
            <a:r>
              <a:rPr lang="en-US" altLang="en-US" sz="2400" dirty="0">
                <a:latin typeface="Times New Roman" panose="02020603050405020304" pitchFamily="18" charset="0"/>
                <a:cs typeface="Times New Roman" panose="02020603050405020304" pitchFamily="18" charset="0"/>
              </a:rPr>
              <a:t>();</a:t>
            </a:r>
          </a:p>
        </p:txBody>
      </p:sp>
    </p:spTree>
  </p:cSld>
  <p:clrMapOvr>
    <a:masterClrMapping/>
  </p:clrMapOvr>
  <p:transition>
    <p:pull dir="d"/>
  </p:transition>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object 3"/>
          <p:cNvSpPr txBox="1">
            <a:spLocks noGrp="1"/>
          </p:cNvSpPr>
          <p:nvPr>
            <p:ph type="title"/>
          </p:nvPr>
        </p:nvSpPr>
        <p:spPr>
          <a:xfrm>
            <a:off x="488003" y="312733"/>
            <a:ext cx="6710465" cy="381635"/>
          </a:xfrm>
          <a:prstGeom prst="rect">
            <a:avLst/>
          </a:prstGeom>
        </p:spPr>
        <p:txBody>
          <a:bodyPr vert="horz" wrap="square" lIns="0" tIns="12700" rIns="0" bIns="0" rtlCol="0">
            <a:spAutoFit/>
          </a:bodyPr>
          <a:lstStyle/>
          <a:p>
            <a:pPr marL="12700">
              <a:lnSpc>
                <a:spcPct val="100000"/>
              </a:lnSpc>
              <a:spcBef>
                <a:spcPts val="100"/>
              </a:spcBef>
            </a:pPr>
            <a:r>
              <a:rPr lang="en-US" sz="2400" dirty="0">
                <a:solidFill>
                  <a:srgbClr val="04A2B9"/>
                </a:solidFill>
                <a:latin typeface="Corbel" panose="020B0503020204020204" pitchFamily="34" charset="0"/>
              </a:rPr>
              <a:t>Department of Computer Engineering</a:t>
            </a:r>
            <a:endParaRPr lang="en-IN" sz="2400" dirty="0">
              <a:latin typeface="Corbel" panose="020B0503020204020204" pitchFamily="34" charset="0"/>
            </a:endParaRPr>
          </a:p>
        </p:txBody>
      </p:sp>
      <p:sp>
        <p:nvSpPr>
          <p:cNvPr id="8" name="Rectangle 7"/>
          <p:cNvSpPr/>
          <p:nvPr/>
        </p:nvSpPr>
        <p:spPr>
          <a:xfrm>
            <a:off x="488003" y="1039906"/>
            <a:ext cx="11328325" cy="561190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en-US" sz="32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Class Template – Example</a:t>
            </a:r>
            <a:r>
              <a:rPr kumimoji="0" lang="en-IN" sz="24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a:t>
            </a:r>
            <a:endParaRPr kumimoji="0" lang="en-IN" sz="9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a:p>
            <a:pPr indent="0">
              <a:buFont typeface="Arial" panose="020B0604020202020204" pitchFamily="34" charset="0"/>
              <a:buNone/>
            </a:pPr>
            <a:r>
              <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#include &lt;iostream&gt;</a:t>
            </a:r>
          </a:p>
          <a:p>
            <a:pPr indent="0">
              <a:buFont typeface="Arial" panose="020B0604020202020204" pitchFamily="34" charset="0"/>
              <a:buNone/>
            </a:pPr>
            <a:r>
              <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using namespace std;</a:t>
            </a:r>
          </a:p>
          <a:p>
            <a:pPr indent="0">
              <a:buFont typeface="Arial" panose="020B0604020202020204" pitchFamily="34" charset="0"/>
              <a:buNone/>
            </a:pPr>
            <a:r>
              <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template &lt;typename T&gt;</a:t>
            </a:r>
          </a:p>
          <a:p>
            <a:pPr indent="0">
              <a:buFont typeface="Arial" panose="020B0604020202020204" pitchFamily="34" charset="0"/>
              <a:buNone/>
            </a:pPr>
            <a:r>
              <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class Swapper</a:t>
            </a:r>
          </a:p>
          <a:p>
            <a:pPr indent="0">
              <a:buFont typeface="Arial" panose="020B0604020202020204" pitchFamily="34" charset="0"/>
              <a:buNone/>
            </a:pPr>
            <a:r>
              <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a:t>
            </a:r>
          </a:p>
          <a:p>
            <a:pPr indent="0">
              <a:buFont typeface="Arial" panose="020B0604020202020204" pitchFamily="34" charset="0"/>
              <a:buNone/>
            </a:pPr>
            <a:r>
              <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private:</a:t>
            </a:r>
          </a:p>
          <a:p>
            <a:pPr lvl="1" indent="0">
              <a:buFont typeface="Arial" panose="020B0604020202020204" pitchFamily="34" charset="0"/>
              <a:buNone/>
            </a:pPr>
            <a:r>
              <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T a;</a:t>
            </a:r>
          </a:p>
          <a:p>
            <a:pPr lvl="1" indent="0">
              <a:buFont typeface="Arial" panose="020B0604020202020204" pitchFamily="34" charset="0"/>
              <a:buNone/>
            </a:pPr>
            <a:r>
              <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T b;</a:t>
            </a:r>
          </a:p>
          <a:p>
            <a:pPr indent="0">
              <a:buFont typeface="Arial" panose="020B0604020202020204" pitchFamily="34" charset="0"/>
              <a:buNone/>
            </a:pPr>
            <a:r>
              <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public:</a:t>
            </a:r>
          </a:p>
          <a:p>
            <a:pPr lvl="1" indent="0">
              <a:buFont typeface="Arial" panose="020B0604020202020204" pitchFamily="34" charset="0"/>
              <a:buNone/>
            </a:pPr>
            <a:r>
              <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Swapper(T a, T b) : a(a), b(b)  </a:t>
            </a:r>
            <a:r>
              <a:rPr kumimoji="0" lang="en-US" altLang="en-US" sz="2400" b="0" i="0" u="none" strike="noStrike" kern="1200" cap="none" spc="0" normalizeH="0" baseline="0" noProof="0" dirty="0">
                <a:ln>
                  <a:noFill/>
                </a:ln>
                <a:solidFill>
                  <a:srgbClr val="FF0000"/>
                </a:solidFill>
                <a:effectLst/>
                <a:uLnTx/>
                <a:uFillTx/>
                <a:latin typeface="Times New Roman" panose="02020603050405020304" pitchFamily="18" charset="0"/>
                <a:cs typeface="Times New Roman" panose="02020603050405020304" pitchFamily="18" charset="0"/>
              </a:rPr>
              <a:t>// directly initialize using constructor argument</a:t>
            </a:r>
          </a:p>
          <a:p>
            <a:pPr lvl="1" indent="0">
              <a:buFont typeface="Arial" panose="020B0604020202020204" pitchFamily="34" charset="0"/>
              <a:buNone/>
            </a:pPr>
            <a:r>
              <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a:t>
            </a:r>
          </a:p>
          <a:p>
            <a:pPr lvl="1" indent="0">
              <a:buFont typeface="Arial" panose="020B0604020202020204" pitchFamily="34" charset="0"/>
              <a:buNone/>
            </a:pPr>
            <a:r>
              <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a:t>
            </a:r>
            <a:r>
              <a:rPr kumimoji="0" lang="en-US" altLang="en-US" sz="2400" b="0" i="0" u="none" strike="noStrike" kern="1200" cap="none" spc="0" normalizeH="0" baseline="0" noProof="0" dirty="0">
                <a:ln>
                  <a:noFill/>
                </a:ln>
                <a:solidFill>
                  <a:srgbClr val="0070C0"/>
                </a:solidFill>
                <a:effectLst/>
                <a:uLnTx/>
                <a:uFillTx/>
                <a:latin typeface="Times New Roman" panose="02020603050405020304" pitchFamily="18" charset="0"/>
                <a:cs typeface="Times New Roman" panose="02020603050405020304" pitchFamily="18" charset="0"/>
              </a:rPr>
              <a:t>// this-&gt;a = a;</a:t>
            </a:r>
          </a:p>
          <a:p>
            <a:pPr lvl="1" indent="0">
              <a:buFont typeface="Arial" panose="020B0604020202020204" pitchFamily="34" charset="0"/>
              <a:buNone/>
            </a:pPr>
            <a:r>
              <a:rPr kumimoji="0" lang="en-US" altLang="en-US" sz="2400" b="0" i="0" u="none" strike="noStrike" kern="1200" cap="none" spc="0" normalizeH="0" baseline="0" noProof="0" dirty="0">
                <a:ln>
                  <a:noFill/>
                </a:ln>
                <a:solidFill>
                  <a:srgbClr val="0070C0"/>
                </a:solidFill>
                <a:effectLst/>
                <a:uLnTx/>
                <a:uFillTx/>
                <a:latin typeface="Times New Roman" panose="02020603050405020304" pitchFamily="18" charset="0"/>
                <a:cs typeface="Times New Roman" panose="02020603050405020304" pitchFamily="18" charset="0"/>
              </a:rPr>
              <a:t>    // this-&gt;b = b;</a:t>
            </a:r>
          </a:p>
          <a:p>
            <a:pPr lvl="1" indent="0">
              <a:buFont typeface="Arial" panose="020B0604020202020204" pitchFamily="34" charset="0"/>
              <a:buNone/>
            </a:pPr>
            <a:r>
              <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a:t>
            </a:r>
          </a:p>
        </p:txBody>
      </p:sp>
    </p:spTree>
  </p:cSld>
  <p:clrMapOvr>
    <a:masterClrMapping/>
  </p:clrMapOvr>
  <p:transition>
    <p:pull dir="d"/>
  </p:transition>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object 3"/>
          <p:cNvSpPr txBox="1">
            <a:spLocks noGrp="1"/>
          </p:cNvSpPr>
          <p:nvPr>
            <p:ph type="title"/>
          </p:nvPr>
        </p:nvSpPr>
        <p:spPr>
          <a:xfrm>
            <a:off x="488003" y="312733"/>
            <a:ext cx="6710465" cy="381635"/>
          </a:xfrm>
          <a:prstGeom prst="rect">
            <a:avLst/>
          </a:prstGeom>
        </p:spPr>
        <p:txBody>
          <a:bodyPr vert="horz" wrap="square" lIns="0" tIns="12700" rIns="0" bIns="0" rtlCol="0">
            <a:spAutoFit/>
          </a:bodyPr>
          <a:lstStyle/>
          <a:p>
            <a:pPr marL="12700">
              <a:lnSpc>
                <a:spcPct val="100000"/>
              </a:lnSpc>
              <a:spcBef>
                <a:spcPts val="100"/>
              </a:spcBef>
            </a:pPr>
            <a:r>
              <a:rPr lang="en-US" sz="2400" dirty="0">
                <a:solidFill>
                  <a:srgbClr val="04A2B9"/>
                </a:solidFill>
                <a:latin typeface="Corbel" panose="020B0503020204020204" pitchFamily="34" charset="0"/>
              </a:rPr>
              <a:t>Department of Computer Engineering</a:t>
            </a:r>
            <a:endParaRPr lang="en-IN" sz="2400" dirty="0">
              <a:latin typeface="Corbel" panose="020B0503020204020204" pitchFamily="34" charset="0"/>
            </a:endParaRPr>
          </a:p>
        </p:txBody>
      </p:sp>
      <p:sp>
        <p:nvSpPr>
          <p:cNvPr id="8" name="Rectangle 7"/>
          <p:cNvSpPr/>
          <p:nvPr/>
        </p:nvSpPr>
        <p:spPr>
          <a:xfrm>
            <a:off x="464185" y="1247140"/>
            <a:ext cx="11351895" cy="544893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en-US" sz="32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Class template – Example</a:t>
            </a:r>
            <a:r>
              <a:rPr kumimoji="0" lang="en-IN" sz="24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a:t>
            </a:r>
            <a:endParaRPr kumimoji="0" lang="en-IN" sz="9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a:p>
            <a:pPr indent="0">
              <a:buFont typeface="Arial" panose="020B0604020202020204" pitchFamily="34" charset="0"/>
              <a:buNone/>
            </a:pPr>
            <a:r>
              <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void swapNumbers() {</a:t>
            </a:r>
          </a:p>
          <a:p>
            <a:pPr lvl="2" indent="0">
              <a:buFont typeface="Arial" panose="020B0604020202020204" pitchFamily="34" charset="0"/>
              <a:buNone/>
            </a:pPr>
            <a:r>
              <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T temp = a;</a:t>
            </a:r>
          </a:p>
          <a:p>
            <a:pPr lvl="2" indent="0">
              <a:buFont typeface="Arial" panose="020B0604020202020204" pitchFamily="34" charset="0"/>
              <a:buNone/>
            </a:pPr>
            <a:r>
              <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a = b;</a:t>
            </a:r>
          </a:p>
          <a:p>
            <a:pPr lvl="2" indent="0">
              <a:buFont typeface="Arial" panose="020B0604020202020204" pitchFamily="34" charset="0"/>
              <a:buNone/>
            </a:pPr>
            <a:r>
              <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b = temp;</a:t>
            </a:r>
          </a:p>
          <a:p>
            <a:pPr lvl="1" indent="0">
              <a:buFont typeface="Arial" panose="020B0604020202020204" pitchFamily="34" charset="0"/>
              <a:buNone/>
            </a:pPr>
            <a:r>
              <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a:t>
            </a:r>
          </a:p>
          <a:p>
            <a:pPr lvl="1" indent="0">
              <a:buFont typeface="Arial" panose="020B0604020202020204" pitchFamily="34" charset="0"/>
              <a:buNone/>
            </a:pPr>
            <a:r>
              <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void displayNumbers() {</a:t>
            </a:r>
          </a:p>
          <a:p>
            <a:pPr lvl="2" indent="0">
              <a:buFont typeface="Arial" panose="020B0604020202020204" pitchFamily="34" charset="0"/>
              <a:buNone/>
            </a:pPr>
            <a:r>
              <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cout &lt;&lt; "a = " &lt;&lt; a &lt;&lt; ", b = " &lt;&lt; b &lt;&lt; endl;</a:t>
            </a:r>
          </a:p>
          <a:p>
            <a:pPr lvl="1" indent="0">
              <a:buFont typeface="Arial" panose="020B0604020202020204" pitchFamily="34" charset="0"/>
              <a:buNone/>
            </a:pPr>
            <a:r>
              <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a:t>
            </a:r>
          </a:p>
          <a:p>
            <a:pPr indent="0">
              <a:buFont typeface="Arial" panose="020B0604020202020204" pitchFamily="34" charset="0"/>
              <a:buNone/>
            </a:pPr>
            <a:r>
              <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a:t>
            </a:r>
          </a:p>
          <a:p>
            <a:pPr indent="0">
              <a:buFont typeface="Arial" panose="020B0604020202020204" pitchFamily="34" charset="0"/>
              <a:buNone/>
            </a:pPr>
            <a:r>
              <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int main() {</a:t>
            </a:r>
          </a:p>
          <a:p>
            <a:pPr lvl="1" indent="0">
              <a:buFont typeface="Arial" panose="020B0604020202020204" pitchFamily="34" charset="0"/>
              <a:buNone/>
            </a:pPr>
            <a:r>
              <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Swapper &lt;int&gt; intSwapper(100, 20);</a:t>
            </a:r>
          </a:p>
          <a:p>
            <a:pPr lvl="1" indent="0">
              <a:buFont typeface="Arial" panose="020B0604020202020204" pitchFamily="34" charset="0"/>
              <a:buNone/>
            </a:pPr>
            <a:r>
              <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cout &lt;&lt; "Before swapping: ";</a:t>
            </a:r>
          </a:p>
          <a:p>
            <a:pPr lvl="1" indent="0">
              <a:buFont typeface="Arial" panose="020B0604020202020204" pitchFamily="34" charset="0"/>
              <a:buNone/>
            </a:pPr>
            <a:r>
              <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intSwapper.displayNumbers();</a:t>
            </a:r>
          </a:p>
        </p:txBody>
      </p:sp>
    </p:spTree>
  </p:cSld>
  <p:clrMapOvr>
    <a:masterClrMapping/>
  </p:clrMapOvr>
  <p:transition>
    <p:pull dir="d"/>
  </p:transition>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object 3"/>
          <p:cNvSpPr txBox="1">
            <a:spLocks noGrp="1"/>
          </p:cNvSpPr>
          <p:nvPr>
            <p:ph type="title"/>
          </p:nvPr>
        </p:nvSpPr>
        <p:spPr>
          <a:xfrm>
            <a:off x="488003" y="312733"/>
            <a:ext cx="6710465" cy="381635"/>
          </a:xfrm>
          <a:prstGeom prst="rect">
            <a:avLst/>
          </a:prstGeom>
        </p:spPr>
        <p:txBody>
          <a:bodyPr vert="horz" wrap="square" lIns="0" tIns="12700" rIns="0" bIns="0" rtlCol="0">
            <a:spAutoFit/>
          </a:bodyPr>
          <a:lstStyle/>
          <a:p>
            <a:pPr marL="12700">
              <a:lnSpc>
                <a:spcPct val="100000"/>
              </a:lnSpc>
              <a:spcBef>
                <a:spcPts val="100"/>
              </a:spcBef>
            </a:pPr>
            <a:r>
              <a:rPr lang="en-US" sz="2400" dirty="0">
                <a:solidFill>
                  <a:srgbClr val="04A2B9"/>
                </a:solidFill>
                <a:latin typeface="Corbel" panose="020B0503020204020204" pitchFamily="34" charset="0"/>
              </a:rPr>
              <a:t>Department of Computer Engineering</a:t>
            </a:r>
            <a:endParaRPr lang="en-IN" sz="2400" dirty="0">
              <a:latin typeface="Corbel" panose="020B0503020204020204" pitchFamily="34" charset="0"/>
            </a:endParaRPr>
          </a:p>
        </p:txBody>
      </p:sp>
      <p:sp>
        <p:nvSpPr>
          <p:cNvPr id="8" name="Rectangle 7"/>
          <p:cNvSpPr/>
          <p:nvPr/>
        </p:nvSpPr>
        <p:spPr>
          <a:xfrm>
            <a:off x="488003" y="977154"/>
            <a:ext cx="11328077" cy="571892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en-US" sz="32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Class template – Example</a:t>
            </a:r>
            <a:r>
              <a:rPr kumimoji="0" lang="en-IN" sz="24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a:t>
            </a:r>
            <a:endParaRPr kumimoji="0" lang="en-IN" sz="9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a:p>
            <a:pPr indent="0">
              <a:buFont typeface="Arial" panose="020B0604020202020204" pitchFamily="34" charset="0"/>
              <a:buNone/>
            </a:pPr>
            <a:r>
              <a:rPr kumimoji="0" lang="en-US" altLang="en-US" sz="2400" b="0" i="0" u="none" strike="noStrike" kern="1200" cap="none" spc="0" normalizeH="0" baseline="0" noProof="0" dirty="0">
                <a:ln>
                  <a:noFill/>
                </a:ln>
                <a:solidFill>
                  <a:schemeClr val="accent1">
                    <a:lumMod val="75000"/>
                  </a:schemeClr>
                </a:solidFill>
                <a:effectLst/>
                <a:uLnTx/>
                <a:uFillTx/>
                <a:latin typeface="Times New Roman" panose="02020603050405020304" pitchFamily="18" charset="0"/>
                <a:cs typeface="Times New Roman" panose="02020603050405020304" pitchFamily="18" charset="0"/>
              </a:rPr>
              <a:t>// Swapping numbers using the class template</a:t>
            </a:r>
          </a:p>
          <a:p>
            <a:pPr lvl="1" indent="0">
              <a:buFont typeface="Arial" panose="020B0604020202020204" pitchFamily="34" charset="0"/>
              <a:buNone/>
            </a:pPr>
            <a:r>
              <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intSwapper.swapNumbers();</a:t>
            </a:r>
          </a:p>
          <a:p>
            <a:pPr lvl="1" indent="0">
              <a:buFont typeface="Arial" panose="020B0604020202020204" pitchFamily="34" charset="0"/>
              <a:buNone/>
            </a:pPr>
            <a:r>
              <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cout &lt;&lt; "After swapping: ";</a:t>
            </a:r>
          </a:p>
          <a:p>
            <a:pPr lvl="1" indent="0">
              <a:buFont typeface="Arial" panose="020B0604020202020204" pitchFamily="34" charset="0"/>
              <a:buNone/>
            </a:pPr>
            <a:r>
              <a:rPr kumimoji="0" lang="en-US" altLang="en-US" sz="2400" b="0" i="0" u="none" strike="noStrike" kern="1200" cap="none" spc="0" normalizeH="0" baseline="0" noProof="0" dirty="0" err="1">
                <a:ln>
                  <a:noFill/>
                </a:ln>
                <a:solidFill>
                  <a:prstClr val="black"/>
                </a:solidFill>
                <a:effectLst/>
                <a:uLnTx/>
                <a:uFillTx/>
                <a:latin typeface="Times New Roman" panose="02020603050405020304" pitchFamily="18" charset="0"/>
                <a:cs typeface="Times New Roman" panose="02020603050405020304" pitchFamily="18" charset="0"/>
              </a:rPr>
              <a:t>intSwapper.displayNumbers</a:t>
            </a:r>
            <a:r>
              <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a:t>
            </a:r>
          </a:p>
          <a:p>
            <a:pPr lvl="1" indent="0">
              <a:buFont typeface="Arial" panose="020B0604020202020204" pitchFamily="34" charset="0"/>
              <a:buNone/>
            </a:pPr>
            <a:endPar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a:p>
            <a:pPr lvl="1" indent="0">
              <a:buFont typeface="Arial" panose="020B0604020202020204" pitchFamily="34" charset="0"/>
              <a:buNone/>
            </a:pPr>
            <a:r>
              <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Swapper&lt;double&gt; doubleSwapper(2.5, 7.8);</a:t>
            </a:r>
          </a:p>
          <a:p>
            <a:pPr lvl="1" indent="0">
              <a:buFont typeface="Arial" panose="020B0604020202020204" pitchFamily="34" charset="0"/>
              <a:buNone/>
            </a:pPr>
            <a:r>
              <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cout &lt;&lt; "Before swapping: ";</a:t>
            </a:r>
          </a:p>
          <a:p>
            <a:pPr lvl="1" indent="0">
              <a:buFont typeface="Arial" panose="020B0604020202020204" pitchFamily="34" charset="0"/>
              <a:buNone/>
            </a:pPr>
            <a:r>
              <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doubleSwapper.displayNumbers();</a:t>
            </a:r>
          </a:p>
          <a:p>
            <a:pPr indent="0">
              <a:buFont typeface="Arial" panose="020B0604020202020204" pitchFamily="34" charset="0"/>
              <a:buNone/>
            </a:pPr>
            <a:r>
              <a:rPr kumimoji="0" lang="en-US" altLang="en-US" sz="2400" b="0" i="0" u="none" strike="noStrike" kern="1200" cap="none" spc="0" normalizeH="0" baseline="0" noProof="0" dirty="0">
                <a:ln>
                  <a:noFill/>
                </a:ln>
                <a:solidFill>
                  <a:schemeClr val="accent1">
                    <a:lumMod val="75000"/>
                  </a:schemeClr>
                </a:solidFill>
                <a:effectLst/>
                <a:uLnTx/>
                <a:uFillTx/>
                <a:latin typeface="Times New Roman" panose="02020603050405020304" pitchFamily="18" charset="0"/>
                <a:cs typeface="Times New Roman" panose="02020603050405020304" pitchFamily="18" charset="0"/>
              </a:rPr>
              <a:t>// Swapping numbers using the same class template</a:t>
            </a:r>
          </a:p>
          <a:p>
            <a:pPr lvl="1" indent="0">
              <a:buFont typeface="Arial" panose="020B0604020202020204" pitchFamily="34" charset="0"/>
              <a:buNone/>
            </a:pPr>
            <a:r>
              <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doubleSwapper.swapNumbers();</a:t>
            </a:r>
          </a:p>
          <a:p>
            <a:pPr lvl="1" indent="0">
              <a:buFont typeface="Arial" panose="020B0604020202020204" pitchFamily="34" charset="0"/>
              <a:buNone/>
            </a:pPr>
            <a:r>
              <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cout &lt;&lt; "After swapping: ";</a:t>
            </a:r>
          </a:p>
          <a:p>
            <a:pPr lvl="1" indent="0">
              <a:buFont typeface="Arial" panose="020B0604020202020204" pitchFamily="34" charset="0"/>
              <a:buNone/>
            </a:pPr>
            <a:r>
              <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doubleSwapper.displayNumbers();</a:t>
            </a:r>
          </a:p>
          <a:p>
            <a:pPr lvl="1" indent="0">
              <a:buFont typeface="Arial" panose="020B0604020202020204" pitchFamily="34" charset="0"/>
              <a:buNone/>
            </a:pPr>
            <a:r>
              <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return 0;</a:t>
            </a:r>
          </a:p>
          <a:p>
            <a:pPr indent="0">
              <a:buFont typeface="Arial" panose="020B0604020202020204" pitchFamily="34" charset="0"/>
              <a:buNone/>
            </a:pPr>
            <a:r>
              <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a:t>
            </a:r>
          </a:p>
        </p:txBody>
      </p:sp>
    </p:spTree>
  </p:cSld>
  <p:clrMapOvr>
    <a:masterClrMapping/>
  </p:clrMapOvr>
  <p:transition>
    <p:pull dir="d"/>
  </p:transition>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9A1258A7-9539-FEF6-4BDB-99567CE69F87}"/>
            </a:ext>
          </a:extLst>
        </p:cNvPr>
        <p:cNvGrpSpPr/>
        <p:nvPr/>
      </p:nvGrpSpPr>
      <p:grpSpPr>
        <a:xfrm>
          <a:off x="0" y="0"/>
          <a:ext cx="0" cy="0"/>
          <a:chOff x="0" y="0"/>
          <a:chExt cx="0" cy="0"/>
        </a:xfrm>
      </p:grpSpPr>
      <p:sp>
        <p:nvSpPr>
          <p:cNvPr id="5" name="object 3">
            <a:extLst>
              <a:ext uri="{FF2B5EF4-FFF2-40B4-BE49-F238E27FC236}">
                <a16:creationId xmlns:a16="http://schemas.microsoft.com/office/drawing/2014/main" id="{5C13751F-A4AC-9464-A858-A93A1A48113A}"/>
              </a:ext>
            </a:extLst>
          </p:cNvPr>
          <p:cNvSpPr txBox="1">
            <a:spLocks noGrp="1"/>
          </p:cNvSpPr>
          <p:nvPr>
            <p:ph type="title"/>
          </p:nvPr>
        </p:nvSpPr>
        <p:spPr>
          <a:xfrm>
            <a:off x="488003" y="312733"/>
            <a:ext cx="6710465" cy="381635"/>
          </a:xfrm>
          <a:prstGeom prst="rect">
            <a:avLst/>
          </a:prstGeom>
        </p:spPr>
        <p:txBody>
          <a:bodyPr vert="horz" wrap="square" lIns="0" tIns="12700" rIns="0" bIns="0" rtlCol="0">
            <a:spAutoFit/>
          </a:bodyPr>
          <a:lstStyle/>
          <a:p>
            <a:pPr marL="12700">
              <a:lnSpc>
                <a:spcPct val="100000"/>
              </a:lnSpc>
              <a:spcBef>
                <a:spcPts val="100"/>
              </a:spcBef>
            </a:pPr>
            <a:r>
              <a:rPr lang="en-US" sz="2400" dirty="0">
                <a:solidFill>
                  <a:srgbClr val="04A2B9"/>
                </a:solidFill>
                <a:latin typeface="Corbel" panose="020B0503020204020204" pitchFamily="34" charset="0"/>
              </a:rPr>
              <a:t>Department of Computer Engineering</a:t>
            </a:r>
            <a:endParaRPr lang="en-IN" sz="2400" dirty="0">
              <a:latin typeface="Corbel" panose="020B0503020204020204" pitchFamily="34" charset="0"/>
            </a:endParaRPr>
          </a:p>
        </p:txBody>
      </p:sp>
      <p:sp>
        <p:nvSpPr>
          <p:cNvPr id="8" name="Rectangle 7">
            <a:extLst>
              <a:ext uri="{FF2B5EF4-FFF2-40B4-BE49-F238E27FC236}">
                <a16:creationId xmlns:a16="http://schemas.microsoft.com/office/drawing/2014/main" id="{81C8754C-60AE-F21D-6B70-7D0BE9A843E3}"/>
              </a:ext>
            </a:extLst>
          </p:cNvPr>
          <p:cNvSpPr/>
          <p:nvPr/>
        </p:nvSpPr>
        <p:spPr>
          <a:xfrm>
            <a:off x="488003" y="1147482"/>
            <a:ext cx="11328077" cy="558986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just" defTabSz="914400" rtl="0" eaLnBrk="1" fontAlgn="auto" latinLnBrk="0" hangingPunct="1">
              <a:lnSpc>
                <a:spcPct val="100000"/>
              </a:lnSpc>
              <a:spcBef>
                <a:spcPts val="0"/>
              </a:spcBef>
              <a:spcAft>
                <a:spcPts val="0"/>
              </a:spcAft>
              <a:buClrTx/>
              <a:buSzTx/>
              <a:buFontTx/>
              <a:buNone/>
              <a:defRPr/>
            </a:pPr>
            <a:r>
              <a:rPr kumimoji="0" lang="en-US" altLang="en-US" sz="32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Overloading function templates</a:t>
            </a:r>
            <a:endParaRPr kumimoji="0" lang="en-IN" sz="24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a:p>
            <a:pPr marR="0" lvl="0" algn="just" defTabSz="914400" rtl="0" eaLnBrk="1" fontAlgn="auto" latinLnBrk="0" hangingPunct="1">
              <a:spcBef>
                <a:spcPts val="0"/>
              </a:spcBef>
              <a:spcAft>
                <a:spcPts val="0"/>
              </a:spcAft>
              <a:buClrTx/>
              <a:buSzTx/>
              <a:defRPr/>
            </a:pPr>
            <a:endParaRPr kumimoji="0" lang="en-US" altLang="en-US" sz="24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a:p>
            <a:pPr marL="457200" marR="0" lvl="0" indent="-457200" algn="just" defTabSz="914400" rtl="0" eaLnBrk="1" fontAlgn="auto" latinLnBrk="0" hangingPunct="1">
              <a:spcBef>
                <a:spcPts val="0"/>
              </a:spcBef>
              <a:spcAft>
                <a:spcPts val="0"/>
              </a:spcAft>
              <a:buClrTx/>
              <a:buSzTx/>
              <a:buAutoNum type="arabicPeriod"/>
              <a:defRPr/>
            </a:pPr>
            <a:r>
              <a:rPr kumimoji="0" lang="en-US" altLang="en-US" sz="24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You may overload a function template either by </a:t>
            </a:r>
            <a:r>
              <a:rPr kumimoji="0" lang="en-US" altLang="en-US" sz="24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a non-template function </a:t>
            </a:r>
            <a:r>
              <a:rPr kumimoji="0" lang="en-US" altLang="en-US" sz="24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or by</a:t>
            </a:r>
            <a:r>
              <a:rPr kumimoji="0" lang="en-US" altLang="en-US" sz="24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another function template.</a:t>
            </a:r>
          </a:p>
          <a:p>
            <a:pPr marL="457200" marR="0" lvl="0" indent="-457200" algn="just" defTabSz="914400" rtl="0" eaLnBrk="1" fontAlgn="auto" latinLnBrk="0" hangingPunct="1">
              <a:spcBef>
                <a:spcPts val="0"/>
              </a:spcBef>
              <a:spcAft>
                <a:spcPts val="0"/>
              </a:spcAft>
              <a:buClrTx/>
              <a:buSzTx/>
              <a:buAutoNum type="arabicPeriod"/>
              <a:defRPr/>
            </a:pPr>
            <a:endParaRPr kumimoji="0" lang="en-US" altLang="en-US" sz="24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spcBef>
                <a:spcPct val="0"/>
              </a:spcBef>
              <a:spcAft>
                <a:spcPct val="0"/>
              </a:spcAft>
              <a:buClrTx/>
              <a:buSzTx/>
              <a:buFontTx/>
              <a:buAutoNum type="arabicPeriod" startAt="2"/>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When you call an overloaded function template, </a:t>
            </a: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compiler follows these steps:</a:t>
            </a:r>
          </a:p>
          <a:p>
            <a:pPr marL="457200" marR="0" lvl="1" indent="0" algn="just" defTabSz="914400" rtl="0" eaLnBrk="0" fontAlgn="base" latinLnBrk="0" hangingPunct="0">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It tries to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figure out the correct data types</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the template.</a:t>
            </a:r>
          </a:p>
          <a:p>
            <a:pPr marL="457200" marR="0" lvl="1" indent="0" algn="just" defTabSz="914400" rtl="0" eaLnBrk="0" fontAlgn="base" latinLnBrk="0" hangingPunct="0">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If successful, it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creates a specialized version</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of the template.</a:t>
            </a:r>
          </a:p>
          <a:p>
            <a:pPr marL="457200" marR="0" lvl="1" indent="0" algn="just" defTabSz="914400" rtl="0" eaLnBrk="0" fontAlgn="base" latinLnBrk="0" hangingPunct="0">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It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adds this specialized function to the list of possible functions</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457200" marR="0" lvl="1" indent="0" algn="just" defTabSz="914400" rtl="0" eaLnBrk="0" fontAlgn="base" latinLnBrk="0" hangingPunct="0">
              <a:spcBef>
                <a:spcPct val="0"/>
              </a:spcBef>
              <a:spcAft>
                <a:spcPct val="0"/>
              </a:spcAft>
              <a:buClrTx/>
              <a:buSzTx/>
              <a:buFontTx/>
              <a:buChar char="•"/>
              <a:tabLs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spcBef>
                <a:spcPct val="0"/>
              </a:spcBef>
              <a:spcAft>
                <a:spcPct val="0"/>
              </a:spcAft>
              <a:buClrTx/>
              <a:buSzTx/>
              <a:buFontTx/>
              <a:buAutoNum type="arabicPeriod" startAt="3"/>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How the compiler chooses the function to call</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457200" marR="0" lvl="1" indent="0" algn="just" defTabSz="914400" rtl="0" eaLnBrk="0" fontAlgn="base" latinLnBrk="0" hangingPunct="0">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If a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regular function</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matches exactly, it will be chosen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before</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template.</a:t>
            </a:r>
          </a:p>
          <a:p>
            <a:pPr marL="457200" marR="0" lvl="1" indent="0" algn="just" defTabSz="914400" rtl="0" eaLnBrk="0" fontAlgn="base" latinLnBrk="0" hangingPunct="0">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If no exact match is found, the best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template match</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is used.</a:t>
            </a:r>
          </a:p>
        </p:txBody>
      </p:sp>
    </p:spTree>
    <p:extLst>
      <p:ext uri="{BB962C8B-B14F-4D97-AF65-F5344CB8AC3E}">
        <p14:creationId xmlns:p14="http://schemas.microsoft.com/office/powerpoint/2010/main" val="104262929"/>
      </p:ext>
    </p:extLst>
  </p:cSld>
  <p:clrMapOvr>
    <a:masterClrMapping/>
  </p:clrMapOvr>
  <p:transition>
    <p:pull dir="d"/>
  </p:transition>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object 3"/>
          <p:cNvSpPr txBox="1">
            <a:spLocks noGrp="1"/>
          </p:cNvSpPr>
          <p:nvPr>
            <p:ph type="title"/>
          </p:nvPr>
        </p:nvSpPr>
        <p:spPr>
          <a:xfrm>
            <a:off x="488003" y="312733"/>
            <a:ext cx="6710465" cy="381635"/>
          </a:xfrm>
          <a:prstGeom prst="rect">
            <a:avLst/>
          </a:prstGeom>
        </p:spPr>
        <p:txBody>
          <a:bodyPr vert="horz" wrap="square" lIns="0" tIns="12700" rIns="0" bIns="0" rtlCol="0">
            <a:spAutoFit/>
          </a:bodyPr>
          <a:lstStyle/>
          <a:p>
            <a:pPr marL="12700">
              <a:lnSpc>
                <a:spcPct val="100000"/>
              </a:lnSpc>
              <a:spcBef>
                <a:spcPts val="100"/>
              </a:spcBef>
            </a:pPr>
            <a:r>
              <a:rPr lang="en-US" sz="2400" dirty="0">
                <a:solidFill>
                  <a:srgbClr val="04A2B9"/>
                </a:solidFill>
                <a:latin typeface="Corbel" panose="020B0503020204020204" pitchFamily="34" charset="0"/>
              </a:rPr>
              <a:t>Department of Computer Engineering</a:t>
            </a:r>
            <a:endParaRPr lang="en-IN" sz="2400" dirty="0">
              <a:latin typeface="Corbel" panose="020B0503020204020204" pitchFamily="34" charset="0"/>
            </a:endParaRPr>
          </a:p>
        </p:txBody>
      </p:sp>
      <p:sp>
        <p:nvSpPr>
          <p:cNvPr id="8" name="Rectangle 7"/>
          <p:cNvSpPr/>
          <p:nvPr/>
        </p:nvSpPr>
        <p:spPr>
          <a:xfrm>
            <a:off x="488003" y="1124697"/>
            <a:ext cx="11421633" cy="573330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IN" sz="16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#include &lt;iostream&gt; </a:t>
            </a:r>
          </a:p>
          <a:p>
            <a:pPr marL="0" marR="0" lvl="0" indent="0" algn="l" defTabSz="914400" rtl="0" eaLnBrk="1" fontAlgn="auto" latinLnBrk="0" hangingPunct="1">
              <a:lnSpc>
                <a:spcPct val="100000"/>
              </a:lnSpc>
              <a:spcBef>
                <a:spcPts val="0"/>
              </a:spcBef>
              <a:spcAft>
                <a:spcPts val="0"/>
              </a:spcAft>
              <a:buClrTx/>
              <a:buSzTx/>
              <a:buFontTx/>
              <a:buNone/>
              <a:defRPr/>
            </a:pPr>
            <a:r>
              <a:rPr kumimoji="0" lang="en-IN" sz="16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using namespace std; </a:t>
            </a:r>
          </a:p>
          <a:p>
            <a:pPr marL="0" marR="0" lvl="0" indent="0" algn="l" defTabSz="914400" rtl="0" eaLnBrk="1" fontAlgn="auto" latinLnBrk="0" hangingPunct="1">
              <a:lnSpc>
                <a:spcPct val="100000"/>
              </a:lnSpc>
              <a:spcBef>
                <a:spcPts val="0"/>
              </a:spcBef>
              <a:spcAft>
                <a:spcPts val="0"/>
              </a:spcAft>
              <a:buClrTx/>
              <a:buSzTx/>
              <a:buFontTx/>
              <a:buNone/>
              <a:defRPr/>
            </a:pPr>
            <a:r>
              <a:rPr kumimoji="0" lang="en-IN" sz="1600" i="0" u="none" strike="noStrike" kern="1200" cap="none" spc="0" normalizeH="0" baseline="0" noProof="0" dirty="0">
                <a:ln>
                  <a:noFill/>
                </a:ln>
                <a:solidFill>
                  <a:srgbClr val="FF0000"/>
                </a:solidFill>
                <a:effectLst/>
                <a:uLnTx/>
                <a:uFillTx/>
                <a:latin typeface="Times New Roman" panose="02020603050405020304" pitchFamily="18" charset="0"/>
                <a:cs typeface="Times New Roman" panose="02020603050405020304" pitchFamily="18" charset="0"/>
              </a:rPr>
              <a:t>// Function template</a:t>
            </a:r>
          </a:p>
          <a:p>
            <a:pPr marL="0" marR="0" lvl="0" indent="0" algn="l" defTabSz="914400" rtl="0" eaLnBrk="1" fontAlgn="auto" latinLnBrk="0" hangingPunct="1">
              <a:lnSpc>
                <a:spcPct val="100000"/>
              </a:lnSpc>
              <a:spcBef>
                <a:spcPts val="0"/>
              </a:spcBef>
              <a:spcAft>
                <a:spcPts val="0"/>
              </a:spcAft>
              <a:buClrTx/>
              <a:buSzTx/>
              <a:buFontTx/>
              <a:buNone/>
              <a:defRPr/>
            </a:pPr>
            <a:r>
              <a:rPr kumimoji="0" lang="en-IN" sz="16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template&lt;class T&gt; </a:t>
            </a:r>
          </a:p>
          <a:p>
            <a:pPr marL="0" marR="0" lvl="0" indent="0" algn="l" defTabSz="914400" rtl="0" eaLnBrk="1" fontAlgn="auto" latinLnBrk="0" hangingPunct="1">
              <a:lnSpc>
                <a:spcPct val="100000"/>
              </a:lnSpc>
              <a:spcBef>
                <a:spcPts val="0"/>
              </a:spcBef>
              <a:spcAft>
                <a:spcPts val="0"/>
              </a:spcAft>
              <a:buClrTx/>
              <a:buSzTx/>
              <a:buFontTx/>
              <a:buNone/>
              <a:defRPr/>
            </a:pPr>
            <a:r>
              <a:rPr kumimoji="0" lang="en-IN" sz="16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void f(T x, T y) { </a:t>
            </a:r>
          </a:p>
          <a:p>
            <a:pPr marL="0" marR="0" lvl="0" indent="0" algn="l" defTabSz="914400" rtl="0" eaLnBrk="1" fontAlgn="auto" latinLnBrk="0" hangingPunct="1">
              <a:lnSpc>
                <a:spcPct val="100000"/>
              </a:lnSpc>
              <a:spcBef>
                <a:spcPts val="0"/>
              </a:spcBef>
              <a:spcAft>
                <a:spcPts val="0"/>
              </a:spcAft>
              <a:buClrTx/>
              <a:buSzTx/>
              <a:buFontTx/>
              <a:buNone/>
              <a:defRPr/>
            </a:pPr>
            <a:r>
              <a:rPr kumimoji="0" lang="en-IN" sz="16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a:t>
            </a:r>
            <a:r>
              <a:rPr kumimoji="0" lang="en-IN" sz="1600" i="0" u="none" strike="noStrike" kern="1200" cap="none" spc="0" normalizeH="0" baseline="0" noProof="0" dirty="0" err="1">
                <a:ln>
                  <a:noFill/>
                </a:ln>
                <a:solidFill>
                  <a:prstClr val="black"/>
                </a:solidFill>
                <a:effectLst/>
                <a:uLnTx/>
                <a:uFillTx/>
                <a:latin typeface="Times New Roman" panose="02020603050405020304" pitchFamily="18" charset="0"/>
                <a:cs typeface="Times New Roman" panose="02020603050405020304" pitchFamily="18" charset="0"/>
              </a:rPr>
              <a:t>cout</a:t>
            </a:r>
            <a:r>
              <a:rPr kumimoji="0" lang="en-IN" sz="16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&lt;&lt; "Template" &lt;&lt; </a:t>
            </a:r>
            <a:r>
              <a:rPr kumimoji="0" lang="en-IN" sz="1600" i="0" u="none" strike="noStrike" kern="1200" cap="none" spc="0" normalizeH="0" baseline="0" noProof="0" dirty="0" err="1">
                <a:ln>
                  <a:noFill/>
                </a:ln>
                <a:solidFill>
                  <a:prstClr val="black"/>
                </a:solidFill>
                <a:effectLst/>
                <a:uLnTx/>
                <a:uFillTx/>
                <a:latin typeface="Times New Roman" panose="02020603050405020304" pitchFamily="18" charset="0"/>
                <a:cs typeface="Times New Roman" panose="02020603050405020304" pitchFamily="18" charset="0"/>
              </a:rPr>
              <a:t>endl</a:t>
            </a:r>
            <a:r>
              <a:rPr kumimoji="0" lang="en-IN" sz="16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a:t>
            </a:r>
          </a:p>
          <a:p>
            <a:pPr marL="0" marR="0" lvl="0" indent="0" algn="l" defTabSz="914400" rtl="0" eaLnBrk="1" fontAlgn="auto" latinLnBrk="0" hangingPunct="1">
              <a:lnSpc>
                <a:spcPct val="100000"/>
              </a:lnSpc>
              <a:spcBef>
                <a:spcPts val="0"/>
              </a:spcBef>
              <a:spcAft>
                <a:spcPts val="0"/>
              </a:spcAft>
              <a:buClrTx/>
              <a:buSzTx/>
              <a:buFontTx/>
              <a:buNone/>
              <a:defRPr/>
            </a:pPr>
            <a:r>
              <a:rPr kumimoji="0" lang="en-IN" sz="16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a:t>
            </a:r>
          </a:p>
          <a:p>
            <a:pPr marL="0" marR="0" lvl="0" indent="0" algn="l" defTabSz="914400" rtl="0" eaLnBrk="1" fontAlgn="auto" latinLnBrk="0" hangingPunct="1">
              <a:lnSpc>
                <a:spcPct val="100000"/>
              </a:lnSpc>
              <a:spcBef>
                <a:spcPts val="0"/>
              </a:spcBef>
              <a:spcAft>
                <a:spcPts val="0"/>
              </a:spcAft>
              <a:buClrTx/>
              <a:buSzTx/>
              <a:buFontTx/>
              <a:buNone/>
              <a:defRPr/>
            </a:pPr>
            <a:r>
              <a:rPr kumimoji="0" lang="en-IN" sz="1600" i="0" u="none" strike="noStrike" kern="1200" cap="none" spc="0" normalizeH="0" baseline="0" noProof="0" dirty="0">
                <a:ln>
                  <a:noFill/>
                </a:ln>
                <a:solidFill>
                  <a:srgbClr val="FF0000"/>
                </a:solidFill>
                <a:effectLst/>
                <a:uLnTx/>
                <a:uFillTx/>
                <a:latin typeface="Times New Roman" panose="02020603050405020304" pitchFamily="18" charset="0"/>
                <a:cs typeface="Times New Roman" panose="02020603050405020304" pitchFamily="18" charset="0"/>
              </a:rPr>
              <a:t>// Non-template (regular) function for two integers</a:t>
            </a:r>
          </a:p>
          <a:p>
            <a:pPr marL="0" marR="0" lvl="0" indent="0" algn="l" defTabSz="914400" rtl="0" eaLnBrk="1" fontAlgn="auto" latinLnBrk="0" hangingPunct="1">
              <a:lnSpc>
                <a:spcPct val="100000"/>
              </a:lnSpc>
              <a:spcBef>
                <a:spcPts val="0"/>
              </a:spcBef>
              <a:spcAft>
                <a:spcPts val="0"/>
              </a:spcAft>
              <a:buClrTx/>
              <a:buSzTx/>
              <a:buFontTx/>
              <a:buNone/>
              <a:defRPr/>
            </a:pPr>
            <a:r>
              <a:rPr kumimoji="0" lang="en-IN" sz="16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void f(int w, int z) { </a:t>
            </a:r>
          </a:p>
          <a:p>
            <a:pPr marL="0" marR="0" lvl="0" indent="0" algn="l" defTabSz="914400" rtl="0" eaLnBrk="1" fontAlgn="auto" latinLnBrk="0" hangingPunct="1">
              <a:lnSpc>
                <a:spcPct val="100000"/>
              </a:lnSpc>
              <a:spcBef>
                <a:spcPts val="0"/>
              </a:spcBef>
              <a:spcAft>
                <a:spcPts val="0"/>
              </a:spcAft>
              <a:buClrTx/>
              <a:buSzTx/>
              <a:buFontTx/>
              <a:buNone/>
              <a:defRPr/>
            </a:pPr>
            <a:r>
              <a:rPr kumimoji="0" lang="en-IN" sz="16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a:t>
            </a:r>
            <a:r>
              <a:rPr kumimoji="0" lang="en-IN" sz="1600" i="0" u="none" strike="noStrike" kern="1200" cap="none" spc="0" normalizeH="0" baseline="0" noProof="0" dirty="0" err="1">
                <a:ln>
                  <a:noFill/>
                </a:ln>
                <a:solidFill>
                  <a:prstClr val="black"/>
                </a:solidFill>
                <a:effectLst/>
                <a:uLnTx/>
                <a:uFillTx/>
                <a:latin typeface="Times New Roman" panose="02020603050405020304" pitchFamily="18" charset="0"/>
                <a:cs typeface="Times New Roman" panose="02020603050405020304" pitchFamily="18" charset="0"/>
              </a:rPr>
              <a:t>cout</a:t>
            </a:r>
            <a:r>
              <a:rPr kumimoji="0" lang="en-IN" sz="16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&lt;&lt; "Non-template" &lt;&lt; </a:t>
            </a:r>
            <a:r>
              <a:rPr kumimoji="0" lang="en-IN" sz="1600" i="0" u="none" strike="noStrike" kern="1200" cap="none" spc="0" normalizeH="0" baseline="0" noProof="0" dirty="0" err="1">
                <a:ln>
                  <a:noFill/>
                </a:ln>
                <a:solidFill>
                  <a:prstClr val="black"/>
                </a:solidFill>
                <a:effectLst/>
                <a:uLnTx/>
                <a:uFillTx/>
                <a:latin typeface="Times New Roman" panose="02020603050405020304" pitchFamily="18" charset="0"/>
                <a:cs typeface="Times New Roman" panose="02020603050405020304" pitchFamily="18" charset="0"/>
              </a:rPr>
              <a:t>endl</a:t>
            </a:r>
            <a:r>
              <a:rPr kumimoji="0" lang="en-IN" sz="16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a:t>
            </a:r>
          </a:p>
          <a:p>
            <a:pPr marL="0" marR="0" lvl="0" indent="0" algn="l" defTabSz="914400" rtl="0" eaLnBrk="1" fontAlgn="auto" latinLnBrk="0" hangingPunct="1">
              <a:lnSpc>
                <a:spcPct val="100000"/>
              </a:lnSpc>
              <a:spcBef>
                <a:spcPts val="0"/>
              </a:spcBef>
              <a:spcAft>
                <a:spcPts val="0"/>
              </a:spcAft>
              <a:buClrTx/>
              <a:buSzTx/>
              <a:buFontTx/>
              <a:buNone/>
              <a:defRPr/>
            </a:pPr>
            <a:r>
              <a:rPr kumimoji="0" lang="en-IN" sz="16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a:t>
            </a:r>
          </a:p>
          <a:p>
            <a:pPr marL="0" marR="0" lvl="0" indent="0" algn="l" defTabSz="914400" rtl="0" eaLnBrk="1" fontAlgn="auto" latinLnBrk="0" hangingPunct="1">
              <a:lnSpc>
                <a:spcPct val="100000"/>
              </a:lnSpc>
              <a:spcBef>
                <a:spcPts val="0"/>
              </a:spcBef>
              <a:spcAft>
                <a:spcPts val="0"/>
              </a:spcAft>
              <a:buClrTx/>
              <a:buSzTx/>
              <a:buFontTx/>
              <a:buNone/>
              <a:defRPr/>
            </a:pPr>
            <a:r>
              <a:rPr kumimoji="0" lang="en-IN" sz="1600" i="0" u="none" strike="noStrike" kern="1200" cap="none" spc="0" normalizeH="0" baseline="0" noProof="0" dirty="0">
                <a:ln>
                  <a:noFill/>
                </a:ln>
                <a:solidFill>
                  <a:srgbClr val="FF0000"/>
                </a:solidFill>
                <a:effectLst/>
                <a:uLnTx/>
                <a:uFillTx/>
                <a:latin typeface="Times New Roman" panose="02020603050405020304" pitchFamily="18" charset="0"/>
                <a:cs typeface="Times New Roman" panose="02020603050405020304" pitchFamily="18" charset="0"/>
              </a:rPr>
              <a:t>// Overloaded non-template function for mixed types (int, char)</a:t>
            </a:r>
          </a:p>
          <a:p>
            <a:pPr marL="0" marR="0" lvl="0" indent="0" algn="l" defTabSz="914400" rtl="0" eaLnBrk="1" fontAlgn="auto" latinLnBrk="0" hangingPunct="1">
              <a:lnSpc>
                <a:spcPct val="100000"/>
              </a:lnSpc>
              <a:spcBef>
                <a:spcPts val="0"/>
              </a:spcBef>
              <a:spcAft>
                <a:spcPts val="0"/>
              </a:spcAft>
              <a:buClrTx/>
              <a:buSzTx/>
              <a:buFontTx/>
              <a:buNone/>
              <a:defRPr/>
            </a:pPr>
            <a:r>
              <a:rPr kumimoji="0" lang="en-IN" sz="16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void f(int w, char z) { </a:t>
            </a:r>
          </a:p>
          <a:p>
            <a:pPr marL="0" marR="0" lvl="0" indent="0" algn="l" defTabSz="914400" rtl="0" eaLnBrk="1" fontAlgn="auto" latinLnBrk="0" hangingPunct="1">
              <a:lnSpc>
                <a:spcPct val="100000"/>
              </a:lnSpc>
              <a:spcBef>
                <a:spcPts val="0"/>
              </a:spcBef>
              <a:spcAft>
                <a:spcPts val="0"/>
              </a:spcAft>
              <a:buClrTx/>
              <a:buSzTx/>
              <a:buFontTx/>
              <a:buNone/>
              <a:defRPr/>
            </a:pPr>
            <a:r>
              <a:rPr kumimoji="0" lang="en-IN" sz="16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a:t>
            </a:r>
            <a:r>
              <a:rPr kumimoji="0" lang="en-IN" sz="1600" i="0" u="none" strike="noStrike" kern="1200" cap="none" spc="0" normalizeH="0" baseline="0" noProof="0" dirty="0" err="1">
                <a:ln>
                  <a:noFill/>
                </a:ln>
                <a:solidFill>
                  <a:prstClr val="black"/>
                </a:solidFill>
                <a:effectLst/>
                <a:uLnTx/>
                <a:uFillTx/>
                <a:latin typeface="Times New Roman" panose="02020603050405020304" pitchFamily="18" charset="0"/>
                <a:cs typeface="Times New Roman" panose="02020603050405020304" pitchFamily="18" charset="0"/>
              </a:rPr>
              <a:t>cout</a:t>
            </a:r>
            <a:r>
              <a:rPr kumimoji="0" lang="en-IN" sz="16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&lt;&lt; "Non-template" &lt;&lt; </a:t>
            </a:r>
            <a:r>
              <a:rPr kumimoji="0" lang="en-IN" sz="1600" i="0" u="none" strike="noStrike" kern="1200" cap="none" spc="0" normalizeH="0" baseline="0" noProof="0" dirty="0" err="1">
                <a:ln>
                  <a:noFill/>
                </a:ln>
                <a:solidFill>
                  <a:prstClr val="black"/>
                </a:solidFill>
                <a:effectLst/>
                <a:uLnTx/>
                <a:uFillTx/>
                <a:latin typeface="Times New Roman" panose="02020603050405020304" pitchFamily="18" charset="0"/>
                <a:cs typeface="Times New Roman" panose="02020603050405020304" pitchFamily="18" charset="0"/>
              </a:rPr>
              <a:t>endl</a:t>
            </a:r>
            <a:r>
              <a:rPr kumimoji="0" lang="en-IN" sz="16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a:t>
            </a:r>
          </a:p>
          <a:p>
            <a:pPr marL="0" marR="0" lvl="0" indent="0" algn="l" defTabSz="914400" rtl="0" eaLnBrk="1" fontAlgn="auto" latinLnBrk="0" hangingPunct="1">
              <a:lnSpc>
                <a:spcPct val="100000"/>
              </a:lnSpc>
              <a:spcBef>
                <a:spcPts val="0"/>
              </a:spcBef>
              <a:spcAft>
                <a:spcPts val="0"/>
              </a:spcAft>
              <a:buClrTx/>
              <a:buSzTx/>
              <a:buFontTx/>
              <a:buNone/>
              <a:defRPr/>
            </a:pPr>
            <a:r>
              <a:rPr kumimoji="0" lang="en-IN" sz="16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a:t>
            </a:r>
          </a:p>
          <a:p>
            <a:pPr marL="0" marR="0" lvl="0" indent="0" algn="l" defTabSz="914400" rtl="0" eaLnBrk="1" fontAlgn="auto" latinLnBrk="0" hangingPunct="1">
              <a:lnSpc>
                <a:spcPct val="100000"/>
              </a:lnSpc>
              <a:spcBef>
                <a:spcPts val="0"/>
              </a:spcBef>
              <a:spcAft>
                <a:spcPts val="0"/>
              </a:spcAft>
              <a:buClrTx/>
              <a:buSzTx/>
              <a:buFontTx/>
              <a:buNone/>
              <a:defRPr/>
            </a:pPr>
            <a:r>
              <a:rPr kumimoji="0" lang="en-IN" sz="16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int main() { </a:t>
            </a:r>
          </a:p>
          <a:p>
            <a:pPr marL="0" marR="0" lvl="0" indent="0" algn="l" defTabSz="914400" rtl="0" eaLnBrk="1" fontAlgn="auto" latinLnBrk="0" hangingPunct="1">
              <a:lnSpc>
                <a:spcPct val="100000"/>
              </a:lnSpc>
              <a:spcBef>
                <a:spcPts val="0"/>
              </a:spcBef>
              <a:spcAft>
                <a:spcPts val="0"/>
              </a:spcAft>
              <a:buClrTx/>
              <a:buSzTx/>
              <a:buFontTx/>
              <a:buNone/>
              <a:defRPr/>
            </a:pPr>
            <a:r>
              <a:rPr kumimoji="0" lang="en-IN" sz="16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f(1, 2);       </a:t>
            </a:r>
            <a:r>
              <a:rPr kumimoji="0" lang="en-IN" sz="1600" i="0" u="none" strike="noStrike" kern="1200" cap="none" spc="0" normalizeH="0" baseline="0" noProof="0" dirty="0">
                <a:ln>
                  <a:noFill/>
                </a:ln>
                <a:solidFill>
                  <a:srgbClr val="FF0000"/>
                </a:solidFill>
                <a:effectLst/>
                <a:uLnTx/>
                <a:uFillTx/>
                <a:latin typeface="Times New Roman" panose="02020603050405020304" pitchFamily="18" charset="0"/>
                <a:cs typeface="Times New Roman" panose="02020603050405020304" pitchFamily="18" charset="0"/>
              </a:rPr>
              <a:t>// Calls f(int, int) → Non-template function</a:t>
            </a:r>
          </a:p>
          <a:p>
            <a:pPr marL="0" marR="0" lvl="0" indent="0" algn="l" defTabSz="914400" rtl="0" eaLnBrk="1" fontAlgn="auto" latinLnBrk="0" hangingPunct="1">
              <a:lnSpc>
                <a:spcPct val="100000"/>
              </a:lnSpc>
              <a:spcBef>
                <a:spcPts val="0"/>
              </a:spcBef>
              <a:spcAft>
                <a:spcPts val="0"/>
              </a:spcAft>
              <a:buClrTx/>
              <a:buSzTx/>
              <a:buFontTx/>
              <a:buNone/>
              <a:defRPr/>
            </a:pPr>
            <a:r>
              <a:rPr kumimoji="0" lang="en-IN" sz="16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f('a', 'b');   </a:t>
            </a:r>
            <a:r>
              <a:rPr kumimoji="0" lang="en-IN" sz="1600" i="0" u="none" strike="noStrike" kern="1200" cap="none" spc="0" normalizeH="0" baseline="0" noProof="0" dirty="0">
                <a:ln>
                  <a:noFill/>
                </a:ln>
                <a:solidFill>
                  <a:srgbClr val="FF0000"/>
                </a:solidFill>
                <a:effectLst/>
                <a:uLnTx/>
                <a:uFillTx/>
                <a:latin typeface="Times New Roman" panose="02020603050405020304" pitchFamily="18" charset="0"/>
                <a:cs typeface="Times New Roman" panose="02020603050405020304" pitchFamily="18" charset="0"/>
              </a:rPr>
              <a:t>// Calls f&lt;char, char&gt; (template function) → Template</a:t>
            </a:r>
          </a:p>
          <a:p>
            <a:pPr marL="0" marR="0" lvl="0" indent="0" algn="l" defTabSz="914400" rtl="0" eaLnBrk="1" fontAlgn="auto" latinLnBrk="0" hangingPunct="1">
              <a:lnSpc>
                <a:spcPct val="100000"/>
              </a:lnSpc>
              <a:spcBef>
                <a:spcPts val="0"/>
              </a:spcBef>
              <a:spcAft>
                <a:spcPts val="0"/>
              </a:spcAft>
              <a:buClrTx/>
              <a:buSzTx/>
              <a:buFontTx/>
              <a:buNone/>
              <a:defRPr/>
            </a:pPr>
            <a:r>
              <a:rPr kumimoji="0" lang="en-IN" sz="16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f(1, 'b');     </a:t>
            </a:r>
            <a:r>
              <a:rPr kumimoji="0" lang="en-IN" sz="1600" i="0" u="none" strike="noStrike" kern="1200" cap="none" spc="0" normalizeH="0" baseline="0" noProof="0" dirty="0">
                <a:ln>
                  <a:noFill/>
                </a:ln>
                <a:solidFill>
                  <a:srgbClr val="FF0000"/>
                </a:solidFill>
                <a:effectLst/>
                <a:uLnTx/>
                <a:uFillTx/>
                <a:latin typeface="Times New Roman" panose="02020603050405020304" pitchFamily="18" charset="0"/>
                <a:cs typeface="Times New Roman" panose="02020603050405020304" pitchFamily="18" charset="0"/>
              </a:rPr>
              <a:t>// Calls f(int, char) → Non-template function</a:t>
            </a:r>
          </a:p>
          <a:p>
            <a:pPr marL="0" marR="0" lvl="0" indent="0" algn="l" defTabSz="914400" rtl="0" eaLnBrk="1" fontAlgn="auto" latinLnBrk="0" hangingPunct="1">
              <a:lnSpc>
                <a:spcPct val="100000"/>
              </a:lnSpc>
              <a:spcBef>
                <a:spcPts val="0"/>
              </a:spcBef>
              <a:spcAft>
                <a:spcPts val="0"/>
              </a:spcAft>
              <a:buClrTx/>
              <a:buSzTx/>
              <a:buFontTx/>
              <a:buNone/>
              <a:defRPr/>
            </a:pPr>
            <a:r>
              <a:rPr kumimoji="0" lang="en-IN" sz="16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a:t>
            </a:r>
          </a:p>
          <a:p>
            <a:pPr marL="0" marR="0" lvl="0" indent="0" algn="l" defTabSz="914400" rtl="0" eaLnBrk="1" fontAlgn="auto" latinLnBrk="0" hangingPunct="1">
              <a:lnSpc>
                <a:spcPct val="100000"/>
              </a:lnSpc>
              <a:spcBef>
                <a:spcPts val="0"/>
              </a:spcBef>
              <a:spcAft>
                <a:spcPts val="0"/>
              </a:spcAft>
              <a:buClrTx/>
              <a:buSzTx/>
              <a:buFontTx/>
              <a:buNone/>
              <a:defRPr/>
            </a:pPr>
            <a:endParaRPr kumimoji="0" lang="en-IN" sz="16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2" name="Text Box 1"/>
          <p:cNvSpPr txBox="1"/>
          <p:nvPr/>
        </p:nvSpPr>
        <p:spPr>
          <a:xfrm>
            <a:off x="7064188" y="2985248"/>
            <a:ext cx="2576942" cy="1323439"/>
          </a:xfrm>
          <a:prstGeom prst="rect">
            <a:avLst/>
          </a:prstGeom>
          <a:noFill/>
          <a:ln>
            <a:solidFill>
              <a:schemeClr val="tx1"/>
            </a:solidFill>
          </a:ln>
        </p:spPr>
        <p:txBody>
          <a:bodyPr wrap="square" rtlCol="0">
            <a:spAutoFit/>
          </a:bodyPr>
          <a:lstStyle/>
          <a:p>
            <a:r>
              <a:rPr lang="en-US" altLang="en-US" sz="2000" dirty="0">
                <a:solidFill>
                  <a:schemeClr val="accent1">
                    <a:lumMod val="50000"/>
                  </a:schemeClr>
                </a:solidFill>
                <a:latin typeface="Times New Roman" panose="02020603050405020304" pitchFamily="18" charset="0"/>
                <a:cs typeface="Times New Roman" panose="02020603050405020304" pitchFamily="18" charset="0"/>
              </a:rPr>
              <a:t>Output :</a:t>
            </a:r>
            <a:endParaRPr lang="en-US" altLang="en-US" sz="2000" dirty="0">
              <a:latin typeface="Times New Roman" panose="02020603050405020304" pitchFamily="18" charset="0"/>
              <a:cs typeface="Times New Roman" panose="02020603050405020304" pitchFamily="18" charset="0"/>
            </a:endParaRPr>
          </a:p>
          <a:p>
            <a:r>
              <a:rPr lang="en-US" altLang="en-US" sz="2000" dirty="0">
                <a:latin typeface="Times New Roman" panose="02020603050405020304" pitchFamily="18" charset="0"/>
                <a:cs typeface="Times New Roman" panose="02020603050405020304" pitchFamily="18" charset="0"/>
              </a:rPr>
              <a:t>Non-template</a:t>
            </a:r>
          </a:p>
          <a:p>
            <a:r>
              <a:rPr lang="en-US" altLang="en-US" sz="2000" dirty="0">
                <a:latin typeface="Times New Roman" panose="02020603050405020304" pitchFamily="18" charset="0"/>
                <a:cs typeface="Times New Roman" panose="02020603050405020304" pitchFamily="18" charset="0"/>
              </a:rPr>
              <a:t>Template</a:t>
            </a:r>
          </a:p>
          <a:p>
            <a:r>
              <a:rPr lang="en-US" altLang="en-US" sz="2000" dirty="0">
                <a:latin typeface="Times New Roman" panose="02020603050405020304" pitchFamily="18" charset="0"/>
                <a:cs typeface="Times New Roman" panose="02020603050405020304" pitchFamily="18" charset="0"/>
              </a:rPr>
              <a:t>Non-template</a:t>
            </a:r>
          </a:p>
        </p:txBody>
      </p:sp>
    </p:spTree>
  </p:cSld>
  <p:clrMapOvr>
    <a:masterClrMapping/>
  </p:clrMapOvr>
  <p:transition>
    <p:pull dir="d"/>
  </p:transition>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object 3"/>
          <p:cNvSpPr txBox="1">
            <a:spLocks noGrp="1"/>
          </p:cNvSpPr>
          <p:nvPr>
            <p:ph type="title"/>
          </p:nvPr>
        </p:nvSpPr>
        <p:spPr>
          <a:xfrm>
            <a:off x="488003" y="312733"/>
            <a:ext cx="6710465" cy="381635"/>
          </a:xfrm>
          <a:prstGeom prst="rect">
            <a:avLst/>
          </a:prstGeom>
        </p:spPr>
        <p:txBody>
          <a:bodyPr vert="horz" wrap="square" lIns="0" tIns="12700" rIns="0" bIns="0" rtlCol="0">
            <a:spAutoFit/>
          </a:bodyPr>
          <a:lstStyle/>
          <a:p>
            <a:pPr marL="12700">
              <a:lnSpc>
                <a:spcPct val="100000"/>
              </a:lnSpc>
              <a:spcBef>
                <a:spcPts val="100"/>
              </a:spcBef>
            </a:pPr>
            <a:r>
              <a:rPr lang="en-US" sz="2400" dirty="0">
                <a:solidFill>
                  <a:srgbClr val="04A2B9"/>
                </a:solidFill>
                <a:latin typeface="Corbel" panose="020B0503020204020204" pitchFamily="34" charset="0"/>
              </a:rPr>
              <a:t>Department of Computer Engineering</a:t>
            </a:r>
            <a:endParaRPr lang="en-IN" sz="2400" dirty="0">
              <a:latin typeface="Corbel" panose="020B0503020204020204" pitchFamily="34" charset="0"/>
            </a:endParaRPr>
          </a:p>
        </p:txBody>
      </p:sp>
      <p:sp>
        <p:nvSpPr>
          <p:cNvPr id="8" name="Rectangle 7"/>
          <p:cNvSpPr/>
          <p:nvPr/>
        </p:nvSpPr>
        <p:spPr>
          <a:xfrm>
            <a:off x="464149" y="1247268"/>
            <a:ext cx="11352179" cy="495822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just" defTabSz="914400" rtl="0" eaLnBrk="1" fontAlgn="auto" latinLnBrk="0" hangingPunct="1">
              <a:lnSpc>
                <a:spcPct val="100000"/>
              </a:lnSpc>
              <a:spcBef>
                <a:spcPts val="0"/>
              </a:spcBef>
              <a:spcAft>
                <a:spcPts val="0"/>
              </a:spcAft>
              <a:buClrTx/>
              <a:buSzTx/>
              <a:buFontTx/>
              <a:buNone/>
              <a:defRPr/>
            </a:pPr>
            <a:r>
              <a:rPr kumimoji="0" lang="en-US" altLang="en-US" sz="32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Exception Handling – Introduction</a:t>
            </a:r>
          </a:p>
          <a:p>
            <a:pPr marL="0" marR="0" lvl="0" indent="0" algn="just" defTabSz="914400" rtl="0" eaLnBrk="1" fontAlgn="auto" latinLnBrk="0" hangingPunct="1">
              <a:lnSpc>
                <a:spcPct val="100000"/>
              </a:lnSpc>
              <a:spcBef>
                <a:spcPts val="0"/>
              </a:spcBef>
              <a:spcAft>
                <a:spcPts val="0"/>
              </a:spcAft>
              <a:buClrTx/>
              <a:buSzTx/>
              <a:buFontTx/>
              <a:buNone/>
              <a:defRPr/>
            </a:pPr>
            <a:r>
              <a:rPr kumimoji="0" lang="en-IN" sz="24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a:t>
            </a:r>
          </a:p>
          <a:p>
            <a:pPr marL="342900" marR="0" lvl="0" indent="-342900" algn="just"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en-US" altLang="en-US" sz="24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Errors are the problems that occur in the program due to an </a:t>
            </a:r>
            <a:r>
              <a:rPr kumimoji="0" lang="en-US" altLang="en-US" sz="24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illegal operation performed by the user or by the fault of a programmer</a:t>
            </a:r>
            <a:r>
              <a:rPr kumimoji="0" lang="en-US" altLang="en-US" sz="24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a:t>
            </a:r>
          </a:p>
          <a:p>
            <a:pPr marL="342900" marR="0" lvl="0" indent="-342900" algn="just" defTabSz="914400" rtl="0" eaLnBrk="1" fontAlgn="auto" latinLnBrk="0" hangingPunct="1">
              <a:lnSpc>
                <a:spcPct val="100000"/>
              </a:lnSpc>
              <a:spcBef>
                <a:spcPts val="0"/>
              </a:spcBef>
              <a:spcAft>
                <a:spcPts val="0"/>
              </a:spcAft>
              <a:buClrTx/>
              <a:buSzTx/>
              <a:buFont typeface="Arial" panose="020B0604020202020204" pitchFamily="34" charset="0"/>
              <a:buChar char="•"/>
              <a:defRPr/>
            </a:pPr>
            <a:endParaRPr kumimoji="0" lang="en-US" altLang="en-US" sz="24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a:p>
            <a:pPr marL="342900" marR="0" lvl="0" indent="-342900" algn="just"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en-US" altLang="en-US" sz="24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Exception Handling is the </a:t>
            </a:r>
            <a:r>
              <a:rPr kumimoji="0" lang="en-US" altLang="en-US" sz="2400" b="1" i="0" u="none" strike="noStrike" kern="1200" cap="none" spc="0" normalizeH="0" baseline="0" noProof="0" dirty="0">
                <a:ln>
                  <a:noFill/>
                </a:ln>
                <a:solidFill>
                  <a:srgbClr val="FF0000"/>
                </a:solidFill>
                <a:effectLst/>
                <a:uLnTx/>
                <a:uFillTx/>
                <a:latin typeface="Times New Roman" panose="02020603050405020304" pitchFamily="18" charset="0"/>
                <a:cs typeface="Times New Roman" panose="02020603050405020304" pitchFamily="18" charset="0"/>
              </a:rPr>
              <a:t>process of handling errors and exceptions</a:t>
            </a:r>
            <a:r>
              <a:rPr kumimoji="0" lang="en-US" altLang="en-US" sz="24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such that the normal execution of the system is not halted.</a:t>
            </a:r>
          </a:p>
          <a:p>
            <a:pPr marR="0" lvl="0" indent="0" algn="just"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en-US" altLang="en-US" sz="24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a:t>
            </a:r>
          </a:p>
          <a:p>
            <a:pPr marL="342900" marR="0" lvl="0" indent="-342900" algn="just"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en-US" altLang="en-US" sz="24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Exception handling in C++ consists of three keywords namely- </a:t>
            </a:r>
            <a:r>
              <a:rPr kumimoji="0" lang="en-US" altLang="en-US" sz="24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try, catch, and throw</a:t>
            </a:r>
            <a:r>
              <a:rPr kumimoji="0" lang="en-US" altLang="en-US" sz="24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a:t>
            </a:r>
          </a:p>
        </p:txBody>
      </p:sp>
    </p:spTree>
  </p:cSld>
  <p:clrMapOvr>
    <a:masterClrMapping/>
  </p:clrMapOvr>
  <p:transition>
    <p:pull dir="d"/>
  </p:transition>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object 3"/>
          <p:cNvSpPr txBox="1">
            <a:spLocks noGrp="1"/>
          </p:cNvSpPr>
          <p:nvPr>
            <p:ph type="title"/>
          </p:nvPr>
        </p:nvSpPr>
        <p:spPr>
          <a:xfrm>
            <a:off x="488003" y="312733"/>
            <a:ext cx="6710465" cy="381635"/>
          </a:xfrm>
          <a:prstGeom prst="rect">
            <a:avLst/>
          </a:prstGeom>
        </p:spPr>
        <p:txBody>
          <a:bodyPr vert="horz" wrap="square" lIns="0" tIns="12700" rIns="0" bIns="0" rtlCol="0">
            <a:spAutoFit/>
          </a:bodyPr>
          <a:lstStyle/>
          <a:p>
            <a:pPr marL="12700">
              <a:lnSpc>
                <a:spcPct val="100000"/>
              </a:lnSpc>
              <a:spcBef>
                <a:spcPts val="100"/>
              </a:spcBef>
            </a:pPr>
            <a:r>
              <a:rPr lang="en-US" sz="2400" dirty="0">
                <a:solidFill>
                  <a:srgbClr val="04A2B9"/>
                </a:solidFill>
                <a:latin typeface="Corbel" panose="020B0503020204020204" pitchFamily="34" charset="0"/>
              </a:rPr>
              <a:t>Department of Computer Engineering</a:t>
            </a:r>
            <a:endParaRPr lang="en-IN" sz="2400" dirty="0">
              <a:latin typeface="Corbel" panose="020B0503020204020204" pitchFamily="34" charset="0"/>
            </a:endParaRPr>
          </a:p>
        </p:txBody>
      </p:sp>
      <p:sp>
        <p:nvSpPr>
          <p:cNvPr id="8" name="Rectangle 7"/>
          <p:cNvSpPr/>
          <p:nvPr/>
        </p:nvSpPr>
        <p:spPr>
          <a:xfrm>
            <a:off x="488003" y="1021976"/>
            <a:ext cx="11328325" cy="518351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just" defTabSz="914400" rtl="0" eaLnBrk="1" fontAlgn="auto" latinLnBrk="0" hangingPunct="1">
              <a:lnSpc>
                <a:spcPct val="100000"/>
              </a:lnSpc>
              <a:spcBef>
                <a:spcPts val="0"/>
              </a:spcBef>
              <a:spcAft>
                <a:spcPts val="0"/>
              </a:spcAft>
              <a:buClrTx/>
              <a:buSzTx/>
              <a:buFontTx/>
              <a:buNone/>
              <a:defRPr/>
            </a:pPr>
            <a:r>
              <a:rPr kumimoji="0" lang="en-US" altLang="en-US" sz="32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Exception Handling</a:t>
            </a:r>
          </a:p>
          <a:p>
            <a:pPr marL="0" marR="0" lvl="0" indent="0" algn="just" defTabSz="914400" rtl="0" eaLnBrk="1" fontAlgn="auto" latinLnBrk="0" hangingPunct="1">
              <a:lnSpc>
                <a:spcPct val="100000"/>
              </a:lnSpc>
              <a:spcBef>
                <a:spcPts val="0"/>
              </a:spcBef>
              <a:spcAft>
                <a:spcPts val="0"/>
              </a:spcAft>
              <a:buClrTx/>
              <a:buSzTx/>
              <a:buFontTx/>
              <a:buNone/>
              <a:defRPr/>
            </a:pPr>
            <a:r>
              <a:rPr kumimoji="0" lang="en-IN" sz="24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a:t>
            </a:r>
          </a:p>
          <a:p>
            <a:pPr marL="0" marR="0" lvl="0" indent="0" algn="just" defTabSz="914400" rtl="0" eaLnBrk="1" fontAlgn="auto" latinLnBrk="0" hangingPunct="1">
              <a:lnSpc>
                <a:spcPct val="100000"/>
              </a:lnSpc>
              <a:spcBef>
                <a:spcPts val="0"/>
              </a:spcBef>
              <a:spcAft>
                <a:spcPts val="0"/>
              </a:spcAft>
              <a:buClrTx/>
              <a:buSzTx/>
              <a:buFontTx/>
              <a:buNone/>
              <a:defRPr/>
            </a:pPr>
            <a:r>
              <a:rPr kumimoji="0" lang="en-US" altLang="en-US" sz="2400" b="1" i="0" u="none" strike="noStrike" kern="1200" cap="none" spc="0" normalizeH="0" baseline="0" noProof="0" dirty="0">
                <a:ln>
                  <a:noFill/>
                </a:ln>
                <a:solidFill>
                  <a:srgbClr val="0070C0"/>
                </a:solidFill>
                <a:effectLst/>
                <a:uLnTx/>
                <a:uFillTx/>
                <a:latin typeface="Times New Roman" panose="02020603050405020304" pitchFamily="18" charset="0"/>
                <a:cs typeface="Times New Roman" panose="02020603050405020304" pitchFamily="18" charset="0"/>
              </a:rPr>
              <a:t>Errors in C++</a:t>
            </a:r>
            <a:endParaRPr kumimoji="0" lang="en-US" altLang="en-US" sz="24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a:p>
            <a:pPr marL="879475" marR="0" lvl="2" indent="-342900" algn="just" defTabSz="914400" rtl="0" eaLnBrk="1" fontAlgn="auto" latinLnBrk="0" hangingPunct="1">
              <a:spcBef>
                <a:spcPts val="0"/>
              </a:spcBef>
              <a:spcAft>
                <a:spcPts val="0"/>
              </a:spcAft>
              <a:buClr>
                <a:srgbClr val="000000"/>
              </a:buClr>
              <a:buSzTx/>
              <a:buFont typeface="Arial" panose="020B0604020202020204" pitchFamily="34" charset="0"/>
              <a:buChar char="•"/>
              <a:defRPr/>
            </a:pPr>
            <a:r>
              <a:rPr kumimoji="0" lang="en-US" altLang="en-US" sz="24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Errors are the problems that occur in the program due to an </a:t>
            </a:r>
            <a:r>
              <a:rPr kumimoji="0" lang="en-US" altLang="en-US" sz="24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illegal operation performed by the user</a:t>
            </a:r>
            <a:r>
              <a:rPr kumimoji="0" lang="en-US" altLang="en-US" sz="24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or by the </a:t>
            </a:r>
            <a:r>
              <a:rPr kumimoji="0" lang="en-US" altLang="en-US" sz="24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fault of a programmer</a:t>
            </a:r>
            <a:r>
              <a:rPr kumimoji="0" lang="en-US" altLang="en-US" sz="24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which halts the normal flow of the program. </a:t>
            </a:r>
          </a:p>
          <a:p>
            <a:pPr marL="879475" marR="0" lvl="2" indent="-342900" algn="just" defTabSz="914400" rtl="0" eaLnBrk="1" fontAlgn="auto" latinLnBrk="0" hangingPunct="1">
              <a:spcBef>
                <a:spcPts val="0"/>
              </a:spcBef>
              <a:spcAft>
                <a:spcPts val="0"/>
              </a:spcAft>
              <a:buClr>
                <a:srgbClr val="000000"/>
              </a:buClr>
              <a:buSzTx/>
              <a:buFont typeface="Arial" panose="020B0604020202020204" pitchFamily="34" charset="0"/>
              <a:buChar char="•"/>
              <a:defRPr/>
            </a:pPr>
            <a:endParaRPr kumimoji="0" lang="en-US" altLang="en-US" sz="24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a:p>
            <a:pPr marL="879475" marR="0" lvl="2" indent="-342900" algn="just" defTabSz="914400" rtl="0" eaLnBrk="1" fontAlgn="auto" latinLnBrk="0" hangingPunct="1">
              <a:spcBef>
                <a:spcPts val="0"/>
              </a:spcBef>
              <a:spcAft>
                <a:spcPts val="0"/>
              </a:spcAft>
              <a:buClr>
                <a:srgbClr val="000000"/>
              </a:buClr>
              <a:buSzTx/>
              <a:buFont typeface="Arial" panose="020B0604020202020204" pitchFamily="34" charset="0"/>
              <a:buChar char="•"/>
              <a:defRPr/>
            </a:pPr>
            <a:r>
              <a:rPr kumimoji="0" lang="en-US" altLang="en-US" sz="24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Errors are also termed </a:t>
            </a:r>
            <a:r>
              <a:rPr kumimoji="0" lang="en-US" altLang="en-US" sz="2400" i="0" u="none" strike="noStrike" kern="1200" cap="none" spc="0" normalizeH="0" baseline="0" noProof="0" dirty="0">
                <a:ln>
                  <a:noFill/>
                </a:ln>
                <a:solidFill>
                  <a:schemeClr val="accent1">
                    <a:lumMod val="75000"/>
                  </a:schemeClr>
                </a:solidFill>
                <a:effectLst/>
                <a:uLnTx/>
                <a:uFillTx/>
                <a:latin typeface="Times New Roman" panose="02020603050405020304" pitchFamily="18" charset="0"/>
                <a:cs typeface="Times New Roman" panose="02020603050405020304" pitchFamily="18" charset="0"/>
              </a:rPr>
              <a:t>bugs or faults</a:t>
            </a:r>
            <a:r>
              <a:rPr kumimoji="0" lang="en-US" altLang="en-US" sz="24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a:t>
            </a:r>
          </a:p>
          <a:p>
            <a:pPr marL="879475" marR="0" lvl="2" indent="-342900" algn="just" defTabSz="914400" rtl="0" eaLnBrk="1" fontAlgn="auto" latinLnBrk="0" hangingPunct="1">
              <a:spcBef>
                <a:spcPts val="0"/>
              </a:spcBef>
              <a:spcAft>
                <a:spcPts val="0"/>
              </a:spcAft>
              <a:buClr>
                <a:srgbClr val="000000"/>
              </a:buClr>
              <a:buSzTx/>
              <a:buFont typeface="Arial" panose="020B0604020202020204" pitchFamily="34" charset="0"/>
              <a:buChar char="•"/>
              <a:defRPr/>
            </a:pPr>
            <a:endParaRPr kumimoji="0" lang="en-US" altLang="en-US" sz="24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a:p>
            <a:pPr marL="879475" marR="0" lvl="2" indent="-342900" algn="just" defTabSz="914400" rtl="0" eaLnBrk="1" fontAlgn="auto" latinLnBrk="0" hangingPunct="1">
              <a:spcBef>
                <a:spcPts val="0"/>
              </a:spcBef>
              <a:spcAft>
                <a:spcPts val="0"/>
              </a:spcAft>
              <a:buClr>
                <a:srgbClr val="000000"/>
              </a:buClr>
              <a:buSzTx/>
              <a:buFont typeface="Arial" panose="020B0604020202020204" pitchFamily="34" charset="0"/>
              <a:buChar char="•"/>
              <a:defRPr/>
            </a:pPr>
            <a:r>
              <a:rPr kumimoji="0" lang="en-US" altLang="en-US" sz="24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There are mainly two types of errors in programming. They are,</a:t>
            </a:r>
          </a:p>
          <a:p>
            <a:pPr marL="1336675" marR="0" lvl="3" indent="-342900" algn="just" defTabSz="914400" rtl="0" eaLnBrk="1" fontAlgn="auto" latinLnBrk="0" hangingPunct="1">
              <a:spcBef>
                <a:spcPts val="0"/>
              </a:spcBef>
              <a:spcAft>
                <a:spcPts val="0"/>
              </a:spcAft>
              <a:buClr>
                <a:srgbClr val="000000"/>
              </a:buClr>
              <a:buSzTx/>
              <a:buFont typeface="Wingdings" panose="05000000000000000000" charset="0"/>
              <a:buChar char="Ø"/>
              <a:defRPr/>
            </a:pPr>
            <a:r>
              <a:rPr kumimoji="0" lang="en-US" altLang="en-US" sz="24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Compile Time Errors</a:t>
            </a:r>
          </a:p>
          <a:p>
            <a:pPr marL="1336675" marR="0" lvl="3" indent="-342900" algn="just" defTabSz="914400" rtl="0" eaLnBrk="1" fontAlgn="auto" latinLnBrk="0" hangingPunct="1">
              <a:spcBef>
                <a:spcPts val="0"/>
              </a:spcBef>
              <a:spcAft>
                <a:spcPts val="0"/>
              </a:spcAft>
              <a:buClr>
                <a:srgbClr val="000000"/>
              </a:buClr>
              <a:buSzTx/>
              <a:buFont typeface="Wingdings" panose="05000000000000000000" charset="0"/>
              <a:buChar char="Ø"/>
              <a:defRPr/>
            </a:pPr>
            <a:r>
              <a:rPr kumimoji="0" lang="en-US" altLang="en-US" sz="24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Run-Time Errors</a:t>
            </a:r>
          </a:p>
        </p:txBody>
      </p:sp>
    </p:spTree>
  </p:cSld>
  <p:clrMapOvr>
    <a:masterClrMapping/>
  </p:clrMapOvr>
  <p:transition>
    <p:pull dir="d"/>
  </p:transition>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object 3"/>
          <p:cNvSpPr txBox="1">
            <a:spLocks noGrp="1"/>
          </p:cNvSpPr>
          <p:nvPr>
            <p:ph type="title"/>
          </p:nvPr>
        </p:nvSpPr>
        <p:spPr>
          <a:xfrm>
            <a:off x="488003" y="312733"/>
            <a:ext cx="6710465" cy="381635"/>
          </a:xfrm>
          <a:prstGeom prst="rect">
            <a:avLst/>
          </a:prstGeom>
        </p:spPr>
        <p:txBody>
          <a:bodyPr vert="horz" wrap="square" lIns="0" tIns="12700" rIns="0" bIns="0" rtlCol="0">
            <a:spAutoFit/>
          </a:bodyPr>
          <a:lstStyle/>
          <a:p>
            <a:pPr marL="12700">
              <a:lnSpc>
                <a:spcPct val="100000"/>
              </a:lnSpc>
              <a:spcBef>
                <a:spcPts val="100"/>
              </a:spcBef>
            </a:pPr>
            <a:r>
              <a:rPr lang="en-US" sz="2400" dirty="0">
                <a:solidFill>
                  <a:srgbClr val="04A2B9"/>
                </a:solidFill>
                <a:latin typeface="Corbel" panose="020B0503020204020204" pitchFamily="34" charset="0"/>
              </a:rPr>
              <a:t>Department of Computer Engineering</a:t>
            </a:r>
            <a:endParaRPr lang="en-IN" sz="2400" dirty="0">
              <a:latin typeface="Corbel" panose="020B0503020204020204" pitchFamily="34" charset="0"/>
            </a:endParaRPr>
          </a:p>
        </p:txBody>
      </p:sp>
      <p:sp>
        <p:nvSpPr>
          <p:cNvPr id="8" name="Rectangle 7"/>
          <p:cNvSpPr/>
          <p:nvPr/>
        </p:nvSpPr>
        <p:spPr>
          <a:xfrm>
            <a:off x="464149" y="1247268"/>
            <a:ext cx="11352179" cy="495822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en-US" sz="32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Exception Handling</a:t>
            </a:r>
          </a:p>
          <a:p>
            <a:pPr marL="0" marR="0" lvl="0" indent="0" algn="l" defTabSz="914400" rtl="0" eaLnBrk="1" fontAlgn="auto" latinLnBrk="0" hangingPunct="1">
              <a:lnSpc>
                <a:spcPct val="100000"/>
              </a:lnSpc>
              <a:spcBef>
                <a:spcPts val="0"/>
              </a:spcBef>
              <a:spcAft>
                <a:spcPts val="0"/>
              </a:spcAft>
              <a:buClrTx/>
              <a:buSzTx/>
              <a:buFontTx/>
              <a:buNone/>
              <a:defRPr/>
            </a:pPr>
            <a:r>
              <a:rPr kumimoji="0" lang="en-IN" sz="24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a:t>
            </a:r>
          </a:p>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en-US" sz="2400" b="1" i="0" u="none" strike="noStrike" kern="1200" cap="none" spc="0" normalizeH="0" baseline="0" noProof="0" dirty="0">
                <a:ln>
                  <a:noFill/>
                </a:ln>
                <a:solidFill>
                  <a:srgbClr val="0070C0"/>
                </a:solidFill>
                <a:effectLst/>
                <a:uLnTx/>
                <a:uFillTx/>
                <a:latin typeface="Times New Roman" panose="02020603050405020304" pitchFamily="18" charset="0"/>
                <a:cs typeface="Times New Roman" panose="02020603050405020304" pitchFamily="18" charset="0"/>
              </a:rPr>
              <a:t>Compile Time Errors</a:t>
            </a:r>
            <a:endParaRPr kumimoji="0" lang="en-US" altLang="en-US" sz="24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en-US" altLang="en-US" sz="24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Compile Time Errors are those errors that are caught </a:t>
            </a:r>
            <a:r>
              <a:rPr kumimoji="0" lang="en-US" altLang="en-US" sz="24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during compilation time</a:t>
            </a:r>
            <a:r>
              <a:rPr kumimoji="0" lang="en-US" altLang="en-US" sz="24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a:t>
            </a:r>
          </a:p>
          <a:p>
            <a:pPr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en-US" altLang="en-US" sz="24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en-US" altLang="en-US" sz="24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Some of the most common compile-time errors are,</a:t>
            </a:r>
          </a:p>
          <a:p>
            <a:pPr marL="800100" marR="0" lvl="1" indent="-342900" algn="l" defTabSz="914400" rtl="0" eaLnBrk="1" fontAlgn="auto" latinLnBrk="0" hangingPunct="1">
              <a:lnSpc>
                <a:spcPct val="150000"/>
              </a:lnSpc>
              <a:spcBef>
                <a:spcPts val="0"/>
              </a:spcBef>
              <a:spcAft>
                <a:spcPts val="0"/>
              </a:spcAft>
              <a:buClrTx/>
              <a:buSzTx/>
              <a:buFont typeface="Wingdings" panose="05000000000000000000" charset="0"/>
              <a:buChar char="Ø"/>
              <a:defRPr/>
            </a:pPr>
            <a:r>
              <a:rPr kumimoji="0" lang="en-US" altLang="en-US" sz="24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Syntax errors </a:t>
            </a:r>
          </a:p>
          <a:p>
            <a:pPr marL="800100" marR="0" lvl="1" indent="-342900" algn="l" defTabSz="914400" rtl="0" eaLnBrk="1" fontAlgn="auto" latinLnBrk="0" hangingPunct="1">
              <a:lnSpc>
                <a:spcPct val="150000"/>
              </a:lnSpc>
              <a:spcBef>
                <a:spcPts val="0"/>
              </a:spcBef>
              <a:spcAft>
                <a:spcPts val="0"/>
              </a:spcAft>
              <a:buClrTx/>
              <a:buSzTx/>
              <a:buFont typeface="Wingdings" panose="05000000000000000000" charset="0"/>
              <a:buChar char="Ø"/>
              <a:defRPr/>
            </a:pPr>
            <a:r>
              <a:rPr kumimoji="0" lang="en-US" altLang="en-US" sz="24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Library references</a:t>
            </a:r>
          </a:p>
          <a:p>
            <a:pPr marL="800100" marR="0" lvl="1" indent="-342900" algn="l" defTabSz="914400" rtl="0" eaLnBrk="1" fontAlgn="auto" latinLnBrk="0" hangingPunct="1">
              <a:lnSpc>
                <a:spcPct val="150000"/>
              </a:lnSpc>
              <a:spcBef>
                <a:spcPts val="0"/>
              </a:spcBef>
              <a:spcAft>
                <a:spcPts val="0"/>
              </a:spcAft>
              <a:buClrTx/>
              <a:buSzTx/>
              <a:buFont typeface="Wingdings" panose="05000000000000000000" charset="0"/>
              <a:buChar char="Ø"/>
              <a:defRPr/>
            </a:pPr>
            <a:r>
              <a:rPr kumimoji="0" lang="en-US" altLang="en-US" sz="24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Incorrect import of library functions and methods </a:t>
            </a:r>
          </a:p>
          <a:p>
            <a:pPr marL="800100" marR="0" lvl="1" indent="-342900" algn="l" defTabSz="914400" rtl="0" eaLnBrk="1" fontAlgn="auto" latinLnBrk="0" hangingPunct="1">
              <a:lnSpc>
                <a:spcPct val="150000"/>
              </a:lnSpc>
              <a:spcBef>
                <a:spcPts val="0"/>
              </a:spcBef>
              <a:spcAft>
                <a:spcPts val="0"/>
              </a:spcAft>
              <a:buClrTx/>
              <a:buSzTx/>
              <a:buFont typeface="Wingdings" panose="05000000000000000000" charset="0"/>
              <a:buChar char="Ø"/>
              <a:defRPr/>
            </a:pPr>
            <a:r>
              <a:rPr kumimoji="0" lang="en-US" altLang="en-US" sz="24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Uneven bracket pair(s), etc.</a:t>
            </a:r>
          </a:p>
        </p:txBody>
      </p:sp>
    </p:spTree>
  </p:cSld>
  <p:clrMapOvr>
    <a:masterClrMapping/>
  </p:clrMapOvr>
  <p:transition>
    <p:pull dir="d"/>
  </p:transition>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object 3"/>
          <p:cNvSpPr txBox="1">
            <a:spLocks noGrp="1"/>
          </p:cNvSpPr>
          <p:nvPr>
            <p:ph type="title"/>
          </p:nvPr>
        </p:nvSpPr>
        <p:spPr>
          <a:xfrm>
            <a:off x="488003" y="312733"/>
            <a:ext cx="6710465" cy="381635"/>
          </a:xfrm>
          <a:prstGeom prst="rect">
            <a:avLst/>
          </a:prstGeom>
        </p:spPr>
        <p:txBody>
          <a:bodyPr vert="horz" wrap="square" lIns="0" tIns="12700" rIns="0" bIns="0" rtlCol="0">
            <a:spAutoFit/>
          </a:bodyPr>
          <a:lstStyle/>
          <a:p>
            <a:pPr marL="12700">
              <a:lnSpc>
                <a:spcPct val="100000"/>
              </a:lnSpc>
              <a:spcBef>
                <a:spcPts val="100"/>
              </a:spcBef>
            </a:pPr>
            <a:r>
              <a:rPr lang="en-US" sz="2400" dirty="0">
                <a:solidFill>
                  <a:srgbClr val="04A2B9"/>
                </a:solidFill>
                <a:latin typeface="Corbel" panose="020B0503020204020204" pitchFamily="34" charset="0"/>
              </a:rPr>
              <a:t>Department of Computer Engineering</a:t>
            </a:r>
            <a:endParaRPr lang="en-IN" sz="2400" dirty="0">
              <a:latin typeface="Corbel" panose="020B0503020204020204" pitchFamily="34" charset="0"/>
            </a:endParaRPr>
          </a:p>
        </p:txBody>
      </p:sp>
      <p:sp>
        <p:nvSpPr>
          <p:cNvPr id="8" name="Rectangle 7"/>
          <p:cNvSpPr/>
          <p:nvPr/>
        </p:nvSpPr>
        <p:spPr>
          <a:xfrm>
            <a:off x="464149" y="1247268"/>
            <a:ext cx="11352179" cy="495822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just" defTabSz="914400" rtl="0" eaLnBrk="1" fontAlgn="auto" latinLnBrk="0" hangingPunct="1">
              <a:lnSpc>
                <a:spcPct val="100000"/>
              </a:lnSpc>
              <a:spcBef>
                <a:spcPts val="0"/>
              </a:spcBef>
              <a:spcAft>
                <a:spcPts val="0"/>
              </a:spcAft>
              <a:buClrTx/>
              <a:buSzTx/>
              <a:buFontTx/>
              <a:buNone/>
              <a:defRPr/>
            </a:pPr>
            <a:r>
              <a:rPr kumimoji="0" lang="en-US" altLang="en-US" sz="32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Exception Handling</a:t>
            </a:r>
          </a:p>
          <a:p>
            <a:pPr marL="0" marR="0" lvl="0" indent="0" algn="just" defTabSz="914400" rtl="0" eaLnBrk="1" fontAlgn="auto" latinLnBrk="0" hangingPunct="1">
              <a:lnSpc>
                <a:spcPct val="100000"/>
              </a:lnSpc>
              <a:spcBef>
                <a:spcPts val="0"/>
              </a:spcBef>
              <a:spcAft>
                <a:spcPts val="0"/>
              </a:spcAft>
              <a:buClrTx/>
              <a:buSzTx/>
              <a:buFontTx/>
              <a:buNone/>
              <a:defRPr/>
            </a:pPr>
            <a:r>
              <a:rPr kumimoji="0" lang="en-IN" sz="24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a:t>
            </a:r>
          </a:p>
          <a:p>
            <a:pPr marL="0" marR="0" lvl="0" indent="0" algn="just" defTabSz="914400" rtl="0" eaLnBrk="1" fontAlgn="auto" latinLnBrk="0" hangingPunct="1">
              <a:lnSpc>
                <a:spcPct val="100000"/>
              </a:lnSpc>
              <a:spcBef>
                <a:spcPts val="0"/>
              </a:spcBef>
              <a:spcAft>
                <a:spcPts val="0"/>
              </a:spcAft>
              <a:buClrTx/>
              <a:buSzTx/>
              <a:buFontTx/>
              <a:buNone/>
              <a:defRPr/>
            </a:pPr>
            <a:r>
              <a:rPr kumimoji="0" lang="en-US" altLang="en-US" sz="2400" b="1" i="0" u="none" strike="noStrike" kern="1200" cap="none" spc="0" normalizeH="0" baseline="0" noProof="0" dirty="0">
                <a:ln>
                  <a:noFill/>
                </a:ln>
                <a:solidFill>
                  <a:srgbClr val="0070C0"/>
                </a:solidFill>
                <a:effectLst/>
                <a:uLnTx/>
                <a:uFillTx/>
                <a:latin typeface="Times New Roman" panose="02020603050405020304" pitchFamily="18" charset="0"/>
                <a:cs typeface="Times New Roman" panose="02020603050405020304" pitchFamily="18" charset="0"/>
              </a:rPr>
              <a:t>Run-Time Errors</a:t>
            </a:r>
          </a:p>
          <a:p>
            <a:pPr marL="342900" marR="0" lvl="0" indent="-342900" algn="just" defTabSz="914400" rtl="0" eaLnBrk="1" fontAlgn="auto" latinLnBrk="0" hangingPunct="1">
              <a:lnSpc>
                <a:spcPct val="100000"/>
              </a:lnSpc>
              <a:spcBef>
                <a:spcPts val="0"/>
              </a:spcBef>
              <a:spcAft>
                <a:spcPts val="0"/>
              </a:spcAft>
              <a:buClrTx/>
              <a:buSzTx/>
              <a:buFont typeface="Arial" panose="020B0604020202020204" pitchFamily="34" charset="0"/>
              <a:buChar char="•"/>
              <a:defRPr/>
            </a:pPr>
            <a:endParaRPr kumimoji="0" lang="en-US" altLang="en-US" sz="24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a:p>
            <a:pPr marL="342900" marR="0" lvl="0" indent="-342900" algn="just"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en-US" altLang="en-US" sz="24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Run-Time Errors are those errors that </a:t>
            </a:r>
            <a:r>
              <a:rPr kumimoji="0" lang="en-US" altLang="en-US" sz="24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cannot be caught </a:t>
            </a:r>
            <a:r>
              <a:rPr kumimoji="0" lang="en-US" altLang="en-US" sz="24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during compilation time. </a:t>
            </a:r>
          </a:p>
          <a:p>
            <a:pPr marL="342900" marR="0" lvl="0" indent="-342900" algn="just" defTabSz="914400" rtl="0" eaLnBrk="1" fontAlgn="auto" latinLnBrk="0" hangingPunct="1">
              <a:lnSpc>
                <a:spcPct val="100000"/>
              </a:lnSpc>
              <a:spcBef>
                <a:spcPts val="0"/>
              </a:spcBef>
              <a:spcAft>
                <a:spcPts val="0"/>
              </a:spcAft>
              <a:buClrTx/>
              <a:buSzTx/>
              <a:buFont typeface="Arial" panose="020B0604020202020204" pitchFamily="34" charset="0"/>
              <a:buChar char="•"/>
              <a:defRPr/>
            </a:pPr>
            <a:endParaRPr kumimoji="0" lang="en-US" altLang="en-US" sz="24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a:p>
            <a:pPr marL="342900" marR="0" lvl="0" indent="-342900" algn="just"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en-US" altLang="en-US" sz="24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As we cannot check these errors during compile time, we name them </a:t>
            </a:r>
            <a:r>
              <a:rPr kumimoji="0" lang="en-US" altLang="en-US" sz="24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Exceptions</a:t>
            </a:r>
            <a:r>
              <a:rPr kumimoji="0" lang="en-US" altLang="en-US" sz="24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a:t>
            </a:r>
          </a:p>
          <a:p>
            <a:pPr marL="342900" marR="0" lvl="0" indent="-342900" algn="just" defTabSz="914400" rtl="0" eaLnBrk="1" fontAlgn="auto" latinLnBrk="0" hangingPunct="1">
              <a:lnSpc>
                <a:spcPct val="100000"/>
              </a:lnSpc>
              <a:spcBef>
                <a:spcPts val="0"/>
              </a:spcBef>
              <a:spcAft>
                <a:spcPts val="0"/>
              </a:spcAft>
              <a:buClrTx/>
              <a:buSzTx/>
              <a:buFont typeface="Arial" panose="020B0604020202020204" pitchFamily="34" charset="0"/>
              <a:buChar char="•"/>
              <a:defRPr/>
            </a:pPr>
            <a:endParaRPr kumimoji="0" lang="en-US" altLang="en-US" sz="24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a:p>
            <a:pPr marL="342900" marR="0" lvl="0" indent="-342900" algn="just"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en-US" altLang="en-US" sz="24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Exceptions can cause some serious issues so we should handle them effectively.</a:t>
            </a:r>
          </a:p>
          <a:p>
            <a:pPr marL="0" marR="0" lvl="0" indent="0" algn="just" defTabSz="914400" rtl="0" eaLnBrk="1" fontAlgn="auto" latinLnBrk="0" hangingPunct="1">
              <a:lnSpc>
                <a:spcPct val="100000"/>
              </a:lnSpc>
              <a:spcBef>
                <a:spcPts val="0"/>
              </a:spcBef>
              <a:spcAft>
                <a:spcPts val="0"/>
              </a:spcAft>
              <a:buClrTx/>
              <a:buSzTx/>
              <a:buFontTx/>
              <a:buNone/>
              <a:defRPr/>
            </a:pPr>
            <a:endParaRPr kumimoji="0" lang="en-US" altLang="en-US" sz="24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a:p>
            <a:pPr marL="342900" marR="0" lvl="0" indent="-342900" algn="just"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en-US" altLang="en-US" sz="24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We use the exception handling in C++ is to separate the error handling code from the    normal code. For exception handling in C++, we use the try-catch finally block.</a:t>
            </a:r>
          </a:p>
        </p:txBody>
      </p:sp>
    </p:spTree>
  </p:cSld>
  <p:clrMapOvr>
    <a:masterClrMapping/>
  </p:clrMapOvr>
  <p:transition>
    <p:pull dir="d"/>
  </p:transition>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object 3"/>
          <p:cNvSpPr txBox="1">
            <a:spLocks noGrp="1"/>
          </p:cNvSpPr>
          <p:nvPr>
            <p:ph type="title"/>
          </p:nvPr>
        </p:nvSpPr>
        <p:spPr>
          <a:xfrm>
            <a:off x="488003" y="312733"/>
            <a:ext cx="6710465" cy="381635"/>
          </a:xfrm>
          <a:prstGeom prst="rect">
            <a:avLst/>
          </a:prstGeom>
        </p:spPr>
        <p:txBody>
          <a:bodyPr vert="horz" wrap="square" lIns="0" tIns="12700" rIns="0" bIns="0" rtlCol="0">
            <a:spAutoFit/>
          </a:bodyPr>
          <a:lstStyle/>
          <a:p>
            <a:pPr marL="12700">
              <a:lnSpc>
                <a:spcPct val="100000"/>
              </a:lnSpc>
              <a:spcBef>
                <a:spcPts val="100"/>
              </a:spcBef>
            </a:pPr>
            <a:r>
              <a:rPr lang="en-US" sz="2400" dirty="0">
                <a:solidFill>
                  <a:srgbClr val="04A2B9"/>
                </a:solidFill>
                <a:latin typeface="Corbel" panose="020B0503020204020204" pitchFamily="34" charset="0"/>
              </a:rPr>
              <a:t>Department of Computer Engineering</a:t>
            </a:r>
            <a:endParaRPr lang="en-IN" sz="2400" dirty="0">
              <a:latin typeface="Corbel" panose="020B0503020204020204" pitchFamily="34" charset="0"/>
            </a:endParaRPr>
          </a:p>
        </p:txBody>
      </p:sp>
      <p:sp>
        <p:nvSpPr>
          <p:cNvPr id="8" name="Rectangle 7"/>
          <p:cNvSpPr/>
          <p:nvPr/>
        </p:nvSpPr>
        <p:spPr>
          <a:xfrm>
            <a:off x="464149" y="1247268"/>
            <a:ext cx="11352179" cy="495822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en-US" sz="32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Exception Handling</a:t>
            </a:r>
          </a:p>
          <a:p>
            <a:pPr marL="0" marR="0" lvl="0" indent="0" algn="l" defTabSz="914400" rtl="0" eaLnBrk="1" fontAlgn="auto" latinLnBrk="0" hangingPunct="1">
              <a:lnSpc>
                <a:spcPct val="100000"/>
              </a:lnSpc>
              <a:spcBef>
                <a:spcPts val="0"/>
              </a:spcBef>
              <a:spcAft>
                <a:spcPts val="0"/>
              </a:spcAft>
              <a:buClrTx/>
              <a:buSzTx/>
              <a:buFontTx/>
              <a:buNone/>
              <a:defRPr/>
            </a:pPr>
            <a:r>
              <a:rPr kumimoji="0" lang="en-IN" sz="24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a:t>
            </a:r>
          </a:p>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en-US" sz="2400" b="1" i="0" u="none" strike="noStrike" kern="1200" cap="none" spc="0" normalizeH="0" baseline="0" noProof="0" dirty="0">
                <a:ln>
                  <a:noFill/>
                </a:ln>
                <a:solidFill>
                  <a:srgbClr val="0070C0"/>
                </a:solidFill>
                <a:effectLst/>
                <a:uLnTx/>
                <a:uFillTx/>
                <a:latin typeface="Times New Roman" panose="02020603050405020304" pitchFamily="18" charset="0"/>
                <a:cs typeface="Times New Roman" panose="02020603050405020304" pitchFamily="18" charset="0"/>
              </a:rPr>
              <a:t>Syntax:</a:t>
            </a:r>
            <a:endParaRPr kumimoji="0" lang="en-US" altLang="en-US" sz="24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en-US" sz="24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try </a:t>
            </a:r>
          </a:p>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en-US" sz="24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a:t>
            </a:r>
          </a:p>
          <a:p>
            <a:pPr marL="457200" marR="0" lvl="1" indent="0" algn="l" defTabSz="914400" rtl="0" eaLnBrk="1" fontAlgn="auto" latinLnBrk="0" hangingPunct="1">
              <a:lnSpc>
                <a:spcPct val="100000"/>
              </a:lnSpc>
              <a:spcBef>
                <a:spcPts val="0"/>
              </a:spcBef>
              <a:spcAft>
                <a:spcPts val="0"/>
              </a:spcAft>
              <a:buClrTx/>
              <a:buSzTx/>
              <a:buFontTx/>
              <a:buNone/>
              <a:defRPr/>
            </a:pPr>
            <a:r>
              <a:rPr kumimoji="0" lang="en-US" altLang="en-US" sz="24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throw exception;            </a:t>
            </a:r>
            <a:r>
              <a:rPr kumimoji="0" lang="en-US" altLang="en-US" sz="2400" i="0" u="none" strike="noStrike" kern="1200" cap="none" spc="0" normalizeH="0" baseline="0" noProof="0" dirty="0">
                <a:ln>
                  <a:noFill/>
                </a:ln>
                <a:solidFill>
                  <a:srgbClr val="00B0F0"/>
                </a:solidFill>
                <a:effectLst/>
                <a:uLnTx/>
                <a:uFillTx/>
                <a:latin typeface="Times New Roman" panose="02020603050405020304" pitchFamily="18" charset="0"/>
                <a:cs typeface="Times New Roman" panose="02020603050405020304" pitchFamily="18" charset="0"/>
              </a:rPr>
              <a:t>// Block of code to try</a:t>
            </a:r>
          </a:p>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en-US" sz="24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a:t>
            </a:r>
          </a:p>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en-US" sz="24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catch () </a:t>
            </a:r>
          </a:p>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en-US" sz="24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a:t>
            </a:r>
          </a:p>
          <a:p>
            <a:pPr marL="0" marR="0" lvl="0" indent="457200" algn="l" defTabSz="914400" rtl="0" eaLnBrk="1" fontAlgn="auto" latinLnBrk="0" hangingPunct="1">
              <a:lnSpc>
                <a:spcPct val="100000"/>
              </a:lnSpc>
              <a:spcBef>
                <a:spcPts val="0"/>
              </a:spcBef>
              <a:spcAft>
                <a:spcPts val="0"/>
              </a:spcAft>
              <a:buClrTx/>
              <a:buSzTx/>
              <a:buFontTx/>
              <a:buNone/>
              <a:defRPr/>
            </a:pPr>
            <a:r>
              <a:rPr kumimoji="0" lang="en-US" altLang="en-US" sz="2400" i="0" u="none" strike="noStrike" kern="1200" cap="none" spc="0" normalizeH="0" baseline="0" noProof="0" dirty="0">
                <a:ln>
                  <a:noFill/>
                </a:ln>
                <a:solidFill>
                  <a:srgbClr val="00B0F0"/>
                </a:solidFill>
                <a:effectLst/>
                <a:uLnTx/>
                <a:uFillTx/>
                <a:latin typeface="Times New Roman" panose="02020603050405020304" pitchFamily="18" charset="0"/>
                <a:cs typeface="Times New Roman" panose="02020603050405020304" pitchFamily="18" charset="0"/>
              </a:rPr>
              <a:t>// Block of code to handle errors</a:t>
            </a:r>
          </a:p>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en-US" sz="24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a:t>
            </a:r>
          </a:p>
        </p:txBody>
      </p:sp>
    </p:spTree>
  </p:cSld>
  <p:clrMapOvr>
    <a:masterClrMapping/>
  </p:clrMapOvr>
  <p:transition>
    <p:pull dir="d"/>
  </p:transition>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object 3"/>
          <p:cNvSpPr txBox="1">
            <a:spLocks noGrp="1"/>
          </p:cNvSpPr>
          <p:nvPr>
            <p:ph type="title"/>
          </p:nvPr>
        </p:nvSpPr>
        <p:spPr>
          <a:xfrm>
            <a:off x="488003" y="312733"/>
            <a:ext cx="6710465" cy="381635"/>
          </a:xfrm>
          <a:prstGeom prst="rect">
            <a:avLst/>
          </a:prstGeom>
        </p:spPr>
        <p:txBody>
          <a:bodyPr vert="horz" wrap="square" lIns="0" tIns="12700" rIns="0" bIns="0" rtlCol="0">
            <a:spAutoFit/>
          </a:bodyPr>
          <a:lstStyle/>
          <a:p>
            <a:pPr marL="12700">
              <a:lnSpc>
                <a:spcPct val="100000"/>
              </a:lnSpc>
              <a:spcBef>
                <a:spcPts val="100"/>
              </a:spcBef>
            </a:pPr>
            <a:r>
              <a:rPr lang="en-US" sz="2400" dirty="0">
                <a:solidFill>
                  <a:srgbClr val="04A2B9"/>
                </a:solidFill>
                <a:latin typeface="Corbel" panose="020B0503020204020204" pitchFamily="34" charset="0"/>
              </a:rPr>
              <a:t>Department of Computer Engineering</a:t>
            </a:r>
            <a:endParaRPr lang="en-IN" sz="2400" dirty="0">
              <a:latin typeface="Corbel" panose="020B0503020204020204" pitchFamily="34" charset="0"/>
            </a:endParaRPr>
          </a:p>
        </p:txBody>
      </p:sp>
      <p:sp>
        <p:nvSpPr>
          <p:cNvPr id="8" name="Rectangle 7"/>
          <p:cNvSpPr/>
          <p:nvPr/>
        </p:nvSpPr>
        <p:spPr>
          <a:xfrm>
            <a:off x="464149" y="1247268"/>
            <a:ext cx="11352179" cy="495822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just" defTabSz="914400" rtl="0" eaLnBrk="1" fontAlgn="auto" latinLnBrk="0" hangingPunct="1">
              <a:lnSpc>
                <a:spcPct val="100000"/>
              </a:lnSpc>
              <a:spcBef>
                <a:spcPts val="0"/>
              </a:spcBef>
              <a:spcAft>
                <a:spcPts val="0"/>
              </a:spcAft>
              <a:buClrTx/>
              <a:buSzTx/>
              <a:buFontTx/>
              <a:buNone/>
              <a:defRPr/>
            </a:pPr>
            <a:r>
              <a:rPr kumimoji="0" lang="en-US" altLang="en-US" sz="32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Exception Handling</a:t>
            </a:r>
          </a:p>
          <a:p>
            <a:pPr marL="0" marR="0" lvl="0" indent="0" algn="just" defTabSz="914400" rtl="0" eaLnBrk="1" fontAlgn="auto" latinLnBrk="0" hangingPunct="1">
              <a:lnSpc>
                <a:spcPct val="100000"/>
              </a:lnSpc>
              <a:spcBef>
                <a:spcPts val="0"/>
              </a:spcBef>
              <a:spcAft>
                <a:spcPts val="0"/>
              </a:spcAft>
              <a:buClrTx/>
              <a:buSzTx/>
              <a:buFontTx/>
              <a:buNone/>
              <a:defRPr/>
            </a:pPr>
            <a:r>
              <a:rPr kumimoji="0" lang="en-IN" sz="24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a:t>
            </a:r>
          </a:p>
          <a:p>
            <a:pPr marL="0" marR="0" lvl="0" indent="0" algn="just" defTabSz="914400" rtl="0" eaLnBrk="1" fontAlgn="auto" latinLnBrk="0" hangingPunct="1">
              <a:lnSpc>
                <a:spcPct val="100000"/>
              </a:lnSpc>
              <a:spcBef>
                <a:spcPts val="0"/>
              </a:spcBef>
              <a:spcAft>
                <a:spcPts val="0"/>
              </a:spcAft>
              <a:buClrTx/>
              <a:buSzTx/>
              <a:buFontTx/>
              <a:buNone/>
              <a:defRPr/>
            </a:pPr>
            <a:r>
              <a:rPr kumimoji="0" lang="en-US" altLang="en-US" sz="2400" b="1" i="0" u="none" strike="noStrike" kern="1200" cap="none" spc="0" normalizeH="0" baseline="0" noProof="0" dirty="0">
                <a:ln>
                  <a:noFill/>
                </a:ln>
                <a:solidFill>
                  <a:schemeClr val="accent1">
                    <a:lumMod val="75000"/>
                  </a:schemeClr>
                </a:solidFill>
                <a:effectLst/>
                <a:uLnTx/>
                <a:uFillTx/>
                <a:latin typeface="Times New Roman" panose="02020603050405020304" pitchFamily="18" charset="0"/>
                <a:cs typeface="Times New Roman" panose="02020603050405020304" pitchFamily="18" charset="0"/>
              </a:rPr>
              <a:t>Why Exception Handling?</a:t>
            </a:r>
          </a:p>
          <a:p>
            <a:pPr marL="0" marR="0" lvl="0" indent="0" algn="just" defTabSz="914400" rtl="0" eaLnBrk="1" fontAlgn="auto" latinLnBrk="0" hangingPunct="1">
              <a:lnSpc>
                <a:spcPct val="100000"/>
              </a:lnSpc>
              <a:spcBef>
                <a:spcPts val="0"/>
              </a:spcBef>
              <a:spcAft>
                <a:spcPts val="0"/>
              </a:spcAft>
              <a:buClrTx/>
              <a:buSzTx/>
              <a:buFontTx/>
              <a:buNone/>
              <a:defRPr/>
            </a:pPr>
            <a:endParaRPr kumimoji="0" lang="en-US" altLang="en-US" sz="2400" i="0" u="none" strike="noStrike" kern="1200" cap="none" spc="0" normalizeH="0" baseline="0" noProof="0" dirty="0">
              <a:ln>
                <a:noFill/>
              </a:ln>
              <a:solidFill>
                <a:schemeClr val="accent1">
                  <a:lumMod val="75000"/>
                </a:schemeClr>
              </a:solidFill>
              <a:effectLst/>
              <a:uLnTx/>
              <a:uFillTx/>
              <a:latin typeface="Times New Roman" panose="02020603050405020304" pitchFamily="18" charset="0"/>
              <a:cs typeface="Times New Roman" panose="02020603050405020304" pitchFamily="18" charset="0"/>
            </a:endParaRPr>
          </a:p>
          <a:p>
            <a:pPr marL="342900" marR="0" lvl="0" indent="-342900" algn="just"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en-US" altLang="en-US" sz="24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Exception handling in C++ separates </a:t>
            </a:r>
            <a:r>
              <a:rPr kumimoji="0" lang="en-US" altLang="en-US" sz="24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error handling code </a:t>
            </a:r>
            <a:r>
              <a:rPr kumimoji="0" lang="en-US" altLang="en-US" sz="24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from normal code to ensure that the </a:t>
            </a:r>
            <a:r>
              <a:rPr kumimoji="0" lang="en-US" altLang="en-US" sz="24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normal execution of the program is not interrupted by errors or exceptions. </a:t>
            </a:r>
          </a:p>
          <a:p>
            <a:pPr marL="0" marR="0" lvl="0" indent="0" algn="just" defTabSz="914400" rtl="0" eaLnBrk="1" fontAlgn="auto" latinLnBrk="0" hangingPunct="1">
              <a:lnSpc>
                <a:spcPct val="100000"/>
              </a:lnSpc>
              <a:spcBef>
                <a:spcPts val="0"/>
              </a:spcBef>
              <a:spcAft>
                <a:spcPts val="0"/>
              </a:spcAft>
              <a:buClrTx/>
              <a:buSzTx/>
              <a:buFontTx/>
              <a:buNone/>
              <a:defRPr/>
            </a:pPr>
            <a:endParaRPr kumimoji="0" lang="en-US" altLang="en-US" sz="24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a:p>
            <a:pPr marL="342900" marR="0" lvl="0" indent="-342900" algn="just"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en-US" altLang="en-US" sz="24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Unlike using multiple if-else conditions to handle errors, </a:t>
            </a:r>
            <a:r>
              <a:rPr kumimoji="0" lang="en-US" altLang="en-US" sz="24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exception handling improves code readability and maintainability</a:t>
            </a:r>
            <a:r>
              <a:rPr kumimoji="0" lang="en-US" altLang="en-US" sz="24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by allowing developers to easily manage exceptional situations.</a:t>
            </a:r>
          </a:p>
        </p:txBody>
      </p:sp>
    </p:spTree>
  </p:cSld>
  <p:clrMapOvr>
    <a:masterClrMapping/>
  </p:clrMapOvr>
  <p:transition>
    <p:pull dir="d"/>
  </p:transition>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object 3"/>
          <p:cNvSpPr txBox="1">
            <a:spLocks noGrp="1"/>
          </p:cNvSpPr>
          <p:nvPr>
            <p:ph type="title"/>
          </p:nvPr>
        </p:nvSpPr>
        <p:spPr>
          <a:xfrm>
            <a:off x="488003" y="312733"/>
            <a:ext cx="6710465" cy="381635"/>
          </a:xfrm>
          <a:prstGeom prst="rect">
            <a:avLst/>
          </a:prstGeom>
        </p:spPr>
        <p:txBody>
          <a:bodyPr vert="horz" wrap="square" lIns="0" tIns="12700" rIns="0" bIns="0" rtlCol="0">
            <a:spAutoFit/>
          </a:bodyPr>
          <a:lstStyle/>
          <a:p>
            <a:pPr marL="12700">
              <a:lnSpc>
                <a:spcPct val="100000"/>
              </a:lnSpc>
              <a:spcBef>
                <a:spcPts val="100"/>
              </a:spcBef>
            </a:pPr>
            <a:r>
              <a:rPr lang="en-US" sz="2400" dirty="0">
                <a:solidFill>
                  <a:srgbClr val="04A2B9"/>
                </a:solidFill>
                <a:latin typeface="Corbel" panose="020B0503020204020204" pitchFamily="34" charset="0"/>
              </a:rPr>
              <a:t>Department of Computer Engineering</a:t>
            </a:r>
            <a:endParaRPr lang="en-IN" sz="2400" dirty="0">
              <a:latin typeface="Corbel" panose="020B0503020204020204" pitchFamily="34" charset="0"/>
            </a:endParaRPr>
          </a:p>
        </p:txBody>
      </p:sp>
      <p:sp>
        <p:nvSpPr>
          <p:cNvPr id="8" name="Rectangle 7"/>
          <p:cNvSpPr/>
          <p:nvPr/>
        </p:nvSpPr>
        <p:spPr>
          <a:xfrm>
            <a:off x="464149" y="1247268"/>
            <a:ext cx="11352179" cy="495822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just" defTabSz="914400" rtl="0" eaLnBrk="1" fontAlgn="auto" latinLnBrk="0" hangingPunct="1">
              <a:lnSpc>
                <a:spcPct val="100000"/>
              </a:lnSpc>
              <a:spcBef>
                <a:spcPts val="0"/>
              </a:spcBef>
              <a:spcAft>
                <a:spcPts val="0"/>
              </a:spcAft>
              <a:buClrTx/>
              <a:buSzTx/>
              <a:buFontTx/>
              <a:buNone/>
              <a:defRPr/>
            </a:pPr>
            <a:r>
              <a:rPr kumimoji="0" lang="en-US" altLang="en-US" sz="32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Exception Handling</a:t>
            </a:r>
          </a:p>
          <a:p>
            <a:pPr marL="342900" marR="0" lvl="0" indent="-342900" algn="just" defTabSz="914400" rtl="0" eaLnBrk="1" fontAlgn="auto" latinLnBrk="0" hangingPunct="1">
              <a:lnSpc>
                <a:spcPct val="100000"/>
              </a:lnSpc>
              <a:spcBef>
                <a:spcPts val="0"/>
              </a:spcBef>
              <a:spcAft>
                <a:spcPts val="0"/>
              </a:spcAft>
              <a:buClrTx/>
              <a:buSzTx/>
              <a:buFont typeface="Arial" panose="020B0604020202020204" pitchFamily="34" charset="0"/>
              <a:buChar char="•"/>
              <a:defRPr/>
            </a:pPr>
            <a:endParaRPr kumimoji="0" lang="en-IN" sz="24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a:p>
            <a:pPr marL="342900" marR="0" lvl="0" indent="-342900" algn="just"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en-US" altLang="en-US" sz="22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In C++, exception handling enables the creation of a hierarchy of exception objects, grouping exceptions in namespaces or classes, and categorizing exceptions according to their types.</a:t>
            </a:r>
          </a:p>
          <a:p>
            <a:pPr marL="342900" marR="0" lvl="0" indent="-342900" algn="just" defTabSz="914400" rtl="0" eaLnBrk="1" fontAlgn="auto" latinLnBrk="0" hangingPunct="1">
              <a:lnSpc>
                <a:spcPct val="100000"/>
              </a:lnSpc>
              <a:spcBef>
                <a:spcPts val="0"/>
              </a:spcBef>
              <a:spcAft>
                <a:spcPts val="0"/>
              </a:spcAft>
              <a:buClrTx/>
              <a:buSzTx/>
              <a:buFont typeface="Arial" panose="020B0604020202020204" pitchFamily="34" charset="0"/>
              <a:buChar char="•"/>
              <a:defRPr/>
            </a:pPr>
            <a:endParaRPr kumimoji="0" lang="en-US" altLang="en-US" sz="22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a:p>
            <a:pPr marL="342900" marR="0" lvl="0" indent="-342900" algn="just"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en-US" altLang="en-US" sz="22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Using exception handling in C++, we can </a:t>
            </a:r>
            <a:r>
              <a:rPr kumimoji="0" lang="en-US" altLang="en-US" sz="22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throw any number of exceptions</a:t>
            </a:r>
            <a:r>
              <a:rPr kumimoji="0" lang="en-US" altLang="en-US" sz="22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from a function but we can </a:t>
            </a:r>
            <a:r>
              <a:rPr kumimoji="0" lang="en-US" altLang="en-US" sz="22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choose to handle some of the thrown exceptions</a:t>
            </a:r>
            <a:r>
              <a:rPr kumimoji="0" lang="en-US" altLang="en-US" sz="22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a:t>
            </a:r>
          </a:p>
          <a:p>
            <a:pPr marL="342900" marR="0" lvl="0" indent="-342900" algn="just" defTabSz="914400" rtl="0" eaLnBrk="1" fontAlgn="auto" latinLnBrk="0" hangingPunct="1">
              <a:lnSpc>
                <a:spcPct val="100000"/>
              </a:lnSpc>
              <a:spcBef>
                <a:spcPts val="0"/>
              </a:spcBef>
              <a:spcAft>
                <a:spcPts val="0"/>
              </a:spcAft>
              <a:buClrTx/>
              <a:buSzTx/>
              <a:buFont typeface="Arial" panose="020B0604020202020204" pitchFamily="34" charset="0"/>
              <a:buChar char="•"/>
              <a:defRPr/>
            </a:pPr>
            <a:endParaRPr kumimoji="0" lang="en-US" altLang="en-US" sz="22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a:p>
            <a:pPr marL="342900" marR="0" lvl="0" indent="-342900" algn="just"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en-US" altLang="en-US" sz="22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A program can throw both </a:t>
            </a:r>
            <a:r>
              <a:rPr kumimoji="0" lang="en-US" altLang="en-US" sz="22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pre-defined as well as a custom exception(s)</a:t>
            </a:r>
            <a:r>
              <a:rPr kumimoji="0" lang="en-US" altLang="en-US" sz="22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as per the need of the program.</a:t>
            </a:r>
          </a:p>
        </p:txBody>
      </p:sp>
    </p:spTree>
  </p:cSld>
  <p:clrMapOvr>
    <a:masterClrMapping/>
  </p:clrMapOvr>
  <p:transition>
    <p:pull dir="d"/>
  </p:transition>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object 3"/>
          <p:cNvSpPr txBox="1">
            <a:spLocks noGrp="1"/>
          </p:cNvSpPr>
          <p:nvPr>
            <p:ph type="title"/>
          </p:nvPr>
        </p:nvSpPr>
        <p:spPr>
          <a:xfrm>
            <a:off x="488003" y="312733"/>
            <a:ext cx="6710465" cy="381635"/>
          </a:xfrm>
          <a:prstGeom prst="rect">
            <a:avLst/>
          </a:prstGeom>
        </p:spPr>
        <p:txBody>
          <a:bodyPr vert="horz" wrap="square" lIns="0" tIns="12700" rIns="0" bIns="0" rtlCol="0">
            <a:spAutoFit/>
          </a:bodyPr>
          <a:lstStyle/>
          <a:p>
            <a:pPr marL="12700">
              <a:lnSpc>
                <a:spcPct val="100000"/>
              </a:lnSpc>
              <a:spcBef>
                <a:spcPts val="100"/>
              </a:spcBef>
            </a:pPr>
            <a:r>
              <a:rPr lang="en-US" sz="2400" dirty="0">
                <a:solidFill>
                  <a:srgbClr val="04A2B9"/>
                </a:solidFill>
                <a:latin typeface="Corbel" panose="020B0503020204020204" pitchFamily="34" charset="0"/>
              </a:rPr>
              <a:t>Department of Computer Engineering</a:t>
            </a:r>
            <a:endParaRPr lang="en-IN" sz="2400" dirty="0">
              <a:latin typeface="Corbel" panose="020B0503020204020204" pitchFamily="34" charset="0"/>
            </a:endParaRPr>
          </a:p>
        </p:txBody>
      </p:sp>
      <p:sp>
        <p:nvSpPr>
          <p:cNvPr id="8" name="Rectangle 7"/>
          <p:cNvSpPr/>
          <p:nvPr/>
        </p:nvSpPr>
        <p:spPr>
          <a:xfrm>
            <a:off x="488003" y="1129554"/>
            <a:ext cx="11328325" cy="507593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R="0" lvl="0" algn="just" defTabSz="914400" rtl="0" eaLnBrk="1" fontAlgn="auto" latinLnBrk="0" hangingPunct="1">
              <a:lnSpc>
                <a:spcPct val="100000"/>
              </a:lnSpc>
              <a:spcBef>
                <a:spcPts val="0"/>
              </a:spcBef>
              <a:spcAft>
                <a:spcPts val="0"/>
              </a:spcAft>
              <a:buClrTx/>
              <a:buSzTx/>
              <a:defRPr/>
            </a:pPr>
            <a:r>
              <a:rPr kumimoji="0" lang="en-US" altLang="en-US" sz="26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Hierarchy of Exceptions </a:t>
            </a:r>
          </a:p>
          <a:p>
            <a:pPr marR="0" lvl="0" algn="just" defTabSz="914400" rtl="0" eaLnBrk="1" fontAlgn="auto" latinLnBrk="0" hangingPunct="1">
              <a:lnSpc>
                <a:spcPct val="100000"/>
              </a:lnSpc>
              <a:spcBef>
                <a:spcPts val="0"/>
              </a:spcBef>
              <a:spcAft>
                <a:spcPts val="0"/>
              </a:spcAft>
              <a:buClrTx/>
              <a:buSzTx/>
              <a:defRPr/>
            </a:pPr>
            <a:endParaRPr kumimoji="0" lang="en-US" altLang="en-US" sz="14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a:p>
            <a:pPr marR="0" lvl="0" algn="just" defTabSz="914400" rtl="0" eaLnBrk="1" fontAlgn="auto" latinLnBrk="0" hangingPunct="1">
              <a:lnSpc>
                <a:spcPct val="100000"/>
              </a:lnSpc>
              <a:spcBef>
                <a:spcPts val="0"/>
              </a:spcBef>
              <a:spcAft>
                <a:spcPts val="0"/>
              </a:spcAft>
              <a:buClrTx/>
              <a:buSzTx/>
              <a:defRPr/>
            </a:pPr>
            <a:r>
              <a:rPr kumimoji="0" lang="en-US" altLang="en-US" sz="22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Just like organizing things into folders on your computer, you can </a:t>
            </a:r>
            <a:r>
              <a:rPr kumimoji="0" lang="en-US" altLang="en-US" sz="2200" i="0" u="sng"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group different types of exceptions together based on what went wrong</a:t>
            </a:r>
            <a:r>
              <a:rPr kumimoji="0" lang="en-US" altLang="en-US" sz="22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This makes it easier to handle them separately.</a:t>
            </a:r>
          </a:p>
          <a:p>
            <a:pPr marR="0" lvl="0" algn="just" defTabSz="914400" rtl="0" eaLnBrk="1" fontAlgn="auto" latinLnBrk="0" hangingPunct="1">
              <a:lnSpc>
                <a:spcPct val="100000"/>
              </a:lnSpc>
              <a:spcBef>
                <a:spcPts val="0"/>
              </a:spcBef>
              <a:spcAft>
                <a:spcPts val="0"/>
              </a:spcAft>
              <a:buClrTx/>
              <a:buSzTx/>
              <a:defRPr/>
            </a:pPr>
            <a:endParaRPr kumimoji="0" lang="en-US" altLang="en-US" sz="22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a:p>
            <a:pPr marL="342900" marR="0" lvl="0" indent="-342900" algn="just"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en-US" altLang="en-US" sz="22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Throwing Exceptions:</a:t>
            </a:r>
            <a:r>
              <a:rPr kumimoji="0" lang="en-US" altLang="en-US" sz="22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When something goes wrong in your code and you want to say, "Hey, I hit a problem here!", </a:t>
            </a:r>
            <a:r>
              <a:rPr kumimoji="0" lang="en-US" altLang="en-US" sz="2200" i="0" u="sng"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you can throw an exception</a:t>
            </a:r>
            <a:r>
              <a:rPr kumimoji="0" lang="en-US" altLang="en-US" sz="22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You </a:t>
            </a:r>
            <a:r>
              <a:rPr kumimoji="0" lang="en-US" altLang="en-US" sz="2200" i="0" u="none" strike="noStrike" kern="1200" cap="none" spc="0" normalizeH="0" baseline="0" noProof="0" dirty="0">
                <a:ln>
                  <a:noFill/>
                </a:ln>
                <a:solidFill>
                  <a:srgbClr val="FF0000"/>
                </a:solidFill>
                <a:effectLst/>
                <a:uLnTx/>
                <a:uFillTx/>
                <a:latin typeface="Times New Roman" panose="02020603050405020304" pitchFamily="18" charset="0"/>
                <a:cs typeface="Times New Roman" panose="02020603050405020304" pitchFamily="18" charset="0"/>
              </a:rPr>
              <a:t>can throw as many of these as you need</a:t>
            </a:r>
            <a:r>
              <a:rPr kumimoji="0" lang="en-US" altLang="en-US" sz="22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from a function.</a:t>
            </a:r>
          </a:p>
          <a:p>
            <a:pPr marL="342900" marR="0" lvl="0" indent="-342900" algn="just"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en-US" altLang="en-US" sz="22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Handling Exceptions: </a:t>
            </a:r>
            <a:r>
              <a:rPr kumimoji="0" lang="en-US" altLang="en-US" sz="22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Now, just because you threw an exception doesn't mean you have to deal with it right away. You can </a:t>
            </a:r>
            <a:r>
              <a:rPr kumimoji="0" lang="en-US" altLang="en-US" sz="2200" i="0" u="none" strike="noStrike" kern="1200" cap="none" spc="0" normalizeH="0" baseline="0" noProof="0" dirty="0">
                <a:ln>
                  <a:noFill/>
                </a:ln>
                <a:solidFill>
                  <a:srgbClr val="FF0000"/>
                </a:solidFill>
                <a:effectLst/>
                <a:uLnTx/>
                <a:uFillTx/>
                <a:latin typeface="Times New Roman" panose="02020603050405020304" pitchFamily="18" charset="0"/>
                <a:cs typeface="Times New Roman" panose="02020603050405020304" pitchFamily="18" charset="0"/>
              </a:rPr>
              <a:t>choose to handle some exceptions and ignore others for now</a:t>
            </a:r>
            <a:r>
              <a:rPr kumimoji="0" lang="en-US" altLang="en-US" sz="22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It's like saying, "I'll deal with this problem later."</a:t>
            </a:r>
          </a:p>
          <a:p>
            <a:pPr marL="342900" marR="0" lvl="0" indent="-342900" algn="just"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en-US" altLang="en-US" sz="22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Pre-defined and Custom Exceptions: </a:t>
            </a:r>
            <a:r>
              <a:rPr kumimoji="0" lang="en-US" altLang="en-US" sz="22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You can </a:t>
            </a:r>
            <a:r>
              <a:rPr kumimoji="0" lang="en-US" altLang="en-US" sz="2200" i="0" u="none" strike="noStrike" kern="1200" cap="none" spc="0" normalizeH="0" baseline="0" noProof="0" dirty="0">
                <a:ln>
                  <a:noFill/>
                </a:ln>
                <a:solidFill>
                  <a:srgbClr val="FF0000"/>
                </a:solidFill>
                <a:effectLst/>
                <a:uLnTx/>
                <a:uFillTx/>
                <a:latin typeface="Times New Roman" panose="02020603050405020304" pitchFamily="18" charset="0"/>
                <a:cs typeface="Times New Roman" panose="02020603050405020304" pitchFamily="18" charset="0"/>
              </a:rPr>
              <a:t>create your own types of errors </a:t>
            </a:r>
            <a:r>
              <a:rPr kumimoji="0" lang="en-US" altLang="en-US" sz="22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that fit your program perfectly. So, if you're writing a game and you want to have a specific error for when the player runs out of lives.</a:t>
            </a:r>
          </a:p>
        </p:txBody>
      </p:sp>
    </p:spTree>
  </p:cSld>
  <p:clrMapOvr>
    <a:masterClrMapping/>
  </p:clrMapOvr>
  <p:transition>
    <p:pull dir="d"/>
  </p:transition>
</p:sld>
</file>

<file path=ppt/slides/slide2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object 3"/>
          <p:cNvSpPr txBox="1">
            <a:spLocks noGrp="1"/>
          </p:cNvSpPr>
          <p:nvPr>
            <p:ph type="title"/>
          </p:nvPr>
        </p:nvSpPr>
        <p:spPr>
          <a:xfrm>
            <a:off x="488003" y="312733"/>
            <a:ext cx="6710465" cy="381635"/>
          </a:xfrm>
          <a:prstGeom prst="rect">
            <a:avLst/>
          </a:prstGeom>
        </p:spPr>
        <p:txBody>
          <a:bodyPr vert="horz" wrap="square" lIns="0" tIns="12700" rIns="0" bIns="0" rtlCol="0">
            <a:spAutoFit/>
          </a:bodyPr>
          <a:lstStyle/>
          <a:p>
            <a:pPr marL="12700">
              <a:lnSpc>
                <a:spcPct val="100000"/>
              </a:lnSpc>
              <a:spcBef>
                <a:spcPts val="100"/>
              </a:spcBef>
            </a:pPr>
            <a:r>
              <a:rPr lang="en-US" sz="2400" dirty="0">
                <a:solidFill>
                  <a:srgbClr val="04A2B9"/>
                </a:solidFill>
                <a:latin typeface="Corbel" panose="020B0503020204020204" pitchFamily="34" charset="0"/>
              </a:rPr>
              <a:t>Department of Computer Engineering</a:t>
            </a:r>
            <a:endParaRPr lang="en-IN" sz="2400" dirty="0">
              <a:latin typeface="Corbel" panose="020B0503020204020204" pitchFamily="34" charset="0"/>
            </a:endParaRPr>
          </a:p>
        </p:txBody>
      </p:sp>
      <p:sp>
        <p:nvSpPr>
          <p:cNvPr id="8" name="Rectangle 7"/>
          <p:cNvSpPr/>
          <p:nvPr/>
        </p:nvSpPr>
        <p:spPr>
          <a:xfrm>
            <a:off x="464149" y="1247268"/>
            <a:ext cx="11352179" cy="495822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just" defTabSz="914400" rtl="0" eaLnBrk="1" fontAlgn="auto" latinLnBrk="0" hangingPunct="1">
              <a:lnSpc>
                <a:spcPct val="100000"/>
              </a:lnSpc>
              <a:spcBef>
                <a:spcPts val="0"/>
              </a:spcBef>
              <a:spcAft>
                <a:spcPts val="0"/>
              </a:spcAft>
              <a:buClrTx/>
              <a:buSzTx/>
              <a:buFontTx/>
              <a:buNone/>
              <a:defRPr/>
            </a:pPr>
            <a:r>
              <a:rPr kumimoji="0" lang="en-US" altLang="en-US" sz="32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Exception Handling</a:t>
            </a:r>
            <a:endParaRPr kumimoji="0" lang="en-IN" sz="24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a:p>
            <a:pPr marR="0" lvl="0" indent="0" algn="just" defTabSz="914400" rtl="0" eaLnBrk="1" fontAlgn="auto" latinLnBrk="0" hangingPunct="1">
              <a:lnSpc>
                <a:spcPct val="100000"/>
              </a:lnSpc>
              <a:spcBef>
                <a:spcPts val="0"/>
              </a:spcBef>
              <a:spcAft>
                <a:spcPts val="0"/>
              </a:spcAft>
              <a:buClrTx/>
              <a:buSzTx/>
              <a:buFont typeface="Arial" panose="020B0604020202020204" pitchFamily="34" charset="0"/>
              <a:buNone/>
              <a:defRPr/>
            </a:pPr>
            <a:endParaRPr kumimoji="0" lang="en-US" altLang="en-US" sz="2400" i="0" u="none" strike="noStrike" kern="1200" cap="none" spc="0" normalizeH="0" baseline="0" noProof="0" dirty="0">
              <a:ln>
                <a:noFill/>
              </a:ln>
              <a:solidFill>
                <a:schemeClr val="accent1">
                  <a:lumMod val="75000"/>
                </a:schemeClr>
              </a:solidFill>
              <a:effectLst/>
              <a:uLnTx/>
              <a:uFillTx/>
              <a:latin typeface="Times New Roman" panose="02020603050405020304" pitchFamily="18" charset="0"/>
              <a:cs typeface="Times New Roman" panose="02020603050405020304" pitchFamily="18" charset="0"/>
            </a:endParaRPr>
          </a:p>
          <a:p>
            <a:pPr marR="0" lvl="0" indent="0" algn="just"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en-US" altLang="en-US" sz="2400" b="1" i="0" u="none" strike="noStrike" kern="1200" cap="none" spc="0" normalizeH="0" baseline="0" noProof="0" dirty="0">
                <a:ln>
                  <a:noFill/>
                </a:ln>
                <a:solidFill>
                  <a:schemeClr val="accent1">
                    <a:lumMod val="75000"/>
                  </a:schemeClr>
                </a:solidFill>
                <a:effectLst/>
                <a:uLnTx/>
                <a:uFillTx/>
                <a:latin typeface="Times New Roman" panose="02020603050405020304" pitchFamily="18" charset="0"/>
                <a:cs typeface="Times New Roman" panose="02020603050405020304" pitchFamily="18" charset="0"/>
              </a:rPr>
              <a:t>try</a:t>
            </a:r>
          </a:p>
          <a:p>
            <a:pPr marL="342900" marR="0" lvl="0" indent="-342900" algn="just"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en-US" altLang="en-US" sz="24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The try block is </a:t>
            </a:r>
            <a:r>
              <a:rPr kumimoji="0" lang="en-US" altLang="en-US" sz="24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used to keep the code that is expected to throw some exception</a:t>
            </a:r>
            <a:r>
              <a:rPr kumimoji="0" lang="en-US" altLang="en-US" sz="24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Whenever our code leads to any exception or error, the exception or error gets caught in the catch block. </a:t>
            </a:r>
          </a:p>
          <a:p>
            <a:pPr marL="342900" marR="0" lvl="0" indent="-342900" algn="just"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en-US" altLang="en-US" sz="2400" i="0" u="sng"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In simple terms</a:t>
            </a:r>
            <a:r>
              <a:rPr kumimoji="0" lang="en-US" altLang="en-US" sz="24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we can say that the try block is </a:t>
            </a:r>
            <a:r>
              <a:rPr kumimoji="0" lang="en-US" altLang="en-US" sz="2400" i="0" u="none" strike="noStrike" kern="1200" cap="none" spc="0" normalizeH="0" baseline="0" noProof="0" dirty="0">
                <a:ln>
                  <a:noFill/>
                </a:ln>
                <a:solidFill>
                  <a:srgbClr val="FF0000"/>
                </a:solidFill>
                <a:effectLst/>
                <a:uLnTx/>
                <a:uFillTx/>
                <a:latin typeface="Times New Roman" panose="02020603050405020304" pitchFamily="18" charset="0"/>
                <a:cs typeface="Times New Roman" panose="02020603050405020304" pitchFamily="18" charset="0"/>
              </a:rPr>
              <a:t>used to define the block of code that needs to be tested for errors while it is being executed</a:t>
            </a:r>
            <a:r>
              <a:rPr kumimoji="0" lang="en-US" altLang="en-US" sz="24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a:t>
            </a:r>
          </a:p>
          <a:p>
            <a:pPr marR="0" lvl="0" indent="0" algn="just"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en-US" altLang="en-US" sz="2400" i="0" u="none" strike="noStrike" kern="1200" cap="none" spc="0" normalizeH="0" baseline="0" noProof="0" dirty="0">
                <a:ln>
                  <a:noFill/>
                </a:ln>
                <a:solidFill>
                  <a:schemeClr val="accent1">
                    <a:lumMod val="75000"/>
                  </a:schemeClr>
                </a:solidFill>
                <a:effectLst/>
                <a:uLnTx/>
                <a:uFillTx/>
                <a:latin typeface="Times New Roman" panose="02020603050405020304" pitchFamily="18" charset="0"/>
                <a:cs typeface="Times New Roman" panose="02020603050405020304" pitchFamily="18" charset="0"/>
              </a:rPr>
              <a:t>Example:</a:t>
            </a:r>
            <a:endParaRPr kumimoji="0" lang="en-US" altLang="en-US" sz="24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a:p>
            <a:pPr marL="342900" marR="0" lvl="0" indent="-342900" algn="just"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en-US" altLang="en-US" sz="24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Suppose we are dealing with databases, we should put the code that is handling the database connection inside a try block as the database connection may raise some exceptions or errors.</a:t>
            </a:r>
          </a:p>
        </p:txBody>
      </p:sp>
    </p:spTree>
  </p:cSld>
  <p:clrMapOvr>
    <a:masterClrMapping/>
  </p:clrMapOvr>
  <p:transition>
    <p:pull dir="d"/>
  </p:transition>
</p:sld>
</file>

<file path=ppt/slides/slide2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object 3"/>
          <p:cNvSpPr txBox="1">
            <a:spLocks noGrp="1"/>
          </p:cNvSpPr>
          <p:nvPr>
            <p:ph type="title"/>
          </p:nvPr>
        </p:nvSpPr>
        <p:spPr>
          <a:xfrm>
            <a:off x="488003" y="312733"/>
            <a:ext cx="6710465" cy="381635"/>
          </a:xfrm>
          <a:prstGeom prst="rect">
            <a:avLst/>
          </a:prstGeom>
        </p:spPr>
        <p:txBody>
          <a:bodyPr vert="horz" wrap="square" lIns="0" tIns="12700" rIns="0" bIns="0" rtlCol="0">
            <a:spAutoFit/>
          </a:bodyPr>
          <a:lstStyle/>
          <a:p>
            <a:pPr marL="12700">
              <a:lnSpc>
                <a:spcPct val="100000"/>
              </a:lnSpc>
              <a:spcBef>
                <a:spcPts val="100"/>
              </a:spcBef>
            </a:pPr>
            <a:r>
              <a:rPr lang="en-US" sz="2400" dirty="0">
                <a:solidFill>
                  <a:srgbClr val="04A2B9"/>
                </a:solidFill>
                <a:latin typeface="Corbel" panose="020B0503020204020204" pitchFamily="34" charset="0"/>
              </a:rPr>
              <a:t>Department of Computer Engineering</a:t>
            </a:r>
            <a:endParaRPr lang="en-IN" sz="2400" dirty="0">
              <a:latin typeface="Corbel" panose="020B0503020204020204" pitchFamily="34" charset="0"/>
            </a:endParaRPr>
          </a:p>
        </p:txBody>
      </p:sp>
      <p:sp>
        <p:nvSpPr>
          <p:cNvPr id="8" name="Rectangle 7"/>
          <p:cNvSpPr/>
          <p:nvPr/>
        </p:nvSpPr>
        <p:spPr>
          <a:xfrm>
            <a:off x="464149" y="1247268"/>
            <a:ext cx="11352179" cy="495822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just" defTabSz="914400" rtl="0" eaLnBrk="1" fontAlgn="auto" latinLnBrk="0" hangingPunct="1">
              <a:lnSpc>
                <a:spcPct val="100000"/>
              </a:lnSpc>
              <a:spcBef>
                <a:spcPts val="0"/>
              </a:spcBef>
              <a:spcAft>
                <a:spcPts val="0"/>
              </a:spcAft>
              <a:buClrTx/>
              <a:buSzTx/>
              <a:buFontTx/>
              <a:buNone/>
              <a:defRPr/>
            </a:pPr>
            <a:r>
              <a:rPr kumimoji="0" lang="en-US" altLang="en-US" sz="32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Exception Handling</a:t>
            </a:r>
            <a:endParaRPr kumimoji="0" lang="en-IN" sz="24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a:p>
            <a:pPr marR="0" lvl="0" indent="0" algn="just" defTabSz="914400" rtl="0" eaLnBrk="1" fontAlgn="auto" latinLnBrk="0" hangingPunct="1">
              <a:lnSpc>
                <a:spcPct val="100000"/>
              </a:lnSpc>
              <a:spcBef>
                <a:spcPts val="0"/>
              </a:spcBef>
              <a:spcAft>
                <a:spcPts val="0"/>
              </a:spcAft>
              <a:buClrTx/>
              <a:buSzTx/>
              <a:buFont typeface="Arial" panose="020B0604020202020204" pitchFamily="34" charset="0"/>
              <a:buNone/>
              <a:defRPr/>
            </a:pPr>
            <a:endParaRPr kumimoji="0" lang="en-US" altLang="en-US" sz="2400" i="0" u="none" strike="noStrike" kern="1200" cap="none" spc="0" normalizeH="0" baseline="0" noProof="0" dirty="0">
              <a:ln>
                <a:noFill/>
              </a:ln>
              <a:solidFill>
                <a:schemeClr val="accent1">
                  <a:lumMod val="75000"/>
                </a:schemeClr>
              </a:solidFill>
              <a:effectLst/>
              <a:uLnTx/>
              <a:uFillTx/>
              <a:latin typeface="Times New Roman" panose="02020603050405020304" pitchFamily="18" charset="0"/>
              <a:cs typeface="Times New Roman" panose="02020603050405020304" pitchFamily="18" charset="0"/>
            </a:endParaRPr>
          </a:p>
          <a:p>
            <a:pPr marR="0" lvl="0" indent="0" algn="just"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en-US" altLang="en-US" sz="2400" b="1" i="0" u="none" strike="noStrike" kern="1200" cap="none" spc="0" normalizeH="0" baseline="0" noProof="0" dirty="0">
                <a:ln>
                  <a:noFill/>
                </a:ln>
                <a:solidFill>
                  <a:schemeClr val="accent1">
                    <a:lumMod val="75000"/>
                  </a:schemeClr>
                </a:solidFill>
                <a:effectLst/>
                <a:uLnTx/>
                <a:uFillTx/>
                <a:latin typeface="Times New Roman" panose="02020603050405020304" pitchFamily="18" charset="0"/>
                <a:cs typeface="Times New Roman" panose="02020603050405020304" pitchFamily="18" charset="0"/>
              </a:rPr>
              <a:t>Catch</a:t>
            </a:r>
          </a:p>
          <a:p>
            <a:pPr marL="342900" marR="0" lvl="0" indent="-342900" algn="just"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en-US" altLang="en-US" sz="24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The catch block is </a:t>
            </a:r>
            <a:r>
              <a:rPr kumimoji="0" lang="en-US" altLang="en-US" sz="2400" i="0" u="none" strike="noStrike" kern="1200" cap="none" spc="0" normalizeH="0" baseline="0" noProof="0" dirty="0">
                <a:ln>
                  <a:noFill/>
                </a:ln>
                <a:solidFill>
                  <a:srgbClr val="FF0000"/>
                </a:solidFill>
                <a:effectLst/>
                <a:uLnTx/>
                <a:uFillTx/>
                <a:latin typeface="Times New Roman" panose="02020603050405020304" pitchFamily="18" charset="0"/>
                <a:cs typeface="Times New Roman" panose="02020603050405020304" pitchFamily="18" charset="0"/>
              </a:rPr>
              <a:t>used to catch and handle the error(s) thrown from the try block.</a:t>
            </a:r>
          </a:p>
          <a:p>
            <a:pPr marR="0" lvl="0" indent="0" algn="just"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en-US" altLang="en-US" sz="24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a:t>
            </a:r>
          </a:p>
          <a:p>
            <a:pPr marL="342900" marR="0" lvl="0" indent="-342900" algn="just"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en-US" altLang="en-US" sz="24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If there are multiple exceptions thrown from the try block, then </a:t>
            </a:r>
            <a:r>
              <a:rPr kumimoji="0" lang="en-US" altLang="en-US" sz="24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we can use multiple catch blocks after the try blocks for each exception</a:t>
            </a:r>
            <a:r>
              <a:rPr kumimoji="0" lang="en-US" altLang="en-US" sz="24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a:t>
            </a:r>
          </a:p>
          <a:p>
            <a:pPr marL="342900" marR="0" lvl="0" indent="-342900" algn="just" defTabSz="914400" rtl="0" eaLnBrk="1" fontAlgn="auto" latinLnBrk="0" hangingPunct="1">
              <a:lnSpc>
                <a:spcPct val="100000"/>
              </a:lnSpc>
              <a:spcBef>
                <a:spcPts val="0"/>
              </a:spcBef>
              <a:spcAft>
                <a:spcPts val="0"/>
              </a:spcAft>
              <a:buClrTx/>
              <a:buSzTx/>
              <a:buFont typeface="Arial" panose="020B0604020202020204" pitchFamily="34" charset="0"/>
              <a:buChar char="•"/>
              <a:defRPr/>
            </a:pPr>
            <a:endParaRPr kumimoji="0" lang="en-US" altLang="en-US" sz="24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a:p>
            <a:pPr marL="342900" marR="0" lvl="0" indent="-342900" algn="just"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en-US" altLang="en-US" sz="24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In this way, we can perform different actions for the various occurring exceptions.</a:t>
            </a:r>
          </a:p>
          <a:p>
            <a:pPr marR="0" lvl="0" indent="0" algn="just"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en-US" altLang="en-US" sz="24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a:t>
            </a:r>
          </a:p>
          <a:p>
            <a:pPr marL="342900" marR="0" lvl="0" indent="-342900" algn="just"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en-US" altLang="en-US" sz="24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Catch block is used to define a block of code to be executed if an error occurs in the try block.</a:t>
            </a:r>
          </a:p>
        </p:txBody>
      </p:sp>
    </p:spTree>
  </p:cSld>
  <p:clrMapOvr>
    <a:masterClrMapping/>
  </p:clrMapOvr>
  <p:transition>
    <p:pull dir="d"/>
  </p:transition>
</p:sld>
</file>

<file path=ppt/slides/slide2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object 3"/>
          <p:cNvSpPr txBox="1">
            <a:spLocks noGrp="1"/>
          </p:cNvSpPr>
          <p:nvPr>
            <p:ph type="title"/>
          </p:nvPr>
        </p:nvSpPr>
        <p:spPr>
          <a:xfrm>
            <a:off x="488003" y="312733"/>
            <a:ext cx="6710465" cy="381635"/>
          </a:xfrm>
          <a:prstGeom prst="rect">
            <a:avLst/>
          </a:prstGeom>
        </p:spPr>
        <p:txBody>
          <a:bodyPr vert="horz" wrap="square" lIns="0" tIns="12700" rIns="0" bIns="0" rtlCol="0">
            <a:spAutoFit/>
          </a:bodyPr>
          <a:lstStyle/>
          <a:p>
            <a:pPr marL="12700">
              <a:lnSpc>
                <a:spcPct val="100000"/>
              </a:lnSpc>
              <a:spcBef>
                <a:spcPts val="100"/>
              </a:spcBef>
            </a:pPr>
            <a:r>
              <a:rPr lang="en-US" sz="2400" dirty="0">
                <a:solidFill>
                  <a:srgbClr val="04A2B9"/>
                </a:solidFill>
                <a:latin typeface="Corbel" panose="020B0503020204020204" pitchFamily="34" charset="0"/>
              </a:rPr>
              <a:t>Department of Computer Engineering</a:t>
            </a:r>
            <a:endParaRPr lang="en-IN" sz="2400" dirty="0">
              <a:latin typeface="Corbel" panose="020B0503020204020204" pitchFamily="34" charset="0"/>
            </a:endParaRPr>
          </a:p>
        </p:txBody>
      </p:sp>
      <p:sp>
        <p:nvSpPr>
          <p:cNvPr id="8" name="Rectangle 7"/>
          <p:cNvSpPr/>
          <p:nvPr/>
        </p:nvSpPr>
        <p:spPr>
          <a:xfrm>
            <a:off x="464149" y="1247268"/>
            <a:ext cx="11352179" cy="495822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just" defTabSz="914400" rtl="0" eaLnBrk="1" fontAlgn="auto" latinLnBrk="0" hangingPunct="1">
              <a:lnSpc>
                <a:spcPct val="100000"/>
              </a:lnSpc>
              <a:spcBef>
                <a:spcPts val="0"/>
              </a:spcBef>
              <a:spcAft>
                <a:spcPts val="0"/>
              </a:spcAft>
              <a:buClrTx/>
              <a:buSzTx/>
              <a:buFontTx/>
              <a:buNone/>
              <a:defRPr/>
            </a:pPr>
            <a:r>
              <a:rPr kumimoji="0" lang="en-US" altLang="en-US" sz="32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Exception Handling</a:t>
            </a:r>
            <a:endParaRPr kumimoji="0" lang="en-IN" sz="24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a:p>
            <a:pPr marR="0" lvl="0" indent="0" algn="just" defTabSz="914400" rtl="0" eaLnBrk="1" fontAlgn="auto" latinLnBrk="0" hangingPunct="1">
              <a:lnSpc>
                <a:spcPct val="100000"/>
              </a:lnSpc>
              <a:spcBef>
                <a:spcPts val="0"/>
              </a:spcBef>
              <a:spcAft>
                <a:spcPts val="0"/>
              </a:spcAft>
              <a:buClrTx/>
              <a:buSzTx/>
              <a:buFont typeface="Arial" panose="020B0604020202020204" pitchFamily="34" charset="0"/>
              <a:buNone/>
              <a:defRPr/>
            </a:pPr>
            <a:endParaRPr kumimoji="0" lang="en-US" altLang="en-US" sz="2400" i="0" u="none" strike="noStrike" kern="1200" cap="none" spc="0" normalizeH="0" baseline="0" noProof="0" dirty="0">
              <a:ln>
                <a:noFill/>
              </a:ln>
              <a:solidFill>
                <a:schemeClr val="accent1">
                  <a:lumMod val="75000"/>
                </a:schemeClr>
              </a:solidFill>
              <a:effectLst/>
              <a:uLnTx/>
              <a:uFillTx/>
              <a:latin typeface="Times New Roman" panose="02020603050405020304" pitchFamily="18" charset="0"/>
              <a:cs typeface="Times New Roman" panose="02020603050405020304" pitchFamily="18" charset="0"/>
            </a:endParaRPr>
          </a:p>
          <a:p>
            <a:pPr marR="0" lvl="0" indent="0" algn="just"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en-US" altLang="en-US" sz="2400" i="0" u="none" strike="noStrike" kern="1200" cap="none" spc="0" normalizeH="0" baseline="0" noProof="0" dirty="0">
                <a:ln>
                  <a:noFill/>
                </a:ln>
                <a:solidFill>
                  <a:schemeClr val="accent1">
                    <a:lumMod val="75000"/>
                  </a:schemeClr>
                </a:solidFill>
                <a:effectLst/>
                <a:uLnTx/>
                <a:uFillTx/>
                <a:latin typeface="Times New Roman" panose="02020603050405020304" pitchFamily="18" charset="0"/>
                <a:cs typeface="Times New Roman" panose="02020603050405020304" pitchFamily="18" charset="0"/>
              </a:rPr>
              <a:t>Example:</a:t>
            </a:r>
          </a:p>
          <a:p>
            <a:pPr marL="342900" marR="0" lvl="0" indent="-342900" algn="just"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en-US" altLang="en-US" sz="24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Let us take the same above example that we are </a:t>
            </a:r>
            <a:r>
              <a:rPr kumimoji="0" lang="en-US" altLang="en-US" sz="2400" i="0" u="sng"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dealing with the database</a:t>
            </a:r>
            <a:r>
              <a:rPr kumimoji="0" lang="en-US" altLang="en-US" sz="24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a:t>
            </a:r>
          </a:p>
          <a:p>
            <a:pPr marL="342900" marR="0" lvl="0" indent="-342900" algn="just"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en-US" altLang="en-US" sz="24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Now, if during the connection, there is an exception raised inside the try block, then there should be a catch block present to catch or accept the exception and handle the exception. </a:t>
            </a:r>
          </a:p>
          <a:p>
            <a:pPr marL="342900" marR="0" lvl="0" indent="-342900" algn="just"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en-US" altLang="en-US" sz="24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The catch block ensures that the normal flow of the code is not halted.</a:t>
            </a:r>
          </a:p>
          <a:p>
            <a:pPr marL="342900" marR="0" lvl="0" indent="-342900" algn="just" defTabSz="914400" rtl="0" eaLnBrk="1" fontAlgn="auto" latinLnBrk="0" hangingPunct="1">
              <a:lnSpc>
                <a:spcPct val="100000"/>
              </a:lnSpc>
              <a:spcBef>
                <a:spcPts val="0"/>
              </a:spcBef>
              <a:spcAft>
                <a:spcPts val="0"/>
              </a:spcAft>
              <a:buClrTx/>
              <a:buSzTx/>
              <a:buFont typeface="Arial" panose="020B0604020202020204" pitchFamily="34" charset="0"/>
              <a:buChar char="•"/>
              <a:defRPr/>
            </a:pPr>
            <a:endParaRPr kumimoji="0" lang="en-US" altLang="en-US" sz="24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a:p>
            <a:pPr marR="0" lvl="0" indent="0" algn="just"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en-US" altLang="en-US" sz="2400" i="0" u="none" strike="noStrike" kern="1200" cap="none" spc="0" normalizeH="0" baseline="0" noProof="0" dirty="0">
                <a:ln>
                  <a:noFill/>
                </a:ln>
                <a:solidFill>
                  <a:schemeClr val="accent1">
                    <a:lumMod val="75000"/>
                  </a:schemeClr>
                </a:solidFill>
                <a:effectLst/>
                <a:uLnTx/>
                <a:uFillTx/>
                <a:latin typeface="Times New Roman" panose="02020603050405020304" pitchFamily="18" charset="0"/>
                <a:cs typeface="Times New Roman" panose="02020603050405020304" pitchFamily="18" charset="0"/>
              </a:rPr>
              <a:t>Note:</a:t>
            </a:r>
          </a:p>
          <a:p>
            <a:pPr marL="342900" marR="0" lvl="0" indent="-342900" algn="just"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en-US" altLang="en-US" sz="24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The try and catch block comes is used in pairs.</a:t>
            </a:r>
          </a:p>
          <a:p>
            <a:pPr marL="342900" marR="0" lvl="0" indent="-342900" algn="just"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en-US" altLang="en-US" sz="24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We can have multiple catch blocks for one try statement.</a:t>
            </a:r>
          </a:p>
        </p:txBody>
      </p:sp>
    </p:spTree>
  </p:cSld>
  <p:clrMapOvr>
    <a:masterClrMapping/>
  </p:clrMapOvr>
  <p:transition>
    <p:pull dir="d"/>
  </p:transition>
</p:sld>
</file>

<file path=ppt/slides/slide2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object 3"/>
          <p:cNvSpPr txBox="1">
            <a:spLocks noGrp="1"/>
          </p:cNvSpPr>
          <p:nvPr>
            <p:ph type="title"/>
          </p:nvPr>
        </p:nvSpPr>
        <p:spPr>
          <a:xfrm>
            <a:off x="488003" y="312733"/>
            <a:ext cx="6710465" cy="381635"/>
          </a:xfrm>
          <a:prstGeom prst="rect">
            <a:avLst/>
          </a:prstGeom>
        </p:spPr>
        <p:txBody>
          <a:bodyPr vert="horz" wrap="square" lIns="0" tIns="12700" rIns="0" bIns="0" rtlCol="0">
            <a:spAutoFit/>
          </a:bodyPr>
          <a:lstStyle/>
          <a:p>
            <a:pPr marL="12700">
              <a:lnSpc>
                <a:spcPct val="100000"/>
              </a:lnSpc>
              <a:spcBef>
                <a:spcPts val="100"/>
              </a:spcBef>
            </a:pPr>
            <a:r>
              <a:rPr lang="en-US" sz="2400" dirty="0">
                <a:solidFill>
                  <a:srgbClr val="04A2B9"/>
                </a:solidFill>
                <a:latin typeface="Corbel" panose="020B0503020204020204" pitchFamily="34" charset="0"/>
              </a:rPr>
              <a:t>Department of Computer Engineering</a:t>
            </a:r>
            <a:endParaRPr lang="en-IN" sz="2400" dirty="0">
              <a:latin typeface="Corbel" panose="020B0503020204020204" pitchFamily="34" charset="0"/>
            </a:endParaRPr>
          </a:p>
        </p:txBody>
      </p:sp>
      <p:sp>
        <p:nvSpPr>
          <p:cNvPr id="8" name="Rectangle 7"/>
          <p:cNvSpPr/>
          <p:nvPr/>
        </p:nvSpPr>
        <p:spPr>
          <a:xfrm>
            <a:off x="464149" y="1247268"/>
            <a:ext cx="11352179" cy="495822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just" defTabSz="914400" rtl="0" eaLnBrk="1" fontAlgn="auto" latinLnBrk="0" hangingPunct="1">
              <a:lnSpc>
                <a:spcPct val="100000"/>
              </a:lnSpc>
              <a:spcBef>
                <a:spcPts val="0"/>
              </a:spcBef>
              <a:spcAft>
                <a:spcPts val="0"/>
              </a:spcAft>
              <a:buClrTx/>
              <a:buSzTx/>
              <a:buFontTx/>
              <a:buNone/>
              <a:defRPr/>
            </a:pPr>
            <a:r>
              <a:rPr kumimoji="0" lang="en-US" altLang="en-US" sz="32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Exception Handling</a:t>
            </a:r>
            <a:endParaRPr kumimoji="0" lang="en-US" altLang="en-US" sz="2400" i="0" u="none" strike="noStrike" kern="1200" cap="none" spc="0" normalizeH="0" baseline="0" noProof="0" dirty="0">
              <a:ln>
                <a:noFill/>
              </a:ln>
              <a:solidFill>
                <a:schemeClr val="accent1">
                  <a:lumMod val="75000"/>
                </a:schemeClr>
              </a:solidFill>
              <a:effectLst/>
              <a:uLnTx/>
              <a:uFillTx/>
              <a:latin typeface="Times New Roman" panose="02020603050405020304" pitchFamily="18" charset="0"/>
              <a:cs typeface="Times New Roman" panose="02020603050405020304" pitchFamily="18" charset="0"/>
            </a:endParaRPr>
          </a:p>
          <a:p>
            <a:pPr marR="0" lvl="0" indent="0" algn="just" defTabSz="914400" rtl="0" eaLnBrk="1" fontAlgn="auto" latinLnBrk="0" hangingPunct="1">
              <a:lnSpc>
                <a:spcPct val="100000"/>
              </a:lnSpc>
              <a:spcBef>
                <a:spcPts val="0"/>
              </a:spcBef>
              <a:spcAft>
                <a:spcPts val="0"/>
              </a:spcAft>
              <a:buClrTx/>
              <a:buSzTx/>
              <a:buFont typeface="Arial" panose="020B0604020202020204" pitchFamily="34" charset="0"/>
              <a:buNone/>
              <a:defRPr/>
            </a:pPr>
            <a:endParaRPr kumimoji="0" lang="en-US" altLang="en-US" sz="500" b="1" i="0" u="none" strike="noStrike" kern="1200" cap="none" spc="0" normalizeH="0" baseline="0" noProof="0" dirty="0">
              <a:ln>
                <a:noFill/>
              </a:ln>
              <a:solidFill>
                <a:schemeClr val="accent1">
                  <a:lumMod val="75000"/>
                </a:schemeClr>
              </a:solidFill>
              <a:effectLst/>
              <a:uLnTx/>
              <a:uFillTx/>
              <a:latin typeface="Times New Roman" panose="02020603050405020304" pitchFamily="18" charset="0"/>
              <a:cs typeface="Times New Roman" panose="02020603050405020304" pitchFamily="18" charset="0"/>
            </a:endParaRPr>
          </a:p>
          <a:p>
            <a:pPr marR="0" lvl="0" indent="0" algn="just"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en-US" altLang="en-US" sz="2400" b="1" i="0" u="none" strike="noStrike" kern="1200" cap="none" spc="0" normalizeH="0" baseline="0" noProof="0" dirty="0">
                <a:ln>
                  <a:noFill/>
                </a:ln>
                <a:solidFill>
                  <a:schemeClr val="accent1">
                    <a:lumMod val="75000"/>
                  </a:schemeClr>
                </a:solidFill>
                <a:effectLst/>
                <a:uLnTx/>
                <a:uFillTx/>
                <a:latin typeface="Times New Roman" panose="02020603050405020304" pitchFamily="18" charset="0"/>
                <a:cs typeface="Times New Roman" panose="02020603050405020304" pitchFamily="18" charset="0"/>
              </a:rPr>
              <a:t>throw</a:t>
            </a:r>
          </a:p>
          <a:p>
            <a:pPr marL="342900" marR="0" lvl="0" indent="-342900" algn="just"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en-US" altLang="en-US" sz="24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The throw block is </a:t>
            </a:r>
            <a:r>
              <a:rPr kumimoji="0" lang="en-US" altLang="en-US" sz="2400" i="0" u="none" strike="noStrike" kern="1200" cap="none" spc="0" normalizeH="0" baseline="0" noProof="0" dirty="0">
                <a:ln>
                  <a:noFill/>
                </a:ln>
                <a:solidFill>
                  <a:srgbClr val="FF0000"/>
                </a:solidFill>
                <a:effectLst/>
                <a:uLnTx/>
                <a:uFillTx/>
                <a:latin typeface="Times New Roman" panose="02020603050405020304" pitchFamily="18" charset="0"/>
                <a:cs typeface="Times New Roman" panose="02020603050405020304" pitchFamily="18" charset="0"/>
              </a:rPr>
              <a:t>used to throw exceptions to the exception handler</a:t>
            </a:r>
            <a:r>
              <a:rPr kumimoji="0" lang="en-US" altLang="en-US" sz="24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a:t>
            </a:r>
            <a:r>
              <a:rPr kumimoji="0" lang="en-US" altLang="en-US" sz="2400" i="0" u="none" strike="noStrike" kern="1200" cap="none" spc="0" normalizeH="0" baseline="0" noProof="0" dirty="0">
                <a:ln>
                  <a:noFill/>
                </a:ln>
                <a:solidFill>
                  <a:srgbClr val="FF0000"/>
                </a:solidFill>
                <a:effectLst/>
                <a:uLnTx/>
                <a:uFillTx/>
                <a:latin typeface="Times New Roman" panose="02020603050405020304" pitchFamily="18" charset="0"/>
                <a:cs typeface="Times New Roman" panose="02020603050405020304" pitchFamily="18" charset="0"/>
              </a:rPr>
              <a:t>which further communicates the error. </a:t>
            </a:r>
            <a:r>
              <a:rPr kumimoji="0" lang="en-US" altLang="en-US" sz="24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The type of exception thrown should be same in the catch block. </a:t>
            </a:r>
          </a:p>
          <a:p>
            <a:pPr marL="342900" marR="0" lvl="0" indent="-342900" algn="just" defTabSz="914400" rtl="0" eaLnBrk="1" fontAlgn="auto" latinLnBrk="0" hangingPunct="1">
              <a:lnSpc>
                <a:spcPct val="100000"/>
              </a:lnSpc>
              <a:spcBef>
                <a:spcPts val="0"/>
              </a:spcBef>
              <a:spcAft>
                <a:spcPts val="0"/>
              </a:spcAft>
              <a:buClrTx/>
              <a:buSzTx/>
              <a:buFont typeface="Arial" panose="020B0604020202020204" pitchFamily="34" charset="0"/>
              <a:buChar char="•"/>
              <a:defRPr/>
            </a:pPr>
            <a:endParaRPr kumimoji="0" lang="en-US" altLang="en-US" sz="24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a:p>
            <a:pPr marL="342900" marR="0" lvl="0" indent="-342900" algn="just"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en-US" altLang="en-US" sz="24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The throw keyword </a:t>
            </a:r>
            <a:r>
              <a:rPr kumimoji="0" lang="en-US" altLang="en-US" sz="24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accepts one parameter</a:t>
            </a:r>
            <a:r>
              <a:rPr kumimoji="0" lang="en-US" altLang="en-US" sz="24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which is passed to the exception handler. </a:t>
            </a:r>
          </a:p>
          <a:p>
            <a:pPr marL="342900" marR="0" lvl="0" indent="-342900" algn="just" defTabSz="914400" rtl="0" eaLnBrk="1" fontAlgn="auto" latinLnBrk="0" hangingPunct="1">
              <a:lnSpc>
                <a:spcPct val="100000"/>
              </a:lnSpc>
              <a:spcBef>
                <a:spcPts val="0"/>
              </a:spcBef>
              <a:spcAft>
                <a:spcPts val="0"/>
              </a:spcAft>
              <a:buClrTx/>
              <a:buSzTx/>
              <a:buFont typeface="Arial" panose="020B0604020202020204" pitchFamily="34" charset="0"/>
              <a:buChar char="•"/>
              <a:defRPr/>
            </a:pPr>
            <a:endParaRPr kumimoji="0" lang="en-US" altLang="en-US" sz="24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a:p>
            <a:pPr marL="342900" marR="0" lvl="0" indent="-342900" algn="just"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en-US" altLang="en-US" sz="24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We can throw both </a:t>
            </a:r>
            <a:r>
              <a:rPr kumimoji="0" lang="en-US" altLang="en-US" sz="24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pre-defined as well as custom exception(s) </a:t>
            </a:r>
            <a:r>
              <a:rPr kumimoji="0" lang="en-US" altLang="en-US" sz="24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as per the requirements.</a:t>
            </a:r>
          </a:p>
          <a:p>
            <a:pPr marL="342900" marR="0" lvl="0" indent="-342900" algn="just" defTabSz="914400" rtl="0" eaLnBrk="1" fontAlgn="auto" latinLnBrk="0" hangingPunct="1">
              <a:lnSpc>
                <a:spcPct val="100000"/>
              </a:lnSpc>
              <a:spcBef>
                <a:spcPts val="0"/>
              </a:spcBef>
              <a:spcAft>
                <a:spcPts val="0"/>
              </a:spcAft>
              <a:buClrTx/>
              <a:buSzTx/>
              <a:buFont typeface="Arial" panose="020B0604020202020204" pitchFamily="34" charset="0"/>
              <a:buChar char="•"/>
              <a:defRPr/>
            </a:pPr>
            <a:endParaRPr kumimoji="0" lang="en-US" altLang="en-US" sz="24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a:p>
            <a:pPr marL="342900" marR="0" lvl="0" indent="-342900" algn="just"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en-US" altLang="en-US" sz="24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Whenever we want to explicitly throw an exception, we use the </a:t>
            </a:r>
            <a:r>
              <a:rPr kumimoji="0" lang="en-US" altLang="en-US" sz="2400" b="1"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rPr>
              <a:t>throw keyword</a:t>
            </a:r>
            <a:r>
              <a:rPr kumimoji="0" lang="en-US" altLang="en-US" sz="24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The throw keyword is also used to generate the </a:t>
            </a:r>
            <a:r>
              <a:rPr kumimoji="0" lang="en-US" altLang="en-US" sz="2400" b="1" i="0" u="none" strike="noStrike" kern="1200" cap="none" spc="0" normalizeH="0" baseline="0" noProof="0" dirty="0">
                <a:ln>
                  <a:noFill/>
                </a:ln>
                <a:solidFill>
                  <a:srgbClr val="FF0000"/>
                </a:solidFill>
                <a:effectLst/>
                <a:uLnTx/>
                <a:uFillTx/>
                <a:latin typeface="Times New Roman" panose="02020603050405020304" pitchFamily="18" charset="0"/>
                <a:cs typeface="Times New Roman" panose="02020603050405020304" pitchFamily="18" charset="0"/>
              </a:rPr>
              <a:t>custom exception</a:t>
            </a:r>
            <a:r>
              <a:rPr kumimoji="0" lang="en-US" altLang="en-US" sz="24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a:t>
            </a:r>
          </a:p>
        </p:txBody>
      </p:sp>
    </p:spTree>
  </p:cSld>
  <p:clrMapOvr>
    <a:masterClrMapping/>
  </p:clrMapOvr>
  <p:transition>
    <p:pull dir="d"/>
  </p:transition>
</p:sld>
</file>

<file path=ppt/slides/slide2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object 3"/>
          <p:cNvSpPr txBox="1">
            <a:spLocks noGrp="1"/>
          </p:cNvSpPr>
          <p:nvPr>
            <p:ph type="title"/>
          </p:nvPr>
        </p:nvSpPr>
        <p:spPr>
          <a:xfrm>
            <a:off x="488003" y="312733"/>
            <a:ext cx="6710465" cy="381635"/>
          </a:xfrm>
          <a:prstGeom prst="rect">
            <a:avLst/>
          </a:prstGeom>
        </p:spPr>
        <p:txBody>
          <a:bodyPr vert="horz" wrap="square" lIns="0" tIns="12700" rIns="0" bIns="0" rtlCol="0">
            <a:spAutoFit/>
          </a:bodyPr>
          <a:lstStyle/>
          <a:p>
            <a:pPr marL="12700">
              <a:lnSpc>
                <a:spcPct val="100000"/>
              </a:lnSpc>
              <a:spcBef>
                <a:spcPts val="100"/>
              </a:spcBef>
            </a:pPr>
            <a:r>
              <a:rPr lang="en-US" sz="2400" dirty="0">
                <a:solidFill>
                  <a:srgbClr val="04A2B9"/>
                </a:solidFill>
                <a:latin typeface="Corbel" panose="020B0503020204020204" pitchFamily="34" charset="0"/>
              </a:rPr>
              <a:t>Department of Computer Engineering</a:t>
            </a:r>
            <a:endParaRPr lang="en-IN" sz="2400" dirty="0">
              <a:latin typeface="Corbel" panose="020B0503020204020204" pitchFamily="34" charset="0"/>
            </a:endParaRPr>
          </a:p>
        </p:txBody>
      </p:sp>
      <p:sp>
        <p:nvSpPr>
          <p:cNvPr id="8" name="Rectangle 7"/>
          <p:cNvSpPr/>
          <p:nvPr/>
        </p:nvSpPr>
        <p:spPr>
          <a:xfrm>
            <a:off x="464149" y="1247268"/>
            <a:ext cx="11352179" cy="495822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en-US" sz="32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Exception Handling - Example 1</a:t>
            </a:r>
            <a:endParaRPr kumimoji="0" lang="en-US" altLang="en-US" sz="2400" i="0" u="none" strike="noStrike" kern="1200" cap="none" spc="0" normalizeH="0" baseline="0" noProof="0" dirty="0">
              <a:ln>
                <a:noFill/>
              </a:ln>
              <a:solidFill>
                <a:schemeClr val="accent1">
                  <a:lumMod val="75000"/>
                </a:schemeClr>
              </a:solidFill>
              <a:effectLst/>
              <a:uLnTx/>
              <a:uFillTx/>
              <a:latin typeface="Times New Roman" panose="02020603050405020304" pitchFamily="18" charset="0"/>
              <a:cs typeface="Times New Roman" panose="02020603050405020304" pitchFamily="18" charset="0"/>
            </a:endParaRPr>
          </a:p>
          <a:p>
            <a:pPr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defRPr/>
            </a:pPr>
            <a:endParaRPr kumimoji="0" lang="en-US" altLang="en-US" sz="24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a:p>
            <a:pPr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en-US" altLang="en-US" sz="22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#include &lt;iostream&gt;</a:t>
            </a:r>
          </a:p>
          <a:p>
            <a:pPr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en-US" altLang="en-US" sz="22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using namespace std;</a:t>
            </a:r>
          </a:p>
          <a:p>
            <a:pPr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en-US" altLang="en-US" sz="2200" i="0" u="none" strike="noStrike" kern="1200" cap="none" spc="0" normalizeH="0" baseline="0" noProof="0" dirty="0">
                <a:ln>
                  <a:noFill/>
                </a:ln>
                <a:solidFill>
                  <a:schemeClr val="accent2">
                    <a:lumMod val="75000"/>
                  </a:schemeClr>
                </a:solidFill>
                <a:effectLst/>
                <a:uLnTx/>
                <a:uFillTx/>
                <a:latin typeface="Times New Roman" panose="02020603050405020304" pitchFamily="18" charset="0"/>
                <a:cs typeface="Times New Roman" panose="02020603050405020304" pitchFamily="18" charset="0"/>
              </a:rPr>
              <a:t>//Here, we want to throw exception (age as exception) if the age of the person is less than 18</a:t>
            </a:r>
          </a:p>
          <a:p>
            <a:pPr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en-US" altLang="en-US" sz="22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int main()</a:t>
            </a:r>
          </a:p>
          <a:p>
            <a:pPr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en-US" altLang="en-US" sz="22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a:t>
            </a:r>
          </a:p>
          <a:p>
            <a:pPr marR="0" lvl="1" indent="0" algn="l"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en-US" altLang="en-US" sz="22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try </a:t>
            </a:r>
            <a:r>
              <a:rPr kumimoji="0" lang="en-US" altLang="en-US" sz="2200" i="0" u="none" strike="noStrike" kern="1200" cap="none" spc="0" normalizeH="0" baseline="0" noProof="0" dirty="0">
                <a:ln>
                  <a:noFill/>
                </a:ln>
                <a:solidFill>
                  <a:schemeClr val="accent2">
                    <a:lumMod val="75000"/>
                  </a:schemeClr>
                </a:solidFill>
                <a:effectLst/>
                <a:uLnTx/>
                <a:uFillTx/>
                <a:latin typeface="Times New Roman" panose="02020603050405020304" pitchFamily="18" charset="0"/>
                <a:cs typeface="Times New Roman" panose="02020603050405020304" pitchFamily="18" charset="0"/>
              </a:rPr>
              <a:t>// checking if the age is more than 18 in try block.</a:t>
            </a:r>
          </a:p>
          <a:p>
            <a:pPr marR="0" lvl="1" indent="0" algn="l"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en-US" altLang="en-US" sz="22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a:t>
            </a:r>
          </a:p>
          <a:p>
            <a:pPr marR="0" lvl="2" indent="0" algn="l"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en-US" altLang="en-US" sz="22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int age = 15;</a:t>
            </a:r>
          </a:p>
          <a:p>
            <a:pPr marR="0" lvl="2" indent="0" algn="l"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en-US" altLang="en-US" sz="22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if (age &gt;= 18)</a:t>
            </a:r>
          </a:p>
          <a:p>
            <a:pPr marR="0" lvl="2" indent="0" algn="l"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en-US" altLang="en-US" sz="22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a:t>
            </a:r>
          </a:p>
          <a:p>
            <a:pPr marR="0" lvl="3" indent="0" algn="l"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en-US" altLang="en-US" sz="22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cout &lt;&lt; "Access granted.";</a:t>
            </a:r>
          </a:p>
          <a:p>
            <a:pPr marR="0" lvl="2" indent="0" algn="l"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en-US" altLang="en-US" sz="22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a:t>
            </a:r>
          </a:p>
        </p:txBody>
      </p:sp>
    </p:spTree>
  </p:cSld>
  <p:clrMapOvr>
    <a:masterClrMapping/>
  </p:clrMapOvr>
  <p:transition>
    <p:pull dir="d"/>
  </p:transition>
</p:sld>
</file>

<file path=ppt/slides/slide2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object 3"/>
          <p:cNvSpPr txBox="1">
            <a:spLocks noGrp="1"/>
          </p:cNvSpPr>
          <p:nvPr>
            <p:ph type="title"/>
          </p:nvPr>
        </p:nvSpPr>
        <p:spPr>
          <a:xfrm>
            <a:off x="488003" y="312733"/>
            <a:ext cx="6710465" cy="381635"/>
          </a:xfrm>
          <a:prstGeom prst="rect">
            <a:avLst/>
          </a:prstGeom>
        </p:spPr>
        <p:txBody>
          <a:bodyPr vert="horz" wrap="square" lIns="0" tIns="12700" rIns="0" bIns="0" rtlCol="0">
            <a:spAutoFit/>
          </a:bodyPr>
          <a:lstStyle/>
          <a:p>
            <a:pPr marL="12700">
              <a:lnSpc>
                <a:spcPct val="100000"/>
              </a:lnSpc>
              <a:spcBef>
                <a:spcPts val="100"/>
              </a:spcBef>
            </a:pPr>
            <a:r>
              <a:rPr lang="en-US" sz="2400" dirty="0">
                <a:solidFill>
                  <a:srgbClr val="04A2B9"/>
                </a:solidFill>
                <a:latin typeface="Corbel" panose="020B0503020204020204" pitchFamily="34" charset="0"/>
              </a:rPr>
              <a:t>Department of Computer Engineering</a:t>
            </a:r>
            <a:endParaRPr lang="en-IN" sz="2400" dirty="0">
              <a:latin typeface="Corbel" panose="020B0503020204020204" pitchFamily="34" charset="0"/>
            </a:endParaRPr>
          </a:p>
        </p:txBody>
      </p:sp>
      <p:sp>
        <p:nvSpPr>
          <p:cNvPr id="8" name="Rectangle 7"/>
          <p:cNvSpPr/>
          <p:nvPr/>
        </p:nvSpPr>
        <p:spPr>
          <a:xfrm>
            <a:off x="464149" y="1247268"/>
            <a:ext cx="11352179" cy="495822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en-US" sz="32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Exception Handling - Example 1</a:t>
            </a:r>
            <a:endParaRPr kumimoji="0" lang="en-US" altLang="en-US" sz="2400" i="0" u="none" strike="noStrike" kern="1200" cap="none" spc="0" normalizeH="0" baseline="0" noProof="0" dirty="0">
              <a:ln>
                <a:noFill/>
              </a:ln>
              <a:solidFill>
                <a:schemeClr val="accent1">
                  <a:lumMod val="75000"/>
                </a:schemeClr>
              </a:solidFill>
              <a:effectLst/>
              <a:uLnTx/>
              <a:uFillTx/>
              <a:latin typeface="Times New Roman" panose="02020603050405020304" pitchFamily="18" charset="0"/>
              <a:cs typeface="Times New Roman" panose="02020603050405020304" pitchFamily="18" charset="0"/>
            </a:endParaRPr>
          </a:p>
          <a:p>
            <a:pPr marR="0" lvl="2" indent="0" algn="l" defTabSz="914400" rtl="0" eaLnBrk="1" fontAlgn="auto" latinLnBrk="0" hangingPunct="1">
              <a:lnSpc>
                <a:spcPct val="100000"/>
              </a:lnSpc>
              <a:spcBef>
                <a:spcPts val="0"/>
              </a:spcBef>
              <a:spcAft>
                <a:spcPts val="0"/>
              </a:spcAft>
              <a:buClrTx/>
              <a:buSzTx/>
              <a:buFont typeface="Arial" panose="020B0604020202020204" pitchFamily="34" charset="0"/>
              <a:buNone/>
              <a:defRPr/>
            </a:pPr>
            <a:endParaRPr kumimoji="0" lang="en-US" altLang="en-US" sz="22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a:p>
            <a:pPr marR="0" lvl="2" indent="0" algn="l"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en-US" altLang="en-US" sz="22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else </a:t>
            </a:r>
            <a:r>
              <a:rPr kumimoji="0" lang="en-US" altLang="en-US" sz="2200" i="0" u="none" strike="noStrike" kern="1200" cap="none" spc="0" normalizeH="0" baseline="0" noProof="0" dirty="0">
                <a:ln>
                  <a:noFill/>
                </a:ln>
                <a:solidFill>
                  <a:schemeClr val="accent2">
                    <a:lumMod val="75000"/>
                  </a:schemeClr>
                </a:solidFill>
                <a:effectLst/>
                <a:uLnTx/>
                <a:uFillTx/>
                <a:latin typeface="Times New Roman" panose="02020603050405020304" pitchFamily="18" charset="0"/>
                <a:cs typeface="Times New Roman" panose="02020603050405020304" pitchFamily="18" charset="0"/>
              </a:rPr>
              <a:t>// Throwing custom exception if the age is less than 18.</a:t>
            </a:r>
          </a:p>
          <a:p>
            <a:pPr marR="0" lvl="2" indent="0" algn="l"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en-US" altLang="en-US" sz="22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a:t>
            </a:r>
          </a:p>
          <a:p>
            <a:pPr marR="0" lvl="3" indent="0" algn="l"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en-US" altLang="en-US" sz="22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throw(age);</a:t>
            </a:r>
          </a:p>
          <a:p>
            <a:pPr marR="0" lvl="2" indent="0" algn="l"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en-US" altLang="en-US" sz="22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a:t>
            </a:r>
          </a:p>
          <a:p>
            <a:pPr marR="0" lvl="1" indent="0" algn="l"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en-US" altLang="en-US" sz="22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a:t>
            </a:r>
          </a:p>
          <a:p>
            <a:pPr marR="0" lvl="1" indent="0" algn="l"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en-US" altLang="en-US" sz="2200" i="0" u="none" strike="noStrike" kern="1200" cap="none" spc="0" normalizeH="0" baseline="0" noProof="0" dirty="0">
                <a:ln>
                  <a:noFill/>
                </a:ln>
                <a:solidFill>
                  <a:schemeClr val="accent2">
                    <a:lumMod val="75000"/>
                  </a:schemeClr>
                </a:solidFill>
                <a:effectLst/>
                <a:uLnTx/>
                <a:uFillTx/>
                <a:latin typeface="Times New Roman" panose="02020603050405020304" pitchFamily="18" charset="0"/>
                <a:cs typeface="Times New Roman" panose="02020603050405020304" pitchFamily="18" charset="0"/>
              </a:rPr>
              <a:t>// catching the thrown exception and displaying the desired output (access denied!)</a:t>
            </a:r>
          </a:p>
          <a:p>
            <a:pPr marR="0" lvl="1" indent="0" algn="l"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en-US" altLang="en-US" sz="22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catch (int x)</a:t>
            </a:r>
          </a:p>
          <a:p>
            <a:pPr marR="0" lvl="1" indent="0" algn="l"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en-US" altLang="en-US" sz="22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a:t>
            </a:r>
          </a:p>
          <a:p>
            <a:pPr marR="0" lvl="2" indent="0" algn="l"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en-US" altLang="en-US" sz="22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cout &lt;&lt; "Access denied!, Age is: " &lt;&lt; x &lt;&lt; endl;</a:t>
            </a:r>
          </a:p>
          <a:p>
            <a:pPr marR="0" lvl="1" indent="0" algn="l"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en-US" altLang="en-US" sz="22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a:t>
            </a:r>
          </a:p>
          <a:p>
            <a:pPr marR="0" lvl="1" indent="0" algn="l"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en-US" altLang="en-US" sz="22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return 0;</a:t>
            </a:r>
          </a:p>
          <a:p>
            <a:pPr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en-US" altLang="en-US" sz="22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a:t>
            </a:r>
          </a:p>
        </p:txBody>
      </p:sp>
    </p:spTree>
  </p:cSld>
  <p:clrMapOvr>
    <a:masterClrMapping/>
  </p:clrMapOvr>
  <p:transition>
    <p:pull dir="d"/>
  </p:transition>
</p:sld>
</file>

<file path=ppt/slides/slide3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object 3"/>
          <p:cNvSpPr txBox="1">
            <a:spLocks noGrp="1"/>
          </p:cNvSpPr>
          <p:nvPr>
            <p:ph type="title"/>
          </p:nvPr>
        </p:nvSpPr>
        <p:spPr>
          <a:xfrm>
            <a:off x="488003" y="312733"/>
            <a:ext cx="6710465" cy="381635"/>
          </a:xfrm>
          <a:prstGeom prst="rect">
            <a:avLst/>
          </a:prstGeom>
        </p:spPr>
        <p:txBody>
          <a:bodyPr vert="horz" wrap="square" lIns="0" tIns="12700" rIns="0" bIns="0" rtlCol="0">
            <a:spAutoFit/>
          </a:bodyPr>
          <a:lstStyle/>
          <a:p>
            <a:pPr marL="12700">
              <a:lnSpc>
                <a:spcPct val="100000"/>
              </a:lnSpc>
              <a:spcBef>
                <a:spcPts val="100"/>
              </a:spcBef>
            </a:pPr>
            <a:r>
              <a:rPr lang="en-US" sz="2400" dirty="0">
                <a:solidFill>
                  <a:srgbClr val="04A2B9"/>
                </a:solidFill>
                <a:latin typeface="Corbel" panose="020B0503020204020204" pitchFamily="34" charset="0"/>
              </a:rPr>
              <a:t>Department of Computer Engineering</a:t>
            </a:r>
            <a:endParaRPr lang="en-IN" sz="2400" dirty="0">
              <a:latin typeface="Corbel" panose="020B0503020204020204" pitchFamily="34" charset="0"/>
            </a:endParaRPr>
          </a:p>
        </p:txBody>
      </p:sp>
      <p:sp>
        <p:nvSpPr>
          <p:cNvPr id="8" name="Rectangle 7"/>
          <p:cNvSpPr/>
          <p:nvPr/>
        </p:nvSpPr>
        <p:spPr>
          <a:xfrm>
            <a:off x="412377" y="1120588"/>
            <a:ext cx="11403952" cy="508490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en-US" sz="32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Exception Handling - Example 2</a:t>
            </a:r>
            <a:endParaRPr kumimoji="0" lang="en-US" altLang="en-US" sz="2400" i="0" u="none" strike="noStrike" kern="1200" cap="none" spc="0" normalizeH="0" baseline="0" noProof="0" dirty="0">
              <a:ln>
                <a:noFill/>
              </a:ln>
              <a:solidFill>
                <a:schemeClr val="accent1">
                  <a:lumMod val="75000"/>
                </a:schemeClr>
              </a:solidFill>
              <a:effectLst/>
              <a:uLnTx/>
              <a:uFillTx/>
              <a:latin typeface="Times New Roman" panose="02020603050405020304" pitchFamily="18" charset="0"/>
              <a:cs typeface="Times New Roman" panose="02020603050405020304" pitchFamily="18" charset="0"/>
            </a:endParaRPr>
          </a:p>
          <a:p>
            <a:pPr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defRPr/>
            </a:pPr>
            <a:endParaRPr kumimoji="0" lang="en-US" altLang="en-US" sz="22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a:p>
            <a:pPr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en-US" altLang="en-US" sz="22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#include &lt;iostream&gt;</a:t>
            </a:r>
          </a:p>
          <a:p>
            <a:pPr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en-US" altLang="en-US" sz="22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using namespace std;</a:t>
            </a:r>
          </a:p>
          <a:p>
            <a:pPr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en-US" altLang="en-US" sz="22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int division(int a, int b)</a:t>
            </a:r>
          </a:p>
          <a:p>
            <a:pPr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en-US" altLang="en-US" sz="22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a:t>
            </a:r>
          </a:p>
          <a:p>
            <a:pPr marR="0" lvl="1" indent="0" algn="l"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en-US" altLang="en-US" sz="22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if (b == 0) </a:t>
            </a:r>
            <a:r>
              <a:rPr kumimoji="0" lang="en-US" altLang="en-US" sz="2200" i="0" u="none" strike="noStrike" kern="1200" cap="none" spc="0" normalizeH="0" baseline="0" noProof="0" dirty="0">
                <a:ln>
                  <a:noFill/>
                </a:ln>
                <a:solidFill>
                  <a:schemeClr val="accent2">
                    <a:lumMod val="75000"/>
                  </a:schemeClr>
                </a:solidFill>
                <a:effectLst/>
                <a:uLnTx/>
                <a:uFillTx/>
                <a:latin typeface="Times New Roman" panose="02020603050405020304" pitchFamily="18" charset="0"/>
                <a:cs typeface="Times New Roman" panose="02020603050405020304" pitchFamily="18" charset="0"/>
              </a:rPr>
              <a:t>// checking if the denominator is 0 or not.</a:t>
            </a:r>
            <a:endParaRPr kumimoji="0" lang="en-US" altLang="en-US" sz="22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a:p>
            <a:pPr marR="0" lvl="1" indent="0" algn="l"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en-US" altLang="en-US" sz="22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a:t>
            </a:r>
          </a:p>
          <a:p>
            <a:pPr marR="0" lvl="2" indent="0" algn="l"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en-US" altLang="en-US" sz="22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throw "Division by zero!";  </a:t>
            </a:r>
            <a:r>
              <a:rPr kumimoji="0" lang="en-US" altLang="en-US" sz="2200" i="0" u="none" strike="noStrike" kern="1200" cap="none" spc="0" normalizeH="0" baseline="0" noProof="0" dirty="0">
                <a:ln>
                  <a:noFill/>
                </a:ln>
                <a:solidFill>
                  <a:schemeClr val="accent2">
                    <a:lumMod val="75000"/>
                  </a:schemeClr>
                </a:solidFill>
                <a:effectLst/>
                <a:uLnTx/>
                <a:uFillTx/>
                <a:latin typeface="Times New Roman" panose="02020603050405020304" pitchFamily="18" charset="0"/>
                <a:cs typeface="Times New Roman" panose="02020603050405020304" pitchFamily="18" charset="0"/>
              </a:rPr>
              <a:t>// if the denominator is 0, then we must throw an exception</a:t>
            </a:r>
            <a:endParaRPr kumimoji="0" lang="en-US" altLang="en-US" sz="22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a:p>
            <a:pPr marR="0" lvl="1" indent="0" algn="l"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en-US" altLang="en-US" sz="22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else{</a:t>
            </a:r>
          </a:p>
          <a:p>
            <a:pPr marR="0" lvl="1" indent="0" algn="l"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en-US" altLang="en-US" sz="22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return int(a / b); }</a:t>
            </a:r>
            <a:r>
              <a:rPr kumimoji="0" lang="en-US" altLang="en-US" sz="2200" i="0" u="none" strike="noStrike" kern="1200" cap="none" spc="0" normalizeH="0" baseline="0" noProof="0" dirty="0">
                <a:ln>
                  <a:noFill/>
                </a:ln>
                <a:solidFill>
                  <a:schemeClr val="accent2">
                    <a:lumMod val="75000"/>
                  </a:schemeClr>
                </a:solidFill>
                <a:effectLst/>
                <a:uLnTx/>
                <a:uFillTx/>
                <a:latin typeface="Times New Roman" panose="02020603050405020304" pitchFamily="18" charset="0"/>
                <a:cs typeface="Times New Roman" panose="02020603050405020304" pitchFamily="18" charset="0"/>
              </a:rPr>
              <a:t>// if there is no exception, then we are returning the answer.</a:t>
            </a:r>
          </a:p>
          <a:p>
            <a:pPr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en-US" altLang="en-US" sz="22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a:t>
            </a:r>
          </a:p>
          <a:p>
            <a:pPr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en-US" altLang="en-US" sz="22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int main()</a:t>
            </a:r>
          </a:p>
          <a:p>
            <a:pPr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en-US" altLang="en-US" sz="22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a:t>
            </a:r>
          </a:p>
        </p:txBody>
      </p:sp>
    </p:spTree>
  </p:cSld>
  <p:clrMapOvr>
    <a:masterClrMapping/>
  </p:clrMapOvr>
  <p:transition>
    <p:pull dir="d"/>
  </p:transition>
</p:sld>
</file>

<file path=ppt/slides/slide3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object 3"/>
          <p:cNvSpPr txBox="1">
            <a:spLocks noGrp="1"/>
          </p:cNvSpPr>
          <p:nvPr>
            <p:ph type="title"/>
          </p:nvPr>
        </p:nvSpPr>
        <p:spPr>
          <a:xfrm>
            <a:off x="488003" y="312733"/>
            <a:ext cx="6710465" cy="381635"/>
          </a:xfrm>
          <a:prstGeom prst="rect">
            <a:avLst/>
          </a:prstGeom>
        </p:spPr>
        <p:txBody>
          <a:bodyPr vert="horz" wrap="square" lIns="0" tIns="12700" rIns="0" bIns="0" rtlCol="0">
            <a:spAutoFit/>
          </a:bodyPr>
          <a:lstStyle/>
          <a:p>
            <a:pPr marL="12700">
              <a:lnSpc>
                <a:spcPct val="100000"/>
              </a:lnSpc>
              <a:spcBef>
                <a:spcPts val="100"/>
              </a:spcBef>
            </a:pPr>
            <a:r>
              <a:rPr lang="en-US" sz="2400" dirty="0">
                <a:solidFill>
                  <a:srgbClr val="04A2B9"/>
                </a:solidFill>
                <a:latin typeface="Corbel" panose="020B0503020204020204" pitchFamily="34" charset="0"/>
              </a:rPr>
              <a:t>Department of Computer Engineering</a:t>
            </a:r>
            <a:endParaRPr lang="en-IN" sz="2400" dirty="0">
              <a:latin typeface="Corbel" panose="020B0503020204020204" pitchFamily="34" charset="0"/>
            </a:endParaRPr>
          </a:p>
        </p:txBody>
      </p:sp>
      <p:sp>
        <p:nvSpPr>
          <p:cNvPr id="8" name="Rectangle 7"/>
          <p:cNvSpPr/>
          <p:nvPr/>
        </p:nvSpPr>
        <p:spPr>
          <a:xfrm>
            <a:off x="488003" y="1048872"/>
            <a:ext cx="11328325" cy="568362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en-US" sz="32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Exception Handling - Example 2</a:t>
            </a:r>
            <a:endParaRPr kumimoji="0" lang="en-US" altLang="en-US" sz="2400" i="0" u="none" strike="noStrike" kern="1200" cap="none" spc="0" normalizeH="0" baseline="0" noProof="0" dirty="0">
              <a:ln>
                <a:noFill/>
              </a:ln>
              <a:solidFill>
                <a:schemeClr val="accent1">
                  <a:lumMod val="75000"/>
                </a:schemeClr>
              </a:solidFill>
              <a:effectLst/>
              <a:uLnTx/>
              <a:uFillTx/>
              <a:latin typeface="Times New Roman" panose="02020603050405020304" pitchFamily="18" charset="0"/>
              <a:cs typeface="Times New Roman" panose="02020603050405020304" pitchFamily="18" charset="0"/>
            </a:endParaRPr>
          </a:p>
          <a:p>
            <a:pPr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defRPr/>
            </a:pPr>
            <a:endParaRPr kumimoji="0" lang="en-US" altLang="en-US" sz="10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a:p>
            <a:pPr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en-US" altLang="en-US" sz="22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int x = 50, int y = 0, answer = 0;</a:t>
            </a:r>
          </a:p>
          <a:p>
            <a:pPr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en-US" altLang="en-US" sz="2200" i="0" u="none" strike="noStrike" kern="1200" cap="none" spc="0" normalizeH="0" baseline="0" noProof="0" dirty="0">
                <a:ln>
                  <a:noFill/>
                </a:ln>
                <a:solidFill>
                  <a:schemeClr val="accent2">
                    <a:lumMod val="75000"/>
                  </a:schemeClr>
                </a:solidFill>
                <a:effectLst/>
                <a:uLnTx/>
                <a:uFillTx/>
                <a:latin typeface="Times New Roman" panose="02020603050405020304" pitchFamily="18" charset="0"/>
                <a:cs typeface="Times New Roman" panose="02020603050405020304" pitchFamily="18" charset="0"/>
              </a:rPr>
              <a:t>/* Using a try catch block because in divison, the denominator can be 0. So, we must handle the 0 divion inside try block.*/</a:t>
            </a:r>
          </a:p>
          <a:p>
            <a:pPr marR="0" lvl="1" indent="0" algn="l"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en-US" altLang="en-US" sz="22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try {</a:t>
            </a:r>
          </a:p>
          <a:p>
            <a:pPr marR="0" lvl="2" indent="0" algn="l"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en-US" altLang="en-US" sz="22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answer = division(x, y);</a:t>
            </a:r>
          </a:p>
          <a:p>
            <a:pPr marR="0" lvl="2" indent="0" algn="l"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en-US" altLang="en-US" sz="22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cout &lt;&lt; " Output: " &lt;&lt; answer &lt;&lt; endl;</a:t>
            </a:r>
          </a:p>
          <a:p>
            <a:pPr marR="0" lvl="1" indent="0" algn="l"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en-US" altLang="en-US" sz="22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a:t>
            </a:r>
          </a:p>
          <a:p>
            <a:pPr marR="0" lvl="1" indent="0" algn="l"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en-US" altLang="en-US" sz="22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catch (const char *errorMessage)   </a:t>
            </a:r>
            <a:r>
              <a:rPr kumimoji="0" lang="en-US" altLang="en-US" sz="2200" i="0" u="none" strike="noStrike" kern="1200" cap="none" spc="0" normalizeH="0" baseline="0" noProof="0" dirty="0">
                <a:ln>
                  <a:noFill/>
                </a:ln>
                <a:solidFill>
                  <a:schemeClr val="accent2">
                    <a:lumMod val="75000"/>
                  </a:schemeClr>
                </a:solidFill>
                <a:effectLst/>
                <a:uLnTx/>
                <a:uFillTx/>
                <a:latin typeface="Times New Roman" panose="02020603050405020304" pitchFamily="18" charset="0"/>
                <a:cs typeface="Times New Roman" panose="02020603050405020304" pitchFamily="18" charset="0"/>
              </a:rPr>
              <a:t>// printing the thrown exception from the function</a:t>
            </a:r>
          </a:p>
          <a:p>
            <a:pPr marR="0" lvl="1" indent="0" algn="l"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en-US" altLang="en-US" sz="22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a:t>
            </a:r>
          </a:p>
          <a:p>
            <a:pPr marR="0" lvl="2" indent="0" algn="l"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en-US" altLang="en-US" sz="22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cout &lt;&lt; errorMessage &lt;&lt; endl;</a:t>
            </a:r>
          </a:p>
          <a:p>
            <a:pPr marR="0" lvl="1" indent="0" algn="l"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en-US" altLang="en-US" sz="22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a:t>
            </a:r>
          </a:p>
          <a:p>
            <a:pPr marR="0" lvl="1" indent="0" algn="l"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en-US" altLang="en-US" sz="22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return 0;</a:t>
            </a:r>
          </a:p>
          <a:p>
            <a:pPr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en-US" altLang="en-US" sz="22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a:t>
            </a:r>
          </a:p>
        </p:txBody>
      </p:sp>
    </p:spTree>
  </p:cSld>
  <p:clrMapOvr>
    <a:masterClrMapping/>
  </p:clrMapOvr>
  <p:transition>
    <p:pull dir="d"/>
  </p:transition>
</p:sld>
</file>

<file path=ppt/slides/slide3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object 3"/>
          <p:cNvSpPr txBox="1">
            <a:spLocks noGrp="1"/>
          </p:cNvSpPr>
          <p:nvPr>
            <p:ph type="title"/>
          </p:nvPr>
        </p:nvSpPr>
        <p:spPr>
          <a:xfrm>
            <a:off x="384175" y="-78740"/>
            <a:ext cx="10515600" cy="1325563"/>
          </a:xfrm>
          <a:prstGeom prst="rect">
            <a:avLst/>
          </a:prstGeom>
        </p:spPr>
        <p:txBody>
          <a:bodyPr vert="horz" wrap="square" lIns="0" tIns="12700" rIns="0" bIns="0" rtlCol="0">
            <a:spAutoFit/>
          </a:bodyPr>
          <a:lstStyle/>
          <a:p>
            <a:pPr marL="12700">
              <a:lnSpc>
                <a:spcPct val="100000"/>
              </a:lnSpc>
              <a:spcBef>
                <a:spcPts val="100"/>
              </a:spcBef>
            </a:pPr>
            <a:r>
              <a:rPr lang="en-US" sz="2400" dirty="0">
                <a:solidFill>
                  <a:srgbClr val="04A2B9"/>
                </a:solidFill>
                <a:latin typeface="Corbel" panose="020B0503020204020204" pitchFamily="34" charset="0"/>
              </a:rPr>
              <a:t>Department of Computer Engineering</a:t>
            </a:r>
            <a:endParaRPr lang="en-IN" sz="2400" dirty="0">
              <a:latin typeface="Corbel" panose="020B0503020204020204" pitchFamily="34" charset="0"/>
            </a:endParaRPr>
          </a:p>
        </p:txBody>
      </p:sp>
      <p:sp>
        <p:nvSpPr>
          <p:cNvPr id="8" name="Rectangle 7"/>
          <p:cNvSpPr/>
          <p:nvPr/>
        </p:nvSpPr>
        <p:spPr>
          <a:xfrm>
            <a:off x="464149" y="1247268"/>
            <a:ext cx="11352179" cy="495822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en-US" sz="3200" b="1" i="0" u="none" strike="noStrike" kern="1200" cap="none" spc="0" normalizeH="0" baseline="0" noProof="0" dirty="0">
                <a:ln>
                  <a:noFill/>
                </a:ln>
                <a:solidFill>
                  <a:prstClr val="black"/>
                </a:solidFill>
                <a:effectLst/>
                <a:uLnTx/>
                <a:uFillTx/>
                <a:latin typeface="Calibri" panose="020F0502020204030204"/>
                <a:ea typeface="+mn-ea"/>
                <a:cs typeface="+mn-cs"/>
              </a:rPr>
              <a:t>C++ Standard Exceptions</a:t>
            </a:r>
            <a:endParaRPr kumimoji="0" lang="en-US" altLang="en-US" sz="2400" i="0" u="none" strike="noStrike" kern="1200" cap="none" spc="0" normalizeH="0" baseline="0" noProof="0" dirty="0">
              <a:ln>
                <a:noFill/>
              </a:ln>
              <a:solidFill>
                <a:schemeClr val="accent1">
                  <a:lumMod val="75000"/>
                </a:schemeClr>
              </a:solidFill>
              <a:effectLst/>
              <a:uLnTx/>
              <a:uFillTx/>
              <a:latin typeface="Calibri" panose="020F0502020204030204" charset="0"/>
              <a:cs typeface="Calibri" panose="020F0502020204030204" charset="0"/>
            </a:endParaRPr>
          </a:p>
          <a:p>
            <a:pPr marR="0" lvl="8" indent="0" algn="l" defTabSz="914400" rtl="0" eaLnBrk="1" fontAlgn="auto" latinLnBrk="0" hangingPunct="1">
              <a:lnSpc>
                <a:spcPct val="100000"/>
              </a:lnSpc>
              <a:spcBef>
                <a:spcPts val="0"/>
              </a:spcBef>
              <a:spcAft>
                <a:spcPts val="0"/>
              </a:spcAft>
              <a:buClrTx/>
              <a:buSzTx/>
              <a:buFont typeface="Arial" panose="020B0604020202020204" pitchFamily="34" charset="0"/>
              <a:buNone/>
              <a:defRPr/>
            </a:pPr>
            <a:endParaRPr kumimoji="0" lang="en-US" altLang="en-US" sz="2400" i="0" u="none" strike="noStrike" kern="1200" cap="none" spc="0" normalizeH="0" baseline="0" noProof="0" dirty="0">
              <a:ln>
                <a:noFill/>
              </a:ln>
              <a:solidFill>
                <a:prstClr val="black"/>
              </a:solidFill>
              <a:effectLst/>
              <a:uLnTx/>
              <a:uFillTx/>
              <a:latin typeface="Calibri" panose="020F0502020204030204" charset="0"/>
              <a:cs typeface="Calibri" panose="020F0502020204030204" charset="0"/>
            </a:endParaRPr>
          </a:p>
        </p:txBody>
      </p:sp>
      <p:pic>
        <p:nvPicPr>
          <p:cNvPr id="3" name="Content Placeholder 2"/>
          <p:cNvPicPr>
            <a:picLocks noGrp="1" noChangeAspect="1"/>
          </p:cNvPicPr>
          <p:nvPr>
            <p:ph idx="1"/>
          </p:nvPr>
        </p:nvPicPr>
        <p:blipFill>
          <a:blip r:embed="rId3"/>
          <a:srcRect l="5573" r="6560"/>
          <a:stretch>
            <a:fillRect/>
          </a:stretch>
        </p:blipFill>
        <p:spPr>
          <a:xfrm>
            <a:off x="463550" y="2005330"/>
            <a:ext cx="6826250" cy="4394200"/>
          </a:xfrm>
          <a:prstGeom prst="rect">
            <a:avLst/>
          </a:prstGeom>
        </p:spPr>
      </p:pic>
      <p:sp>
        <p:nvSpPr>
          <p:cNvPr id="6" name="Text Box 5"/>
          <p:cNvSpPr txBox="1"/>
          <p:nvPr/>
        </p:nvSpPr>
        <p:spPr>
          <a:xfrm>
            <a:off x="7289800" y="1925955"/>
            <a:ext cx="4064000" cy="3733165"/>
          </a:xfrm>
          <a:prstGeom prst="rect">
            <a:avLst/>
          </a:prstGeom>
          <a:noFill/>
        </p:spPr>
        <p:txBody>
          <a:bodyPr wrap="square" rtlCol="0">
            <a:noAutofit/>
          </a:bodyPr>
          <a:lstStyle/>
          <a:p>
            <a:pPr marL="342900" indent="-342900" algn="just">
              <a:buFont typeface="Arial" panose="020B0604020202020204" pitchFamily="34" charset="0"/>
              <a:buChar char="•"/>
            </a:pPr>
            <a:r>
              <a:rPr lang="en-US" altLang="en-US" sz="2400" dirty="0">
                <a:latin typeface="Times New Roman" panose="02020603050405020304" pitchFamily="18" charset="0"/>
                <a:cs typeface="Times New Roman" panose="02020603050405020304" pitchFamily="18" charset="0"/>
              </a:rPr>
              <a:t>The C++ library has some built-in standard exceptions under the </a:t>
            </a:r>
            <a:r>
              <a:rPr lang="en-US" altLang="en-US" sz="2400" b="1" dirty="0">
                <a:latin typeface="Times New Roman" panose="02020603050405020304" pitchFamily="18" charset="0"/>
                <a:cs typeface="Times New Roman" panose="02020603050405020304" pitchFamily="18" charset="0"/>
              </a:rPr>
              <a:t>&lt;exception&gt; header</a:t>
            </a:r>
            <a:r>
              <a:rPr lang="en-US" altLang="en-US" sz="2400" dirty="0">
                <a:latin typeface="Times New Roman" panose="02020603050405020304" pitchFamily="18" charset="0"/>
                <a:cs typeface="Times New Roman" panose="02020603050405020304" pitchFamily="18" charset="0"/>
              </a:rPr>
              <a:t> which can be used in our program. </a:t>
            </a:r>
          </a:p>
          <a:p>
            <a:pPr marL="342900" indent="-342900" algn="just">
              <a:buFont typeface="Arial" panose="020B0604020202020204" pitchFamily="34" charset="0"/>
              <a:buChar char="•"/>
            </a:pPr>
            <a:endParaRPr lang="en-US" altLang="en-US" sz="24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altLang="en-US" sz="2400" dirty="0">
                <a:latin typeface="Times New Roman" panose="02020603050405020304" pitchFamily="18" charset="0"/>
                <a:cs typeface="Times New Roman" panose="02020603050405020304" pitchFamily="18" charset="0"/>
              </a:rPr>
              <a:t>The standard exceptions are arranged in a </a:t>
            </a:r>
            <a:r>
              <a:rPr lang="en-US" altLang="en-US" sz="2400" b="1" dirty="0">
                <a:latin typeface="Times New Roman" panose="02020603050405020304" pitchFamily="18" charset="0"/>
                <a:cs typeface="Times New Roman" panose="02020603050405020304" pitchFamily="18" charset="0"/>
              </a:rPr>
              <a:t>parent-child class hierarchy</a:t>
            </a:r>
            <a:r>
              <a:rPr lang="en-US" altLang="en-US" sz="2400" dirty="0">
                <a:latin typeface="Times New Roman" panose="02020603050405020304" pitchFamily="18" charset="0"/>
                <a:cs typeface="Times New Roman" panose="02020603050405020304" pitchFamily="18" charset="0"/>
              </a:rPr>
              <a:t>.</a:t>
            </a:r>
          </a:p>
        </p:txBody>
      </p:sp>
    </p:spTree>
  </p:cSld>
  <p:clrMapOvr>
    <a:masterClrMapping/>
  </p:clrMapOvr>
  <p:transition>
    <p:pull dir="d"/>
  </p:transition>
</p:sld>
</file>

<file path=ppt/slides/slide3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5" name="object 3"/>
          <p:cNvSpPr txBox="1">
            <a:spLocks noGrp="1"/>
          </p:cNvSpPr>
          <p:nvPr>
            <p:ph type="title"/>
          </p:nvPr>
        </p:nvSpPr>
        <p:spPr>
          <a:xfrm>
            <a:off x="488003" y="312733"/>
            <a:ext cx="6710465" cy="381635"/>
          </a:xfrm>
          <a:prstGeom prst="rect">
            <a:avLst/>
          </a:prstGeom>
        </p:spPr>
        <p:txBody>
          <a:bodyPr vert="horz" wrap="square" lIns="0" tIns="12700" rIns="0" bIns="0" rtlCol="0">
            <a:spAutoFit/>
          </a:bodyPr>
          <a:lstStyle/>
          <a:p>
            <a:pPr marL="12700">
              <a:lnSpc>
                <a:spcPct val="100000"/>
              </a:lnSpc>
              <a:spcBef>
                <a:spcPts val="100"/>
              </a:spcBef>
            </a:pPr>
            <a:r>
              <a:rPr lang="en-US" sz="2400" dirty="0">
                <a:solidFill>
                  <a:srgbClr val="04A2B9"/>
                </a:solidFill>
                <a:latin typeface="Corbel" panose="020B0503020204020204" pitchFamily="34" charset="0"/>
              </a:rPr>
              <a:t>Department of Computer Engineering</a:t>
            </a:r>
            <a:endParaRPr lang="en-IN" sz="2400" dirty="0">
              <a:latin typeface="Corbel" panose="020B0503020204020204" pitchFamily="34" charset="0"/>
            </a:endParaRPr>
          </a:p>
        </p:txBody>
      </p:sp>
      <p:sp>
        <p:nvSpPr>
          <p:cNvPr id="8" name="Rectangle 7"/>
          <p:cNvSpPr/>
          <p:nvPr/>
        </p:nvSpPr>
        <p:spPr>
          <a:xfrm>
            <a:off x="464149" y="1247268"/>
            <a:ext cx="11352179" cy="495822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en-US" sz="3200" b="1" noProof="0" dirty="0">
                <a:ln>
                  <a:noFill/>
                </a:ln>
                <a:solidFill>
                  <a:prstClr val="black"/>
                </a:solidFill>
                <a:effectLst/>
                <a:uLnTx/>
                <a:uFillTx/>
                <a:latin typeface="Calibri" panose="020F0502020204030204"/>
                <a:sym typeface="+mn-ea"/>
              </a:rPr>
              <a:t>C++ Exception Classes</a:t>
            </a:r>
            <a:endParaRPr kumimoji="0" lang="en-US" altLang="en-US" sz="3200" i="0" u="none" strike="noStrike" kern="1200" cap="none" spc="0" normalizeH="0" baseline="0" noProof="0" dirty="0">
              <a:ln>
                <a:noFill/>
              </a:ln>
              <a:solidFill>
                <a:schemeClr val="accent1">
                  <a:lumMod val="75000"/>
                </a:schemeClr>
              </a:solidFill>
              <a:effectLst/>
              <a:uLnTx/>
              <a:uFillTx/>
              <a:latin typeface="Calibri" panose="020F0502020204030204" charset="0"/>
              <a:cs typeface="Calibri" panose="020F0502020204030204" charset="0"/>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en-US" sz="3200" b="1" i="0" u="none" strike="noStrike" kern="1200" cap="none" spc="0" normalizeH="0" baseline="0" noProof="0" dirty="0">
                <a:ln>
                  <a:noFill/>
                </a:ln>
                <a:solidFill>
                  <a:prstClr val="black"/>
                </a:solidFill>
                <a:effectLst/>
                <a:uLnTx/>
                <a:uFillTx/>
                <a:latin typeface="Calibri" panose="020F0502020204030204"/>
                <a:ea typeface="+mn-ea"/>
                <a:cs typeface="+mn-cs"/>
              </a:rPr>
              <a:t> </a:t>
            </a:r>
            <a:endParaRPr kumimoji="0" lang="en-US" altLang="en-US" sz="2400" i="0" u="none" strike="noStrike" kern="1200" cap="none" spc="0" normalizeH="0" baseline="0" noProof="0" dirty="0">
              <a:ln>
                <a:noFill/>
              </a:ln>
              <a:solidFill>
                <a:schemeClr val="accent1">
                  <a:lumMod val="75000"/>
                </a:schemeClr>
              </a:solidFill>
              <a:effectLst/>
              <a:uLnTx/>
              <a:uFillTx/>
              <a:latin typeface="Calibri" panose="020F0502020204030204" charset="0"/>
              <a:cs typeface="Calibri" panose="020F0502020204030204" charset="0"/>
            </a:endParaRPr>
          </a:p>
          <a:p>
            <a:pPr marR="0" lvl="2" indent="0" algn="l" defTabSz="914400" rtl="0" eaLnBrk="1" fontAlgn="auto" latinLnBrk="0" hangingPunct="1">
              <a:lnSpc>
                <a:spcPct val="100000"/>
              </a:lnSpc>
              <a:spcBef>
                <a:spcPts val="0"/>
              </a:spcBef>
              <a:spcAft>
                <a:spcPts val="0"/>
              </a:spcAft>
              <a:buClrTx/>
              <a:buSzTx/>
              <a:buFont typeface="Arial" panose="020B0604020202020204" pitchFamily="34" charset="0"/>
              <a:buNone/>
              <a:defRPr/>
            </a:pPr>
            <a:endParaRPr kumimoji="0" lang="en-US" altLang="en-US" sz="2400" i="0" u="none" strike="noStrike" kern="1200" cap="none" spc="0" normalizeH="0" baseline="0" noProof="0" dirty="0">
              <a:ln>
                <a:noFill/>
              </a:ln>
              <a:solidFill>
                <a:prstClr val="black"/>
              </a:solidFill>
              <a:effectLst/>
              <a:uLnTx/>
              <a:uFillTx/>
              <a:latin typeface="Calibri" panose="020F0502020204030204" charset="0"/>
              <a:cs typeface="Calibri" panose="020F0502020204030204" charset="0"/>
            </a:endParaRPr>
          </a:p>
        </p:txBody>
      </p:sp>
      <p:graphicFrame>
        <p:nvGraphicFramePr>
          <p:cNvPr id="2" name="Table 1"/>
          <p:cNvGraphicFramePr/>
          <p:nvPr>
            <p:custDataLst>
              <p:tags r:id="rId1"/>
            </p:custDataLst>
          </p:nvPr>
        </p:nvGraphicFramePr>
        <p:xfrm>
          <a:off x="447040" y="1905000"/>
          <a:ext cx="10965815" cy="4791710"/>
        </p:xfrm>
        <a:graphic>
          <a:graphicData uri="http://schemas.openxmlformats.org/drawingml/2006/table">
            <a:tbl>
              <a:tblPr firstRow="1" bandRow="1">
                <a:tableStyleId>{5C22544A-7EE6-4342-B048-85BDC9FD1C3A}</a:tableStyleId>
              </a:tblPr>
              <a:tblGrid>
                <a:gridCol w="1968500">
                  <a:extLst>
                    <a:ext uri="{9D8B030D-6E8A-4147-A177-3AD203B41FA5}">
                      <a16:colId xmlns:a16="http://schemas.microsoft.com/office/drawing/2014/main" val="20000"/>
                    </a:ext>
                  </a:extLst>
                </a:gridCol>
                <a:gridCol w="8997315">
                  <a:extLst>
                    <a:ext uri="{9D8B030D-6E8A-4147-A177-3AD203B41FA5}">
                      <a16:colId xmlns:a16="http://schemas.microsoft.com/office/drawing/2014/main" val="20001"/>
                    </a:ext>
                  </a:extLst>
                </a:gridCol>
              </a:tblGrid>
              <a:tr h="561340">
                <a:tc>
                  <a:txBody>
                    <a:bodyPr/>
                    <a:lstStyle/>
                    <a:p>
                      <a:pPr>
                        <a:buNone/>
                      </a:pPr>
                      <a:r>
                        <a:rPr lang="en-US" sz="2400"/>
                        <a:t>class name</a:t>
                      </a:r>
                    </a:p>
                  </a:txBody>
                  <a:tcPr/>
                </a:tc>
                <a:tc>
                  <a:txBody>
                    <a:bodyPr/>
                    <a:lstStyle/>
                    <a:p>
                      <a:pPr>
                        <a:buNone/>
                      </a:pPr>
                      <a:r>
                        <a:rPr lang="en-US" sz="2400"/>
                        <a:t>use case</a:t>
                      </a:r>
                    </a:p>
                  </a:txBody>
                  <a:tcPr/>
                </a:tc>
                <a:extLst>
                  <a:ext uri="{0D108BD9-81ED-4DB2-BD59-A6C34878D82A}">
                    <a16:rowId xmlns:a16="http://schemas.microsoft.com/office/drawing/2014/main" val="10000"/>
                  </a:ext>
                </a:extLst>
              </a:tr>
              <a:tr h="561340">
                <a:tc>
                  <a:txBody>
                    <a:bodyPr/>
                    <a:lstStyle/>
                    <a:p>
                      <a:pPr>
                        <a:buNone/>
                      </a:pPr>
                      <a:r>
                        <a:rPr lang="en-US" altLang="en-US" sz="2000"/>
                        <a:t>std::exception</a:t>
                      </a:r>
                      <a:r>
                        <a:rPr lang="en-US" altLang="en-US" sz="2400"/>
                        <a:t> </a:t>
                      </a:r>
                    </a:p>
                  </a:txBody>
                  <a:tcPr/>
                </a:tc>
                <a:tc>
                  <a:txBody>
                    <a:bodyPr/>
                    <a:lstStyle/>
                    <a:p>
                      <a:pPr>
                        <a:buNone/>
                      </a:pPr>
                      <a:r>
                        <a:rPr lang="en-US" altLang="en-US" sz="1800">
                          <a:sym typeface="+mn-ea"/>
                        </a:rPr>
                        <a:t>std::exception is the parent class of all the standard C++ exceptions. So, it contains declarations and definitions of other exceptions.</a:t>
                      </a:r>
                      <a:endParaRPr lang="en-US"/>
                    </a:p>
                  </a:txBody>
                  <a:tcPr/>
                </a:tc>
                <a:extLst>
                  <a:ext uri="{0D108BD9-81ED-4DB2-BD59-A6C34878D82A}">
                    <a16:rowId xmlns:a16="http://schemas.microsoft.com/office/drawing/2014/main" val="10001"/>
                  </a:ext>
                </a:extLst>
              </a:tr>
              <a:tr h="561340">
                <a:tc>
                  <a:txBody>
                    <a:bodyPr/>
                    <a:lstStyle/>
                    <a:p>
                      <a:pPr>
                        <a:buNone/>
                      </a:pPr>
                      <a:r>
                        <a:rPr lang="en-US" altLang="en-US" sz="1800">
                          <a:sym typeface="+mn-ea"/>
                        </a:rPr>
                        <a:t>std::bad_alloc</a:t>
                      </a:r>
                      <a:endParaRPr lang="en-US"/>
                    </a:p>
                  </a:txBody>
                  <a:tcPr/>
                </a:tc>
                <a:tc>
                  <a:txBody>
                    <a:bodyPr/>
                    <a:lstStyle/>
                    <a:p>
                      <a:pPr>
                        <a:buNone/>
                      </a:pPr>
                      <a:r>
                        <a:rPr lang="en-US" altLang="en-US"/>
                        <a:t>std::bad_alloc is the type of exception thrown by the allocation functions to report failure to allocate storage.</a:t>
                      </a:r>
                    </a:p>
                  </a:txBody>
                  <a:tcPr/>
                </a:tc>
                <a:extLst>
                  <a:ext uri="{0D108BD9-81ED-4DB2-BD59-A6C34878D82A}">
                    <a16:rowId xmlns:a16="http://schemas.microsoft.com/office/drawing/2014/main" val="10002"/>
                  </a:ext>
                </a:extLst>
              </a:tr>
              <a:tr h="561340">
                <a:tc>
                  <a:txBody>
                    <a:bodyPr/>
                    <a:lstStyle/>
                    <a:p>
                      <a:pPr>
                        <a:buNone/>
                      </a:pPr>
                      <a:r>
                        <a:rPr lang="en-US" altLang="en-US" sz="1800">
                          <a:sym typeface="+mn-ea"/>
                        </a:rPr>
                        <a:t>std::bad_cast</a:t>
                      </a:r>
                      <a:endParaRPr lang="en-US"/>
                    </a:p>
                  </a:txBody>
                  <a:tcPr/>
                </a:tc>
                <a:tc>
                  <a:txBody>
                    <a:bodyPr/>
                    <a:lstStyle/>
                    <a:p>
                      <a:pPr>
                        <a:buNone/>
                      </a:pPr>
                      <a:r>
                        <a:rPr lang="en-US" altLang="en-US"/>
                        <a:t>std::bad_cast is the type of exception thrown when a dynamic_cast to a reference type fails the run-time check.</a:t>
                      </a:r>
                    </a:p>
                  </a:txBody>
                  <a:tcPr/>
                </a:tc>
                <a:extLst>
                  <a:ext uri="{0D108BD9-81ED-4DB2-BD59-A6C34878D82A}">
                    <a16:rowId xmlns:a16="http://schemas.microsoft.com/office/drawing/2014/main" val="10003"/>
                  </a:ext>
                </a:extLst>
              </a:tr>
              <a:tr h="389890">
                <a:tc>
                  <a:txBody>
                    <a:bodyPr/>
                    <a:lstStyle/>
                    <a:p>
                      <a:pPr>
                        <a:buNone/>
                      </a:pPr>
                      <a:r>
                        <a:rPr lang="en-US" altLang="en-US" sz="1800">
                          <a:sym typeface="+mn-ea"/>
                        </a:rPr>
                        <a:t>std::bad_exception</a:t>
                      </a:r>
                      <a:endParaRPr lang="en-US"/>
                    </a:p>
                  </a:txBody>
                  <a:tcPr/>
                </a:tc>
                <a:tc>
                  <a:txBody>
                    <a:bodyPr/>
                    <a:lstStyle/>
                    <a:p>
                      <a:pPr>
                        <a:buNone/>
                      </a:pPr>
                      <a:r>
                        <a:rPr lang="en-US" altLang="en-US"/>
                        <a:t>std::bad_exception is used to handle unexpected exceptions in a C++ program.</a:t>
                      </a:r>
                    </a:p>
                  </a:txBody>
                  <a:tcPr/>
                </a:tc>
                <a:extLst>
                  <a:ext uri="{0D108BD9-81ED-4DB2-BD59-A6C34878D82A}">
                    <a16:rowId xmlns:a16="http://schemas.microsoft.com/office/drawing/2014/main" val="10004"/>
                  </a:ext>
                </a:extLst>
              </a:tr>
              <a:tr h="561340">
                <a:tc>
                  <a:txBody>
                    <a:bodyPr/>
                    <a:lstStyle/>
                    <a:p>
                      <a:pPr>
                        <a:buNone/>
                      </a:pPr>
                      <a:r>
                        <a:rPr lang="en-US" altLang="en-US" sz="1800">
                          <a:sym typeface="+mn-ea"/>
                        </a:rPr>
                        <a:t>std::bad_typeid</a:t>
                      </a:r>
                      <a:endParaRPr lang="en-US"/>
                    </a:p>
                  </a:txBody>
                  <a:tcPr/>
                </a:tc>
                <a:tc>
                  <a:txBody>
                    <a:bodyPr/>
                    <a:lstStyle/>
                    <a:p>
                      <a:pPr>
                        <a:buNone/>
                      </a:pPr>
                      <a:r>
                        <a:rPr lang="en-US" altLang="en-US"/>
                        <a:t>std::bad_typeid is the type of exception thrown when a typeid operator is applied to a dereferenced null pointer value of a polymorphic type.</a:t>
                      </a:r>
                    </a:p>
                  </a:txBody>
                  <a:tcPr/>
                </a:tc>
                <a:extLst>
                  <a:ext uri="{0D108BD9-81ED-4DB2-BD59-A6C34878D82A}">
                    <a16:rowId xmlns:a16="http://schemas.microsoft.com/office/drawing/2014/main" val="10005"/>
                  </a:ext>
                </a:extLst>
              </a:tr>
              <a:tr h="561340">
                <a:tc>
                  <a:txBody>
                    <a:bodyPr/>
                    <a:lstStyle/>
                    <a:p>
                      <a:pPr>
                        <a:buNone/>
                      </a:pPr>
                      <a:r>
                        <a:rPr lang="en-US" altLang="en-US" sz="1800">
                          <a:sym typeface="+mn-ea"/>
                        </a:rPr>
                        <a:t>std::logic_error</a:t>
                      </a:r>
                      <a:endParaRPr lang="en-US"/>
                    </a:p>
                  </a:txBody>
                  <a:tcPr/>
                </a:tc>
                <a:tc>
                  <a:txBody>
                    <a:bodyPr/>
                    <a:lstStyle/>
                    <a:p>
                      <a:pPr>
                        <a:buNone/>
                      </a:pPr>
                      <a:r>
                        <a:rPr lang="en-US" altLang="en-US"/>
                        <a:t>std::logic_error exception is the type of exception that can be theoretically detected by reading the code.</a:t>
                      </a:r>
                    </a:p>
                  </a:txBody>
                  <a:tcPr/>
                </a:tc>
                <a:extLst>
                  <a:ext uri="{0D108BD9-81ED-4DB2-BD59-A6C34878D82A}">
                    <a16:rowId xmlns:a16="http://schemas.microsoft.com/office/drawing/2014/main" val="10006"/>
                  </a:ext>
                </a:extLst>
              </a:tr>
              <a:tr h="561340">
                <a:tc>
                  <a:txBody>
                    <a:bodyPr/>
                    <a:lstStyle/>
                    <a:p>
                      <a:pPr>
                        <a:buNone/>
                      </a:pPr>
                      <a:r>
                        <a:rPr lang="en-US" altLang="en-US" sz="1800">
                          <a:sym typeface="+mn-ea"/>
                        </a:rPr>
                        <a:t>std::domain_error</a:t>
                      </a:r>
                      <a:endParaRPr lang="en-US"/>
                    </a:p>
                  </a:txBody>
                  <a:tcPr/>
                </a:tc>
                <a:tc>
                  <a:txBody>
                    <a:bodyPr/>
                    <a:lstStyle/>
                    <a:p>
                      <a:pPr>
                        <a:buNone/>
                      </a:pPr>
                      <a:r>
                        <a:rPr lang="en-US" altLang="en-US"/>
                        <a:t>std::domain_error is the type of exception thrown when a mathematically invalid domain is used.</a:t>
                      </a:r>
                    </a:p>
                  </a:txBody>
                  <a:tcPr/>
                </a:tc>
                <a:extLst>
                  <a:ext uri="{0D108BD9-81ED-4DB2-BD59-A6C34878D82A}">
                    <a16:rowId xmlns:a16="http://schemas.microsoft.com/office/drawing/2014/main" val="10007"/>
                  </a:ext>
                </a:extLst>
              </a:tr>
            </a:tbl>
          </a:graphicData>
        </a:graphic>
      </p:graphicFrame>
    </p:spTree>
  </p:cSld>
  <p:clrMapOvr>
    <a:masterClrMapping/>
  </p:clrMapOvr>
  <p:transition>
    <p:pull dir="d"/>
  </p:transition>
</p:sld>
</file>

<file path=ppt/slides/slide3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5" name="object 3"/>
          <p:cNvSpPr txBox="1">
            <a:spLocks noGrp="1"/>
          </p:cNvSpPr>
          <p:nvPr>
            <p:ph type="title"/>
          </p:nvPr>
        </p:nvSpPr>
        <p:spPr>
          <a:xfrm>
            <a:off x="488003" y="312733"/>
            <a:ext cx="6710465" cy="381635"/>
          </a:xfrm>
          <a:prstGeom prst="rect">
            <a:avLst/>
          </a:prstGeom>
        </p:spPr>
        <p:txBody>
          <a:bodyPr vert="horz" wrap="square" lIns="0" tIns="12700" rIns="0" bIns="0" rtlCol="0">
            <a:spAutoFit/>
          </a:bodyPr>
          <a:lstStyle/>
          <a:p>
            <a:pPr marL="12700">
              <a:lnSpc>
                <a:spcPct val="100000"/>
              </a:lnSpc>
              <a:spcBef>
                <a:spcPts val="100"/>
              </a:spcBef>
            </a:pPr>
            <a:r>
              <a:rPr lang="en-US" sz="2400" dirty="0">
                <a:solidFill>
                  <a:srgbClr val="04A2B9"/>
                </a:solidFill>
                <a:latin typeface="Corbel" panose="020B0503020204020204" pitchFamily="34" charset="0"/>
              </a:rPr>
              <a:t>Department of Computer Engineering</a:t>
            </a:r>
            <a:endParaRPr lang="en-IN" sz="2400" dirty="0">
              <a:latin typeface="Corbel" panose="020B0503020204020204" pitchFamily="34" charset="0"/>
            </a:endParaRPr>
          </a:p>
        </p:txBody>
      </p:sp>
      <p:sp>
        <p:nvSpPr>
          <p:cNvPr id="8" name="Rectangle 7"/>
          <p:cNvSpPr/>
          <p:nvPr/>
        </p:nvSpPr>
        <p:spPr>
          <a:xfrm>
            <a:off x="464149" y="1247268"/>
            <a:ext cx="11352179" cy="495822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en-US" sz="3200" b="1" noProof="0" dirty="0">
                <a:ln>
                  <a:noFill/>
                </a:ln>
                <a:solidFill>
                  <a:prstClr val="black"/>
                </a:solidFill>
                <a:effectLst/>
                <a:uLnTx/>
                <a:uFillTx/>
                <a:latin typeface="Calibri" panose="020F0502020204030204"/>
                <a:sym typeface="+mn-ea"/>
              </a:rPr>
              <a:t>C++ Exception Classes</a:t>
            </a:r>
            <a:endParaRPr kumimoji="0" lang="en-US" altLang="en-US" sz="3200" i="0" u="none" strike="noStrike" kern="1200" cap="none" spc="0" normalizeH="0" baseline="0" noProof="0" dirty="0">
              <a:ln>
                <a:noFill/>
              </a:ln>
              <a:solidFill>
                <a:schemeClr val="accent1">
                  <a:lumMod val="75000"/>
                </a:schemeClr>
              </a:solidFill>
              <a:effectLst/>
              <a:uLnTx/>
              <a:uFillTx/>
              <a:latin typeface="Calibri" panose="020F0502020204030204" charset="0"/>
              <a:cs typeface="Calibri" panose="020F0502020204030204" charset="0"/>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en-US" sz="3200" b="1" i="0" u="none" strike="noStrike" kern="1200" cap="none" spc="0" normalizeH="0" baseline="0" noProof="0" dirty="0">
                <a:ln>
                  <a:noFill/>
                </a:ln>
                <a:solidFill>
                  <a:prstClr val="black"/>
                </a:solidFill>
                <a:effectLst/>
                <a:uLnTx/>
                <a:uFillTx/>
                <a:latin typeface="Calibri" panose="020F0502020204030204"/>
                <a:ea typeface="+mn-ea"/>
                <a:cs typeface="+mn-cs"/>
              </a:rPr>
              <a:t> </a:t>
            </a:r>
            <a:endParaRPr kumimoji="0" lang="en-US" altLang="en-US" sz="2400" i="0" u="none" strike="noStrike" kern="1200" cap="none" spc="0" normalizeH="0" baseline="0" noProof="0" dirty="0">
              <a:ln>
                <a:noFill/>
              </a:ln>
              <a:solidFill>
                <a:schemeClr val="accent1">
                  <a:lumMod val="75000"/>
                </a:schemeClr>
              </a:solidFill>
              <a:effectLst/>
              <a:uLnTx/>
              <a:uFillTx/>
              <a:latin typeface="Calibri" panose="020F0502020204030204" charset="0"/>
              <a:cs typeface="Calibri" panose="020F0502020204030204" charset="0"/>
            </a:endParaRPr>
          </a:p>
          <a:p>
            <a:pPr marR="0" lvl="2" indent="0" algn="l" defTabSz="914400" rtl="0" eaLnBrk="1" fontAlgn="auto" latinLnBrk="0" hangingPunct="1">
              <a:lnSpc>
                <a:spcPct val="100000"/>
              </a:lnSpc>
              <a:spcBef>
                <a:spcPts val="0"/>
              </a:spcBef>
              <a:spcAft>
                <a:spcPts val="0"/>
              </a:spcAft>
              <a:buClrTx/>
              <a:buSzTx/>
              <a:buFont typeface="Arial" panose="020B0604020202020204" pitchFamily="34" charset="0"/>
              <a:buNone/>
              <a:defRPr/>
            </a:pPr>
            <a:endParaRPr kumimoji="0" lang="en-US" altLang="en-US" sz="2400" i="0" u="none" strike="noStrike" kern="1200" cap="none" spc="0" normalizeH="0" baseline="0" noProof="0" dirty="0">
              <a:ln>
                <a:noFill/>
              </a:ln>
              <a:solidFill>
                <a:prstClr val="black"/>
              </a:solidFill>
              <a:effectLst/>
              <a:uLnTx/>
              <a:uFillTx/>
              <a:latin typeface="Calibri" panose="020F0502020204030204" charset="0"/>
              <a:cs typeface="Calibri" panose="020F0502020204030204" charset="0"/>
            </a:endParaRPr>
          </a:p>
        </p:txBody>
      </p:sp>
      <p:graphicFrame>
        <p:nvGraphicFramePr>
          <p:cNvPr id="2" name="Table 1"/>
          <p:cNvGraphicFramePr/>
          <p:nvPr>
            <p:custDataLst>
              <p:tags r:id="rId1"/>
            </p:custDataLst>
          </p:nvPr>
        </p:nvGraphicFramePr>
        <p:xfrm>
          <a:off x="447040" y="1905000"/>
          <a:ext cx="10965815" cy="4356100"/>
        </p:xfrm>
        <a:graphic>
          <a:graphicData uri="http://schemas.openxmlformats.org/drawingml/2006/table">
            <a:tbl>
              <a:tblPr firstRow="1" bandRow="1">
                <a:tableStyleId>{5C22544A-7EE6-4342-B048-85BDC9FD1C3A}</a:tableStyleId>
              </a:tblPr>
              <a:tblGrid>
                <a:gridCol w="2244725">
                  <a:extLst>
                    <a:ext uri="{9D8B030D-6E8A-4147-A177-3AD203B41FA5}">
                      <a16:colId xmlns:a16="http://schemas.microsoft.com/office/drawing/2014/main" val="20000"/>
                    </a:ext>
                  </a:extLst>
                </a:gridCol>
                <a:gridCol w="8721090">
                  <a:extLst>
                    <a:ext uri="{9D8B030D-6E8A-4147-A177-3AD203B41FA5}">
                      <a16:colId xmlns:a16="http://schemas.microsoft.com/office/drawing/2014/main" val="20001"/>
                    </a:ext>
                  </a:extLst>
                </a:gridCol>
              </a:tblGrid>
              <a:tr h="561340">
                <a:tc>
                  <a:txBody>
                    <a:bodyPr/>
                    <a:lstStyle/>
                    <a:p>
                      <a:pPr algn="ctr">
                        <a:buNone/>
                      </a:pPr>
                      <a:r>
                        <a:rPr lang="en-US" sz="2400"/>
                        <a:t>class name</a:t>
                      </a:r>
                    </a:p>
                  </a:txBody>
                  <a:tcPr/>
                </a:tc>
                <a:tc>
                  <a:txBody>
                    <a:bodyPr/>
                    <a:lstStyle/>
                    <a:p>
                      <a:pPr algn="l">
                        <a:buNone/>
                      </a:pPr>
                      <a:r>
                        <a:rPr lang="en-US" sz="2400"/>
                        <a:t>use case</a:t>
                      </a:r>
                    </a:p>
                  </a:txBody>
                  <a:tcPr/>
                </a:tc>
                <a:extLst>
                  <a:ext uri="{0D108BD9-81ED-4DB2-BD59-A6C34878D82A}">
                    <a16:rowId xmlns:a16="http://schemas.microsoft.com/office/drawing/2014/main" val="10000"/>
                  </a:ext>
                </a:extLst>
              </a:tr>
              <a:tr h="408305">
                <a:tc>
                  <a:txBody>
                    <a:bodyPr/>
                    <a:lstStyle/>
                    <a:p>
                      <a:pPr>
                        <a:buNone/>
                      </a:pPr>
                      <a:r>
                        <a:rPr lang="en-US" altLang="en-US" sz="1800">
                          <a:sym typeface="+mn-ea"/>
                        </a:rPr>
                        <a:t>std::invalid_argument</a:t>
                      </a:r>
                    </a:p>
                  </a:txBody>
                  <a:tcPr/>
                </a:tc>
                <a:tc>
                  <a:txBody>
                    <a:bodyPr/>
                    <a:lstStyle/>
                    <a:p>
                      <a:pPr>
                        <a:buNone/>
                      </a:pPr>
                      <a:r>
                        <a:rPr lang="en-US" altLang="en-US"/>
                        <a:t>std::invalid_argument is the type of exception thrown due to invalid arguments.</a:t>
                      </a:r>
                    </a:p>
                  </a:txBody>
                  <a:tcPr/>
                </a:tc>
                <a:extLst>
                  <a:ext uri="{0D108BD9-81ED-4DB2-BD59-A6C34878D82A}">
                    <a16:rowId xmlns:a16="http://schemas.microsoft.com/office/drawing/2014/main" val="10001"/>
                  </a:ext>
                </a:extLst>
              </a:tr>
              <a:tr h="418465">
                <a:tc>
                  <a:txBody>
                    <a:bodyPr/>
                    <a:lstStyle/>
                    <a:p>
                      <a:pPr>
                        <a:buNone/>
                      </a:pPr>
                      <a:r>
                        <a:rPr lang="en-US" altLang="en-US" sz="1800">
                          <a:sym typeface="+mn-ea"/>
                        </a:rPr>
                        <a:t>std::length_error</a:t>
                      </a:r>
                      <a:endParaRPr lang="en-US"/>
                    </a:p>
                  </a:txBody>
                  <a:tcPr/>
                </a:tc>
                <a:tc>
                  <a:txBody>
                    <a:bodyPr/>
                    <a:lstStyle/>
                    <a:p>
                      <a:pPr>
                        <a:buNone/>
                      </a:pPr>
                      <a:r>
                        <a:rPr lang="en-US" altLang="en-US"/>
                        <a:t>std::length_error is the type of exception thrown when a too big std::string is created.</a:t>
                      </a:r>
                    </a:p>
                  </a:txBody>
                  <a:tcPr/>
                </a:tc>
                <a:extLst>
                  <a:ext uri="{0D108BD9-81ED-4DB2-BD59-A6C34878D82A}">
                    <a16:rowId xmlns:a16="http://schemas.microsoft.com/office/drawing/2014/main" val="10002"/>
                  </a:ext>
                </a:extLst>
              </a:tr>
              <a:tr h="561340">
                <a:tc>
                  <a:txBody>
                    <a:bodyPr/>
                    <a:lstStyle/>
                    <a:p>
                      <a:pPr>
                        <a:buNone/>
                      </a:pPr>
                      <a:r>
                        <a:rPr lang="en-US" altLang="en-US" sz="1800">
                          <a:sym typeface="+mn-ea"/>
                        </a:rPr>
                        <a:t>std::out_of_range</a:t>
                      </a:r>
                      <a:endParaRPr lang="en-US"/>
                    </a:p>
                  </a:txBody>
                  <a:tcPr/>
                </a:tc>
                <a:tc>
                  <a:txBody>
                    <a:bodyPr/>
                    <a:lstStyle/>
                    <a:p>
                      <a:pPr>
                        <a:buNone/>
                      </a:pPr>
                      <a:r>
                        <a:rPr lang="en-US" altLang="en-US"/>
                        <a:t>std::out_of_range is the type of exception that report errors when we are trying to access elements which is outside of the defined range.</a:t>
                      </a:r>
                    </a:p>
                  </a:txBody>
                  <a:tcPr/>
                </a:tc>
                <a:extLst>
                  <a:ext uri="{0D108BD9-81ED-4DB2-BD59-A6C34878D82A}">
                    <a16:rowId xmlns:a16="http://schemas.microsoft.com/office/drawing/2014/main" val="10003"/>
                  </a:ext>
                </a:extLst>
              </a:tr>
              <a:tr h="389890">
                <a:tc>
                  <a:txBody>
                    <a:bodyPr/>
                    <a:lstStyle/>
                    <a:p>
                      <a:pPr>
                        <a:buNone/>
                      </a:pPr>
                      <a:r>
                        <a:rPr lang="en-US" altLang="en-US" sz="1800">
                          <a:sym typeface="+mn-ea"/>
                        </a:rPr>
                        <a:t>std::runtime_error</a:t>
                      </a:r>
                      <a:endParaRPr lang="en-US"/>
                    </a:p>
                  </a:txBody>
                  <a:tcPr/>
                </a:tc>
                <a:tc>
                  <a:txBody>
                    <a:bodyPr/>
                    <a:lstStyle/>
                    <a:p>
                      <a:pPr>
                        <a:buNone/>
                      </a:pPr>
                      <a:r>
                        <a:rPr lang="en-US" altLang="en-US"/>
                        <a:t>std::runtime_error exception is the type of exception that theoretically cannot be detected by reading the code.</a:t>
                      </a:r>
                    </a:p>
                  </a:txBody>
                  <a:tcPr/>
                </a:tc>
                <a:extLst>
                  <a:ext uri="{0D108BD9-81ED-4DB2-BD59-A6C34878D82A}">
                    <a16:rowId xmlns:a16="http://schemas.microsoft.com/office/drawing/2014/main" val="10004"/>
                  </a:ext>
                </a:extLst>
              </a:tr>
              <a:tr h="561340">
                <a:tc>
                  <a:txBody>
                    <a:bodyPr/>
                    <a:lstStyle/>
                    <a:p>
                      <a:pPr>
                        <a:buNone/>
                      </a:pPr>
                      <a:r>
                        <a:rPr lang="en-US" altLang="en-US" sz="1800">
                          <a:sym typeface="+mn-ea"/>
                        </a:rPr>
                        <a:t>std::overflow_error</a:t>
                      </a:r>
                      <a:endParaRPr lang="en-US"/>
                    </a:p>
                  </a:txBody>
                  <a:tcPr/>
                </a:tc>
                <a:tc>
                  <a:txBody>
                    <a:bodyPr/>
                    <a:lstStyle/>
                    <a:p>
                      <a:pPr>
                        <a:buNone/>
                      </a:pPr>
                      <a:r>
                        <a:rPr lang="en-US" altLang="en-US"/>
                        <a:t>std::overflow_error exception is the type of exception thrown if a mathematical overflow occurs.</a:t>
                      </a:r>
                    </a:p>
                  </a:txBody>
                  <a:tcPr/>
                </a:tc>
                <a:extLst>
                  <a:ext uri="{0D108BD9-81ED-4DB2-BD59-A6C34878D82A}">
                    <a16:rowId xmlns:a16="http://schemas.microsoft.com/office/drawing/2014/main" val="10005"/>
                  </a:ext>
                </a:extLst>
              </a:tr>
              <a:tr h="561340">
                <a:tc>
                  <a:txBody>
                    <a:bodyPr/>
                    <a:lstStyle/>
                    <a:p>
                      <a:pPr>
                        <a:buNone/>
                      </a:pPr>
                      <a:r>
                        <a:rPr lang="en-US" altLang="en-US" sz="1800">
                          <a:sym typeface="+mn-ea"/>
                        </a:rPr>
                        <a:t>std::underflow_error</a:t>
                      </a:r>
                      <a:endParaRPr lang="en-US"/>
                    </a:p>
                  </a:txBody>
                  <a:tcPr/>
                </a:tc>
                <a:tc>
                  <a:txBody>
                    <a:bodyPr/>
                    <a:lstStyle/>
                    <a:p>
                      <a:pPr>
                        <a:buNone/>
                      </a:pPr>
                      <a:r>
                        <a:rPr lang="en-US" altLang="en-US"/>
                        <a:t>std::underflow_error exception is the type of exception thrown if a mathematical underflow occurs.</a:t>
                      </a:r>
                    </a:p>
                  </a:txBody>
                  <a:tcPr/>
                </a:tc>
                <a:extLst>
                  <a:ext uri="{0D108BD9-81ED-4DB2-BD59-A6C34878D82A}">
                    <a16:rowId xmlns:a16="http://schemas.microsoft.com/office/drawing/2014/main" val="10006"/>
                  </a:ext>
                </a:extLst>
              </a:tr>
              <a:tr h="407670">
                <a:tc>
                  <a:txBody>
                    <a:bodyPr/>
                    <a:lstStyle/>
                    <a:p>
                      <a:pPr>
                        <a:buNone/>
                      </a:pPr>
                      <a:r>
                        <a:rPr lang="en-US" altLang="en-US" sz="1800">
                          <a:sym typeface="+mn-ea"/>
                        </a:rPr>
                        <a:t>std::range_error</a:t>
                      </a:r>
                      <a:endParaRPr lang="en-US"/>
                    </a:p>
                  </a:txBody>
                  <a:tcPr/>
                </a:tc>
                <a:tc>
                  <a:txBody>
                    <a:bodyPr/>
                    <a:lstStyle/>
                    <a:p>
                      <a:pPr>
                        <a:buNone/>
                      </a:pPr>
                      <a:r>
                        <a:rPr lang="en-US" altLang="en-US"/>
                        <a:t>std::range_error is the type of exception thrown if a mathematical underflow occurs.</a:t>
                      </a:r>
                    </a:p>
                  </a:txBody>
                  <a:tcPr/>
                </a:tc>
                <a:extLst>
                  <a:ext uri="{0D108BD9-81ED-4DB2-BD59-A6C34878D82A}">
                    <a16:rowId xmlns:a16="http://schemas.microsoft.com/office/drawing/2014/main" val="10007"/>
                  </a:ext>
                </a:extLst>
              </a:tr>
            </a:tbl>
          </a:graphicData>
        </a:graphic>
      </p:graphicFrame>
    </p:spTree>
  </p:cSld>
  <p:clrMapOvr>
    <a:masterClrMapping/>
  </p:clrMapOvr>
  <p:transition>
    <p:pull dir="d"/>
  </p:transition>
</p:sld>
</file>

<file path=ppt/slides/slide3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object 3"/>
          <p:cNvSpPr txBox="1">
            <a:spLocks noGrp="1"/>
          </p:cNvSpPr>
          <p:nvPr>
            <p:ph type="title"/>
          </p:nvPr>
        </p:nvSpPr>
        <p:spPr>
          <a:xfrm>
            <a:off x="488003" y="312733"/>
            <a:ext cx="6710465" cy="381635"/>
          </a:xfrm>
          <a:prstGeom prst="rect">
            <a:avLst/>
          </a:prstGeom>
        </p:spPr>
        <p:txBody>
          <a:bodyPr vert="horz" wrap="square" lIns="0" tIns="12700" rIns="0" bIns="0" rtlCol="0">
            <a:spAutoFit/>
          </a:bodyPr>
          <a:lstStyle/>
          <a:p>
            <a:pPr marL="12700">
              <a:lnSpc>
                <a:spcPct val="100000"/>
              </a:lnSpc>
              <a:spcBef>
                <a:spcPts val="100"/>
              </a:spcBef>
            </a:pPr>
            <a:r>
              <a:rPr lang="en-US" sz="2400" dirty="0">
                <a:solidFill>
                  <a:srgbClr val="04A2B9"/>
                </a:solidFill>
                <a:latin typeface="Corbel" panose="020B0503020204020204" pitchFamily="34" charset="0"/>
              </a:rPr>
              <a:t>Department of Computer Engineering</a:t>
            </a:r>
            <a:endParaRPr lang="en-IN" sz="2400" dirty="0">
              <a:latin typeface="Corbel" panose="020B0503020204020204" pitchFamily="34" charset="0"/>
            </a:endParaRPr>
          </a:p>
        </p:txBody>
      </p:sp>
      <p:sp>
        <p:nvSpPr>
          <p:cNvPr id="8" name="Rectangle 7"/>
          <p:cNvSpPr/>
          <p:nvPr/>
        </p:nvSpPr>
        <p:spPr>
          <a:xfrm>
            <a:off x="464149" y="1247268"/>
            <a:ext cx="11352179" cy="495822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en-US" sz="3200" b="1" noProof="0" dirty="0">
                <a:ln>
                  <a:noFill/>
                </a:ln>
                <a:solidFill>
                  <a:prstClr val="black"/>
                </a:solidFill>
                <a:effectLst/>
                <a:uLnTx/>
                <a:uFillTx/>
                <a:latin typeface="Times New Roman" panose="02020603050405020304" pitchFamily="18" charset="0"/>
                <a:cs typeface="Times New Roman" panose="02020603050405020304" pitchFamily="18" charset="0"/>
                <a:sym typeface="+mn-ea"/>
              </a:rPr>
              <a:t>C++ Exception Classes</a:t>
            </a:r>
            <a:endParaRPr kumimoji="0" lang="en-US" altLang="en-US" sz="32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a:p>
            <a:pPr marL="0" marR="0" lvl="0" indent="0" algn="just" defTabSz="914400" rtl="0" eaLnBrk="1" fontAlgn="auto" latinLnBrk="0" hangingPunct="1">
              <a:lnSpc>
                <a:spcPct val="100000"/>
              </a:lnSpc>
              <a:spcBef>
                <a:spcPts val="0"/>
              </a:spcBef>
              <a:spcAft>
                <a:spcPts val="0"/>
              </a:spcAft>
              <a:buClrTx/>
              <a:buSzTx/>
              <a:buFontTx/>
              <a:buNone/>
              <a:defRPr/>
            </a:pPr>
            <a:endParaRPr kumimoji="0" lang="en-US" altLang="en-US" sz="2400"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endParaRPr>
          </a:p>
          <a:p>
            <a:pPr marL="0" marR="0" lvl="0" indent="0" algn="just" defTabSz="914400" rtl="0" eaLnBrk="1" fontAlgn="auto" latinLnBrk="0" hangingPunct="1">
              <a:lnSpc>
                <a:spcPct val="100000"/>
              </a:lnSpc>
              <a:spcBef>
                <a:spcPts val="0"/>
              </a:spcBef>
              <a:spcAft>
                <a:spcPts val="0"/>
              </a:spcAft>
              <a:buClrTx/>
              <a:buSzTx/>
              <a:buFontTx/>
              <a:buNone/>
              <a:defRPr/>
            </a:pPr>
            <a:r>
              <a:rPr kumimoji="0" lang="en-US" altLang="en-US" sz="2400"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rPr>
              <a:t>Certainly! </a:t>
            </a:r>
            <a:r>
              <a:rPr kumimoji="0" lang="en-US" altLang="en-US" sz="2400" b="1"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rPr>
              <a:t>std::bad_alloc</a:t>
            </a:r>
            <a:r>
              <a:rPr kumimoji="0" lang="en-US" altLang="en-US" sz="2400"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rPr>
              <a:t> is an exception in C++ that's thrown when the program </a:t>
            </a:r>
            <a:r>
              <a:rPr kumimoji="0" lang="en-US" altLang="en-US" sz="2400" i="0" u="sng"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rPr>
              <a:t>tries to allocate memory using new and there isn't enough memory available in the system to fulfill that request</a:t>
            </a:r>
            <a:r>
              <a:rPr kumimoji="0" lang="en-US" altLang="en-US" sz="2400"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rPr>
              <a:t>. Think of it as your program asking for a room to store some data, but the system saying, "Sorry, all rooms are taken!" When this exception occurs, it means the program couldn't get the memory it needed, so it's like a red flag signaling that something went wrong with memory allocation. This is crucial because if your program relies on allocating memory dynamically and it fails, your program might not be able to function properly. To handle this exception, you can use techniques like catching the std::bad_alloc exception and gracefully handling the situation, maybe by informing the user, freeing up some memory, or taking other appropriate actions. It's all about making sure your program can deal with situations where it can't get the memory it needs.</a:t>
            </a:r>
          </a:p>
          <a:p>
            <a:pPr marR="0" lvl="2" indent="0" algn="l" defTabSz="914400" rtl="0" eaLnBrk="1" fontAlgn="auto" latinLnBrk="0" hangingPunct="1">
              <a:lnSpc>
                <a:spcPct val="100000"/>
              </a:lnSpc>
              <a:spcBef>
                <a:spcPts val="0"/>
              </a:spcBef>
              <a:spcAft>
                <a:spcPts val="0"/>
              </a:spcAft>
              <a:buClrTx/>
              <a:buSzTx/>
              <a:buFont typeface="Arial" panose="020B0604020202020204" pitchFamily="34" charset="0"/>
              <a:buNone/>
              <a:defRPr/>
            </a:pPr>
            <a:endParaRPr kumimoji="0" lang="en-US" altLang="en-US" sz="2400"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endParaRPr>
          </a:p>
        </p:txBody>
      </p:sp>
    </p:spTree>
  </p:cSld>
  <p:clrMapOvr>
    <a:masterClrMapping/>
  </p:clrMapOvr>
  <p:transition>
    <p:pull dir="d"/>
  </p:transition>
</p:sld>
</file>

<file path=ppt/slides/slide3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transition>
    <p:pull dir="d"/>
  </p:transition>
</p:sld>
</file>

<file path=ppt/tags/tag1.xml><?xml version="1.0" encoding="utf-8"?>
<p:tagLst xmlns:a="http://schemas.openxmlformats.org/drawingml/2006/main" xmlns:r="http://schemas.openxmlformats.org/officeDocument/2006/relationships" xmlns:p="http://schemas.openxmlformats.org/presentationml/2006/main">
  <p:tag name="TABLE_ENDDRAG_ORIGIN_RECT" val="863*353"/>
  <p:tag name="TABLE_ENDDRAG_RECT" val="35*150*863*353"/>
</p:tagLst>
</file>

<file path=ppt/tags/tag2.xml><?xml version="1.0" encoding="utf-8"?>
<p:tagLst xmlns:a="http://schemas.openxmlformats.org/drawingml/2006/main" xmlns:r="http://schemas.openxmlformats.org/officeDocument/2006/relationships" xmlns:p="http://schemas.openxmlformats.org/presentationml/2006/main">
  <p:tag name="TABLE_ENDDRAG_ORIGIN_RECT" val="863*353"/>
  <p:tag name="TABLE_ENDDRAG_RECT" val="35*150*863*353"/>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253</TotalTime>
  <Words>3181</Words>
  <Application>Microsoft Office PowerPoint</Application>
  <PresentationFormat>Widescreen</PresentationFormat>
  <Paragraphs>417</Paragraphs>
  <Slides>36</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36</vt:i4>
      </vt:variant>
    </vt:vector>
  </HeadingPairs>
  <TitlesOfParts>
    <vt:vector size="43" baseType="lpstr">
      <vt:lpstr>Arial</vt:lpstr>
      <vt:lpstr>Calibri</vt:lpstr>
      <vt:lpstr>Calibri Light</vt:lpstr>
      <vt:lpstr>Corbel</vt:lpstr>
      <vt:lpstr>Times New Roman</vt:lpstr>
      <vt:lpstr>Wingdings</vt:lpstr>
      <vt:lpstr>Office Theme</vt:lpstr>
      <vt:lpstr>Department of Computer Engineering </vt:lpstr>
      <vt:lpstr>Department of Computer Engineering</vt:lpstr>
      <vt:lpstr>Department of Computer Engineering</vt:lpstr>
      <vt:lpstr>Department of Computer Engineering</vt:lpstr>
      <vt:lpstr>Department of Computer Engineering</vt:lpstr>
      <vt:lpstr>Department of Computer Engineering</vt:lpstr>
      <vt:lpstr>Department of Computer Engineering</vt:lpstr>
      <vt:lpstr>Department of Computer Engineering</vt:lpstr>
      <vt:lpstr>Department of Computer Engineering</vt:lpstr>
      <vt:lpstr>Department of Computer Engineering</vt:lpstr>
      <vt:lpstr>Department of Computer Engineering</vt:lpstr>
      <vt:lpstr>Department of Computer Engineering</vt:lpstr>
      <vt:lpstr>Department of Computer Engineering</vt:lpstr>
      <vt:lpstr>Department of Computer Engineering</vt:lpstr>
      <vt:lpstr>Department of Computer Engineering</vt:lpstr>
      <vt:lpstr>Department of Computer Engineering</vt:lpstr>
      <vt:lpstr>Department of Computer Engineering</vt:lpstr>
      <vt:lpstr>Department of Computer Engineering</vt:lpstr>
      <vt:lpstr>Department of Computer Engineering</vt:lpstr>
      <vt:lpstr>Department of Computer Engineering</vt:lpstr>
      <vt:lpstr>Department of Computer Engineering</vt:lpstr>
      <vt:lpstr>Department of Computer Engineering</vt:lpstr>
      <vt:lpstr>Department of Computer Engineering</vt:lpstr>
      <vt:lpstr>Department of Computer Engineering</vt:lpstr>
      <vt:lpstr>Department of Computer Engineering</vt:lpstr>
      <vt:lpstr>Department of Computer Engineering</vt:lpstr>
      <vt:lpstr>Department of Computer Engineering</vt:lpstr>
      <vt:lpstr>Department of Computer Engineering</vt:lpstr>
      <vt:lpstr>Department of Computer Engineering</vt:lpstr>
      <vt:lpstr>Department of Computer Engineering</vt:lpstr>
      <vt:lpstr>Department of Computer Engineering</vt:lpstr>
      <vt:lpstr>Department of Computer Engineering</vt:lpstr>
      <vt:lpstr>Department of Computer Engineering</vt:lpstr>
      <vt:lpstr>Department of Computer Engineering</vt:lpstr>
      <vt:lpstr>Department of Computer Engineering</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Ayush Gour</cp:lastModifiedBy>
  <cp:revision>69</cp:revision>
  <dcterms:created xsi:type="dcterms:W3CDTF">2023-12-05T07:58:00Z</dcterms:created>
  <dcterms:modified xsi:type="dcterms:W3CDTF">2025-04-08T18:05:14Z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D31C27F82D784401B0CD134EB463EB3D_13</vt:lpwstr>
  </property>
  <property fmtid="{D5CDD505-2E9C-101B-9397-08002B2CF9AE}" pid="3" name="KSOProductBuildVer">
    <vt:lpwstr>1033-12.2.0.19805</vt:lpwstr>
  </property>
</Properties>
</file>
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2"/>
  </p:notesMasterIdLst>
  <p:sldIdLst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2" r:id="rId14"/>
    <p:sldId id="283" r:id="rId15"/>
    <p:sldId id="284" r:id="rId16"/>
    <p:sldId id="285" r:id="rId17"/>
    <p:sldId id="286" r:id="rId18"/>
    <p:sldId id="287" r:id="rId19"/>
    <p:sldId id="289" r:id="rId20"/>
    <p:sldId id="288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1" r:id="rId32"/>
    <p:sldId id="309" r:id="rId33"/>
    <p:sldId id="310" r:id="rId34"/>
    <p:sldId id="304" r:id="rId35"/>
    <p:sldId id="320" r:id="rId36"/>
    <p:sldId id="314" r:id="rId37"/>
    <p:sldId id="307" r:id="rId38"/>
    <p:sldId id="316" r:id="rId39"/>
    <p:sldId id="322" r:id="rId40"/>
    <p:sldId id="25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4660"/>
  </p:normalViewPr>
  <p:slideViewPr>
    <p:cSldViewPr snapToGrid="0">
      <p:cViewPr varScale="1">
        <p:scale>
          <a:sx n="85" d="100"/>
          <a:sy n="85" d="100"/>
        </p:scale>
        <p:origin x="66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8CBC0-7E39-49B0-8606-0B1366A78009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670A6-C7B9-4598-B2A0-2E3F9A63A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74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4036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E744CE6-E900-93C9-DAC1-A730691D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270E3B03-DEBC-7AE4-90DC-0AC9DD3F0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3060182B-D905-E3CB-3FED-31CC7026A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313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E14620C-BE6D-D2DB-FBD9-F7D66439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99E44B0B-15C2-7890-5652-98C0ED7E4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6E5140E1-0DE3-AEC4-E111-5508D3BFE0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6663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4EE40AD-C9ED-83D8-94AB-2A0C0769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5FE4A5CB-7A9B-DD27-EB1E-C9AD26DC37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3BF7512B-DF46-07E5-4212-969CF57FD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315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C6174D6-0670-FBFD-AC01-3282C401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B16C5CBB-CC39-4F4C-EB09-8ECF7BC76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CE5FCE76-D733-B611-F500-FB5E8EBD2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0147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7588873-BEA1-157A-F4E5-BEA8E402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9A0CFEF6-4190-12CB-A807-3EAB950A1C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05BE89F2-BBF1-AB83-17F1-4B87A9A56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0418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6431341-5FC3-E85C-0638-20212C813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20E7959A-6657-BF9E-D70C-818C8199A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7B6195AF-A2D1-5935-3B8B-AF34E9ED8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3978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C75F3F5-9F26-9B06-D0FE-9F32C7C5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06DE8E3E-0DF6-14DC-BA05-5AFF683171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0CBE6D4F-69A8-8256-05B5-715B018DD4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0897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C6DE2AB-D5BD-8D12-783A-00E453757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5F839608-10B4-A6E2-F722-7D600474E2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1AD18F37-35C5-1400-EF06-67DEEBB51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3872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FFE29C1-453E-92DD-2CC1-236063D7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CD8FCDD3-95C0-CAF9-FBD8-77EAA98BF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6489E098-FAC9-8758-FD0C-6756A86D4C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048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5446C1F-8148-BE81-A3EF-E2340285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49DD9367-9062-F65D-D01B-B38AD35DA6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50498345-D9D5-4FBB-F9A2-C0D917204A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00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4E03638-5CAC-6E06-836A-4C93A321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F11B2E89-F086-7080-7037-7B834478F0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57832F60-1EED-F4BE-07AF-CF68C469D5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730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4775F9A-35E1-CD81-1562-8F52C2BA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FE228446-6A36-09F0-7501-A6C5406BD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6BFB34D8-9D37-47F5-E2C4-9F39744DF9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453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0D4B49EF-5FC1-DF09-7FCC-48BFFFB8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77655D6E-AB18-472D-4D3F-ED900C3A8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D5386F83-7D29-8F3B-2C9E-FE6AA37B2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342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0F62D6E-02BA-9ED9-B2C5-0518EC211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B0541836-E12D-371F-F7FA-3E295B317E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34204230-D47B-1F01-AE31-8F3191427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122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32C8E7B-DB63-6E11-9832-1D6873DD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AB2BD1D9-4373-62C9-4299-AE32960F6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27CAD27D-C9B8-2508-E5CA-B8A518802A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324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D3FA33D-C82A-2A9C-A0AC-30F83D5A7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8D2D89CB-D9EB-016E-D049-643502298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431F849B-4832-8124-38BA-E2EC1DF2B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9502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9FADD56-FD26-55C0-1120-E55AB83B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50AEEAC8-1160-750C-C7B6-B6656C60F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31343E02-9AAD-01E3-E45D-AC536F759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6387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CF8D35A-0807-8B95-A210-A8F57134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4FB5FE5F-F836-E956-F221-E07AD27B7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8EC56EEE-E98B-766A-B403-09674B266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476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9236BE8-2E80-5E0D-5C4F-C48953D28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D7DD9329-E435-BC8D-6E1A-DC6891CAE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A9E6C465-0B18-F729-7D2E-03EBD6907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161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29752B1-428F-35CA-DFC5-08298265E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1C92B5F2-6633-AE8C-E97A-743B8DE7A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00FA5166-210C-C983-7882-7BF36E3F5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8161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0722375-BB98-157A-52E8-6DB2B141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5ECE2170-4B4F-BFB6-33E2-DF52072E2B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A9925780-A3DE-7A7F-47D4-07670923E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1182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899F414-C003-6FE2-8EA0-158D2521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989D4215-344E-F583-3E0D-A41C03F11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E1773503-C468-E0A1-FF40-DFD5A83873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7805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71EF653-EC3F-0883-610B-7E3A0A62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47757B17-FDBA-7AE2-E4F2-52D7FBB703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0197B50B-CCF2-B2C7-5F99-C154E5D3F2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196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9057A63-CA7C-BAA3-D6D8-3CF804D8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7A477FB8-6DC5-6BE4-B698-2EBC1EB61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0F9CEBDA-67BC-4530-6A76-342987226F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1136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4ABF4F3-16CE-7187-676E-9CC485E3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55C01EBE-BCB6-7D85-9142-F0FF17FE1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A9F7C085-8317-7925-2D5D-EFA4029655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2813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B1BE867-EF33-9F14-E7AB-E60DED54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1DCB5FB5-133A-74F1-8BB6-A56246996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9C176665-3545-E643-92A2-2A603C9588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8762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7548951-4715-7903-7C7F-989EBB90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9B85519F-7674-C7AF-450F-1B2AB30702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90DAC61A-535F-B9CC-E536-6C78A2944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7331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E4BBBB60-1662-0B4F-39A1-BC3E629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3DD89305-282C-4195-8FA3-18D86C3E9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207AE626-3904-9BEE-A2D3-AEE931C4A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688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207152D-8C65-6935-52ED-5D3AD27AF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8B3E3421-FE12-32D0-D591-3239980D5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C83821D5-9A80-46CE-A7F8-A26F4240F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2122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5641726D-F72C-45AC-3FC6-5C43449A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432DB677-3390-F6A9-5FB3-B916A18C92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5BEE39B0-7A6B-79C2-5175-D35A20C20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6117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229130D-FDCF-3A49-A175-AEDE02271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E88EFE36-C4FC-2319-CE75-4AC192808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FD11EA9D-39CE-31B3-311E-AB9F9ED55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4600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E849D3A1-EC58-6ED7-07B1-43185B37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6A31C890-3247-07AB-ECD5-CAF46E27E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7F7643A0-01BB-85E7-1D68-DF20D1459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9287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CBBB132-70EB-E76C-8927-60BA91DB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DC531D68-A733-ED59-BD9F-149863FD8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B27F5692-68DF-8E13-429D-8D0925EE11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87712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8AF5414-8FAC-7085-1F2C-1D165AFC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DD0B4CFC-A2B0-69BF-34BB-3CA30BE859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D086FFD3-2D30-953E-9E68-1CCF3161D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39194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6CC77BE-DFBB-B4CE-8E6F-0B908A06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3F58F46F-3476-D875-1FE4-FD5495569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E25D1A9F-8FF5-40EF-5F16-F1F37EAB3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8393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556C9525-81F6-8E85-C7AC-54945E65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b6c834fc22_0_12:notes">
            <a:extLst>
              <a:ext uri="{FF2B5EF4-FFF2-40B4-BE49-F238E27FC236}">
                <a16:creationId xmlns:a16="http://schemas.microsoft.com/office/drawing/2014/main" id="{B8CF4B6D-50E9-E83D-C4BD-C23F464BE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b6c834fc22_0_12:notes">
            <a:extLst>
              <a:ext uri="{FF2B5EF4-FFF2-40B4-BE49-F238E27FC236}">
                <a16:creationId xmlns:a16="http://schemas.microsoft.com/office/drawing/2014/main" id="{3A706CE4-4857-FB9F-0F1F-7F1130F4E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243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0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6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5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7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97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8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38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844CD8-C4E6-D784-4D38-27AEA407BE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21350" y="94545"/>
            <a:ext cx="2706861" cy="89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86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3A7D94-ED52-7260-5289-64950C1305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744" y="-55855"/>
            <a:ext cx="3113257" cy="7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07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52EB12-4FC2-0EB9-3229-F3697ECB2E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78744" y="0"/>
            <a:ext cx="3113257" cy="7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42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70967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4457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5480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07811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120051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60953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697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3A372-BE42-451E-B14C-5FF9C6C0F46F}" type="datetimeFigureOut">
              <a:rPr lang="en-IN" smtClean="0"/>
              <a:pPr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36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886346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jp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1;p15"/>
          <p:cNvSpPr txBox="1">
            <a:spLocks noChangeArrowheads="1"/>
          </p:cNvSpPr>
          <p:nvPr/>
        </p:nvSpPr>
        <p:spPr bwMode="auto">
          <a:xfrm>
            <a:off x="323785" y="153159"/>
            <a:ext cx="7401962" cy="49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>
                <a:solidFill>
                  <a:srgbClr val="666666"/>
                </a:solidFill>
                <a:latin typeface="Proxima Nova" charset="0"/>
                <a:cs typeface="Proxima Nova" charset="0"/>
                <a:sym typeface="Proxima Nova" charset="0"/>
              </a:rPr>
              <a:t>01AI0403-Object Oriented Design and Programming</a:t>
            </a:r>
            <a:endParaRPr lang="en-US" altLang="en-US" sz="2000" b="1" dirty="0"/>
          </a:p>
        </p:txBody>
      </p:sp>
      <p:sp>
        <p:nvSpPr>
          <p:cNvPr id="4" name="Google Shape;71;p15">
            <a:extLst>
              <a:ext uri="{FF2B5EF4-FFF2-40B4-BE49-F238E27FC236}">
                <a16:creationId xmlns:a16="http://schemas.microsoft.com/office/drawing/2014/main" id="{FDCA0018-7339-38CC-CE5C-65024159DBFF}"/>
              </a:ext>
            </a:extLst>
          </p:cNvPr>
          <p:cNvSpPr txBox="1"/>
          <p:nvPr/>
        </p:nvSpPr>
        <p:spPr>
          <a:xfrm>
            <a:off x="1326776" y="3908611"/>
            <a:ext cx="3905354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b="1" kern="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Unit – 8</a:t>
            </a:r>
          </a:p>
          <a:p>
            <a:pPr algn="ctr" defTabSz="1219170">
              <a:buClr>
                <a:srgbClr val="000000"/>
              </a:buClr>
            </a:pPr>
            <a:r>
              <a:rPr lang="en-US" sz="3200" b="1" kern="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Stream and Files</a:t>
            </a:r>
            <a:endParaRPr lang="en-IN" sz="3200" b="1" kern="0" dirty="0"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CE21D6-DFF0-C6D3-F7F1-71CFAEFC8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379" y="1828800"/>
            <a:ext cx="4263942" cy="36371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F420FE-8994-97A8-D5C9-4BA34E176929}"/>
              </a:ext>
            </a:extLst>
          </p:cNvPr>
          <p:cNvSpPr txBox="1"/>
          <p:nvPr/>
        </p:nvSpPr>
        <p:spPr>
          <a:xfrm>
            <a:off x="1213493" y="2047000"/>
            <a:ext cx="39053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Design and Programming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01AI0403)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18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891" y="0"/>
            <a:ext cx="122018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246581" y="127217"/>
            <a:ext cx="9600000" cy="71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3067" b="0" i="0" u="none" strike="noStrike" kern="0" cap="none" spc="0" normalizeH="0" baseline="0" noProof="0" dirty="0">
                <a:ln>
                  <a:noFill/>
                </a:ln>
                <a:solidFill>
                  <a:srgbClr val="00A4B6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Outline</a:t>
            </a:r>
            <a:endParaRPr kumimoji="0" sz="3067" b="0" i="0" u="none" strike="noStrike" kern="0" cap="none" spc="0" normalizeH="0" baseline="0" noProof="0" dirty="0">
              <a:ln>
                <a:noFill/>
              </a:ln>
              <a:solidFill>
                <a:srgbClr val="00A4B6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24A0AE-DBFB-C9A5-2864-B6AB2071C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5" name="Google Shape;71;p15">
            <a:extLst>
              <a:ext uri="{FF2B5EF4-FFF2-40B4-BE49-F238E27FC236}">
                <a16:creationId xmlns:a16="http://schemas.microsoft.com/office/drawing/2014/main" id="{5DA4F506-505C-56C2-E800-76FF0FBD280B}"/>
              </a:ext>
            </a:extLst>
          </p:cNvPr>
          <p:cNvSpPr txBox="1"/>
          <p:nvPr/>
        </p:nvSpPr>
        <p:spPr>
          <a:xfrm>
            <a:off x="546847" y="1156447"/>
            <a:ext cx="8496188" cy="458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Concepts of Streams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Stream Classes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Unformatted Data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Unformatted I/O Operations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Getline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() &amp; write()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fuctions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Formatted Data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Formatted</a:t>
            </a:r>
            <a:r>
              <a:rPr lang="en-US" sz="220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 Console I/O operations.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i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os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F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ormat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 Function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Stream Manipulators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File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File Handling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File Pointer</a:t>
            </a:r>
          </a:p>
          <a:p>
            <a:pPr marL="2857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Erro</a:t>
            </a:r>
            <a:r>
              <a:rPr lang="en-US" sz="2200" dirty="0"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r Handling during file operations.</a:t>
            </a:r>
          </a:p>
        </p:txBody>
      </p:sp>
    </p:spTree>
    <p:extLst>
      <p:ext uri="{BB962C8B-B14F-4D97-AF65-F5344CB8AC3E}">
        <p14:creationId xmlns:p14="http://schemas.microsoft.com/office/powerpoint/2010/main" val="349204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B436A06-1CD4-EC69-F76D-557F434B4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D310957A-E47D-F6C7-5B7E-8428DB76A43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3DBA3C00-A469-6A1E-F6A1-D5446087285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891" y="0"/>
            <a:ext cx="122018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FB4FD651-9F0A-2EA2-0E6A-3B8FADE802E2}"/>
              </a:ext>
            </a:extLst>
          </p:cNvPr>
          <p:cNvSpPr txBox="1"/>
          <p:nvPr/>
        </p:nvSpPr>
        <p:spPr>
          <a:xfrm>
            <a:off x="246581" y="127217"/>
            <a:ext cx="9600000" cy="71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IN" sz="3067" kern="0" dirty="0">
                <a:solidFill>
                  <a:srgbClr val="00A4B6"/>
                </a:solidFill>
                <a:latin typeface="Proxima Nova"/>
                <a:ea typeface="Proxima Nova"/>
                <a:cs typeface="Proxima Nova"/>
                <a:sym typeface="Proxima Nova"/>
              </a:rPr>
              <a:t>Concepts of Streams</a:t>
            </a:r>
            <a:endParaRPr kumimoji="0" sz="3067" b="0" i="0" u="none" strike="noStrike" kern="0" cap="none" spc="0" normalizeH="0" baseline="0" noProof="0" dirty="0">
              <a:ln>
                <a:noFill/>
              </a:ln>
              <a:solidFill>
                <a:srgbClr val="00A4B6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0794EF-91E9-C044-63F3-E65A68F21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6660AE0-E890-7E7E-24EA-709CF3EB50CA}"/>
              </a:ext>
            </a:extLst>
          </p:cNvPr>
          <p:cNvSpPr txBox="1">
            <a:spLocks/>
          </p:cNvSpPr>
          <p:nvPr/>
        </p:nvSpPr>
        <p:spPr>
          <a:xfrm>
            <a:off x="711343" y="1086564"/>
            <a:ext cx="1014730" cy="329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430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90"/>
              </a:spcBef>
            </a:pPr>
            <a:r>
              <a:rPr lang="en-IN" sz="2000" b="1" kern="0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endParaRPr lang="en-IN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D365BB2-3EE4-2859-2DFE-1FB9B7EA56DA}"/>
              </a:ext>
            </a:extLst>
          </p:cNvPr>
          <p:cNvSpPr txBox="1"/>
          <p:nvPr/>
        </p:nvSpPr>
        <p:spPr>
          <a:xfrm>
            <a:off x="833717" y="1416129"/>
            <a:ext cx="10936941" cy="2117246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801370" indent="-28575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r>
              <a:rPr sz="1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1800" b="1" u="sng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sz="20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137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ts val="2050"/>
              </a:lnSpc>
              <a:spcBef>
                <a:spcPts val="39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800" u="sng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sz="1800" u="sng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i.e.: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keyboard,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drive,</a:t>
            </a:r>
            <a:r>
              <a:rPr sz="1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connection)</a:t>
            </a:r>
            <a:r>
              <a:rPr sz="1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1370" indent="-285750">
              <a:lnSpc>
                <a:spcPct val="100000"/>
              </a:lnSpc>
              <a:spcBef>
                <a:spcPts val="385"/>
              </a:spcBef>
              <a:buFont typeface="Wingdings" panose="05000000000000000000" pitchFamily="2" charset="2"/>
              <a:buChar char="Ø"/>
            </a:pP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2819">
              <a:lnSpc>
                <a:spcPts val="1825"/>
              </a:lnSpc>
              <a:spcBef>
                <a:spcPts val="415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sz="1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flows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</a:t>
            </a:r>
            <a:r>
              <a:rPr sz="1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600" u="sng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sz="16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i.e.: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screen,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printer,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disk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drive,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2856AB1E-3D18-CD7A-2A1A-B640C7854EE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38844" y="3635426"/>
            <a:ext cx="6114311" cy="2334386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65C2FCA3-C42F-8C4C-007C-0D9A8CB287DC}"/>
              </a:ext>
            </a:extLst>
          </p:cNvPr>
          <p:cNvSpPr txBox="1"/>
          <p:nvPr/>
        </p:nvSpPr>
        <p:spPr>
          <a:xfrm>
            <a:off x="5628397" y="6160335"/>
            <a:ext cx="1289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Data</a:t>
            </a:r>
            <a:r>
              <a:rPr sz="1800" spc="-1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streams</a:t>
            </a:r>
            <a:endParaRPr sz="1800" dirty="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397391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4787A456-5507-6232-52CB-38E916678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B944774D-9599-0841-D773-3FB1D4F09B2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274C3F92-7FFB-CA13-2544-48BA327D8B9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8688" y="-6366"/>
            <a:ext cx="122018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CDA8D5CC-471D-DF5A-96C2-F3B8552C39B8}"/>
              </a:ext>
            </a:extLst>
          </p:cNvPr>
          <p:cNvSpPr txBox="1"/>
          <p:nvPr/>
        </p:nvSpPr>
        <p:spPr>
          <a:xfrm>
            <a:off x="246581" y="127217"/>
            <a:ext cx="9600000" cy="71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IN" sz="3067" kern="0" dirty="0">
                <a:solidFill>
                  <a:srgbClr val="00A4B6"/>
                </a:solidFill>
                <a:latin typeface="Proxima Nova"/>
                <a:ea typeface="Proxima Nova"/>
                <a:cs typeface="Proxima Nova"/>
                <a:sym typeface="Proxima Nova"/>
              </a:rPr>
              <a:t>Stream Classes</a:t>
            </a:r>
            <a:endParaRPr kumimoji="0" sz="3067" b="0" i="0" u="none" strike="noStrike" kern="0" cap="none" spc="0" normalizeH="0" baseline="0" noProof="0" dirty="0">
              <a:ln>
                <a:noFill/>
              </a:ln>
              <a:solidFill>
                <a:srgbClr val="00A4B6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620E54-B794-BD46-AA11-FF0D3D7F7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D616D17C-9F84-A63A-E349-1E4A3C6F7E4E}"/>
              </a:ext>
            </a:extLst>
          </p:cNvPr>
          <p:cNvSpPr txBox="1"/>
          <p:nvPr/>
        </p:nvSpPr>
        <p:spPr>
          <a:xfrm>
            <a:off x="506068" y="983539"/>
            <a:ext cx="6880849" cy="267188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5"/>
              </a:spcBef>
              <a:buFont typeface="+mj-lt"/>
              <a:buAutoNum type="arabicPeriod"/>
            </a:pPr>
            <a:r>
              <a:rPr lang="en-IN"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b="1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spcBef>
                <a:spcPts val="235"/>
              </a:spcBef>
              <a:buFont typeface="Arial" panose="020B0604020202020204" pitchFamily="34" charset="0"/>
              <a:buChar char="•"/>
            </a:pPr>
            <a:r>
              <a:rPr lang="en-IN" sz="2000" i="1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istream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i="1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inherit from </a:t>
            </a:r>
            <a:r>
              <a:rPr lang="en-IN" sz="2000" i="1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spcBef>
                <a:spcPts val="235"/>
              </a:spcBef>
              <a:buFont typeface="Arial" panose="020B0604020202020204" pitchFamily="34" charset="0"/>
              <a:buChar char="•"/>
            </a:pPr>
            <a:r>
              <a:rPr lang="en-IN"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i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r>
              <a:rPr lang="en-US"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inherits from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istream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ostream.</a:t>
            </a:r>
            <a:endParaRPr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1230"/>
              </a:spcBef>
              <a:buFont typeface="+mj-lt"/>
              <a:buAutoNum type="arabicPeriod"/>
            </a:pP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sz="2000" b="1" spc="-7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(left-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operator)</a:t>
            </a:r>
            <a:endParaRPr lang="en-US" sz="2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484"/>
              </a:spcBef>
              <a:buFont typeface="+mj-lt"/>
              <a:buAutoNum type="arabicPeriod"/>
            </a:pPr>
            <a:r>
              <a:rPr lang="en-US"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sz="2000" b="1" spc="-7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(right-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lang="en-US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operator)</a:t>
            </a:r>
          </a:p>
          <a:p>
            <a:pPr marL="812800" lvl="1" indent="-342900">
              <a:spcBef>
                <a:spcPts val="484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</a:t>
            </a:r>
            <a:r>
              <a:rPr lang="en-US"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FCC27C07-3BDC-6E2B-3502-4E0F0BB4D8A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52848" y="3709896"/>
            <a:ext cx="7329692" cy="294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4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8836A735-1CD4-47BA-181B-1716546D1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CFEEB988-4A28-00B2-4963-BCE048A859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D4CB344E-3F76-526D-7375-A36D7EBBE02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276" y="6366"/>
            <a:ext cx="122018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4C4E7E7A-F920-E1C4-B8FE-FE1A5E4B2D3C}"/>
              </a:ext>
            </a:extLst>
          </p:cNvPr>
          <p:cNvSpPr txBox="1"/>
          <p:nvPr/>
        </p:nvSpPr>
        <p:spPr>
          <a:xfrm>
            <a:off x="246581" y="127217"/>
            <a:ext cx="9600000" cy="71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IN" sz="3067" kern="0" dirty="0">
                <a:solidFill>
                  <a:srgbClr val="00A4B6"/>
                </a:solidFill>
                <a:latin typeface="Proxima Nova"/>
                <a:ea typeface="Proxima Nova"/>
                <a:cs typeface="Proxima Nova"/>
                <a:sym typeface="Proxima Nova"/>
              </a:rPr>
              <a:t>Unformatted Data</a:t>
            </a:r>
            <a:endParaRPr kumimoji="0" sz="3067" b="0" i="0" u="none" strike="noStrike" kern="0" cap="none" spc="0" normalizeH="0" baseline="0" noProof="0" dirty="0">
              <a:ln>
                <a:noFill/>
              </a:ln>
              <a:solidFill>
                <a:srgbClr val="00A4B6"/>
              </a:solidFill>
              <a:effectLst/>
              <a:uLnTx/>
              <a:uFillTx/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04B1AD-93FD-93E9-3198-1D2FB828C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368502" y="1303901"/>
            <a:ext cx="11454995" cy="2882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with default setting by the 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 function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known as 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unformatted data.</a:t>
            </a:r>
            <a:endParaRPr lang="en-US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basic form of 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transfers the internal binary representation of the data directly between 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and the file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statement it asks for a number while executing. If the user enters a decimal number, the entered number is displayed using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statement. There is no need to apply any external setting, by default the I/O function represents the number in decimal format.</a:t>
            </a:r>
          </a:p>
        </p:txBody>
      </p:sp>
    </p:spTree>
    <p:extLst>
      <p:ext uri="{BB962C8B-B14F-4D97-AF65-F5344CB8AC3E}">
        <p14:creationId xmlns:p14="http://schemas.microsoft.com/office/powerpoint/2010/main" val="354302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2163267-390D-8E26-AF36-49746C9D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90827AF8-6558-F5B6-E8FC-FC440996AF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7EEB7836-5CDA-3764-A558-584C6C48EF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15" y="-115668"/>
            <a:ext cx="122018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C3B4C49B-BF59-F008-BEE3-C70C3F861405}"/>
              </a:ext>
            </a:extLst>
          </p:cNvPr>
          <p:cNvSpPr txBox="1"/>
          <p:nvPr/>
        </p:nvSpPr>
        <p:spPr>
          <a:xfrm>
            <a:off x="11315" y="198172"/>
            <a:ext cx="9713967" cy="69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35"/>
              </a:spcBef>
            </a:pPr>
            <a:r>
              <a:rPr lang="en-US" sz="2800" spc="-75" dirty="0">
                <a:solidFill>
                  <a:srgbClr val="00B0F0"/>
                </a:solidFill>
                <a:latin typeface="Corbel"/>
                <a:cs typeface="Corbel"/>
              </a:rPr>
              <a:t>Unformatted </a:t>
            </a:r>
            <a:r>
              <a:rPr lang="en-US" sz="2800" spc="-25" dirty="0">
                <a:solidFill>
                  <a:srgbClr val="00B0F0"/>
                </a:solidFill>
                <a:latin typeface="Corbel"/>
                <a:cs typeface="Corbel"/>
              </a:rPr>
              <a:t>I/O </a:t>
            </a:r>
            <a:r>
              <a:rPr lang="en-US" sz="2800" spc="-10" dirty="0">
                <a:solidFill>
                  <a:srgbClr val="00B0F0"/>
                </a:solidFill>
                <a:latin typeface="Corbel"/>
                <a:cs typeface="Corbel"/>
              </a:rPr>
              <a:t>Operations: Overloaded </a:t>
            </a:r>
            <a:r>
              <a:rPr lang="en-US" sz="2800" spc="-70" dirty="0">
                <a:solidFill>
                  <a:srgbClr val="00B0F0"/>
                </a:solidFill>
                <a:latin typeface="Corbel"/>
                <a:cs typeface="Corbel"/>
              </a:rPr>
              <a:t>Operator</a:t>
            </a:r>
            <a:r>
              <a:rPr lang="en-US" sz="2800" spc="-60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US" sz="2800" spc="-25" dirty="0">
                <a:solidFill>
                  <a:srgbClr val="00B0F0"/>
                </a:solidFill>
                <a:latin typeface="Corbel"/>
                <a:cs typeface="Corbel"/>
              </a:rPr>
              <a:t>&gt;&gt; </a:t>
            </a:r>
            <a:r>
              <a:rPr lang="en-US" sz="2800" spc="-45" dirty="0">
                <a:solidFill>
                  <a:srgbClr val="00B0F0"/>
                </a:solidFill>
                <a:latin typeface="Corbel"/>
                <a:cs typeface="Corbel"/>
              </a:rPr>
              <a:t>and</a:t>
            </a:r>
            <a:r>
              <a:rPr lang="en-US" sz="2800" spc="-130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US" sz="2800" spc="-25" dirty="0">
                <a:solidFill>
                  <a:srgbClr val="00B0F0"/>
                </a:solidFill>
                <a:latin typeface="Corbel"/>
                <a:cs typeface="Corbel"/>
              </a:rPr>
              <a:t>&lt;&lt;</a:t>
            </a:r>
            <a:endParaRPr lang="en-US" sz="2800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F19BC0-BC1C-16E2-8D05-F7F7E732E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F1A93BBC-0509-EE67-A762-F63FEEE803B3}"/>
              </a:ext>
            </a:extLst>
          </p:cNvPr>
          <p:cNvSpPr txBox="1"/>
          <p:nvPr/>
        </p:nvSpPr>
        <p:spPr>
          <a:xfrm>
            <a:off x="412376" y="1057137"/>
            <a:ext cx="11452522" cy="3777701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95580" marR="48260" indent="-182880" algn="just">
              <a:lnSpc>
                <a:spcPct val="80000"/>
              </a:lnSpc>
              <a:spcBef>
                <a:spcPts val="57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sz="20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</a:t>
            </a:r>
            <a:r>
              <a:rPr lang="en-US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istream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pPr marL="195580" marR="48260" indent="-182880" algn="just">
              <a:lnSpc>
                <a:spcPct val="80000"/>
              </a:lnSpc>
              <a:spcBef>
                <a:spcPts val="570"/>
              </a:spcBef>
            </a:pPr>
            <a:r>
              <a:rPr lang="en-US" sz="2000" b="1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s-E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lang="es-ES" sz="2000" b="1" kern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000" b="1" kern="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s-ES" sz="2000" b="1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&gt;&gt;x&gt;&gt;y&gt;&gt;z;</a:t>
            </a:r>
          </a:p>
          <a:p>
            <a:pPr marL="195580" marR="48260" indent="-182880" algn="just">
              <a:lnSpc>
                <a:spcPct val="80000"/>
              </a:lnSpc>
              <a:spcBef>
                <a:spcPts val="570"/>
              </a:spcBef>
            </a:pPr>
            <a:endParaRPr lang="es-E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8260" indent="-342900" algn="just">
              <a:lnSpc>
                <a:spcPct val="80000"/>
              </a:lnSpc>
              <a:spcBef>
                <a:spcPts val="57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sz="2000" u="sng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u="sng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sz="2000" u="sng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indicated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location.</a:t>
            </a:r>
            <a:r>
              <a:rPr sz="20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terminated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sz="20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code;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  <a:spcBef>
                <a:spcPts val="725"/>
              </a:spcBef>
            </a:pP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cin&gt;&gt;code;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  <a:spcBef>
                <a:spcPts val="720"/>
              </a:spcBef>
            </a:pP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425D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580" marR="5080" indent="-182880" algn="just">
              <a:lnSpc>
                <a:spcPct val="80100"/>
              </a:lnSpc>
              <a:spcBef>
                <a:spcPts val="12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sz="20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sz="20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r>
              <a:rPr sz="20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upto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425</a:t>
            </a:r>
            <a:r>
              <a:rPr sz="20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‘D’</a:t>
            </a:r>
            <a:r>
              <a:rPr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remains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u="sng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sz="2000" u="sng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sz="2000" u="sng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419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E210994-4EFF-FBAF-1D46-E788759F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5E88E8F4-75B2-357A-6118-25EBF7C761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95024168-EEE5-D4CA-35D4-20F8EF79901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206" y="-110322"/>
            <a:ext cx="1220189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8B05BDB-10E1-9068-3684-4BDF7DCE2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1FA8A2C-AE94-0BBC-9773-1DE844035FDC}"/>
              </a:ext>
            </a:extLst>
          </p:cNvPr>
          <p:cNvSpPr txBox="1"/>
          <p:nvPr/>
        </p:nvSpPr>
        <p:spPr>
          <a:xfrm>
            <a:off x="510988" y="1147633"/>
            <a:ext cx="11134165" cy="523348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55600" marR="565785" indent="-342900" algn="just">
              <a:lnSpc>
                <a:spcPct val="80000"/>
              </a:lnSpc>
              <a:spcBef>
                <a:spcPts val="570"/>
              </a:spcBef>
              <a:buFont typeface="Arial" panose="020B0604020202020204" pitchFamily="34" charset="0"/>
              <a:buChar char="•"/>
            </a:pPr>
            <a:r>
              <a:rPr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getline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sz="20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sz="2000" b="1" u="sng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sz="20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that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ends with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newline character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Reads an entire line from an input stream (like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a file). </a:t>
            </a:r>
          </a:p>
          <a:p>
            <a:pPr marL="927100" algn="just">
              <a:lnSpc>
                <a:spcPct val="100000"/>
              </a:lnSpc>
              <a:spcBef>
                <a:spcPts val="725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Syntex: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cin.getline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(line,</a:t>
            </a:r>
            <a:r>
              <a:rPr sz="20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size);</a:t>
            </a:r>
            <a:endParaRPr lang="en-US" sz="2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  <a:spcBef>
                <a:spcPts val="72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ts val="216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line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‘\n’</a:t>
            </a:r>
            <a:r>
              <a:rPr lang="en-IN" sz="20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encountered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size-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(whichever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first).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5600" indent="-342900" algn="just">
              <a:lnSpc>
                <a:spcPts val="216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newline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IN" sz="2000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IN" sz="20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IN" sz="2000" u="sng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saved.</a:t>
            </a:r>
            <a:r>
              <a:rPr lang="en-I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character.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700" algn="just">
              <a:lnSpc>
                <a:spcPts val="2160"/>
              </a:lnSpc>
              <a:spcBef>
                <a:spcPts val="72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ts val="2160"/>
              </a:lnSpc>
              <a:spcBef>
                <a:spcPts val="720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sz="20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</a:t>
            </a:r>
            <a:r>
              <a:rPr sz="20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Writes a specified number of characters to an output stream (like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a file). </a:t>
            </a:r>
          </a:p>
          <a:p>
            <a:pPr marL="927100" algn="just">
              <a:lnSpc>
                <a:spcPct val="100000"/>
              </a:lnSpc>
              <a:spcBef>
                <a:spcPts val="725"/>
              </a:spcBef>
            </a:pP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Syntex: </a:t>
            </a:r>
            <a:r>
              <a:rPr sz="20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cout.write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(line,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  <a:spcBef>
                <a:spcPts val="72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ts val="216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IN"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2000" u="sng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u="sng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0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000" u="sng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u="sng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r>
              <a:rPr sz="2000" u="sng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ts val="216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sz="2000" b="1"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0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line,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20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0A21118-5E38-BEDF-BB77-CAB8E5A19424}"/>
              </a:ext>
            </a:extLst>
          </p:cNvPr>
          <p:cNvSpPr txBox="1"/>
          <p:nvPr/>
        </p:nvSpPr>
        <p:spPr>
          <a:xfrm>
            <a:off x="318642" y="178846"/>
            <a:ext cx="5885401" cy="539828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070" spc="-65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getline()</a:t>
            </a:r>
            <a:r>
              <a:rPr sz="3070" spc="-114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 </a:t>
            </a:r>
            <a:r>
              <a:rPr sz="3070" spc="-4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and </a:t>
            </a:r>
            <a:r>
              <a:rPr sz="3070" spc="-1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write() functions</a:t>
            </a:r>
            <a:endParaRPr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159057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5D583E6-8EEA-5204-0F8D-04C3DA4C1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046D0E99-FB28-E816-E8C2-F8ED4F7EE3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D6867E80-57D6-EDFB-BEED-706627C4E77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77130" y="-37306"/>
            <a:ext cx="122018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E1907C24-50B7-AF3F-EE19-8AEAF6EA8A37}"/>
              </a:ext>
            </a:extLst>
          </p:cNvPr>
          <p:cNvSpPr txBox="1"/>
          <p:nvPr/>
        </p:nvSpPr>
        <p:spPr>
          <a:xfrm>
            <a:off x="171935" y="118676"/>
            <a:ext cx="9600000" cy="73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35"/>
              </a:spcBef>
            </a:pPr>
            <a:r>
              <a:rPr lang="en-IN" sz="3070" spc="-75" dirty="0">
                <a:solidFill>
                  <a:srgbClr val="00B0F0"/>
                </a:solidFill>
                <a:latin typeface="Proxima Nova" panose="020B0604020202020204" charset="0"/>
              </a:rPr>
              <a:t>Formatted </a:t>
            </a:r>
            <a:r>
              <a:rPr lang="en-IN" sz="3070" spc="-20" dirty="0">
                <a:solidFill>
                  <a:srgbClr val="00B0F0"/>
                </a:solidFill>
                <a:latin typeface="Proxima Nova" panose="020B0604020202020204" charset="0"/>
              </a:rPr>
              <a:t>Data</a:t>
            </a:r>
            <a:endParaRPr lang="en-US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9CDCC8-E2BC-76E1-5D63-2A3387940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36F6504B-A8FB-D82F-6FC7-441DE4264D52}"/>
              </a:ext>
            </a:extLst>
          </p:cNvPr>
          <p:cNvSpPr txBox="1"/>
          <p:nvPr/>
        </p:nvSpPr>
        <p:spPr>
          <a:xfrm>
            <a:off x="614854" y="1765738"/>
            <a:ext cx="10859969" cy="175496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95580" marR="5080" indent="-182880">
              <a:lnSpc>
                <a:spcPts val="2160"/>
              </a:lnSpc>
              <a:spcBef>
                <a:spcPts val="36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20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be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</a:t>
            </a:r>
            <a:r>
              <a:rPr sz="2000" b="1" spc="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930"/>
              </a:spcBef>
              <a:buFont typeface="+mj-lt"/>
              <a:buAutoNum type="arabicPeriod"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930"/>
              </a:spcBef>
              <a:buFont typeface="+mj-lt"/>
              <a:buAutoNum type="arabicPeriod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and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Font typeface="+mj-lt"/>
              <a:buAutoNum type="arabicPeriod"/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Manipulators.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Font typeface="+mj-lt"/>
              <a:buAutoNum type="arabicPeriod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40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8898F3B-5D34-9BDE-21B0-0997D580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D2F4F51A-457B-07C5-C66E-FD83ABFF21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3EB02B84-5452-D65B-A89C-83CBE9DA969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206" y="-56534"/>
            <a:ext cx="122018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BB7266D8-9184-0D04-EFA7-AD6B7A9ACD1D}"/>
              </a:ext>
            </a:extLst>
          </p:cNvPr>
          <p:cNvSpPr txBox="1"/>
          <p:nvPr/>
        </p:nvSpPr>
        <p:spPr>
          <a:xfrm>
            <a:off x="171935" y="118676"/>
            <a:ext cx="9600000" cy="73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35"/>
              </a:spcBef>
            </a:pPr>
            <a:r>
              <a:rPr lang="en-IN" sz="3070" spc="-10" dirty="0">
                <a:solidFill>
                  <a:srgbClr val="00B0F0"/>
                </a:solidFill>
                <a:latin typeface="Proxima Nova" panose="020B0604020202020204" charset="0"/>
              </a:rPr>
              <a:t>I. Formatted </a:t>
            </a:r>
            <a:r>
              <a:rPr lang="en-IN" sz="3070" spc="-75" dirty="0">
                <a:solidFill>
                  <a:srgbClr val="00B0F0"/>
                </a:solidFill>
                <a:latin typeface="Proxima Nova" panose="020B0604020202020204" charset="0"/>
              </a:rPr>
              <a:t>Console</a:t>
            </a:r>
            <a:r>
              <a:rPr lang="en-IN" sz="3070" spc="-65" dirty="0">
                <a:solidFill>
                  <a:srgbClr val="00B0F0"/>
                </a:solidFill>
                <a:latin typeface="Proxima Nova" panose="020B0604020202020204" charset="0"/>
              </a:rPr>
              <a:t> </a:t>
            </a:r>
            <a:r>
              <a:rPr lang="en-IN" sz="3070" spc="-35" dirty="0">
                <a:solidFill>
                  <a:srgbClr val="00B0F0"/>
                </a:solidFill>
                <a:latin typeface="Proxima Nova" panose="020B0604020202020204" charset="0"/>
              </a:rPr>
              <a:t>I/O </a:t>
            </a:r>
            <a:r>
              <a:rPr lang="en-IN" sz="3070" spc="-10" dirty="0">
                <a:solidFill>
                  <a:srgbClr val="00B0F0"/>
                </a:solidFill>
                <a:latin typeface="Proxima Nova" panose="020B0604020202020204" charset="0"/>
              </a:rPr>
              <a:t>operations</a:t>
            </a:r>
            <a:endParaRPr lang="en-US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B421D9-088F-71F4-B8A2-60646F1C1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4972763C-036F-BDE1-3B59-577A1302F62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96720" y="3444263"/>
            <a:ext cx="8877674" cy="2560297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A943F0FA-6B67-8DAD-50D6-EC7182E1BA1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7676" y="1047871"/>
            <a:ext cx="8966718" cy="220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85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FDEB6DE-0A67-7404-3A49-286DF73DD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301557BA-2CA8-87A0-C389-1E102110C54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ECFE3338-E4D7-6C22-1857-A35DC686350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14" y="-60320"/>
            <a:ext cx="12180685" cy="691195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A9585EDA-A70C-4060-AF77-94278937F499}"/>
              </a:ext>
            </a:extLst>
          </p:cNvPr>
          <p:cNvSpPr txBox="1"/>
          <p:nvPr/>
        </p:nvSpPr>
        <p:spPr>
          <a:xfrm>
            <a:off x="171935" y="11867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IN" sz="3070" spc="-45" dirty="0" err="1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ios</a:t>
            </a:r>
            <a:r>
              <a:rPr lang="en-IN" sz="3070" spc="-13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 </a:t>
            </a:r>
            <a:r>
              <a:rPr lang="en-IN" sz="3070" spc="-7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Format </a:t>
            </a:r>
            <a:r>
              <a:rPr lang="en-IN" sz="3070" spc="-1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Functions</a:t>
            </a:r>
            <a:endParaRPr lang="en-IN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D4B2A9-C2CC-6EE7-9F75-230D55EF9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4" name="object 4">
            <a:extLst>
              <a:ext uri="{FF2B5EF4-FFF2-40B4-BE49-F238E27FC236}">
                <a16:creationId xmlns:a16="http://schemas.microsoft.com/office/drawing/2014/main" id="{082439D7-4E91-2394-1FC5-94E81450AD46}"/>
              </a:ext>
            </a:extLst>
          </p:cNvPr>
          <p:cNvSpPr txBox="1"/>
          <p:nvPr/>
        </p:nvSpPr>
        <p:spPr>
          <a:xfrm>
            <a:off x="537882" y="1054280"/>
            <a:ext cx="10981765" cy="175176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spcBef>
                <a:spcPts val="1060"/>
              </a:spcBef>
            </a:pPr>
            <a:r>
              <a:rPr lang="en-IN" sz="2000" b="1" kern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Width()</a:t>
            </a:r>
            <a:endParaRPr lang="en-I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cout.width(w);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ts val="2160"/>
              </a:lnSpc>
              <a:spcBef>
                <a:spcPts val="1235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width()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sz="2000" b="1" u="sng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u="sng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b="1" u="sng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to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object 9">
            <a:extLst>
              <a:ext uri="{FF2B5EF4-FFF2-40B4-BE49-F238E27FC236}">
                <a16:creationId xmlns:a16="http://schemas.microsoft.com/office/drawing/2014/main" id="{E965A1FE-26D7-2B90-5E70-F96FC89B4E3E}"/>
              </a:ext>
            </a:extLst>
          </p:cNvPr>
          <p:cNvSpPr txBox="1"/>
          <p:nvPr/>
        </p:nvSpPr>
        <p:spPr>
          <a:xfrm>
            <a:off x="2519082" y="3144712"/>
            <a:ext cx="313764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cout.width(5);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>
              <a:lnSpc>
                <a:spcPct val="100000"/>
              </a:lnSpc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cout&lt;&lt;543&lt;&lt;12&lt;&lt;endl;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object 14">
            <a:extLst>
              <a:ext uri="{FF2B5EF4-FFF2-40B4-BE49-F238E27FC236}">
                <a16:creationId xmlns:a16="http://schemas.microsoft.com/office/drawing/2014/main" id="{6E255E4C-3865-D9E8-7889-36B4D7173596}"/>
              </a:ext>
            </a:extLst>
          </p:cNvPr>
          <p:cNvSpPr txBox="1"/>
          <p:nvPr/>
        </p:nvSpPr>
        <p:spPr>
          <a:xfrm>
            <a:off x="2519082" y="4204447"/>
            <a:ext cx="321898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10153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cout.width(5); cout&lt;&lt;543; cout.width(5); cout&lt;&lt;12;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" name="object 15">
            <a:extLst>
              <a:ext uri="{FF2B5EF4-FFF2-40B4-BE49-F238E27FC236}">
                <a16:creationId xmlns:a16="http://schemas.microsoft.com/office/drawing/2014/main" id="{D3FB5DD0-0B95-7CBF-B147-5062684ADCB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90501" y="4519495"/>
            <a:ext cx="3218981" cy="490723"/>
          </a:xfrm>
          <a:prstGeom prst="rect">
            <a:avLst/>
          </a:prstGeom>
        </p:spPr>
      </p:pic>
      <p:pic>
        <p:nvPicPr>
          <p:cNvPr id="106" name="object 16">
            <a:extLst>
              <a:ext uri="{FF2B5EF4-FFF2-40B4-BE49-F238E27FC236}">
                <a16:creationId xmlns:a16="http://schemas.microsoft.com/office/drawing/2014/main" id="{93D28120-597D-D518-BA78-CA30E320A45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90501" y="3280021"/>
            <a:ext cx="2681434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1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F90F525-C89B-C5CB-EBAE-91C8B706F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2EE68976-2539-6BC7-A16B-7A48191718F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326741C1-D10B-2769-0FC1-9A514E08BF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85" y="1019611"/>
            <a:ext cx="12180685" cy="581914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1E6733A-4E1F-6FAC-D4B8-75A4C81C4ABB}"/>
              </a:ext>
            </a:extLst>
          </p:cNvPr>
          <p:cNvSpPr txBox="1"/>
          <p:nvPr/>
        </p:nvSpPr>
        <p:spPr>
          <a:xfrm>
            <a:off x="171935" y="11867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IN" sz="3070" spc="-45" dirty="0" err="1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ios</a:t>
            </a:r>
            <a:r>
              <a:rPr lang="en-IN" sz="3070" spc="-13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 </a:t>
            </a:r>
            <a:r>
              <a:rPr lang="en-IN" sz="3070" spc="-7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Format </a:t>
            </a:r>
            <a:r>
              <a:rPr lang="en-IN" sz="3070" spc="-1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Functions</a:t>
            </a:r>
            <a:endParaRPr lang="en-IN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64C3CE-97B6-F1C8-817E-01988E8AC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6FE0FBD0-F2A1-F0ED-CB48-57C67D0BCD45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321062A-A746-7BA1-274D-674971BB8EE2}"/>
              </a:ext>
            </a:extLst>
          </p:cNvPr>
          <p:cNvSpPr txBox="1"/>
          <p:nvPr/>
        </p:nvSpPr>
        <p:spPr>
          <a:xfrm>
            <a:off x="1090098" y="3068734"/>
            <a:ext cx="3497667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18224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cout.precision(3); </a:t>
            </a:r>
            <a:r>
              <a:rPr lang="en-US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&lt;&lt;1.14159&lt;&lt;</a:t>
            </a:r>
            <a:r>
              <a:rPr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marR="182245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&lt;&lt;sqrt(12)&lt;&lt;</a:t>
            </a:r>
            <a:r>
              <a:rPr lang="en-US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cout&lt;&lt;2.50032&lt;&lt;endl;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B797E7A2-8546-DB1A-3E51-BDB0431AE88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23548" y="3294375"/>
            <a:ext cx="4679040" cy="792962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80179C06-0017-0EF4-6D2D-9EDC2C811816}"/>
              </a:ext>
            </a:extLst>
          </p:cNvPr>
          <p:cNvSpPr txBox="1">
            <a:spLocks/>
          </p:cNvSpPr>
          <p:nvPr/>
        </p:nvSpPr>
        <p:spPr>
          <a:xfrm>
            <a:off x="344622" y="4210784"/>
            <a:ext cx="3675586" cy="97398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65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l">
              <a:spcBef>
                <a:spcPts val="95"/>
              </a:spcBef>
            </a:pPr>
            <a:r>
              <a:rPr lang="en-IN" sz="2000" b="1" kern="0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Fill()</a:t>
            </a:r>
          </a:p>
          <a:p>
            <a:pPr marL="12700" algn="l">
              <a:spcBef>
                <a:spcPts val="95"/>
              </a:spcBef>
            </a:pPr>
            <a:r>
              <a:rPr lang="en-US" sz="2000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cout.fill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(d);</a:t>
            </a:r>
          </a:p>
          <a:p>
            <a:pPr marL="12700" algn="l">
              <a:spcBef>
                <a:spcPts val="95"/>
              </a:spcBef>
            </a:pPr>
            <a:endParaRPr lang="en-IN" sz="20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57329597-B781-ABC7-5E74-05E3623495F9}"/>
              </a:ext>
            </a:extLst>
          </p:cNvPr>
          <p:cNvSpPr txBox="1"/>
          <p:nvPr/>
        </p:nvSpPr>
        <p:spPr>
          <a:xfrm>
            <a:off x="961697" y="5184770"/>
            <a:ext cx="2916619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502284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cout.fill(‘*’); </a:t>
            </a:r>
            <a:r>
              <a:rPr lang="en-US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out.width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(10); </a:t>
            </a:r>
            <a:r>
              <a:rPr lang="en-US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&lt;&lt;5250&lt;&lt;endl;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9">
            <a:extLst>
              <a:ext uri="{FF2B5EF4-FFF2-40B4-BE49-F238E27FC236}">
                <a16:creationId xmlns:a16="http://schemas.microsoft.com/office/drawing/2014/main" id="{FD367F74-C2BA-355E-7A74-C1B2E3208C2B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06256" y="5273593"/>
            <a:ext cx="3112794" cy="545483"/>
          </a:xfrm>
          <a:prstGeom prst="rect">
            <a:avLst/>
          </a:prstGeom>
        </p:spPr>
      </p:pic>
      <p:sp>
        <p:nvSpPr>
          <p:cNvPr id="18" name="Content Placeholder 2"/>
          <p:cNvSpPr txBox="1">
            <a:spLocks/>
          </p:cNvSpPr>
          <p:nvPr/>
        </p:nvSpPr>
        <p:spPr>
          <a:xfrm>
            <a:off x="171935" y="1001549"/>
            <a:ext cx="11231171" cy="200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Precision()</a:t>
            </a:r>
          </a:p>
          <a:p>
            <a:pPr algn="just"/>
            <a:endParaRPr lang="en-US" sz="5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cout.precision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(d);</a:t>
            </a:r>
          </a:p>
          <a:p>
            <a:pPr algn="just"/>
            <a:endParaRPr lang="en-US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floating numbers are printed with six digits after the decimal point.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we can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specify the number of the digits to be displayed after the decimal point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printing the floating-point numbers.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can be done by using the precision() member function.</a:t>
            </a:r>
          </a:p>
          <a:p>
            <a:pPr algn="just"/>
            <a:endParaRPr lang="en-US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82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CF20899-C434-AB72-F136-951A0776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58A9178B-D361-9E1D-1294-7983352C292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54BCE1D0-21EE-6D74-67CE-9E4B813A0D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276" y="6366"/>
            <a:ext cx="122018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6C520D2-64D1-12BD-C03B-EFD7CB928D89}"/>
              </a:ext>
            </a:extLst>
          </p:cNvPr>
          <p:cNvSpPr txBox="1"/>
          <p:nvPr/>
        </p:nvSpPr>
        <p:spPr>
          <a:xfrm>
            <a:off x="171935" y="11867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IN" sz="3070" spc="-45" dirty="0" err="1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ios</a:t>
            </a:r>
            <a:r>
              <a:rPr lang="en-IN" sz="3070" spc="-13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 </a:t>
            </a:r>
            <a:r>
              <a:rPr lang="en-IN" sz="3070" spc="-7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Format </a:t>
            </a:r>
            <a:r>
              <a:rPr lang="en-IN" sz="3070" spc="-1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Functions</a:t>
            </a:r>
            <a:endParaRPr lang="en-IN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C6087D-424D-D198-3DFE-801296B13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51D775B4-DCDC-798E-31A2-1615E4C248F9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8E877416-8F1E-CD9B-4C9E-7746139F28B6}"/>
              </a:ext>
            </a:extLst>
          </p:cNvPr>
          <p:cNvSpPr txBox="1">
            <a:spLocks/>
          </p:cNvSpPr>
          <p:nvPr/>
        </p:nvSpPr>
        <p:spPr>
          <a:xfrm>
            <a:off x="327102" y="999708"/>
            <a:ext cx="1076029" cy="3956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3335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IN" sz="2400" b="1" kern="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400" b="1" kern="0" spc="-4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Setf</a:t>
            </a:r>
            <a:r>
              <a:rPr lang="en-IN" sz="2400" b="1" kern="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E889E89F-9A7B-302C-CE1F-DE58A479F5D3}"/>
              </a:ext>
            </a:extLst>
          </p:cNvPr>
          <p:cNvSpPr txBox="1">
            <a:spLocks/>
          </p:cNvSpPr>
          <p:nvPr/>
        </p:nvSpPr>
        <p:spPr>
          <a:xfrm>
            <a:off x="327103" y="1395328"/>
            <a:ext cx="11640780" cy="38868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40843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l">
              <a:spcBef>
                <a:spcPts val="1065"/>
              </a:spcBef>
            </a:pPr>
            <a:r>
              <a:rPr lang="en-IN" sz="2000" kern="0" spc="-10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function is used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specific formatting flags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output operations using </a:t>
            </a:r>
            <a:r>
              <a:rPr kumimoji="0" lang="en-US" altLang="en-US" sz="20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allows fine control over how numbers, alignment, and other output elements are displayed. </a:t>
            </a:r>
            <a:r>
              <a:rPr lang="en-IN" sz="2000" kern="0" spc="-10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12700" algn="l">
              <a:lnSpc>
                <a:spcPct val="100000"/>
              </a:lnSpc>
              <a:spcBef>
                <a:spcPts val="1065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2000" b="1" spc="-6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cout.setf</a:t>
            </a: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(flag_arg1,bit_field_arg2);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arg1: A formatting </a:t>
            </a:r>
            <a:r>
              <a:rPr kumimoji="0" lang="en-US" altLang="en-US" sz="2000" b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 from the </a:t>
            </a:r>
            <a:r>
              <a:rPr kumimoji="0" lang="en-US" altLang="en-US" sz="2000" b="0" u="sng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kumimoji="0" lang="en-US" altLang="en-US" sz="2000" b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specifies the required formatting.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arg2: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bit-field constant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defines the category of arg1.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000" b="1" kern="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580" marR="5080" indent="-182880" algn="l">
              <a:lnSpc>
                <a:spcPts val="2160"/>
              </a:lnSpc>
              <a:spcBef>
                <a:spcPts val="1200"/>
              </a:spcBef>
            </a:pPr>
            <a:r>
              <a:rPr lang="en-IN" sz="2000" b="1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95580" marR="5080" indent="-182880" algn="l">
              <a:lnSpc>
                <a:spcPts val="2160"/>
              </a:lnSpc>
              <a:spcBef>
                <a:spcPts val="1200"/>
              </a:spcBef>
            </a:pPr>
            <a:r>
              <a:rPr lang="en-IN" sz="2000" kern="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cout.setf</a:t>
            </a:r>
            <a:r>
              <a:rPr lang="en-IN" sz="20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kern="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IN" sz="20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::left,</a:t>
            </a:r>
            <a:r>
              <a:rPr lang="en-IN" sz="2000" kern="0" spc="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kern="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IN" sz="20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IN" sz="2000" kern="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adjustfield</a:t>
            </a:r>
            <a:r>
              <a:rPr lang="en-IN" sz="20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195580" marR="5080" indent="-182880" algn="l">
              <a:lnSpc>
                <a:spcPts val="2160"/>
              </a:lnSpc>
              <a:spcBef>
                <a:spcPts val="1200"/>
              </a:spcBef>
            </a:pPr>
            <a:r>
              <a:rPr lang="en-IN" sz="2000" kern="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cout.setf</a:t>
            </a:r>
            <a:r>
              <a:rPr lang="en-IN" sz="20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kern="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IN" sz="20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::scientific,</a:t>
            </a:r>
            <a:r>
              <a:rPr lang="en-IN" sz="2000" kern="0" spc="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kern="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IN" sz="20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IN" sz="2000" kern="0" spc="-1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floatfield</a:t>
            </a:r>
            <a:r>
              <a:rPr lang="en-IN" sz="20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42789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E36883E-7483-8D72-28C8-C2E294B08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E2633149-853A-DB3C-148A-A5DEC6CEFA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12E51B09-8CCE-19E7-96E8-1DB36BA565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206" y="8266"/>
            <a:ext cx="122018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355D74E9-02B6-D41A-B803-9E1F7063258F}"/>
              </a:ext>
            </a:extLst>
          </p:cNvPr>
          <p:cNvSpPr txBox="1"/>
          <p:nvPr/>
        </p:nvSpPr>
        <p:spPr>
          <a:xfrm>
            <a:off x="171935" y="11867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IN" sz="3070" spc="-45" dirty="0" err="1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ios</a:t>
            </a:r>
            <a:r>
              <a:rPr lang="en-IN" sz="3070" spc="-13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 </a:t>
            </a:r>
            <a:r>
              <a:rPr lang="en-IN" sz="3070" spc="-7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Format </a:t>
            </a:r>
            <a:r>
              <a:rPr lang="en-IN" sz="3070" spc="-1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Functions</a:t>
            </a:r>
            <a:endParaRPr lang="en-IN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840961-E754-A0C3-4064-F7C22A55D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19" name="object 10">
            <a:extLst>
              <a:ext uri="{FF2B5EF4-FFF2-40B4-BE49-F238E27FC236}">
                <a16:creationId xmlns:a16="http://schemas.microsoft.com/office/drawing/2014/main" id="{DEBD2BF2-F802-3946-6C78-E9F1D9578498}"/>
              </a:ext>
            </a:extLst>
          </p:cNvPr>
          <p:cNvSpPr txBox="1"/>
          <p:nvPr/>
        </p:nvSpPr>
        <p:spPr>
          <a:xfrm>
            <a:off x="606292" y="1686911"/>
            <a:ext cx="4801279" cy="2898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cout.setf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::hex, </a:t>
            </a:r>
            <a:r>
              <a:rPr lang="en-IN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IN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basefield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255 &lt;&lt; </a:t>
            </a:r>
            <a:r>
              <a:rPr lang="en-IN"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endParaRPr lang="en-IN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lang="en-IN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3A9D8840-3848-68EB-8B6B-2CBED119840F}"/>
              </a:ext>
            </a:extLst>
          </p:cNvPr>
          <p:cNvSpPr txBox="1">
            <a:spLocks/>
          </p:cNvSpPr>
          <p:nvPr/>
        </p:nvSpPr>
        <p:spPr>
          <a:xfrm>
            <a:off x="606292" y="1104613"/>
            <a:ext cx="1254039" cy="3956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3335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IN" sz="2400" b="1" kern="0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400" b="1" kern="0" spc="-1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Setf</a:t>
            </a:r>
            <a:r>
              <a:rPr lang="en-IN" sz="2400" b="1" kern="0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n-I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AF5B4423-7CA6-4234-FA45-3DF65AA5CDD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62532" y="1302423"/>
            <a:ext cx="7123176" cy="229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37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3E49E85-14B1-87D4-4C62-783437588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80B19DCF-B646-15C8-9E46-D74F52577B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DE9B6885-3B4F-CC64-61A1-932C959DC190}"/>
              </a:ext>
            </a:extLst>
          </p:cNvPr>
          <p:cNvSpPr txBox="1"/>
          <p:nvPr/>
        </p:nvSpPr>
        <p:spPr>
          <a:xfrm>
            <a:off x="171935" y="11867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IN" sz="3070" spc="-4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STREAM MANIPULATORS</a:t>
            </a:r>
            <a:endParaRPr lang="en-IN" sz="307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54944A-8FCE-B086-5966-F6915CEF7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7C11DCB1-0D74-7C2E-45E7-A50C3E480936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37555820-DC47-8874-0C57-11D21AA3E732}"/>
              </a:ext>
            </a:extLst>
          </p:cNvPr>
          <p:cNvSpPr txBox="1"/>
          <p:nvPr/>
        </p:nvSpPr>
        <p:spPr>
          <a:xfrm>
            <a:off x="242047" y="1098388"/>
            <a:ext cx="11467871" cy="1189427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334"/>
              </a:spcBef>
              <a:buFont typeface="Arial" panose="020B0604020202020204" pitchFamily="34" charset="0"/>
              <a:buChar char="•"/>
            </a:pP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kern="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en-US" sz="2000" kern="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000" kern="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kern="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iomanip.h</a:t>
            </a:r>
            <a:r>
              <a:rPr lang="en-US" sz="2000" b="1" i="1" kern="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sz="2000" kern="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kern="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2000" kern="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kern="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2000" kern="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en-US" sz="2000" kern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manipulators,</a:t>
            </a:r>
            <a:r>
              <a:rPr lang="en-US" sz="2000" b="1" i="1" kern="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2000" kern="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000" kern="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2000" kern="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manipulate,</a:t>
            </a:r>
            <a:r>
              <a:rPr lang="en-US" sz="2000" kern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kern="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000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formats.</a:t>
            </a:r>
            <a:endParaRPr 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334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manipulators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counterparts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61D93233-5370-DBA2-F8E0-807838C53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623028"/>
              </p:ext>
            </p:extLst>
          </p:nvPr>
        </p:nvGraphicFramePr>
        <p:xfrm>
          <a:off x="1474237" y="2625378"/>
          <a:ext cx="8845421" cy="34803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8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8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02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Function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Manipulator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Meaning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1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Width()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Setw()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Set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fields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width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16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Precision()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Setprecision()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Set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floating</a:t>
                      </a:r>
                      <a:r>
                        <a:rPr sz="18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point</a:t>
                      </a:r>
                      <a:endParaRPr sz="1800">
                        <a:latin typeface="Corbel"/>
                        <a:cs typeface="Corbel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precision.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31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Fill()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Setfill()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Set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fill</a:t>
                      </a:r>
                      <a:r>
                        <a:rPr sz="18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character.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31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Setf()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Setiosflags()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Set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format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flag.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02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Unsetf()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Resetiosflags()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Clear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flag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specified.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16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orbel"/>
                          <a:cs typeface="Corbel"/>
                        </a:rPr>
                        <a:t>“\n”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orbel"/>
                          <a:cs typeface="Corbel"/>
                        </a:rPr>
                        <a:t>endl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Insert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new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line</a:t>
                      </a:r>
                      <a:r>
                        <a:rPr sz="18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and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flush</a:t>
                      </a:r>
                      <a:endParaRPr sz="1800" dirty="0">
                        <a:latin typeface="Corbel"/>
                        <a:cs typeface="Corbel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orbel"/>
                          <a:cs typeface="Corbel"/>
                        </a:rPr>
                        <a:t>stream.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98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833F38A-4048-E079-81D2-BD24DC8EF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5A3AF126-FA8D-B762-67DA-AF318A0BE2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65854B05-7A35-83C0-8370-CECBA861E0C7}"/>
              </a:ext>
            </a:extLst>
          </p:cNvPr>
          <p:cNvSpPr txBox="1"/>
          <p:nvPr/>
        </p:nvSpPr>
        <p:spPr>
          <a:xfrm>
            <a:off x="171935" y="11867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US" sz="3070" spc="-65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Difference</a:t>
            </a:r>
            <a:r>
              <a:rPr lang="en-US" sz="3070" spc="-95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 </a:t>
            </a:r>
            <a:r>
              <a:rPr lang="en-US" sz="3070" spc="-45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b/w </a:t>
            </a:r>
            <a:r>
              <a:rPr lang="en-US" sz="3070" spc="-1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manipulators </a:t>
            </a:r>
            <a:r>
              <a:rPr lang="en-US" sz="3070" spc="-45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and</a:t>
            </a:r>
            <a:r>
              <a:rPr lang="en-US" sz="3070" spc="-135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 </a:t>
            </a:r>
            <a:r>
              <a:rPr lang="en-US" sz="3070" spc="-25" dirty="0" err="1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ios</a:t>
            </a:r>
            <a:r>
              <a:rPr lang="en-US" sz="3070" spc="-25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 </a:t>
            </a:r>
            <a:r>
              <a:rPr lang="en-US" sz="3070" spc="-1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member function</a:t>
            </a:r>
            <a:endParaRPr lang="en-US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F3E567-A8F8-381D-6460-FF8537497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2EE2EA18-1644-09B6-69F6-1102F9FFC9CC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E194154-57DD-A254-5E5A-57989DA24657}"/>
              </a:ext>
            </a:extLst>
          </p:cNvPr>
          <p:cNvSpPr txBox="1"/>
          <p:nvPr/>
        </p:nvSpPr>
        <p:spPr>
          <a:xfrm>
            <a:off x="313765" y="1047914"/>
            <a:ext cx="11551133" cy="5218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indent="-3429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kern="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sz="2000" b="1" kern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  <a:r>
              <a:rPr lang="en-US" sz="2000" kern="0" spc="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000" kern="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1" kern="0" spc="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kern="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r>
              <a:rPr lang="en-US" sz="2000" b="1" kern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sz="2000" b="1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2000" kern="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000" kern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000" kern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2000" kern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later,</a:t>
            </a:r>
            <a:r>
              <a:rPr lang="en-US" sz="2000" kern="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kern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necessary.</a:t>
            </a:r>
            <a:r>
              <a:rPr lang="en-US" sz="2000" kern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2000" kern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kern="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manipulator</a:t>
            </a:r>
            <a:r>
              <a:rPr lang="en-US" sz="2000" b="1" kern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000" b="1" kern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000" b="1" kern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r>
              <a:rPr lang="en-US" sz="2000" b="1" kern="0" spc="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sz="2000" b="1" kern="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2000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case,</a:t>
            </a:r>
            <a:r>
              <a:rPr sz="20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states,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20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0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manipulators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key difference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member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return the previous format 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it to be saved and restored later.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Manipulators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setprecision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etc.)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 not return the previous 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you cannot restore them easily.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lang="en-IN" sz="20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  <a:spcBef>
                <a:spcPts val="965"/>
              </a:spcBef>
            </a:pPr>
            <a:r>
              <a:rPr sz="20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cout.precision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(2);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sz="2000" i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r>
              <a:rPr sz="2000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  <a:spcBef>
                <a:spcPts val="96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cout.precision(4);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sz="2000" i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20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280"/>
              </a:lnSpc>
              <a:spcBef>
                <a:spcPts val="965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z="20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executed,</a:t>
            </a:r>
            <a:r>
              <a:rPr sz="2000" spc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</a:t>
            </a:r>
            <a:r>
              <a:rPr sz="2000" spc="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(previous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state)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  <a:spcBef>
                <a:spcPts val="960"/>
              </a:spcBef>
              <a:tabLst>
                <a:tab pos="3481704" algn="l"/>
              </a:tabLst>
            </a:pP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cout.precision(p);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185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C53555C8-BF5B-2DBA-16F0-1E5A1F11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4B99D727-E110-3F36-D393-C89E1CDAE1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FDC0D90F-90C3-480B-53F5-D5C97BB78CFB}"/>
              </a:ext>
            </a:extLst>
          </p:cNvPr>
          <p:cNvSpPr txBox="1"/>
          <p:nvPr/>
        </p:nvSpPr>
        <p:spPr>
          <a:xfrm>
            <a:off x="171935" y="11867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US" sz="307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Designing our own manipulators</a:t>
            </a:r>
            <a:endParaRPr lang="en-IN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4C77F8-9A4C-BF9F-349C-C066381C9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677B759A-94F9-735F-A8C8-FC6D32AE238B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86871" y="1047913"/>
            <a:ext cx="11578027" cy="510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000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:</a:t>
            </a:r>
          </a:p>
          <a:p>
            <a:pPr marL="0" indent="0" algn="l"/>
            <a:r>
              <a:rPr lang="en-US" sz="20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manipulator_name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output){</a:t>
            </a:r>
          </a:p>
          <a:p>
            <a:pPr marL="502920" lvl="1" indent="0" algn="l"/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………….. code</a:t>
            </a:r>
          </a:p>
          <a:p>
            <a:pPr marL="502920" lvl="1" indent="0" algn="l"/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…………..</a:t>
            </a:r>
          </a:p>
          <a:p>
            <a:pPr marL="502920" lvl="1" indent="0" algn="l"/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output;</a:t>
            </a:r>
          </a:p>
          <a:p>
            <a:pPr marL="0" indent="0" algn="l"/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endParaRPr lang="en-US" sz="20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algn="l"/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a manipulator called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display “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inches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algn="l"/>
            <a:endParaRPr lang="en-US" sz="20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output){</a:t>
            </a:r>
          </a:p>
          <a:p>
            <a:pPr marL="502920" lvl="1" indent="0" algn="l"/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output&lt;&lt;“ inches”;</a:t>
            </a:r>
          </a:p>
          <a:p>
            <a:pPr marL="502920" lvl="1" indent="0" algn="l"/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output;</a:t>
            </a:r>
          </a:p>
          <a:p>
            <a:pPr marL="0" indent="0" algn="l"/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l"/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 10 &lt;&lt; unit;  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it will produce following output</a:t>
            </a:r>
          </a:p>
          <a:p>
            <a:pPr marL="0" indent="0" algn="l"/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inches</a:t>
            </a:r>
          </a:p>
        </p:txBody>
      </p:sp>
    </p:spTree>
    <p:extLst>
      <p:ext uri="{BB962C8B-B14F-4D97-AF65-F5344CB8AC3E}">
        <p14:creationId xmlns:p14="http://schemas.microsoft.com/office/powerpoint/2010/main" val="2378176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D5E71F8-7E88-87A2-AD87-C4DC4675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D04119C8-4649-D63D-0A08-EACA4FBFED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C627CA0B-868C-2C8C-D291-9BAC55634782}"/>
              </a:ext>
            </a:extLst>
          </p:cNvPr>
          <p:cNvSpPr txBox="1"/>
          <p:nvPr/>
        </p:nvSpPr>
        <p:spPr>
          <a:xfrm>
            <a:off x="171935" y="11867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US" sz="3070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Designing our own manipulators</a:t>
            </a:r>
            <a:endParaRPr lang="en-IN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F15BFA-2CE2-615E-8CE1-FE7775DE6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22E8DEF3-14F4-462C-1501-DE6B8104B5AA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A55960F-63BE-C7FB-B16B-778DDF11B8D5}"/>
              </a:ext>
            </a:extLst>
          </p:cNvPr>
          <p:cNvSpPr txBox="1"/>
          <p:nvPr/>
        </p:nvSpPr>
        <p:spPr>
          <a:xfrm>
            <a:off x="430306" y="1219200"/>
            <a:ext cx="10282518" cy="5233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default, precision(n) controls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significant digits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just the decimal places. 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b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output) {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output.width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(10);  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output.fill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('*');   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output.precision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(4);  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Set precision to 4 decimal places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output;  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show &lt;&lt; 12.34567 &lt;&lt;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515620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*****12.35</a:t>
            </a:r>
          </a:p>
        </p:txBody>
      </p:sp>
    </p:spTree>
    <p:extLst>
      <p:ext uri="{BB962C8B-B14F-4D97-AF65-F5344CB8AC3E}">
        <p14:creationId xmlns:p14="http://schemas.microsoft.com/office/powerpoint/2010/main" val="225936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C8E42A0-9FCF-7732-4382-BCDE2B5A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81F4D531-C095-A2AA-134B-F0468EDE3B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3AA83E7-74D5-A036-A92E-D21CF8C852F1}"/>
              </a:ext>
            </a:extLst>
          </p:cNvPr>
          <p:cNvSpPr txBox="1"/>
          <p:nvPr/>
        </p:nvSpPr>
        <p:spPr>
          <a:xfrm>
            <a:off x="171935" y="118676"/>
            <a:ext cx="96000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US" sz="3070" spc="-65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File</a:t>
            </a:r>
            <a:endParaRPr lang="en-US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590"/>
              </a:spcBef>
            </a:pPr>
            <a:endParaRPr lang="en-IN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26C983-03CA-C1E8-E0B5-C67959BAA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91EA5F62-4EE4-E2AA-0C52-086C616B0FF2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76518" y="1240666"/>
            <a:ext cx="11453329" cy="43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file is a </a:t>
            </a:r>
            <a:r>
              <a:rPr lang="en-US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related data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in a particular area on </a:t>
            </a:r>
            <a:r>
              <a:rPr lang="en-US" sz="2000" b="1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disk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data is stored in disk using the concept of file</a:t>
            </a:r>
          </a:p>
          <a:p>
            <a:pPr marL="114300" indent="0" algn="just">
              <a:lnSpc>
                <a:spcPct val="170000"/>
              </a:lnSpc>
            </a:pP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File?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Permanent storage of data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(all the message or value printed with help of any output statements like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never available for future use).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there is a 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data generated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output by a  program, storing that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in file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help in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handling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/analysis of the output as user can see the whole output at any time even after complete execution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101509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EF013E5-4E12-5B42-5168-FC7EA287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8D971975-55F2-C0C9-0E51-08B3744D18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9F77372D-3C0A-1B79-E092-61FD7EA02ABA}"/>
              </a:ext>
            </a:extLst>
          </p:cNvPr>
          <p:cNvSpPr txBox="1"/>
          <p:nvPr/>
        </p:nvSpPr>
        <p:spPr>
          <a:xfrm>
            <a:off x="171935" y="118676"/>
            <a:ext cx="96000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US" sz="3070" spc="-65" dirty="0">
                <a:solidFill>
                  <a:srgbClr val="00B0F0"/>
                </a:solidFill>
                <a:latin typeface="Proxima Nova" panose="020B0604020202020204" charset="0"/>
                <a:cs typeface="Corbel"/>
              </a:rPr>
              <a:t>File</a:t>
            </a:r>
            <a:endParaRPr lang="en-US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590"/>
              </a:spcBef>
            </a:pPr>
            <a:endParaRPr lang="en-IN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C93AF4-18CE-EFD2-1362-9351C4407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4D7BCAA1-6B4E-C17C-D9B7-20DD66E230E9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838B3FEA-1DA0-B440-08B0-A7752F19030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31799" y="1041505"/>
            <a:ext cx="8164178" cy="512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75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A45D106D-39CF-4ADF-162A-B663BA17A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62985A8F-68B0-F2A7-E72F-EE109A1B53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197A6A2-93BD-D941-E662-132936706324}"/>
              </a:ext>
            </a:extLst>
          </p:cNvPr>
          <p:cNvSpPr txBox="1"/>
          <p:nvPr/>
        </p:nvSpPr>
        <p:spPr>
          <a:xfrm>
            <a:off x="275939" y="37306"/>
            <a:ext cx="96000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US" sz="3070" spc="-50" dirty="0">
                <a:solidFill>
                  <a:srgbClr val="00B0F0"/>
                </a:solidFill>
                <a:latin typeface="Proxima Nova"/>
                <a:cs typeface="Corbel"/>
              </a:rPr>
              <a:t>File</a:t>
            </a:r>
            <a:r>
              <a:rPr lang="en-US" sz="3070" spc="-95" dirty="0">
                <a:solidFill>
                  <a:srgbClr val="00B0F0"/>
                </a:solidFill>
                <a:latin typeface="Proxima Nova"/>
                <a:cs typeface="Corbel"/>
              </a:rPr>
              <a:t> </a:t>
            </a:r>
            <a:r>
              <a:rPr lang="en-US" sz="3070" spc="-70" dirty="0">
                <a:solidFill>
                  <a:srgbClr val="00B0F0"/>
                </a:solidFill>
                <a:latin typeface="Proxima Nova"/>
                <a:cs typeface="Corbel"/>
              </a:rPr>
              <a:t>Input</a:t>
            </a:r>
            <a:r>
              <a:rPr lang="en-US" sz="3070" spc="-105" dirty="0">
                <a:solidFill>
                  <a:srgbClr val="00B0F0"/>
                </a:solidFill>
                <a:latin typeface="Proxima Nova"/>
                <a:cs typeface="Corbel"/>
              </a:rPr>
              <a:t> </a:t>
            </a:r>
            <a:r>
              <a:rPr lang="en-US" sz="3070" spc="-45" dirty="0">
                <a:solidFill>
                  <a:srgbClr val="00B0F0"/>
                </a:solidFill>
                <a:latin typeface="Proxima Nova"/>
                <a:cs typeface="Corbel"/>
              </a:rPr>
              <a:t>and </a:t>
            </a:r>
            <a:r>
              <a:rPr lang="en-US" sz="3070" spc="-10" dirty="0">
                <a:solidFill>
                  <a:srgbClr val="00B0F0"/>
                </a:solidFill>
                <a:latin typeface="Proxima Nova"/>
                <a:cs typeface="Corbel"/>
              </a:rPr>
              <a:t>Output Streams</a:t>
            </a:r>
            <a:endParaRPr lang="en-US" sz="3070" dirty="0">
              <a:solidFill>
                <a:srgbClr val="00B0F0"/>
              </a:solidFill>
              <a:latin typeface="Proxima Nova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590"/>
              </a:spcBef>
            </a:pPr>
            <a:endParaRPr lang="en-IN" sz="3070" dirty="0">
              <a:solidFill>
                <a:srgbClr val="00B0F0"/>
              </a:solidFill>
              <a:latin typeface="Proxima Nova" panose="020B0604020202020204" charset="0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647725-1D74-A9B3-46D2-AD1166C6D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76B123E4-1B08-5DA7-63E1-2D7F352A0AC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39619" y="2613258"/>
            <a:ext cx="7810738" cy="3367567"/>
          </a:xfrm>
          <a:prstGeom prst="rect">
            <a:avLst/>
          </a:prstGeom>
        </p:spPr>
      </p:pic>
      <p:sp>
        <p:nvSpPr>
          <p:cNvPr id="3" name="Content Placeholder 2"/>
          <p:cNvSpPr txBox="1">
            <a:spLocks/>
          </p:cNvSpPr>
          <p:nvPr/>
        </p:nvSpPr>
        <p:spPr>
          <a:xfrm>
            <a:off x="385482" y="1119352"/>
            <a:ext cx="11479416" cy="169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handles file operations which are very similar to the console 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Input Stream: 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reads data from disk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to the program.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output Stream: 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writes data to the disk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from the program.</a:t>
            </a:r>
          </a:p>
        </p:txBody>
      </p:sp>
    </p:spTree>
    <p:extLst>
      <p:ext uri="{BB962C8B-B14F-4D97-AF65-F5344CB8AC3E}">
        <p14:creationId xmlns:p14="http://schemas.microsoft.com/office/powerpoint/2010/main" val="1268462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0244651-4BAC-EB6B-3E57-536E802B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334F6926-A5CB-CB28-3792-0DF1FCD3F4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8BD8221-C69D-C044-9ECB-06E033903398}"/>
              </a:ext>
            </a:extLst>
          </p:cNvPr>
          <p:cNvSpPr txBox="1"/>
          <p:nvPr/>
        </p:nvSpPr>
        <p:spPr>
          <a:xfrm>
            <a:off x="275939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US" sz="3070" spc="-50" dirty="0">
                <a:solidFill>
                  <a:srgbClr val="00B0F0"/>
                </a:solidFill>
                <a:latin typeface="Proxima Nova" panose="020B0604020202020204"/>
              </a:rPr>
              <a:t>File</a:t>
            </a:r>
            <a:r>
              <a:rPr lang="en-US" sz="3070" spc="-114" dirty="0">
                <a:solidFill>
                  <a:srgbClr val="00B0F0"/>
                </a:solidFill>
                <a:latin typeface="Proxima Nova" panose="020B0604020202020204"/>
              </a:rPr>
              <a:t> </a:t>
            </a:r>
            <a:r>
              <a:rPr lang="en-US" sz="3070" spc="-10" dirty="0">
                <a:solidFill>
                  <a:srgbClr val="00B0F0"/>
                </a:solidFill>
                <a:latin typeface="Proxima Nova" panose="020B0604020202020204"/>
              </a:rPr>
              <a:t>stream </a:t>
            </a:r>
            <a:r>
              <a:rPr lang="en-US" sz="3070" spc="-60" dirty="0">
                <a:solidFill>
                  <a:srgbClr val="00B0F0"/>
                </a:solidFill>
                <a:latin typeface="Proxima Nova" panose="020B0604020202020204"/>
              </a:rPr>
              <a:t>classes</a:t>
            </a:r>
            <a:r>
              <a:rPr lang="en-US" sz="3070" spc="-120" dirty="0">
                <a:solidFill>
                  <a:srgbClr val="00B0F0"/>
                </a:solidFill>
                <a:latin typeface="Proxima Nova" panose="020B0604020202020204"/>
              </a:rPr>
              <a:t> </a:t>
            </a:r>
            <a:r>
              <a:rPr lang="en-US" sz="3070" spc="-50" dirty="0">
                <a:solidFill>
                  <a:srgbClr val="00B0F0"/>
                </a:solidFill>
                <a:latin typeface="Proxima Nova" panose="020B0604020202020204"/>
              </a:rPr>
              <a:t>for</a:t>
            </a:r>
            <a:r>
              <a:rPr lang="en-US" sz="3070" spc="-125" dirty="0">
                <a:solidFill>
                  <a:srgbClr val="00B0F0"/>
                </a:solidFill>
                <a:latin typeface="Proxima Nova" panose="020B0604020202020204"/>
              </a:rPr>
              <a:t> </a:t>
            </a:r>
            <a:r>
              <a:rPr lang="en-US" sz="3070" spc="-50" dirty="0">
                <a:solidFill>
                  <a:srgbClr val="00B0F0"/>
                </a:solidFill>
                <a:latin typeface="Proxima Nova" panose="020B0604020202020204"/>
              </a:rPr>
              <a:t>file </a:t>
            </a:r>
            <a:r>
              <a:rPr lang="en-US" sz="3070" spc="-10" dirty="0">
                <a:solidFill>
                  <a:srgbClr val="00B0F0"/>
                </a:solidFill>
                <a:latin typeface="Proxima Nova" panose="020B0604020202020204"/>
              </a:rPr>
              <a:t>operations</a:t>
            </a: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27A0B2-F4CF-A400-3C52-26987BE7F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448BBEC6-5F9A-F6D6-456E-F4C66F2F35DC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22CE513-6B12-3C95-1CFF-DA4F2B14276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6154" y="1037701"/>
            <a:ext cx="6845774" cy="530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63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6B59616-5310-14B9-CECF-C2EB8086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1FCB200E-FFC0-D9A5-FBA5-BABA0D8035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804" y="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A33FC3C6-AC50-E5C8-2B9C-55F0771228CA}"/>
              </a:ext>
            </a:extLst>
          </p:cNvPr>
          <p:cNvSpPr txBox="1"/>
          <p:nvPr/>
        </p:nvSpPr>
        <p:spPr>
          <a:xfrm>
            <a:off x="275939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US" sz="3070" spc="-50" dirty="0">
                <a:solidFill>
                  <a:srgbClr val="00B0F0"/>
                </a:solidFill>
                <a:latin typeface="Proxima Nova" panose="020B0604020202020204"/>
              </a:rPr>
              <a:t>File</a:t>
            </a:r>
            <a:r>
              <a:rPr lang="en-US" sz="3070" spc="-114" dirty="0">
                <a:solidFill>
                  <a:srgbClr val="00B0F0"/>
                </a:solidFill>
                <a:latin typeface="Proxima Nova" panose="020B0604020202020204"/>
              </a:rPr>
              <a:t> </a:t>
            </a:r>
            <a:r>
              <a:rPr lang="en-US" sz="3070" spc="-10" dirty="0">
                <a:solidFill>
                  <a:srgbClr val="00B0F0"/>
                </a:solidFill>
                <a:latin typeface="Proxima Nova" panose="020B0604020202020204"/>
              </a:rPr>
              <a:t>stream </a:t>
            </a:r>
            <a:r>
              <a:rPr lang="en-US" sz="3070" spc="-60" dirty="0">
                <a:solidFill>
                  <a:srgbClr val="00B0F0"/>
                </a:solidFill>
                <a:latin typeface="Proxima Nova" panose="020B0604020202020204"/>
              </a:rPr>
              <a:t>classes</a:t>
            </a:r>
            <a:r>
              <a:rPr lang="en-US" sz="3070" spc="-120" dirty="0">
                <a:solidFill>
                  <a:srgbClr val="00B0F0"/>
                </a:solidFill>
                <a:latin typeface="Proxima Nova" panose="020B0604020202020204"/>
              </a:rPr>
              <a:t> </a:t>
            </a: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02DC1D-1218-C92A-0A94-07D73BE37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FABD9EAC-9E7C-A9AF-C9FF-248AEC866CD3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66325BE-1D51-69F4-8F94-15B51D082D1C}"/>
              </a:ext>
            </a:extLst>
          </p:cNvPr>
          <p:cNvSpPr txBox="1"/>
          <p:nvPr/>
        </p:nvSpPr>
        <p:spPr>
          <a:xfrm>
            <a:off x="422094" y="2237780"/>
            <a:ext cx="10326781" cy="430246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960"/>
              </a:spcBef>
            </a:pPr>
            <a:endParaRPr sz="2000" dirty="0">
              <a:latin typeface="Corbel"/>
              <a:cs typeface="Corbel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2094" y="1103586"/>
            <a:ext cx="11045864" cy="488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filebuf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its purpose is to </a:t>
            </a:r>
            <a:r>
              <a:rPr lang="en-US" sz="2200" b="1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the file buffer to read and write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Contain a constant used in the open() of file stream classes. Also contain 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close() and open()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method.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fstreambase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operations common to the file stream. </a:t>
            </a:r>
            <a:r>
              <a:rPr lang="en-US" sz="2200" b="1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Serves as a base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2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fstream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ifstream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ofsteram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class. Contains open() and close() function.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ifstream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US" sz="2200" b="1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operations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Contains open() with default input mode. Inherits the functions 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get(), </a:t>
            </a:r>
            <a:r>
              <a:rPr lang="en-US" sz="22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getline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read(), </a:t>
            </a:r>
            <a:r>
              <a:rPr lang="en-US" sz="22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seekg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tellg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from </a:t>
            </a:r>
            <a:r>
              <a:rPr lang="en-US" sz="22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istream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ofstream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US" sz="2200" b="1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operations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Contains open() with default output mode Inherits 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put(), </a:t>
            </a:r>
            <a:r>
              <a:rPr lang="en-US" sz="22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seekp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tellp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write()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from </a:t>
            </a:r>
            <a:r>
              <a:rPr lang="en-US" sz="22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endParaRPr lang="en-US" sz="22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fstream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support for </a:t>
            </a:r>
            <a:r>
              <a:rPr lang="en-US" sz="2200" b="1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simultaneous input and output operations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open() with default input mode Inherits all the function from </a:t>
            </a:r>
            <a:r>
              <a:rPr lang="en-US" sz="22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istream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ostream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classes through iostream </a:t>
            </a:r>
          </a:p>
        </p:txBody>
      </p:sp>
    </p:spTree>
    <p:extLst>
      <p:ext uri="{BB962C8B-B14F-4D97-AF65-F5344CB8AC3E}">
        <p14:creationId xmlns:p14="http://schemas.microsoft.com/office/powerpoint/2010/main" val="634126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BF593B7-10B7-4F0B-56B9-49E0D7B6E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5935388F-5E35-8AC1-7753-6023E278FE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606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16828BD-74BD-414C-2646-1B71B5D2788B}"/>
              </a:ext>
            </a:extLst>
          </p:cNvPr>
          <p:cNvSpPr txBox="1"/>
          <p:nvPr/>
        </p:nvSpPr>
        <p:spPr>
          <a:xfrm>
            <a:off x="275939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US" sz="3070" spc="-50" dirty="0">
                <a:solidFill>
                  <a:srgbClr val="00B0F0"/>
                </a:solidFill>
                <a:latin typeface="Proxima Nova" panose="020B0604020202020204"/>
              </a:rPr>
              <a:t>File</a:t>
            </a:r>
            <a:r>
              <a:rPr lang="en-US" sz="3070" spc="-114" dirty="0">
                <a:solidFill>
                  <a:srgbClr val="00B0F0"/>
                </a:solidFill>
                <a:latin typeface="Proxima Nova" panose="020B0604020202020204"/>
              </a:rPr>
              <a:t> </a:t>
            </a:r>
            <a:r>
              <a:rPr lang="en-US" sz="3070" spc="-10" dirty="0">
                <a:solidFill>
                  <a:srgbClr val="00B0F0"/>
                </a:solidFill>
                <a:latin typeface="Proxima Nova" panose="020B0604020202020204"/>
              </a:rPr>
              <a:t>Handling</a:t>
            </a: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E65140-AD12-6381-BACC-28AD02F7D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9" name="object 9">
            <a:extLst>
              <a:ext uri="{FF2B5EF4-FFF2-40B4-BE49-F238E27FC236}">
                <a16:creationId xmlns:a16="http://schemas.microsoft.com/office/drawing/2014/main" id="{190D5E77-29CC-5717-B255-52301C23D04D}"/>
              </a:ext>
            </a:extLst>
          </p:cNvPr>
          <p:cNvSpPr txBox="1"/>
          <p:nvPr/>
        </p:nvSpPr>
        <p:spPr>
          <a:xfrm>
            <a:off x="724042" y="369085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cout.width(5);</a:t>
            </a:r>
            <a:endParaRPr sz="1800" dirty="0">
              <a:latin typeface="Corbel"/>
              <a:cs typeface="Corbel"/>
            </a:endParaRPr>
          </a:p>
          <a:p>
            <a:pPr marL="8572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cout&lt;&lt;543&lt;&lt;12&lt;&lt;endl;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75939" y="1166648"/>
            <a:ext cx="11588959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must 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create a file stream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lang="en-US" sz="22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it to the filename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stream can be defined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the classes </a:t>
            </a:r>
            <a:r>
              <a:rPr lang="en-US" sz="22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ifstream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ofstream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fstream</a:t>
            </a:r>
            <a:r>
              <a:rPr lang="en-US" sz="2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are contained in the header file </a:t>
            </a:r>
            <a:r>
              <a:rPr lang="en-US" sz="2200" b="1" i="1" u="sng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fstream</a:t>
            </a:r>
            <a:r>
              <a:rPr lang="en-US" sz="2200" i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to be used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depend on the purpose that whether we want 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read data  from the file or write data  to it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of opening file:</a:t>
            </a:r>
          </a:p>
          <a:p>
            <a:pPr marL="0" indent="0" algn="just">
              <a:lnSpc>
                <a:spcPct val="150000"/>
              </a:lnSpc>
            </a:pP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sz="22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function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class</a:t>
            </a:r>
          </a:p>
          <a:p>
            <a:pPr marL="0" indent="0" algn="just">
              <a:lnSpc>
                <a:spcPct val="150000"/>
              </a:lnSpc>
            </a:pP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Useful when we use </a:t>
            </a:r>
            <a:r>
              <a:rPr lang="en-US" sz="2200" b="1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one file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stream.</a:t>
            </a:r>
          </a:p>
          <a:p>
            <a:pPr marL="0" indent="0" algn="just">
              <a:lnSpc>
                <a:spcPct val="150000"/>
              </a:lnSpc>
            </a:pP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sz="22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 open()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class</a:t>
            </a:r>
          </a:p>
          <a:p>
            <a:pPr marL="0" indent="0" algn="just">
              <a:lnSpc>
                <a:spcPct val="150000"/>
              </a:lnSpc>
            </a:pP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Useful when we want to manage </a:t>
            </a:r>
            <a:r>
              <a:rPr lang="en-US" sz="2200" b="1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files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one stream.</a:t>
            </a:r>
          </a:p>
          <a:p>
            <a:pPr algn="just"/>
            <a:endParaRPr lang="en-US" sz="22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625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22AF1AB-5183-F989-4EAC-AE92BE8F1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CFF55C43-0A32-82A4-D0F5-38E77378D2EB}"/>
              </a:ext>
            </a:extLst>
          </p:cNvPr>
          <p:cNvSpPr txBox="1"/>
          <p:nvPr/>
        </p:nvSpPr>
        <p:spPr>
          <a:xfrm>
            <a:off x="295835" y="152400"/>
            <a:ext cx="10219764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lang="en-US" sz="3070" spc="-75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Opening</a:t>
            </a:r>
            <a:r>
              <a:rPr lang="en-US" sz="3070" spc="-50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 </a:t>
            </a:r>
            <a:r>
              <a:rPr lang="en-US" sz="3070" spc="-45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file </a:t>
            </a:r>
            <a:r>
              <a:rPr lang="en-US" sz="3070" spc="-10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using </a:t>
            </a:r>
            <a:r>
              <a:rPr lang="en-US" sz="3070" spc="-25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Constructor</a:t>
            </a:r>
            <a:endParaRPr lang="en-US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30053A3-974E-675A-FF6F-FAD9BE875B67}"/>
              </a:ext>
            </a:extLst>
          </p:cNvPr>
          <p:cNvSpPr txBox="1"/>
          <p:nvPr/>
        </p:nvSpPr>
        <p:spPr>
          <a:xfrm>
            <a:off x="412376" y="1344706"/>
            <a:ext cx="11295530" cy="5318123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is used to </a:t>
            </a:r>
            <a:r>
              <a:rPr lang="en-US" sz="22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initialized an object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it is being created. Here,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filename is used to initialize the file stream object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involves the following steps: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stream object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the stream using the appropriate class Like,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ofstream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create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stream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class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ifstream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the input stream.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file object with the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filename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ofstream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outfile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(“results”);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only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>
              <a:lnSpc>
                <a:spcPct val="10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ifstream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infile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(“data”);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4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marR="2461260">
              <a:lnSpc>
                <a:spcPct val="10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“Total”; </a:t>
            </a:r>
          </a:p>
          <a:p>
            <a:pPr marL="92075" marR="2461260">
              <a:lnSpc>
                <a:spcPct val="10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sum; </a:t>
            </a:r>
          </a:p>
          <a:p>
            <a:pPr marL="92075" marR="2461260">
              <a:lnSpc>
                <a:spcPct val="10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number; </a:t>
            </a:r>
          </a:p>
          <a:p>
            <a:pPr marL="92075" marR="2461260">
              <a:lnSpc>
                <a:spcPct val="10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55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9EAE872-F9BD-42C9-4E51-77B1BD5F7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BE5490A3-1D56-F962-E4AF-C3E9000269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3280" y="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EB456D7-BDD7-CADF-6FB3-6D571A1E903A}"/>
              </a:ext>
            </a:extLst>
          </p:cNvPr>
          <p:cNvSpPr txBox="1"/>
          <p:nvPr/>
        </p:nvSpPr>
        <p:spPr>
          <a:xfrm>
            <a:off x="135980" y="37306"/>
            <a:ext cx="96000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US" sz="3070" spc="-150" dirty="0">
                <a:solidFill>
                  <a:srgbClr val="00B0F0"/>
                </a:solidFill>
                <a:latin typeface="Proxima Nova"/>
                <a:cs typeface="Corbel"/>
              </a:rPr>
              <a:t>Two</a:t>
            </a:r>
            <a:r>
              <a:rPr lang="en-US" sz="3070" spc="-60" dirty="0">
                <a:solidFill>
                  <a:srgbClr val="00B0F0"/>
                </a:solidFill>
                <a:latin typeface="Proxima Nova"/>
                <a:cs typeface="Corbel"/>
              </a:rPr>
              <a:t> </a:t>
            </a:r>
            <a:r>
              <a:rPr lang="en-US" sz="3070" spc="-20" dirty="0">
                <a:solidFill>
                  <a:srgbClr val="00B0F0"/>
                </a:solidFill>
                <a:latin typeface="Proxima Nova"/>
                <a:cs typeface="Corbel"/>
              </a:rPr>
              <a:t>file </a:t>
            </a:r>
            <a:r>
              <a:rPr lang="en-US" sz="3070" spc="-10" dirty="0">
                <a:solidFill>
                  <a:srgbClr val="00B0F0"/>
                </a:solidFill>
                <a:latin typeface="Proxima Nova"/>
                <a:cs typeface="Corbel"/>
              </a:rPr>
              <a:t>stream </a:t>
            </a:r>
            <a:r>
              <a:rPr lang="en-US" sz="3070" spc="-70" dirty="0">
                <a:solidFill>
                  <a:srgbClr val="00B0F0"/>
                </a:solidFill>
                <a:latin typeface="Proxima Nova"/>
                <a:cs typeface="Corbel"/>
              </a:rPr>
              <a:t>working </a:t>
            </a:r>
            <a:r>
              <a:rPr lang="en-US" sz="3070" spc="-35" dirty="0">
                <a:solidFill>
                  <a:srgbClr val="00B0F0"/>
                </a:solidFill>
                <a:latin typeface="Proxima Nova"/>
                <a:cs typeface="Corbel"/>
              </a:rPr>
              <a:t>on </a:t>
            </a:r>
            <a:r>
              <a:rPr lang="en-US" sz="3070" spc="-60" dirty="0">
                <a:solidFill>
                  <a:srgbClr val="00B0F0"/>
                </a:solidFill>
                <a:latin typeface="Proxima Nova"/>
                <a:cs typeface="Corbel"/>
              </a:rPr>
              <a:t>one</a:t>
            </a:r>
            <a:r>
              <a:rPr lang="en-US" sz="3070" spc="-105" dirty="0">
                <a:solidFill>
                  <a:srgbClr val="00B0F0"/>
                </a:solidFill>
                <a:latin typeface="Proxima Nova"/>
                <a:cs typeface="Corbel"/>
              </a:rPr>
              <a:t> </a:t>
            </a:r>
            <a:r>
              <a:rPr lang="en-US" sz="3070" spc="-20" dirty="0">
                <a:solidFill>
                  <a:srgbClr val="00B0F0"/>
                </a:solidFill>
                <a:latin typeface="Proxima Nova"/>
                <a:cs typeface="Corbel"/>
              </a:rPr>
              <a:t>file</a:t>
            </a:r>
            <a:endParaRPr lang="en-US" sz="3070" dirty="0">
              <a:solidFill>
                <a:srgbClr val="00B0F0"/>
              </a:solidFill>
              <a:latin typeface="Proxima Nova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585"/>
              </a:spcBef>
            </a:pP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B13649-2BF2-87FA-A963-086576CA7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F24C7B07-A4E4-5046-715B-E47A74DCACA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20843" y="3823368"/>
            <a:ext cx="5927987" cy="2627563"/>
          </a:xfrm>
          <a:prstGeom prst="rect">
            <a:avLst/>
          </a:prstGeom>
        </p:spPr>
      </p:pic>
      <p:sp>
        <p:nvSpPr>
          <p:cNvPr id="3" name="Content Placeholder 2"/>
          <p:cNvSpPr txBox="1">
            <a:spLocks/>
          </p:cNvSpPr>
          <p:nvPr/>
        </p:nvSpPr>
        <p:spPr>
          <a:xfrm>
            <a:off x="233082" y="1103586"/>
            <a:ext cx="11631816" cy="232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ofstream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(“ salary”); 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create </a:t>
            </a:r>
            <a:r>
              <a:rPr lang="en-US" sz="20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connects “salary” to it.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ifstream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infile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(“salary”);  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create </a:t>
            </a:r>
            <a:r>
              <a:rPr lang="en-US" sz="20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infile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connects “salary” to it.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statements can be in same program or different program.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 with a file is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 automatically when stream object expires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we can use </a:t>
            </a:r>
            <a:r>
              <a:rPr lang="en-US" sz="2000" u="sng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outfile.close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u="sng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infile.close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() </a:t>
            </a:r>
            <a:r>
              <a:rPr lang="en-US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disconnect </a:t>
            </a:r>
            <a:r>
              <a:rPr lang="en-US" sz="20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</a:t>
            </a:r>
            <a:r>
              <a:rPr lang="en-US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infile</a:t>
            </a:r>
            <a:r>
              <a:rPr lang="en-US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stream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“salary” file.</a:t>
            </a:r>
          </a:p>
        </p:txBody>
      </p:sp>
    </p:spTree>
    <p:extLst>
      <p:ext uri="{BB962C8B-B14F-4D97-AF65-F5344CB8AC3E}">
        <p14:creationId xmlns:p14="http://schemas.microsoft.com/office/powerpoint/2010/main" val="3423064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8F5CD37-F087-7D26-2C81-A27DFE1BF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0311F49F-2187-B555-B390-AE7E3F5FCD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606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07F4B164-2CED-68CB-A55B-B1DF7D805294}"/>
              </a:ext>
            </a:extLst>
          </p:cNvPr>
          <p:cNvSpPr txBox="1"/>
          <p:nvPr/>
        </p:nvSpPr>
        <p:spPr>
          <a:xfrm>
            <a:off x="135980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IN" sz="3070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Opening a File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B387E1-5F9F-E269-9FBC-AF840A875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12" name="object 4">
            <a:extLst>
              <a:ext uri="{FF2B5EF4-FFF2-40B4-BE49-F238E27FC236}">
                <a16:creationId xmlns:a16="http://schemas.microsoft.com/office/drawing/2014/main" id="{6ACCD287-178C-66E4-32B3-2DBD03ECB6E7}"/>
              </a:ext>
            </a:extLst>
          </p:cNvPr>
          <p:cNvSpPr txBox="1">
            <a:spLocks/>
          </p:cNvSpPr>
          <p:nvPr/>
        </p:nvSpPr>
        <p:spPr>
          <a:xfrm>
            <a:off x="707611" y="3656889"/>
            <a:ext cx="2561290" cy="329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65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IN" sz="2000" kern="0" spc="-10" dirty="0">
                <a:solidFill>
                  <a:srgbClr val="585858"/>
                </a:solidFill>
              </a:rPr>
              <a:t>.</a:t>
            </a:r>
            <a:endParaRPr lang="en-IN" sz="2000" kern="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5980" y="1017041"/>
            <a:ext cx="11728918" cy="208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file is opened for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only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0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file is created if there is no file of that name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file with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name already exists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its contents are deleted and the file is,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as a clean file.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shall discuss later how to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an existing file for updating it without losing its original contents.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252AF-1B0B-53B1-E5E7-C70629B40621}"/>
              </a:ext>
            </a:extLst>
          </p:cNvPr>
          <p:cNvSpPr txBox="1"/>
          <p:nvPr/>
        </p:nvSpPr>
        <p:spPr>
          <a:xfrm>
            <a:off x="385482" y="3183300"/>
            <a:ext cx="11479417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5080" indent="-285750">
              <a:lnSpc>
                <a:spcPts val="3890"/>
              </a:lnSpc>
              <a:spcBef>
                <a:spcPts val="590"/>
              </a:spcBef>
              <a:buFont typeface="Wingdings" panose="05000000000000000000" pitchFamily="2" charset="2"/>
              <a:buChar char="Ø"/>
            </a:pPr>
            <a:r>
              <a:rPr lang="en-IN" sz="20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</a:t>
            </a:r>
            <a:r>
              <a:rPr lang="en-IN"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</a:t>
            </a:r>
            <a:r>
              <a:rPr lang="en-IN" sz="20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IN" sz="20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open()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open() can be 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open multiple files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use the same stream object.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may want to process a set of files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such cases, we may create a single stream object and use it to open each file in turn.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stream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.open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(“filename”); </a:t>
            </a:r>
          </a:p>
        </p:txBody>
      </p:sp>
    </p:spTree>
    <p:extLst>
      <p:ext uri="{BB962C8B-B14F-4D97-AF65-F5344CB8AC3E}">
        <p14:creationId xmlns:p14="http://schemas.microsoft.com/office/powerpoint/2010/main" val="210874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387BC31A-0459-6707-BC8D-6E6AD2A2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F460F68F-8AF0-092B-0ECF-CC778FCF41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" y="635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49AA2269-F597-A5EA-2B47-2DE20A51DAA7}"/>
              </a:ext>
            </a:extLst>
          </p:cNvPr>
          <p:cNvSpPr txBox="1"/>
          <p:nvPr/>
        </p:nvSpPr>
        <p:spPr>
          <a:xfrm>
            <a:off x="135980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IN" sz="3070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Open and Close File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CB881B-A96A-A1BC-690C-252240E38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12" name="object 4">
            <a:extLst>
              <a:ext uri="{FF2B5EF4-FFF2-40B4-BE49-F238E27FC236}">
                <a16:creationId xmlns:a16="http://schemas.microsoft.com/office/drawing/2014/main" id="{68B8F404-044C-0B46-1A4A-26A93ED65C83}"/>
              </a:ext>
            </a:extLst>
          </p:cNvPr>
          <p:cNvSpPr txBox="1">
            <a:spLocks/>
          </p:cNvSpPr>
          <p:nvPr/>
        </p:nvSpPr>
        <p:spPr>
          <a:xfrm>
            <a:off x="707611" y="3656889"/>
            <a:ext cx="2561290" cy="329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65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IN" sz="2000" kern="0" spc="-10" dirty="0">
                <a:solidFill>
                  <a:srgbClr val="585858"/>
                </a:solidFill>
              </a:rPr>
              <a:t>.</a:t>
            </a:r>
            <a:endParaRPr lang="en-IN" sz="2000" kern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27102" y="935529"/>
            <a:ext cx="11273227" cy="558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/>
            <a:r>
              <a:rPr lang="en-US" sz="1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stream can be connected to only one file at a time. So before </a:t>
            </a:r>
            <a:r>
              <a:rPr lang="en-US" sz="18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connecting it to another file we need to disconnect </a:t>
            </a:r>
            <a:r>
              <a:rPr lang="en-US" sz="1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from previous one. </a:t>
            </a:r>
          </a:p>
          <a:p>
            <a:pPr marL="0" indent="0" algn="just"/>
            <a:endParaRPr lang="en-US" sz="1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fstream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ofstream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outfile.open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("DATA1");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outfile.is_open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"Hello, this is DATA1!\n";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outfile.close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/>
            <a:endParaRPr lang="en-US" sz="1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outfile.open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("DATA2");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outfile.is_open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"This is some content in DATA2.\n";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outfile.close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"Files written successfully!" &lt;&lt; </a:t>
            </a:r>
            <a:r>
              <a:rPr lang="en-US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 algn="just"/>
            <a:r>
              <a:rPr lang="en-US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5406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445D5DD-ABCF-566B-358E-1DA226AA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3CBDF23A-1BDA-9C78-C660-F2F313F69CA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606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3D27E3A1-F61B-837E-8705-CF2B0256604E}"/>
              </a:ext>
            </a:extLst>
          </p:cNvPr>
          <p:cNvSpPr txBox="1"/>
          <p:nvPr/>
        </p:nvSpPr>
        <p:spPr>
          <a:xfrm>
            <a:off x="135980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IN" sz="3070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Detecting end-of-file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45EFFA-A5B3-F292-E6A6-7DC8B5DAE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12" name="object 4">
            <a:extLst>
              <a:ext uri="{FF2B5EF4-FFF2-40B4-BE49-F238E27FC236}">
                <a16:creationId xmlns:a16="http://schemas.microsoft.com/office/drawing/2014/main" id="{891E749F-E954-78D5-3304-50C79BCAF7CE}"/>
              </a:ext>
            </a:extLst>
          </p:cNvPr>
          <p:cNvSpPr txBox="1">
            <a:spLocks/>
          </p:cNvSpPr>
          <p:nvPr/>
        </p:nvSpPr>
        <p:spPr>
          <a:xfrm>
            <a:off x="707611" y="3656889"/>
            <a:ext cx="2561290" cy="329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65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IN" sz="2000" kern="0" spc="-10" dirty="0">
                <a:solidFill>
                  <a:srgbClr val="585858"/>
                </a:solidFill>
              </a:rPr>
              <a:t>.</a:t>
            </a:r>
            <a:endParaRPr lang="en-IN" sz="2000" kern="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46841" y="1135117"/>
            <a:ext cx="11518057" cy="455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7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the 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end-of-file condition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necessary for preventing any further attempt to read data from the file. </a:t>
            </a:r>
          </a:p>
          <a:p>
            <a:pPr marL="0" indent="0" algn="just"/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 while (fin)</a:t>
            </a:r>
          </a:p>
          <a:p>
            <a:pPr marL="0" indent="0" algn="just"/>
            <a:endParaRPr lang="en-US" sz="22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2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 object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0,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any error occurs in the file operation including end-of-file condition.</a:t>
            </a:r>
          </a:p>
          <a:p>
            <a:pPr marL="0" indent="0" algn="just"/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    </a:t>
            </a:r>
            <a:r>
              <a:rPr lang="en-US" sz="22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0" indent="0" algn="just"/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  <a:p>
            <a:pPr marL="0" indent="0" algn="just"/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if(</a:t>
            </a:r>
            <a:r>
              <a:rPr lang="en-US" sz="22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fin.eof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!= 0) {exit (1);}</a:t>
            </a:r>
          </a:p>
          <a:p>
            <a:pPr marL="0" indent="0" algn="just"/>
            <a:endParaRPr lang="en-US" sz="22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eof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sz="22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function of </a:t>
            </a:r>
            <a:r>
              <a:rPr lang="en-US" sz="2200" u="sng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sz="22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returns a </a:t>
            </a:r>
            <a:r>
              <a:rPr lang="en-US" sz="2200" u="sng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non-zero value</a:t>
            </a:r>
            <a:r>
              <a:rPr lang="en-US" sz="22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the end-of-file(EOF) condition is encountered, and a zero(0) otherwise.</a:t>
            </a:r>
          </a:p>
        </p:txBody>
      </p:sp>
    </p:spTree>
    <p:extLst>
      <p:ext uri="{BB962C8B-B14F-4D97-AF65-F5344CB8AC3E}">
        <p14:creationId xmlns:p14="http://schemas.microsoft.com/office/powerpoint/2010/main" val="99348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DC9F2A1D-D050-9F84-AF05-BA6561A0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91A8938C-C05D-444A-1A0F-38DF4F4A942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5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19CD917-F72C-02D8-A4BB-0DC4F96F201C}"/>
              </a:ext>
            </a:extLst>
          </p:cNvPr>
          <p:cNvSpPr txBox="1"/>
          <p:nvPr/>
        </p:nvSpPr>
        <p:spPr>
          <a:xfrm>
            <a:off x="135980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IN" sz="3070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File opening modes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0DEC27-DAF1-3446-9F8E-B0528BD32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12" name="object 4">
            <a:extLst>
              <a:ext uri="{FF2B5EF4-FFF2-40B4-BE49-F238E27FC236}">
                <a16:creationId xmlns:a16="http://schemas.microsoft.com/office/drawing/2014/main" id="{717FCA27-B7BE-29C5-201B-32CC1F6E7014}"/>
              </a:ext>
            </a:extLst>
          </p:cNvPr>
          <p:cNvSpPr txBox="1">
            <a:spLocks/>
          </p:cNvSpPr>
          <p:nvPr/>
        </p:nvSpPr>
        <p:spPr>
          <a:xfrm>
            <a:off x="707611" y="3656889"/>
            <a:ext cx="2561290" cy="329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65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IN" sz="2000" kern="0" spc="-10" dirty="0">
                <a:solidFill>
                  <a:srgbClr val="585858"/>
                </a:solidFill>
              </a:rPr>
              <a:t>.</a:t>
            </a:r>
            <a:endParaRPr lang="en-IN" sz="2000" kern="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319F20A-5AA4-BD24-335A-7D2BA9F6394A}"/>
              </a:ext>
            </a:extLst>
          </p:cNvPr>
          <p:cNvSpPr txBox="1">
            <a:spLocks/>
          </p:cNvSpPr>
          <p:nvPr/>
        </p:nvSpPr>
        <p:spPr>
          <a:xfrm>
            <a:off x="346841" y="1004909"/>
            <a:ext cx="9995338" cy="104708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6355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95580" marR="5080" indent="-182880" algn="l">
              <a:lnSpc>
                <a:spcPts val="2160"/>
              </a:lnSpc>
              <a:spcBef>
                <a:spcPts val="365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kern="0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en-US" sz="2000" b="1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US" sz="2000" b="1" kern="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b="1" kern="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000" b="1" kern="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open: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(mode</a:t>
            </a:r>
            <a:r>
              <a:rPr lang="en-US" sz="2000" kern="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specify purpose</a:t>
            </a:r>
            <a:r>
              <a:rPr lang="en-US" sz="2000" kern="0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2000" kern="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0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kern="0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open)</a:t>
            </a:r>
          </a:p>
          <a:p>
            <a:pPr marL="195580" marR="5080" indent="-182880">
              <a:lnSpc>
                <a:spcPts val="2160"/>
              </a:lnSpc>
              <a:spcBef>
                <a:spcPts val="365"/>
              </a:spcBef>
            </a:pPr>
            <a:endParaRPr lang="en-IN" sz="2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580" marR="5080" indent="-182880">
              <a:lnSpc>
                <a:spcPts val="2160"/>
              </a:lnSpc>
              <a:spcBef>
                <a:spcPts val="365"/>
              </a:spcBef>
            </a:pP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Stream-</a:t>
            </a:r>
            <a:r>
              <a:rPr lang="en-IN" sz="20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object.open</a:t>
            </a: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(“filename”,</a:t>
            </a:r>
            <a:r>
              <a:rPr lang="en-IN" sz="20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mode);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87B6E1B-9A03-D266-6F9E-C33D3555E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116455"/>
              </p:ext>
            </p:extLst>
          </p:nvPr>
        </p:nvGraphicFramePr>
        <p:xfrm>
          <a:off x="968188" y="2321858"/>
          <a:ext cx="9547412" cy="3269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9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8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0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Parameter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Meaning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orbel"/>
                          <a:cs typeface="Corbel"/>
                        </a:rPr>
                        <a:t>ios::</a:t>
                      </a:r>
                      <a:r>
                        <a:rPr sz="1800" b="1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spc="-25" dirty="0">
                          <a:latin typeface="Corbel"/>
                          <a:cs typeface="Corbel"/>
                        </a:rPr>
                        <a:t>app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Append</a:t>
                      </a:r>
                      <a:r>
                        <a:rPr sz="18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to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end-of-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file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0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orbel"/>
                          <a:cs typeface="Corbel"/>
                        </a:rPr>
                        <a:t>ios::</a:t>
                      </a:r>
                      <a:r>
                        <a:rPr sz="1800" b="1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spc="-25" dirty="0">
                          <a:latin typeface="Corbel"/>
                          <a:cs typeface="Corbel"/>
                        </a:rPr>
                        <a:t>ate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Go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to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end-of-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file</a:t>
                      </a:r>
                      <a:r>
                        <a:rPr sz="1800" spc="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on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opening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0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orbel"/>
                          <a:cs typeface="Corbel"/>
                        </a:rPr>
                        <a:t>ios::</a:t>
                      </a:r>
                      <a:r>
                        <a:rPr sz="1800" b="1" spc="-10" dirty="0">
                          <a:latin typeface="Corbel"/>
                          <a:cs typeface="Corbel"/>
                        </a:rPr>
                        <a:t> binary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Binary</a:t>
                      </a:r>
                      <a:r>
                        <a:rPr sz="1800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file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9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latin typeface="Corbel"/>
                          <a:cs typeface="Corbel"/>
                        </a:rPr>
                        <a:t>ios::</a:t>
                      </a:r>
                      <a:r>
                        <a:rPr sz="1800" b="1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spc="-25" dirty="0">
                          <a:latin typeface="Corbel"/>
                          <a:cs typeface="Corbel"/>
                        </a:rPr>
                        <a:t>in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Open</a:t>
                      </a:r>
                      <a:r>
                        <a:rPr sz="18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file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for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reading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only </a:t>
                      </a:r>
                      <a:r>
                        <a:rPr sz="1800" b="1" dirty="0">
                          <a:latin typeface="Corbel"/>
                          <a:cs typeface="Corbel"/>
                        </a:rPr>
                        <a:t>(default</a:t>
                      </a:r>
                      <a:r>
                        <a:rPr sz="1800" b="1" spc="-6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dirty="0">
                          <a:latin typeface="Corbel"/>
                          <a:cs typeface="Corbel"/>
                        </a:rPr>
                        <a:t>value</a:t>
                      </a:r>
                      <a:r>
                        <a:rPr sz="1800" b="1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dirty="0">
                          <a:latin typeface="Corbel"/>
                          <a:cs typeface="Corbel"/>
                        </a:rPr>
                        <a:t>for</a:t>
                      </a:r>
                      <a:r>
                        <a:rPr sz="1800" b="1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spc="-10" dirty="0">
                          <a:latin typeface="Corbel"/>
                          <a:cs typeface="Corbel"/>
                        </a:rPr>
                        <a:t>ifstream)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9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latin typeface="Corbel"/>
                          <a:cs typeface="Corbel"/>
                        </a:rPr>
                        <a:t>ios::</a:t>
                      </a:r>
                      <a:r>
                        <a:rPr sz="1800" b="1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spc="-25" dirty="0">
                          <a:latin typeface="Corbel"/>
                          <a:cs typeface="Corbel"/>
                        </a:rPr>
                        <a:t>out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Open</a:t>
                      </a:r>
                      <a:r>
                        <a:rPr sz="18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file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for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writing</a:t>
                      </a:r>
                      <a:r>
                        <a:rPr sz="1800" spc="-2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only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dirty="0">
                          <a:latin typeface="Corbel"/>
                          <a:cs typeface="Corbel"/>
                        </a:rPr>
                        <a:t>(default</a:t>
                      </a:r>
                      <a:r>
                        <a:rPr sz="1800" b="1" spc="-6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dirty="0">
                          <a:latin typeface="Corbel"/>
                          <a:cs typeface="Corbel"/>
                        </a:rPr>
                        <a:t>value</a:t>
                      </a:r>
                      <a:r>
                        <a:rPr sz="1800" b="1" spc="-4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dirty="0">
                          <a:latin typeface="Corbel"/>
                          <a:cs typeface="Corbel"/>
                        </a:rPr>
                        <a:t>for</a:t>
                      </a:r>
                      <a:r>
                        <a:rPr sz="1800" b="1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spc="-10" dirty="0">
                          <a:latin typeface="Corbel"/>
                          <a:cs typeface="Corbel"/>
                        </a:rPr>
                        <a:t>ofstream)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0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latin typeface="Corbel"/>
                          <a:cs typeface="Corbel"/>
                        </a:rPr>
                        <a:t>ios::</a:t>
                      </a:r>
                      <a:r>
                        <a:rPr sz="1800" b="1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spc="-10" dirty="0">
                          <a:latin typeface="Corbel"/>
                          <a:cs typeface="Corbel"/>
                        </a:rPr>
                        <a:t>trunc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Delete</a:t>
                      </a:r>
                      <a:r>
                        <a:rPr sz="1800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content</a:t>
                      </a:r>
                      <a:r>
                        <a:rPr sz="18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of</a:t>
                      </a:r>
                      <a:r>
                        <a:rPr sz="1800" spc="-3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file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if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exists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0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latin typeface="Corbel"/>
                          <a:cs typeface="Corbel"/>
                        </a:rPr>
                        <a:t>ios::</a:t>
                      </a:r>
                      <a:r>
                        <a:rPr sz="1800" b="1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spc="-10" dirty="0">
                          <a:latin typeface="Corbel"/>
                          <a:cs typeface="Corbel"/>
                        </a:rPr>
                        <a:t>nocreate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Open</a:t>
                      </a:r>
                      <a:r>
                        <a:rPr sz="18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fails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if</a:t>
                      </a:r>
                      <a:r>
                        <a:rPr sz="1800" spc="-2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file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does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not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exists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69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dirty="0">
                          <a:latin typeface="Corbel"/>
                          <a:cs typeface="Corbel"/>
                        </a:rPr>
                        <a:t>ios::</a:t>
                      </a:r>
                      <a:r>
                        <a:rPr sz="1800" b="1" spc="-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b="1" spc="-10" dirty="0">
                          <a:latin typeface="Corbel"/>
                          <a:cs typeface="Corbel"/>
                        </a:rPr>
                        <a:t>noreplace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orbel"/>
                          <a:cs typeface="Corbel"/>
                        </a:rPr>
                        <a:t>Open</a:t>
                      </a:r>
                      <a:r>
                        <a:rPr sz="1800" spc="-4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fails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if</a:t>
                      </a:r>
                      <a:r>
                        <a:rPr sz="1800" spc="-30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the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file</a:t>
                      </a:r>
                      <a:r>
                        <a:rPr sz="1800" spc="-15" dirty="0">
                          <a:latin typeface="Corbel"/>
                          <a:cs typeface="Corbel"/>
                        </a:rPr>
                        <a:t> </a:t>
                      </a:r>
                      <a:r>
                        <a:rPr sz="1800" dirty="0">
                          <a:latin typeface="Corbel"/>
                          <a:cs typeface="Corbel"/>
                        </a:rPr>
                        <a:t>already</a:t>
                      </a:r>
                      <a:r>
                        <a:rPr sz="1800" spc="-10" dirty="0">
                          <a:latin typeface="Corbel"/>
                          <a:cs typeface="Corbel"/>
                        </a:rPr>
                        <a:t> exists</a:t>
                      </a:r>
                      <a:endParaRPr sz="1800" dirty="0">
                        <a:latin typeface="Corbel"/>
                        <a:cs typeface="Corbel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063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39CE812-B057-8257-8995-772BDCFB0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7F7001F1-EE68-E3D3-6D6A-7DE1518A7B6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5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05C43BF-8A1C-DBAB-69D3-C46E04891807}"/>
              </a:ext>
            </a:extLst>
          </p:cNvPr>
          <p:cNvSpPr txBox="1"/>
          <p:nvPr/>
        </p:nvSpPr>
        <p:spPr>
          <a:xfrm>
            <a:off x="135980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IN" sz="3070" dirty="0">
                <a:solidFill>
                  <a:srgbClr val="00B0F0"/>
                </a:solidFill>
                <a:latin typeface="Proxima Nova" panose="020B0604020202020204"/>
                <a:cs typeface="Corbel"/>
              </a:rPr>
              <a:t>Mode of file opening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6BE6F4-BEC8-8163-5987-3E2B0C070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E69325A-C078-E763-11D9-8DD0ACE2E8E2}"/>
              </a:ext>
            </a:extLst>
          </p:cNvPr>
          <p:cNvSpPr txBox="1"/>
          <p:nvPr/>
        </p:nvSpPr>
        <p:spPr>
          <a:xfrm>
            <a:off x="327101" y="1002278"/>
            <a:ext cx="11336163" cy="61850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785" indent="-184150" algn="just">
              <a:lnSpc>
                <a:spcPts val="2280"/>
              </a:lnSpc>
              <a:spcBef>
                <a:spcPts val="90"/>
              </a:spcBef>
              <a:buSzPct val="87500"/>
              <a:buAutoNum type="arabicPeriod"/>
              <a:tabLst>
                <a:tab pos="18478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ios::out</a:t>
            </a:r>
            <a:r>
              <a:rPr sz="20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ios::trunk</a:t>
            </a: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-6350" algn="just">
              <a:lnSpc>
                <a:spcPct val="90000"/>
              </a:lnSpc>
              <a:spcBef>
                <a:spcPts val="1200"/>
              </a:spcBef>
              <a:buSzPct val="87500"/>
              <a:buAutoNum type="arabicPeriod" startAt="2"/>
              <a:tabLst>
                <a:tab pos="20637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ios::app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ios::ate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sz="2000" u="sng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u="sng" spc="-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when</a:t>
            </a:r>
            <a:r>
              <a:rPr sz="2000" u="sng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u="sng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sz="2000" u="sng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opened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ios::app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ios::ate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</a:t>
            </a:r>
            <a:r>
              <a:rPr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anywhere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sz="20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cases,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sz="2000" spc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name,</a:t>
            </a:r>
            <a:r>
              <a:rPr sz="2000" spc="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sz="20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355" indent="-171450" algn="just">
              <a:lnSpc>
                <a:spcPts val="2280"/>
              </a:lnSpc>
              <a:spcBef>
                <a:spcPts val="960"/>
              </a:spcBef>
              <a:buSzPct val="87500"/>
              <a:buAutoNum type="arabicPeriod" startAt="2"/>
              <a:tabLst>
                <a:tab pos="173355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::app</a:t>
            </a:r>
            <a:r>
              <a:rPr lang="en-US"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 capable</a:t>
            </a:r>
            <a:r>
              <a:rPr lang="en-US" sz="2000" b="1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3355" indent="-171450" algn="just">
              <a:lnSpc>
                <a:spcPts val="2280"/>
              </a:lnSpc>
              <a:spcBef>
                <a:spcPts val="960"/>
              </a:spcBef>
              <a:buSzPct val="87500"/>
              <a:buAutoNum type="arabicPeriod" startAt="2"/>
              <a:tabLst>
                <a:tab pos="173355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ifstream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implies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ofstream</a:t>
            </a:r>
            <a:r>
              <a:rPr lang="en-US"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implies</a:t>
            </a:r>
            <a:r>
              <a:rPr lang="en-US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case,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parameters.</a:t>
            </a:r>
          </a:p>
          <a:p>
            <a:pPr marL="173355" indent="-171450" algn="just">
              <a:lnSpc>
                <a:spcPts val="2280"/>
              </a:lnSpc>
              <a:spcBef>
                <a:spcPts val="960"/>
              </a:spcBef>
              <a:buSzPct val="87500"/>
              <a:buAutoNum type="arabicPeriod" startAt="2"/>
              <a:tabLst>
                <a:tab pos="173355" algn="l"/>
              </a:tabLst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en-US" sz="2000" b="0" i="0" u="none" strike="noStrike" kern="0" cap="none" spc="-4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fstream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kumimoji="0" lang="en-US" sz="2000" b="0" i="0" u="none" strike="noStrike" kern="0" cap="none" spc="-3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kumimoji="0" lang="en-US" sz="20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kumimoji="0" lang="en-US" sz="2000" b="0" i="0" u="none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kumimoji="0" lang="en-US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000" b="0" i="0" u="none" strike="noStrike" kern="0" cap="none" spc="-4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kumimoji="0" lang="en-US" sz="2000" b="0" i="0" u="none" strike="noStrike" kern="0" cap="none" spc="-3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kumimoji="0" lang="en-US" sz="2000" b="0" i="0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default </a:t>
            </a:r>
            <a:r>
              <a:rPr kumimoji="0" lang="en-US" sz="20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therefore,</a:t>
            </a:r>
            <a:r>
              <a:rPr kumimoji="0" lang="en-US" sz="2000" b="0" i="0" u="none" strike="noStrike" kern="0" cap="none" spc="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kumimoji="0" lang="en-US" sz="2000" b="0" i="0" u="none" strike="noStrike" kern="0" cap="none" spc="-4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kumimoji="0" lang="en-US" sz="2000" b="0" i="0" u="none" strike="noStrike" kern="0" cap="none" spc="-5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kumimoji="0" lang="en-US" sz="2000" b="0" i="0" u="none" strike="noStrike" kern="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en-US" sz="2000" b="0" i="0" u="none" strike="noStrike" kern="0" cap="none" spc="-6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kumimoji="0" lang="en-US" sz="20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explicitly</a:t>
            </a:r>
            <a:r>
              <a:rPr kumimoji="0" lang="en-US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kumimoji="0" lang="en-US" sz="2000" b="0" i="0" u="none" strike="noStrike" kern="0" cap="none" spc="-4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kumimoji="0" lang="en-US" sz="2000" b="0" i="0" u="none" strike="noStrike" kern="0" cap="none" spc="-6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kumimoji="0" lang="en-US" sz="2000" b="0" i="0" u="none" strike="noStrike" kern="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en-US" sz="2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0" cap="none" spc="-1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fstream</a:t>
            </a:r>
            <a:r>
              <a:rPr kumimoji="0" lang="en-US" sz="2000" b="1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91135" marR="0" lvl="0" indent="-187325" algn="just" defTabSz="914400" eaLnBrk="1" fontAlgn="auto" latinLnBrk="0" hangingPunct="1">
              <a:lnSpc>
                <a:spcPts val="2160"/>
              </a:lnSpc>
              <a:spcBef>
                <a:spcPts val="725"/>
              </a:spcBef>
              <a:spcAft>
                <a:spcPts val="0"/>
              </a:spcAft>
              <a:buClrTx/>
              <a:buSzPct val="87500"/>
              <a:buFontTx/>
              <a:buAutoNum type="arabicPeriod" startAt="5"/>
              <a:tabLst>
                <a:tab pos="191135" algn="l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en-US" sz="2000" b="0" i="0" u="none" strike="noStrike" kern="0" cap="none" spc="-3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kumimoji="0" lang="en-US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kumimoji="0" lang="en-US" sz="2000" b="0" i="0" u="none" strike="noStrike" kern="0" cap="none" spc="-6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kumimoji="0" lang="en-US" sz="2000" b="0" i="0" u="none" strike="noStrike" kern="0" cap="none" spc="-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kumimoji="0" lang="en-US" sz="20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en-US" sz="2000" b="0" i="0" u="none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kumimoji="0" lang="en-US" sz="20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kumimoji="0" lang="en-US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kumimoji="0" lang="en-US" sz="2000" b="0" i="0" u="none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en-US" sz="20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en-US" sz="2000" b="1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kumimoji="0" lang="en-US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(symbol|).</a:t>
            </a: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kumimoji="0" lang="en-IN" sz="2000" b="0" i="0" u="none" strike="noStrike" kern="0" cap="none" spc="-35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file1,file2;</a:t>
            </a: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file1.open(“data1.txt”, 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out|ios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::in);</a:t>
            </a: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file2.open(“data2.txt”, 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app|ios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nocreate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810" marR="0" lvl="0" algn="just" defTabSz="914400" eaLnBrk="1" fontAlgn="auto" latinLnBrk="0" hangingPunct="1">
              <a:lnSpc>
                <a:spcPts val="2160"/>
              </a:lnSpc>
              <a:spcBef>
                <a:spcPts val="725"/>
              </a:spcBef>
              <a:spcAft>
                <a:spcPts val="0"/>
              </a:spcAft>
              <a:buClrTx/>
              <a:buSzPct val="87500"/>
              <a:tabLst>
                <a:tab pos="191135" algn="l"/>
              </a:tabLst>
              <a:defRPr/>
            </a:pPr>
            <a:endParaRPr kumimoji="0" lang="en-US" sz="2000" b="0" i="0" u="none" strike="noStrike" kern="0" cap="none" spc="-1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355" indent="-171450" algn="just">
              <a:lnSpc>
                <a:spcPts val="2280"/>
              </a:lnSpc>
              <a:spcBef>
                <a:spcPts val="960"/>
              </a:spcBef>
              <a:buSzPct val="87500"/>
              <a:buAutoNum type="arabicPeriod" startAt="2"/>
              <a:tabLst>
                <a:tab pos="173355" algn="l"/>
              </a:tabLs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159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4EDB922-E016-D64C-A06A-6B91853A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C5B5AD3B-2E62-F5E8-4E05-786C520459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62605053-4035-43A7-52B9-BA548CE437DD}"/>
              </a:ext>
            </a:extLst>
          </p:cNvPr>
          <p:cNvSpPr txBox="1"/>
          <p:nvPr/>
        </p:nvSpPr>
        <p:spPr>
          <a:xfrm>
            <a:off x="299241" y="-36237"/>
            <a:ext cx="96000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lang="en-US" sz="3070" spc="-10" dirty="0">
                <a:solidFill>
                  <a:srgbClr val="00B0F0"/>
                </a:solidFill>
                <a:latin typeface="Proxima Nova"/>
                <a:cs typeface="Corbel"/>
              </a:rPr>
              <a:t>Binary Files</a:t>
            </a:r>
            <a:endParaRPr lang="en-US" sz="3070" dirty="0">
              <a:solidFill>
                <a:srgbClr val="00B0F0"/>
              </a:solidFill>
              <a:latin typeface="Proxima Nova"/>
              <a:cs typeface="Corbel"/>
            </a:endParaRPr>
          </a:p>
          <a:p>
            <a:pPr marL="12700">
              <a:lnSpc>
                <a:spcPts val="4105"/>
              </a:lnSpc>
              <a:spcBef>
                <a:spcPts val="100"/>
              </a:spcBef>
            </a:pPr>
            <a:endParaRPr lang="en-IN" sz="3070" dirty="0">
              <a:solidFill>
                <a:srgbClr val="00B0F0"/>
              </a:solidFill>
              <a:latin typeface="Proxima Nova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BA5716-5203-05E3-6F37-9EC5DDD24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6CADF293-7BFD-D343-5729-166B65D00E53}"/>
              </a:ext>
            </a:extLst>
          </p:cNvPr>
          <p:cNvSpPr txBox="1"/>
          <p:nvPr/>
        </p:nvSpPr>
        <p:spPr>
          <a:xfrm>
            <a:off x="299241" y="1156447"/>
            <a:ext cx="11565657" cy="2239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4400" algn="just">
              <a:lnSpc>
                <a:spcPct val="140100"/>
              </a:lnSpc>
              <a:spcBef>
                <a:spcPts val="100"/>
              </a:spcBef>
            </a:pP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read(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write(</a:t>
            </a:r>
            <a:r>
              <a:rPr sz="20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700" algn="ctr">
              <a:spcBef>
                <a:spcPts val="95"/>
              </a:spcBef>
            </a:pP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000" kern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kern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2000" kern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((char</a:t>
            </a:r>
            <a:r>
              <a:rPr lang="en-US" sz="2000" kern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*)&amp;V</a:t>
            </a:r>
            <a:r>
              <a:rPr lang="en-US" sz="2000" kern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000" kern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(V));</a:t>
            </a:r>
          </a:p>
          <a:p>
            <a:pPr marL="12700" algn="ctr">
              <a:spcBef>
                <a:spcPts val="9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((char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*)&amp;V</a:t>
            </a:r>
            <a:r>
              <a:rPr lang="en-US"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(V));</a:t>
            </a:r>
            <a:endParaRPr lang="en-IN" sz="2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580" marR="5080" indent="-182880" algn="just">
              <a:lnSpc>
                <a:spcPts val="2160"/>
              </a:lnSpc>
              <a:spcBef>
                <a:spcPts val="123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US"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arguments.</a:t>
            </a:r>
            <a:r>
              <a:rPr lang="en-US" sz="20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2000" u="sng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20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20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bytes.</a:t>
            </a:r>
          </a:p>
          <a:p>
            <a:pPr marL="195580" marR="5080" indent="-182880" algn="just">
              <a:lnSpc>
                <a:spcPts val="2160"/>
              </a:lnSpc>
              <a:spcBef>
                <a:spcPts val="123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Character*(i.e.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45C2F9BF-2237-C9CB-C5A0-692BA0B8666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0296" y="3462480"/>
            <a:ext cx="5422392" cy="260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88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ABC61DDF-5354-AF10-711D-D4756AECA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1491CC00-1B9D-6B72-9CDB-496D976CB5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7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DB9917F1-9981-AC52-A987-4F6996A0E21D}"/>
              </a:ext>
            </a:extLst>
          </p:cNvPr>
          <p:cNvSpPr txBox="1"/>
          <p:nvPr/>
        </p:nvSpPr>
        <p:spPr>
          <a:xfrm>
            <a:off x="135980" y="37306"/>
            <a:ext cx="96000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US" sz="3070" spc="-75" dirty="0">
                <a:solidFill>
                  <a:srgbClr val="00B0F0"/>
                </a:solidFill>
                <a:latin typeface="Proxima Nova"/>
                <a:cs typeface="Corbel"/>
              </a:rPr>
              <a:t>Example</a:t>
            </a:r>
            <a:r>
              <a:rPr lang="en-US" sz="3070" spc="-50" dirty="0">
                <a:solidFill>
                  <a:srgbClr val="00B0F0"/>
                </a:solidFill>
                <a:latin typeface="Proxima Nova"/>
                <a:cs typeface="Corbel"/>
              </a:rPr>
              <a:t> </a:t>
            </a:r>
            <a:r>
              <a:rPr lang="en-US" sz="3070" spc="-40" dirty="0">
                <a:solidFill>
                  <a:srgbClr val="00B0F0"/>
                </a:solidFill>
                <a:latin typeface="Proxima Nova"/>
                <a:cs typeface="Corbel"/>
              </a:rPr>
              <a:t>for </a:t>
            </a:r>
            <a:r>
              <a:rPr lang="en-US" sz="3070" spc="-65" dirty="0">
                <a:solidFill>
                  <a:srgbClr val="00B0F0"/>
                </a:solidFill>
                <a:latin typeface="Proxima Nova"/>
                <a:cs typeface="Corbel"/>
              </a:rPr>
              <a:t>read()</a:t>
            </a:r>
            <a:r>
              <a:rPr lang="en-US" sz="3070" spc="-80" dirty="0">
                <a:solidFill>
                  <a:srgbClr val="00B0F0"/>
                </a:solidFill>
                <a:latin typeface="Proxima Nova"/>
                <a:cs typeface="Corbel"/>
              </a:rPr>
              <a:t> </a:t>
            </a:r>
            <a:r>
              <a:rPr lang="en-US" sz="3070" spc="-25" dirty="0">
                <a:solidFill>
                  <a:srgbClr val="00B0F0"/>
                </a:solidFill>
                <a:latin typeface="Proxima Nova"/>
                <a:cs typeface="Corbel"/>
              </a:rPr>
              <a:t>and </a:t>
            </a:r>
            <a:r>
              <a:rPr lang="en-US" sz="3070" spc="-10" dirty="0">
                <a:solidFill>
                  <a:srgbClr val="00B0F0"/>
                </a:solidFill>
                <a:latin typeface="Proxima Nova"/>
                <a:cs typeface="Corbel"/>
              </a:rPr>
              <a:t>write() function:</a:t>
            </a:r>
            <a:endParaRPr lang="en-US" sz="3070" dirty="0">
              <a:solidFill>
                <a:srgbClr val="00B0F0"/>
              </a:solidFill>
              <a:latin typeface="Proxima Nova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585"/>
              </a:spcBef>
            </a:pP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DA85B-2508-9CB6-D857-48EF93123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A91D3F51-D056-78B7-0944-8E9EE35C1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867182"/>
              </p:ext>
            </p:extLst>
          </p:nvPr>
        </p:nvGraphicFramePr>
        <p:xfrm>
          <a:off x="425668" y="1135116"/>
          <a:ext cx="11439230" cy="53194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947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1800" b="0" spc="-3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</a:t>
                      </a:r>
                      <a:r>
                        <a:rPr sz="1800" b="0" spc="-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that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800" b="0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reads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</a:t>
                      </a: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</a:t>
                      </a:r>
                      <a:r>
                        <a:rPr sz="1800" b="0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file.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718310">
                        <a:lnSpc>
                          <a:spcPct val="100000"/>
                        </a:lnSpc>
                      </a:pP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718310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#include&lt;fstream&gt; </a:t>
                      </a: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718310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#include&lt;iostream&gt; </a:t>
                      </a: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718310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#include&lt;iomanip.h&gt; </a:t>
                      </a: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718310">
                        <a:lnSpc>
                          <a:spcPct val="100000"/>
                        </a:lnSpc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</a:t>
                      </a:r>
                      <a:r>
                        <a:rPr sz="1800" b="0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namespace</a:t>
                      </a:r>
                      <a:r>
                        <a:rPr sz="1800" b="0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char*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file_name</a:t>
                      </a:r>
                      <a:r>
                        <a:rPr sz="1800" b="0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"Binary";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main()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1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sz="1800" b="0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height[4]</a:t>
                      </a:r>
                      <a:r>
                        <a:rPr sz="1800" b="0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{100.123,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110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200.234,</a:t>
                      </a:r>
                      <a:r>
                        <a:rPr sz="1800" b="0" spc="-3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300.345,</a:t>
                      </a:r>
                      <a:r>
                        <a:rPr sz="1800" b="0" spc="-8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400.569};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110">
                        <a:lnSpc>
                          <a:spcPct val="100000"/>
                        </a:lnSpc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weights[4];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110">
                        <a:lnSpc>
                          <a:spcPct val="100000"/>
                        </a:lnSpc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ofstream</a:t>
                      </a:r>
                      <a:r>
                        <a:rPr sz="1800" b="0" spc="-5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outfile</a:t>
                      </a:r>
                      <a:r>
                        <a:rPr sz="1800" b="0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(file_name);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706755" indent="914400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outfile.write((char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*)</a:t>
                      </a:r>
                      <a:r>
                        <a:rPr sz="1800" b="0" spc="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en-US"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height,</a:t>
                      </a:r>
                      <a:r>
                        <a:rPr lang="en-US"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sizeof</a:t>
                      </a:r>
                      <a:r>
                        <a:rPr sz="1800" b="0" spc="-7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(height));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1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outfile.close();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1007744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ifstream</a:t>
                      </a:r>
                      <a:r>
                        <a:rPr sz="1800" b="0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infile</a:t>
                      </a:r>
                      <a:r>
                        <a:rPr sz="1800" b="0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(file_name);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744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if(infile.fail())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744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744">
                        <a:lnSpc>
                          <a:spcPct val="100000"/>
                        </a:lnSpc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cout&lt;&lt;"Input</a:t>
                      </a:r>
                      <a:r>
                        <a:rPr sz="1800" b="0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</a:t>
                      </a:r>
                      <a:r>
                        <a:rPr sz="1800" b="0" spc="-3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R="289052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exist.</a:t>
                      </a:r>
                      <a:r>
                        <a:rPr sz="1800" b="0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\n";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R="2857500" algn="r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744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infile.read((char</a:t>
                      </a:r>
                      <a:r>
                        <a:rPr sz="1800" b="0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*)</a:t>
                      </a:r>
                      <a:r>
                        <a:rPr sz="1800" b="0" spc="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weights,sizeof</a:t>
                      </a:r>
                      <a:r>
                        <a:rPr sz="1800" b="0" spc="-8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(weight));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744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infile.close();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744">
                        <a:lnSpc>
                          <a:spcPct val="100000"/>
                        </a:lnSpc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for(int</a:t>
                      </a:r>
                      <a:r>
                        <a:rPr sz="1800" b="0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0;</a:t>
                      </a:r>
                      <a:r>
                        <a:rPr sz="1800" b="0" spc="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4;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i++)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7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2214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cout&lt;&lt;setw(10);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2214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cout&lt;&lt;weights[i];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007744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432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683EF84-7788-4EBD-187F-5DF24ED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0AED5C6B-E7DF-BC5E-D639-CC4BD83DB73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7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13052D2D-6F56-E7E2-F6EB-20C8275F6BD7}"/>
              </a:ext>
            </a:extLst>
          </p:cNvPr>
          <p:cNvSpPr txBox="1"/>
          <p:nvPr/>
        </p:nvSpPr>
        <p:spPr>
          <a:xfrm>
            <a:off x="135980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US" sz="3070" spc="-10" dirty="0">
                <a:solidFill>
                  <a:srgbClr val="00B0F0"/>
                </a:solidFill>
                <a:latin typeface="Proxima Nova" panose="020B0604020202020204"/>
              </a:rPr>
              <a:t>Random File</a:t>
            </a: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C3E1A4-1FA1-7B00-BD20-915B6229D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F57DF5-36FE-4E93-7622-B5CA990648BB}"/>
              </a:ext>
            </a:extLst>
          </p:cNvPr>
          <p:cNvSpPr txBox="1"/>
          <p:nvPr/>
        </p:nvSpPr>
        <p:spPr>
          <a:xfrm>
            <a:off x="493059" y="1174376"/>
            <a:ext cx="11371839" cy="458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spcBef>
                <a:spcPts val="95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 Files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direct access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locations within a 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reading or writing data sequentially. This is particularly useful when dealing with large files, where accessing data directly is more efficient.</a:t>
            </a:r>
          </a:p>
          <a:p>
            <a:pPr marL="12700" algn="just">
              <a:spcBef>
                <a:spcPts val="95"/>
              </a:spcBef>
            </a:pP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95"/>
              </a:spcBef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seekg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2000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en-US" sz="2000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(input)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lang="en-US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seekp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1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sz="2000" u="sng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en-US" sz="2000" u="sng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(output)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lang="en-US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lang="en-IN" sz="2000" b="1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tellg</a:t>
            </a:r>
            <a:r>
              <a:rPr lang="en-IN"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2000" u="sng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960"/>
              </a:spcBef>
            </a:pPr>
            <a:r>
              <a:rPr lang="en-IN" sz="2000" b="1" spc="-3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tellp</a:t>
            </a:r>
            <a:r>
              <a:rPr lang="en-IN"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sz="2000" u="sng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</a:p>
          <a:p>
            <a:pPr marL="12700">
              <a:spcBef>
                <a:spcPts val="960"/>
              </a:spcBef>
            </a:pP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926465" algn="l"/>
              </a:tabLst>
            </a:pP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  <a:r>
              <a:rPr lang="en-US" sz="20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infile.seekg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580" marR="5080" indent="-182880">
              <a:lnSpc>
                <a:spcPts val="2160"/>
              </a:lnSpc>
              <a:spcBef>
                <a:spcPts val="123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lang="en-US" sz="20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pointer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en-US" sz="20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Remember,</a:t>
            </a:r>
            <a:r>
              <a:rPr lang="en-US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</a:t>
            </a:r>
            <a:r>
              <a:rPr lang="en-US" sz="2000" spc="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0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numbered</a:t>
            </a:r>
            <a:r>
              <a:rPr lang="en-US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</a:t>
            </a:r>
            <a:r>
              <a:rPr lang="en-US"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</a:t>
            </a:r>
            <a:r>
              <a:rPr lang="en-US"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pointing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11th</a:t>
            </a:r>
            <a:r>
              <a:rPr lang="en-US"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969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FF74826-3E60-AF7E-0D14-0E8DE685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5AA36AF8-8024-0BBE-E803-2EA796F658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932" y="-24606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AD234D3A-777C-7847-1697-698908034636}"/>
              </a:ext>
            </a:extLst>
          </p:cNvPr>
          <p:cNvSpPr txBox="1"/>
          <p:nvPr/>
        </p:nvSpPr>
        <p:spPr>
          <a:xfrm>
            <a:off x="135980" y="37306"/>
            <a:ext cx="9600000" cy="82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lang="en-US" sz="3070" spc="-10" dirty="0">
                <a:solidFill>
                  <a:srgbClr val="00B0F0"/>
                </a:solidFill>
                <a:latin typeface="Proxima Nova" panose="020B0604020202020204"/>
              </a:rPr>
              <a:t>Random File</a:t>
            </a: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B71BC9-14B7-E2C6-E20B-D81031F92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190BE61D-973B-4B0B-C25B-43989935B4FE}"/>
              </a:ext>
            </a:extLst>
          </p:cNvPr>
          <p:cNvSpPr txBox="1"/>
          <p:nvPr/>
        </p:nvSpPr>
        <p:spPr>
          <a:xfrm>
            <a:off x="366110" y="3516847"/>
            <a:ext cx="11498788" cy="44307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926465" algn="l"/>
              </a:tabLst>
            </a:pPr>
            <a:endParaRPr sz="2000" dirty="0">
              <a:latin typeface="Corbel"/>
              <a:cs typeface="Corbe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81CD3-689B-73A8-2F32-73EA88F564B9}"/>
              </a:ext>
            </a:extLst>
          </p:cNvPr>
          <p:cNvSpPr txBox="1"/>
          <p:nvPr/>
        </p:nvSpPr>
        <p:spPr>
          <a:xfrm>
            <a:off x="327103" y="997441"/>
            <a:ext cx="11498788" cy="558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fstream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ifstream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file("data.txt",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::in);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Open "data.txt" in input mode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file.seekg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::beg);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Move the file pointer to the 10th byte from the beginning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file.get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Read a single character from that position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"Character at position 10: " &lt;&lt;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file.close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Close the file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0740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263751A-51D0-6EEA-6BD4-45C1EA7E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C711BEB3-4BF4-C190-3EFE-BDF485D0FB9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7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DB2007BB-AB74-9C55-6D9B-8619517E7996}"/>
              </a:ext>
            </a:extLst>
          </p:cNvPr>
          <p:cNvSpPr txBox="1"/>
          <p:nvPr/>
        </p:nvSpPr>
        <p:spPr>
          <a:xfrm>
            <a:off x="135980" y="37306"/>
            <a:ext cx="96000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  <a:tabLst>
                <a:tab pos="932815" algn="l"/>
              </a:tabLst>
            </a:pPr>
            <a:r>
              <a:rPr lang="en-US" sz="3200" spc="-75" dirty="0">
                <a:solidFill>
                  <a:srgbClr val="00B0F0"/>
                </a:solidFill>
                <a:latin typeface="Proxima Nova"/>
                <a:cs typeface="Corbel"/>
              </a:rPr>
              <a:t>Updating</a:t>
            </a:r>
            <a:r>
              <a:rPr lang="en-US" sz="3200" spc="-50" dirty="0">
                <a:solidFill>
                  <a:srgbClr val="00B0F0"/>
                </a:solidFill>
                <a:latin typeface="Proxima Nova"/>
                <a:cs typeface="Corbel"/>
              </a:rPr>
              <a:t> a </a:t>
            </a:r>
            <a:r>
              <a:rPr lang="en-US" sz="3200" spc="-10" dirty="0">
                <a:solidFill>
                  <a:srgbClr val="00B0F0"/>
                </a:solidFill>
                <a:latin typeface="Proxima Nova"/>
                <a:cs typeface="Corbel"/>
              </a:rPr>
              <a:t>File:</a:t>
            </a:r>
            <a:r>
              <a:rPr lang="en-US" sz="3200" spc="-75" dirty="0">
                <a:solidFill>
                  <a:srgbClr val="00B0F0"/>
                </a:solidFill>
                <a:latin typeface="Proxima Nova"/>
                <a:cs typeface="Corbel"/>
              </a:rPr>
              <a:t>Random </a:t>
            </a:r>
            <a:r>
              <a:rPr lang="en-US" sz="3200" spc="-10" dirty="0">
                <a:solidFill>
                  <a:srgbClr val="00B0F0"/>
                </a:solidFill>
                <a:latin typeface="Proxima Nova"/>
                <a:cs typeface="Corbel"/>
              </a:rPr>
              <a:t>Access</a:t>
            </a:r>
            <a:endParaRPr lang="en-US" sz="3200" dirty="0">
              <a:solidFill>
                <a:srgbClr val="00B0F0"/>
              </a:solidFill>
              <a:latin typeface="Proxima Nova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585"/>
              </a:spcBef>
            </a:pP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ADA954-BBFE-8DCF-FA68-8C8212EF2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CFFC33-F942-AE6C-4FAA-37E8A27D9BB4}"/>
              </a:ext>
            </a:extLst>
          </p:cNvPr>
          <p:cNvSpPr txBox="1"/>
          <p:nvPr/>
        </p:nvSpPr>
        <p:spPr>
          <a:xfrm>
            <a:off x="421341" y="1147482"/>
            <a:ext cx="11443557" cy="4301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spcBef>
                <a:spcPts val="95"/>
              </a:spcBef>
            </a:pP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  <a:r>
              <a:rPr lang="en-US" sz="2000" kern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kern="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 task</a:t>
            </a:r>
            <a:r>
              <a:rPr lang="en-US" sz="2000" kern="0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kern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kern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r>
              <a:rPr lang="en-US" sz="2000" b="1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b="1" kern="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en-US" sz="2000" b="1" kern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000" b="1" kern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000" kern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kern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tasks:</a:t>
            </a:r>
          </a:p>
          <a:p>
            <a:pPr marL="12700" algn="just">
              <a:spcBef>
                <a:spcPts val="95"/>
              </a:spcBef>
            </a:pPr>
            <a:endParaRPr lang="en-US" sz="2000" kern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 algn="just">
              <a:spcBef>
                <a:spcPts val="95"/>
              </a:spcBef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</a:t>
            </a:r>
            <a:r>
              <a:rPr lang="en-US" sz="20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 algn="just">
              <a:lnSpc>
                <a:spcPct val="100000"/>
              </a:lnSpc>
              <a:spcBef>
                <a:spcPts val="965"/>
              </a:spcBef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</a:t>
            </a:r>
            <a:r>
              <a:rPr lang="en-US"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existing item.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 algn="just">
              <a:lnSpc>
                <a:spcPct val="100000"/>
              </a:lnSpc>
              <a:spcBef>
                <a:spcPts val="960"/>
              </a:spcBef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</a:t>
            </a:r>
            <a:r>
              <a:rPr lang="en-US"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 algn="just">
              <a:lnSpc>
                <a:spcPct val="100000"/>
              </a:lnSpc>
              <a:spcBef>
                <a:spcPts val="960"/>
              </a:spcBef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</a:t>
            </a:r>
            <a:r>
              <a:rPr lang="en-US" sz="20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item.</a:t>
            </a:r>
          </a:p>
          <a:p>
            <a:pPr marL="12700" algn="just">
              <a:lnSpc>
                <a:spcPct val="100000"/>
              </a:lnSpc>
              <a:spcBef>
                <a:spcPts val="960"/>
              </a:spcBef>
            </a:pPr>
            <a:endParaRPr lang="en-US" sz="5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96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US"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the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corresponds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item/object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endParaRPr lang="en-US" sz="1800" dirty="0">
              <a:latin typeface="Corbel"/>
              <a:cs typeface="Corbel"/>
            </a:endParaRPr>
          </a:p>
          <a:p>
            <a:pPr marL="12700" algn="l">
              <a:spcBef>
                <a:spcPts val="95"/>
              </a:spcBef>
            </a:pPr>
            <a:endParaRPr lang="en-US" sz="1800" dirty="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564217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FCB5E48-1921-B91A-4B22-B31B069E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8257CB2D-133F-A321-4516-0951505A2C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1292906F-133A-7118-B69A-67B7B6CBFA18}"/>
              </a:ext>
            </a:extLst>
          </p:cNvPr>
          <p:cNvSpPr txBox="1"/>
          <p:nvPr/>
        </p:nvSpPr>
        <p:spPr>
          <a:xfrm>
            <a:off x="135980" y="37306"/>
            <a:ext cx="9600000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File pointer operations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used for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random access</a:t>
            </a:r>
            <a:endParaRPr lang="en-IN" sz="3070" dirty="0">
              <a:solidFill>
                <a:schemeClr val="accent1">
                  <a:lumMod val="60000"/>
                  <a:lumOff val="40000"/>
                </a:schemeClr>
              </a:solidFill>
              <a:latin typeface="Proxima Nova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D900D6-7DD6-E5EA-BA15-67D33909C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6429ABE0-6D8E-9622-BD5E-7B31339D322D}"/>
              </a:ext>
            </a:extLst>
          </p:cNvPr>
          <p:cNvSpPr txBox="1"/>
          <p:nvPr/>
        </p:nvSpPr>
        <p:spPr>
          <a:xfrm>
            <a:off x="459416" y="1115275"/>
            <a:ext cx="11719884" cy="346954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ofstreamfout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seekg(0,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beg)</a:t>
            </a:r>
            <a:r>
              <a:rPr sz="20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2722880" algn="l"/>
              </a:tabLst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seekg(0,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cur)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seekg(0, ios::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end)</a:t>
            </a:r>
            <a:r>
              <a:rPr sz="20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seekg(m,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beg)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m+1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280"/>
              </a:lnSpc>
              <a:spcBef>
                <a:spcPts val="965"/>
              </a:spcBef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seekg(m,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cur)</a:t>
            </a:r>
            <a:r>
              <a:rPr sz="20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 from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seekg(-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cur)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 from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seekg(-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ios::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end)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198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DED946F-3224-1A11-243C-2E7499BF2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E7D61415-A57B-22B2-D9B4-3976A865E5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7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0AFA57FB-0149-A9A2-EC7E-1B73C1175A3D}"/>
              </a:ext>
            </a:extLst>
          </p:cNvPr>
          <p:cNvSpPr txBox="1"/>
          <p:nvPr/>
        </p:nvSpPr>
        <p:spPr>
          <a:xfrm>
            <a:off x="135980" y="37306"/>
            <a:ext cx="96000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US" sz="3070" spc="-80" dirty="0">
                <a:solidFill>
                  <a:srgbClr val="00B0F0"/>
                </a:solidFill>
                <a:latin typeface="Proxima Nova"/>
                <a:cs typeface="Corbel"/>
              </a:rPr>
              <a:t>Random Access </a:t>
            </a:r>
            <a:r>
              <a:rPr lang="en-US" sz="3070" spc="-10" dirty="0">
                <a:solidFill>
                  <a:srgbClr val="00B0F0"/>
                </a:solidFill>
                <a:latin typeface="Proxima Nova"/>
                <a:cs typeface="Corbel"/>
              </a:rPr>
              <a:t>Example</a:t>
            </a:r>
            <a:endParaRPr lang="en-US" sz="3070" dirty="0">
              <a:solidFill>
                <a:srgbClr val="00B0F0"/>
              </a:solidFill>
              <a:latin typeface="Proxima Nova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585"/>
              </a:spcBef>
            </a:pP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93910C-8286-46DA-64E6-258591B9C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10310F5-4C99-0D83-1CA6-A1E31AEB4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342261"/>
              </p:ext>
            </p:extLst>
          </p:nvPr>
        </p:nvGraphicFramePr>
        <p:xfrm>
          <a:off x="905434" y="1219200"/>
          <a:ext cx="10174942" cy="5192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7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216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sz="1800" b="0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r>
                        <a:rPr sz="1800" b="0" spc="-5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3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1800" b="0" spc="-3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name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371600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cout&lt;&lt;"Enter</a:t>
                      </a:r>
                      <a:r>
                        <a:rPr sz="1800" b="0" spc="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Name:"; </a:t>
                      </a: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371600">
                        <a:lnSpc>
                          <a:spcPct val="100000"/>
                        </a:lnSpc>
                      </a:pPr>
                      <a:r>
                        <a:rPr sz="1800" b="0" spc="-1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cin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&gt;&gt;name; </a:t>
                      </a: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371600">
                        <a:lnSpc>
                          <a:spcPct val="100000"/>
                        </a:lnSpc>
                      </a:pPr>
                      <a:r>
                        <a:rPr sz="1800" b="0" spc="-1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file.seekg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(0,ios::beg); </a:t>
                      </a: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371600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found=0;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895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while(file.read</a:t>
                      </a:r>
                      <a:r>
                        <a:rPr sz="1800" b="0" spc="-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((char</a:t>
                      </a:r>
                      <a:r>
                        <a:rPr sz="1800" b="0" spc="-5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*)</a:t>
                      </a:r>
                      <a:r>
                        <a:rPr sz="1800" b="0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&amp;rec,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sizeof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(rec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)))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if(strcmp(name,</a:t>
                      </a:r>
                      <a:r>
                        <a:rPr lang="en-US"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rec.getname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())</a:t>
                      </a:r>
                      <a:r>
                        <a:rPr lang="en-US"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)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2005964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found=1; </a:t>
                      </a: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2005964">
                        <a:lnSpc>
                          <a:spcPct val="100000"/>
                        </a:lnSpc>
                      </a:pPr>
                      <a:r>
                        <a:rPr sz="1800" b="0" spc="-1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rec.showdata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file.clear();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if(found==0)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cout&lt;&lt;"Record</a:t>
                      </a: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sz="1800" b="0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n";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sz="1800" b="0" spc="-3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b="0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</a:t>
                      </a:r>
                      <a:r>
                        <a:rPr lang="en-US"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number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cout&lt;&lt;"Enter</a:t>
                      </a:r>
                      <a:r>
                        <a:rPr sz="1800" b="0" spc="-1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Telephone</a:t>
                      </a:r>
                      <a:r>
                        <a:rPr sz="1800" b="0" spc="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Number";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 marR="142176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cin&gt;&gt;telno; </a:t>
                      </a: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 marR="1421765">
                        <a:lnSpc>
                          <a:spcPct val="100000"/>
                        </a:lnSpc>
                      </a:pPr>
                      <a:r>
                        <a:rPr sz="1800" b="0" spc="-1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file.seekg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(0,ios::beg); </a:t>
                      </a:r>
                      <a:endParaRPr lang="en-US" sz="1800" b="0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 marR="142176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found=0;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 marR="889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while(file.read</a:t>
                      </a:r>
                      <a:r>
                        <a:rPr sz="1800" b="0" spc="-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((char</a:t>
                      </a:r>
                      <a:r>
                        <a:rPr sz="1800" b="0" spc="-5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*)</a:t>
                      </a:r>
                      <a:r>
                        <a:rPr sz="1800" b="0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&amp;rec,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sizeof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(rec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)))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if(strcmp(</a:t>
                      </a:r>
                      <a:r>
                        <a:rPr sz="1800" b="0" spc="-1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telno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rec.gettelno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())</a:t>
                      </a:r>
                      <a:r>
                        <a:rPr lang="en-US"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sz="1800" b="0" spc="13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found=1;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rec.showdata();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file.clear();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if(found==0)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cout&lt;&lt;"Record</a:t>
                      </a:r>
                      <a:r>
                        <a:rPr sz="1800" b="0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sz="1800" b="0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</a:t>
                      </a:r>
                      <a:r>
                        <a:rPr sz="1800" b="0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n";</a:t>
                      </a:r>
                      <a:endParaRPr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492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C22F749-18AB-1589-C75B-F0DF88482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>
            <a:extLst>
              <a:ext uri="{FF2B5EF4-FFF2-40B4-BE49-F238E27FC236}">
                <a16:creationId xmlns:a16="http://schemas.microsoft.com/office/drawing/2014/main" id="{C8FBDD57-D7A4-8130-84DB-46609830CC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7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42A9392E-A42B-BABD-89FA-CAA0D3977944}"/>
              </a:ext>
            </a:extLst>
          </p:cNvPr>
          <p:cNvSpPr txBox="1"/>
          <p:nvPr/>
        </p:nvSpPr>
        <p:spPr>
          <a:xfrm>
            <a:off x="135980" y="37306"/>
            <a:ext cx="96000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lang="en-US" sz="3070" spc="-80" dirty="0">
                <a:solidFill>
                  <a:srgbClr val="00B0F0"/>
                </a:solidFill>
                <a:latin typeface="Proxima Nova"/>
                <a:cs typeface="Corbel"/>
              </a:rPr>
              <a:t>Update Telephone Number</a:t>
            </a:r>
            <a:endParaRPr lang="en-US" sz="3070" dirty="0">
              <a:solidFill>
                <a:srgbClr val="00B0F0"/>
              </a:solidFill>
              <a:latin typeface="Proxima Nova"/>
              <a:cs typeface="Corbel"/>
            </a:endParaRPr>
          </a:p>
          <a:p>
            <a:pPr marL="12700" marR="5080">
              <a:lnSpc>
                <a:spcPts val="3890"/>
              </a:lnSpc>
              <a:spcBef>
                <a:spcPts val="585"/>
              </a:spcBef>
            </a:pPr>
            <a:endParaRPr lang="en-IN" sz="3070" dirty="0">
              <a:solidFill>
                <a:srgbClr val="00B0F0"/>
              </a:solidFill>
              <a:latin typeface="Proxima Nova" panose="020B0604020202020204"/>
              <a:cs typeface="Corbe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3E54B7-EABF-4529-CE07-63B106D6D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9" y="37306"/>
            <a:ext cx="2706859" cy="898223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DAA1275-FF35-D2B6-BF8F-555306638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210468"/>
              </p:ext>
            </p:extLst>
          </p:nvPr>
        </p:nvGraphicFramePr>
        <p:xfrm>
          <a:off x="788894" y="1219200"/>
          <a:ext cx="10309412" cy="50112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60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1271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&lt;&lt;"\n Enter Name : ";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cin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&gt;&gt;name;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file.seekg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(0,ios::beg);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found=0 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cnt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=0 ;//no. of objects has been read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while(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file.read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((char *) &amp;rec,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sizeof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(rec )))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cnt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if(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strcmp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nm,rec.getname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())==0)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found=1;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break;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file.clear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if(found==0)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&lt;&lt;"n Record Not found n";</a:t>
                      </a:r>
                    </a:p>
                    <a:p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location = (cnt-1) *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sizeof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(rec);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if(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file.eof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()) 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file.clear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cout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&lt;&lt;"Enter New phone No :";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cin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telno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file.seekp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(location);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rec.update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nm,telno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file.write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((char *) &amp;rec,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sizeof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(rec));</a:t>
                      </a:r>
                    </a:p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file.flush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583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2308</TotalTime>
  <Words>4046</Words>
  <Application>Microsoft Office PowerPoint</Application>
  <PresentationFormat>Widescreen</PresentationFormat>
  <Paragraphs>476</Paragraphs>
  <Slides>39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</vt:lpstr>
      <vt:lpstr>Calibri</vt:lpstr>
      <vt:lpstr>Calibri Light</vt:lpstr>
      <vt:lpstr>Corbel</vt:lpstr>
      <vt:lpstr>Proxima Nova</vt:lpstr>
      <vt:lpstr>Times New Roman</vt:lpstr>
      <vt:lpstr>Wingdings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Ayush Gour</cp:lastModifiedBy>
  <cp:revision>65</cp:revision>
  <dcterms:created xsi:type="dcterms:W3CDTF">2023-12-05T07:58:57Z</dcterms:created>
  <dcterms:modified xsi:type="dcterms:W3CDTF">2025-04-09T06:29:26Z</dcterms:modified>
</cp:coreProperties>
</file>
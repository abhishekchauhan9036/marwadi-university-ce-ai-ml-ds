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65" r:id="rId3"/>
    <p:sldId id="25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8" r:id="rId29"/>
    <p:sldId id="322" r:id="rId30"/>
    <p:sldId id="323" r:id="rId31"/>
    <p:sldId id="324" r:id="rId32"/>
    <p:sldId id="326" r:id="rId33"/>
    <p:sldId id="327" r:id="rId34"/>
    <p:sldId id="25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A06EA-7A10-F948-B82F-6611645B5F6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094C3-2683-1E4B-9EA9-2207F17F6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6c834fc2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6c834fc2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10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17-02-2025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1" y="82739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7918" y="198118"/>
            <a:ext cx="19939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1;p15"/>
          <p:cNvSpPr txBox="1"/>
          <p:nvPr/>
        </p:nvSpPr>
        <p:spPr>
          <a:xfrm>
            <a:off x="258568" y="4518259"/>
            <a:ext cx="5145737" cy="106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 algn="ctr"/>
            <a:r>
              <a:rPr lang="en-US" sz="2667" b="1" dirty="0">
                <a:latin typeface="Trebuchet MS" panose="020B0603020202020204" pitchFamily="34" charset="0"/>
                <a:sym typeface="Proxima Nova"/>
              </a:rPr>
              <a:t>Unit – 4 </a:t>
            </a:r>
          </a:p>
          <a:p>
            <a:pPr lvl="0" algn="ctr"/>
            <a:r>
              <a:rPr lang="en-US" sz="2667" b="1" dirty="0">
                <a:latin typeface="Trebuchet MS" panose="020B0603020202020204" pitchFamily="34" charset="0"/>
              </a:rPr>
              <a:t>Object and Classes</a:t>
            </a:r>
            <a:endParaRPr lang="en-IN" sz="2667" b="1" dirty="0">
              <a:latin typeface="Trebuchet MS" panose="020B0603020202020204" pitchFamily="34" charset="0"/>
              <a:sym typeface="Proxima Nova"/>
            </a:endParaRPr>
          </a:p>
        </p:txBody>
      </p:sp>
      <p:sp>
        <p:nvSpPr>
          <p:cNvPr id="13" name="Google Shape;71;p15"/>
          <p:cNvSpPr txBox="1"/>
          <p:nvPr/>
        </p:nvSpPr>
        <p:spPr>
          <a:xfrm>
            <a:off x="481474" y="1705475"/>
            <a:ext cx="5145737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 algn="ctr"/>
            <a:r>
              <a:rPr lang="en-US" sz="3200" b="1" dirty="0">
                <a:latin typeface="Trebuchet MS" panose="020B0603020202020204" pitchFamily="34" charset="0"/>
              </a:rPr>
              <a:t>Object Oriented Design and Programming (</a:t>
            </a:r>
            <a:r>
              <a:rPr lang="en-IN" sz="3200" b="1" dirty="0">
                <a:latin typeface="Trebuchet MS" panose="020B0603020202020204" pitchFamily="34" charset="0"/>
                <a:sym typeface="Proxima Nova"/>
              </a:rPr>
              <a:t>01AI0103)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18E72-6713-D678-B3E8-D02B06330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84" y="1437448"/>
            <a:ext cx="5474985" cy="4670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52935" y="448866"/>
            <a:ext cx="30765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2ECBB-8A16-06F0-3511-9094676C8AB1}"/>
              </a:ext>
            </a:extLst>
          </p:cNvPr>
          <p:cNvSpPr txBox="1"/>
          <p:nvPr/>
        </p:nvSpPr>
        <p:spPr>
          <a:xfrm>
            <a:off x="478275" y="1370409"/>
            <a:ext cx="6097712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Definitions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Members of Structures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Scope and Accessing Class Members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Class Objects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onstructors and their types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estructors</a:t>
            </a:r>
            <a:endParaRPr lang="en-IN" dirty="0">
              <a:solidFill>
                <a:srgbClr val="666666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6918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76A6C-645F-7E8F-5DAB-73635851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11FC553-EFD9-B575-AF4E-FC14E5CFA0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5" y="361035"/>
            <a:ext cx="41450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Class and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A12C0-44C1-8749-9EF5-05160F94A376}"/>
              </a:ext>
            </a:extLst>
          </p:cNvPr>
          <p:cNvSpPr txBox="1"/>
          <p:nvPr/>
        </p:nvSpPr>
        <p:spPr>
          <a:xfrm>
            <a:off x="652935" y="1062185"/>
            <a:ext cx="11388377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of objects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share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properties and relationships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C++, a class is a new data type that contains member variables and member functions that operates on the variables.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is defined with the keyword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allows the data to be hidden, if necessary from external use.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defining a class, we are creating a new abstract data type that can be treated like any other built in data type.</a:t>
            </a:r>
          </a:p>
        </p:txBody>
      </p:sp>
    </p:spTree>
    <p:extLst>
      <p:ext uri="{BB962C8B-B14F-4D97-AF65-F5344CB8AC3E}">
        <p14:creationId xmlns:p14="http://schemas.microsoft.com/office/powerpoint/2010/main" val="191519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E56B9-8333-4844-1693-19382A3F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BA461EE-CCD4-A61C-E0FB-72238BAE5B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5" y="361035"/>
            <a:ext cx="41450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Class and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876AB-A6B2-8E0E-D2C7-B92BB97F3BE3}"/>
              </a:ext>
            </a:extLst>
          </p:cNvPr>
          <p:cNvSpPr txBox="1"/>
          <p:nvPr/>
        </p:nvSpPr>
        <p:spPr>
          <a:xfrm>
            <a:off x="581218" y="1089079"/>
            <a:ext cx="11388377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class-name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//variable declarations;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//function declaration ;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//variable declarations;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//function declaration;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2783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61001-175C-6D00-45D8-A20AE23C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EA2447F-D6C8-3BFA-AF3F-29DC803B20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5" y="361035"/>
            <a:ext cx="41450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Class and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AC942-B97B-A346-4433-2645337BB817}"/>
              </a:ext>
            </a:extLst>
          </p:cNvPr>
          <p:cNvSpPr txBox="1"/>
          <p:nvPr/>
        </p:nvSpPr>
        <p:spPr>
          <a:xfrm>
            <a:off x="652935" y="1062185"/>
            <a:ext cx="11388377" cy="5550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are the basic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time entities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Object Oriented Programming (OOP) System.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represent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person, a bank account, a table of data or any item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that the program has to handle.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also represent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data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vector, time, and lists.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is executed, the objects interact by sending messages to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one another.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objects is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declaring variables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847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91045-0FBD-FE60-ED72-163A8C82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1F1729C-73D7-C997-B863-1296B48335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5" y="361035"/>
            <a:ext cx="41450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Class and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5EC9D-811B-7F8D-D03D-90BC72F80315}"/>
              </a:ext>
            </a:extLst>
          </p:cNvPr>
          <p:cNvSpPr txBox="1"/>
          <p:nvPr/>
        </p:nvSpPr>
        <p:spPr>
          <a:xfrm>
            <a:off x="652935" y="1062185"/>
            <a:ext cx="11388377" cy="310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Syntax: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&lt;Class Name&gt; &lt;Object Name&gt;;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Student s1;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//Where Student is a class name and s1 is its object.</a:t>
            </a:r>
          </a:p>
        </p:txBody>
      </p:sp>
    </p:spTree>
    <p:extLst>
      <p:ext uri="{BB962C8B-B14F-4D97-AF65-F5344CB8AC3E}">
        <p14:creationId xmlns:p14="http://schemas.microsoft.com/office/powerpoint/2010/main" val="68208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6CB85-082D-0B07-760D-C1DD35CB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F7B5B4E-3807-1BF8-8C57-ADB57C053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4" y="361035"/>
            <a:ext cx="731981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Accessing Data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CF2A8-F144-53BE-16C4-43A7C4383880}"/>
              </a:ext>
            </a:extLst>
          </p:cNvPr>
          <p:cNvSpPr txBox="1"/>
          <p:nvPr/>
        </p:nvSpPr>
        <p:spPr>
          <a:xfrm>
            <a:off x="652936" y="1062185"/>
            <a:ext cx="10155478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a data member is solely determined by the data member's access control.</a:t>
            </a:r>
          </a:p>
          <a:p>
            <a:pPr marL="630238" lvl="1" indent="-3571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member is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public,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object of that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can readily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using the direct member access (.) operator.</a:t>
            </a:r>
          </a:p>
          <a:p>
            <a:pPr marL="630238" lvl="1" indent="-3571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member is set to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or protected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can't access the data variables directly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Then, in order to access, use, or initialize the private and protected data members, we'll need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unique public member functions. </a:t>
            </a:r>
          </a:p>
        </p:txBody>
      </p:sp>
    </p:spTree>
    <p:extLst>
      <p:ext uri="{BB962C8B-B14F-4D97-AF65-F5344CB8AC3E}">
        <p14:creationId xmlns:p14="http://schemas.microsoft.com/office/powerpoint/2010/main" val="411263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EBAA6-7D40-AE09-E9AB-DC1C31AE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934520F0-2B52-8F51-27BD-9709C1B9F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4" y="361035"/>
            <a:ext cx="731981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Accessing Data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5509E-D025-D46C-20FE-6FFCEEA0D05E}"/>
              </a:ext>
            </a:extLst>
          </p:cNvPr>
          <p:cNvSpPr txBox="1"/>
          <p:nvPr/>
        </p:nvSpPr>
        <p:spPr>
          <a:xfrm>
            <a:off x="652936" y="1062185"/>
            <a:ext cx="71348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three access specifiers in C++ 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members can be accessed from other members of the same class only or from the friends of class (this is an advanced concept, will learn it later).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members can be accessed from members of the same class, from the friend classes and also from members of the derived classes.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members can be accessed from any where through the object of the class.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Private, Protected, Public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visibility labels.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member that declare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can be accessed only from within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member can be accessed anywhere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object of the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 data can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making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1192ECA-11FC-B477-3A4D-2E7A9820B926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196" y="1786414"/>
            <a:ext cx="3307221" cy="393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8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9A196-CA51-B3F8-C7F3-F447F453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7A39919-4309-C913-74F3-72362A7A5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934" y="361035"/>
            <a:ext cx="731981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Accessing Specifiers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8C11DA-8111-A89C-1909-A48F83DEF531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4" y="1458929"/>
            <a:ext cx="10247947" cy="40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6F8F3-4934-CAAC-9606-02CBD67E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7E1EA0A-20E5-FC71-9574-79DF1B486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731981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Accessing Data Members-Public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94A25-35E6-74BB-7DDE-036CE7B80DAC}"/>
              </a:ext>
            </a:extLst>
          </p:cNvPr>
          <p:cNvSpPr txBox="1"/>
          <p:nvPr/>
        </p:nvSpPr>
        <p:spPr>
          <a:xfrm>
            <a:off x="493159" y="1216249"/>
            <a:ext cx="833491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class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public:                       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//Access specifiers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string name, address;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//Data members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};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main()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//We can access these data members name and address by the (.) operator.</a:t>
            </a:r>
          </a:p>
          <a:p>
            <a:endParaRPr lang="en-IN" sz="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s1;       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//declaring object of 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s1.name=“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Marwadi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//accessing public data members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s1.address=“Rajkot";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90707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2845B-1395-4A82-84D6-72BEE8221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6FB2DE4-7B18-6585-0AE5-003B771A1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Accessing Data Members-Private/Protected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DB672-852C-DF0C-E003-CC4735BB35E5}"/>
              </a:ext>
            </a:extLst>
          </p:cNvPr>
          <p:cNvSpPr txBox="1"/>
          <p:nvPr/>
        </p:nvSpPr>
        <p:spPr>
          <a:xfrm>
            <a:off x="887506" y="1216249"/>
            <a:ext cx="48857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private: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get_detail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set_detail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 = s;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DCC2E-47AC-5F00-0494-76C302A9620B}"/>
              </a:ext>
            </a:extLst>
          </p:cNvPr>
          <p:cNvSpPr txBox="1"/>
          <p:nvPr/>
        </p:nvSpPr>
        <p:spPr>
          <a:xfrm>
            <a:off x="5773271" y="1353539"/>
            <a:ext cx="54236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student s1;  //creating object s1 of student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s1.</a:t>
            </a:r>
            <a:r>
              <a:rPr lang="en-US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set_detail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("Kavi");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s1.</a:t>
            </a:r>
            <a:r>
              <a:rPr lang="en-US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get_detail()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7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78904-E50C-0099-57D9-F201D9C7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0494588-7582-8EF4-4D2E-73AE3BEB0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Defining Member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CCB06-DC46-37CD-3D7A-ABA542F880E2}"/>
              </a:ext>
            </a:extLst>
          </p:cNvPr>
          <p:cNvSpPr txBox="1"/>
          <p:nvPr/>
        </p:nvSpPr>
        <p:spPr>
          <a:xfrm>
            <a:off x="459768" y="1149133"/>
            <a:ext cx="10112339" cy="254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functions of a class are </a:t>
            </a:r>
            <a:r>
              <a:rPr lang="en-IN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access, use or modify the data members of that class</a:t>
            </a:r>
            <a:r>
              <a:rPr lang="en-IN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We can define member functions in two ways:</a:t>
            </a:r>
          </a:p>
          <a:p>
            <a:pPr marL="814387" lvl="2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Class definition </a:t>
            </a:r>
          </a:p>
          <a:p>
            <a:pPr marL="814387" lvl="2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Outside Class definition</a:t>
            </a:r>
          </a:p>
        </p:txBody>
      </p:sp>
    </p:spTree>
    <p:extLst>
      <p:ext uri="{BB962C8B-B14F-4D97-AF65-F5344CB8AC3E}">
        <p14:creationId xmlns:p14="http://schemas.microsoft.com/office/powerpoint/2010/main" val="3035197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1AA3-9530-A6F0-C960-053087F1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2822701-4FDF-E2BF-92C9-3B5E90DB1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Defining Member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A5731-1745-6F8A-02B8-0FAE7BF68E19}"/>
              </a:ext>
            </a:extLst>
          </p:cNvPr>
          <p:cNvSpPr txBox="1"/>
          <p:nvPr/>
        </p:nvSpPr>
        <p:spPr>
          <a:xfrm>
            <a:off x="459768" y="1149133"/>
            <a:ext cx="10112339" cy="451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Inside Class definition: </a:t>
            </a:r>
          </a:p>
          <a:p>
            <a:pPr marL="273050" indent="-2730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define a member function inside the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directly without declaring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first in class.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Outside Class definition: 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define a member function outside the class we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declare it first inside the class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then define it outside the class.</a:t>
            </a:r>
            <a:endParaRPr lang="en-IN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480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DAD19-8079-11C0-C5BC-13CCECD0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293673B-F862-781D-367E-8DF2427C5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Inside Class Definition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DAE9F9-5290-ABEB-D411-6058DBBD4115}"/>
              </a:ext>
            </a:extLst>
          </p:cNvPr>
          <p:cNvSpPr txBox="1"/>
          <p:nvPr/>
        </p:nvSpPr>
        <p:spPr>
          <a:xfrm>
            <a:off x="386477" y="1149133"/>
            <a:ext cx="1904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B3C15-880E-AF9E-4758-CD18F0CBB22B}"/>
              </a:ext>
            </a:extLst>
          </p:cNvPr>
          <p:cNvSpPr txBox="1"/>
          <p:nvPr/>
        </p:nvSpPr>
        <p:spPr>
          <a:xfrm>
            <a:off x="386477" y="1820749"/>
            <a:ext cx="6097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public: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datatype var1,var2..var_n 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//inside class definition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func_name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(parameter list)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//body of statements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};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B24EB2-6A00-82F6-31BF-192A7BE3CD76}"/>
              </a:ext>
            </a:extLst>
          </p:cNvPr>
          <p:cNvCxnSpPr>
            <a:cxnSpLocks/>
          </p:cNvCxnSpPr>
          <p:nvPr/>
        </p:nvCxnSpPr>
        <p:spPr>
          <a:xfrm>
            <a:off x="5740656" y="1037690"/>
            <a:ext cx="0" cy="56918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27905C-B9D0-2EC8-6520-EF30DAC71BEA}"/>
              </a:ext>
            </a:extLst>
          </p:cNvPr>
          <p:cNvSpPr txBox="1"/>
          <p:nvPr/>
        </p:nvSpPr>
        <p:spPr>
          <a:xfrm>
            <a:off x="5779213" y="105988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Example1: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9386F8-0934-E708-B8FC-69377A988EF3}"/>
              </a:ext>
            </a:extLst>
          </p:cNvPr>
          <p:cNvSpPr txBox="1"/>
          <p:nvPr/>
        </p:nvSpPr>
        <p:spPr>
          <a:xfrm>
            <a:off x="5874249" y="1620931"/>
            <a:ext cx="6097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name, address;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//inside class definition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print_detail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“Student name: " &lt;&lt;name;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“Student Address: " &lt;&lt;address;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690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8B911-5B9F-9AF2-6929-0BA157D7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8783FF5-B09D-4C52-5426-0CDFC1C819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Outside Class Definition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708F4-3B6C-7A5E-3BE0-812F68981AB3}"/>
              </a:ext>
            </a:extLst>
          </p:cNvPr>
          <p:cNvSpPr txBox="1"/>
          <p:nvPr/>
        </p:nvSpPr>
        <p:spPr>
          <a:xfrm>
            <a:off x="386477" y="1149133"/>
            <a:ext cx="1904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DC0BB-BB1A-C66E-C104-5D5463A331C2}"/>
              </a:ext>
            </a:extLst>
          </p:cNvPr>
          <p:cNvSpPr txBox="1"/>
          <p:nvPr/>
        </p:nvSpPr>
        <p:spPr>
          <a:xfrm>
            <a:off x="386477" y="1620931"/>
            <a:ext cx="60977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public: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datatype var1,var2..varn ;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func_name1(parameter list);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func_name2(parameter list);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……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func_name2(parameter list);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//outside class definition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::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func_name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(parameter list)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//body of statements;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7F0C80-DB66-D5C0-52D8-EB0354F67A2A}"/>
              </a:ext>
            </a:extLst>
          </p:cNvPr>
          <p:cNvCxnSpPr>
            <a:cxnSpLocks/>
          </p:cNvCxnSpPr>
          <p:nvPr/>
        </p:nvCxnSpPr>
        <p:spPr>
          <a:xfrm>
            <a:off x="5740656" y="1037690"/>
            <a:ext cx="0" cy="56918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E0FC34-5E4D-11E9-16D6-C97C7AE5EDE5}"/>
              </a:ext>
            </a:extLst>
          </p:cNvPr>
          <p:cNvSpPr txBox="1"/>
          <p:nvPr/>
        </p:nvSpPr>
        <p:spPr>
          <a:xfrm>
            <a:off x="5779213" y="105988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Example1: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62448-4E88-8C40-C49D-9D75546F201D}"/>
              </a:ext>
            </a:extLst>
          </p:cNvPr>
          <p:cNvSpPr txBox="1"/>
          <p:nvPr/>
        </p:nvSpPr>
        <p:spPr>
          <a:xfrm>
            <a:off x="5874249" y="1620931"/>
            <a:ext cx="60977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name, address;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print_detail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student ::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print_detail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“Student name: " &lt;&lt;name;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“Student Address: " &lt;&lt;address;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47579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04B94-B40F-A117-2D31-92E7E101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FA193ED-576D-85E8-4348-46DD80EBA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961ED-486F-448E-D894-E6078FAF298D}"/>
              </a:ext>
            </a:extLst>
          </p:cNvPr>
          <p:cNvSpPr txBox="1"/>
          <p:nvPr/>
        </p:nvSpPr>
        <p:spPr>
          <a:xfrm>
            <a:off x="459768" y="1149133"/>
            <a:ext cx="10112339" cy="373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A constructor is a special member function whose task is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initialize the objects of its class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. It is special because its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name is same as the class name.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The constructor is invoked or call whenever an object of its associated class is created It is called constructor.</a:t>
            </a:r>
          </a:p>
          <a:p>
            <a:pPr marL="182880" marR="0" lvl="0" indent="-18288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The main job of a constructor is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allocate memory for class objects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38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1C324-D285-42F1-B062-D84ACC88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AE60B3B-907B-4175-D7D9-6FF4FAA88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Characteristics of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CFF90-1E4E-24D4-4566-662B4268BF64}"/>
              </a:ext>
            </a:extLst>
          </p:cNvPr>
          <p:cNvSpPr txBox="1"/>
          <p:nvPr/>
        </p:nvSpPr>
        <p:spPr>
          <a:xfrm>
            <a:off x="459768" y="1149133"/>
            <a:ext cx="1011233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should be declared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They are invoked automatically when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are created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They do not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types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even void and therefore, and they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return values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They cannot be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can be 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Like other C++ functions, they can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arguments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9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B56C4-7916-B9BC-D068-020B3021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DFBC036-6482-1535-F8F4-C12DFFC9D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3AE0D-2AE4-FD50-C9DB-C9D3E4B92633}"/>
              </a:ext>
            </a:extLst>
          </p:cNvPr>
          <p:cNvSpPr txBox="1"/>
          <p:nvPr/>
        </p:nvSpPr>
        <p:spPr>
          <a:xfrm>
            <a:off x="459768" y="1149133"/>
            <a:ext cx="10112339" cy="314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536575" lvl="2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6575" lvl="2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36575" lvl="2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536575" lvl="2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(){}</a:t>
            </a: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declaration</a:t>
            </a:r>
          </a:p>
          <a:p>
            <a:pPr marL="536575" lvl="2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91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C3E41-D18D-0B97-12F8-2EA31A76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07B2FC6-A8F9-61EE-BC2E-FF121716C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3BF49-07F6-1DB3-C696-BE4261906D57}"/>
              </a:ext>
            </a:extLst>
          </p:cNvPr>
          <p:cNvSpPr txBox="1"/>
          <p:nvPr/>
        </p:nvSpPr>
        <p:spPr>
          <a:xfrm>
            <a:off x="459769" y="1149133"/>
            <a:ext cx="49818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integer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m, n;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integer(void);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Defining outside the class as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integer::integer(void)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 = 0;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 = 0;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 = " &lt;&lt; m &lt;&lt; " n = " &lt;&lt; n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8DAAC-778F-F6B7-9FF3-4E7BA352A702}"/>
              </a:ext>
            </a:extLst>
          </p:cNvPr>
          <p:cNvSpPr txBox="1"/>
          <p:nvPr/>
        </p:nvSpPr>
        <p:spPr>
          <a:xfrm>
            <a:off x="6570886" y="3414518"/>
            <a:ext cx="1570077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m=0 n=0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02FAA-B620-169F-664F-F9A73704CDDD}"/>
              </a:ext>
            </a:extLst>
          </p:cNvPr>
          <p:cNvSpPr txBox="1"/>
          <p:nvPr/>
        </p:nvSpPr>
        <p:spPr>
          <a:xfrm>
            <a:off x="6331650" y="1113274"/>
            <a:ext cx="49818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integer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int_obj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9655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CFE05-5D18-D83D-B843-095969BF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48D20AA-3CD6-F617-CEF7-9BF0934F1A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Constructors -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73322-8649-0AE2-D769-3586882A8DB7}"/>
              </a:ext>
            </a:extLst>
          </p:cNvPr>
          <p:cNvSpPr txBox="1"/>
          <p:nvPr/>
        </p:nvSpPr>
        <p:spPr>
          <a:xfrm>
            <a:off x="869576" y="1801905"/>
            <a:ext cx="9702531" cy="2657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are classified into different types. They are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37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1C8D0-30FB-5939-6AEB-6912863E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F2403470-EA2B-D062-86D2-B3B12EFB0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Default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804F1-83C7-ED00-153A-0407C90BF2EB}"/>
              </a:ext>
            </a:extLst>
          </p:cNvPr>
          <p:cNvSpPr txBox="1"/>
          <p:nvPr/>
        </p:nvSpPr>
        <p:spPr>
          <a:xfrm>
            <a:off x="1165412" y="1810871"/>
            <a:ext cx="9406695" cy="380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C++, a default constructor is a constructor that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an object of a class with no arguments.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called a "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constructor because it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by the compiler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other constructor is defined for the class.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constructor has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name as the class and no arguments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initializes the data members of the class to their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depend on their types.</a:t>
            </a:r>
          </a:p>
          <a:p>
            <a:pPr marL="357187"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006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27249-55E3-057C-EF05-180F8CBA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D42BDB3-C2A1-A637-68C7-97FE4E2D4C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Default Constructors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FF848-20F1-F527-E3D4-3BAA12971AE9}"/>
              </a:ext>
            </a:extLst>
          </p:cNvPr>
          <p:cNvSpPr txBox="1"/>
          <p:nvPr/>
        </p:nvSpPr>
        <p:spPr>
          <a:xfrm>
            <a:off x="459768" y="1149133"/>
            <a:ext cx="10112339" cy="5919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Person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age;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Person() </a:t>
            </a: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Default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 = "John Doe";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age = 18;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display()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"Age: " &lt;&lt; age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144F9-2949-1BC1-ABB9-06B9F884EF0E}"/>
              </a:ext>
            </a:extLst>
          </p:cNvPr>
          <p:cNvSpPr txBox="1"/>
          <p:nvPr/>
        </p:nvSpPr>
        <p:spPr>
          <a:xfrm>
            <a:off x="6094288" y="1149133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 main()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Creating an object using default 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Person p1;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Displaying details of the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p1.display();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3CE84-D205-18BB-C013-9C1EF019C9E7}"/>
              </a:ext>
            </a:extLst>
          </p:cNvPr>
          <p:cNvSpPr txBox="1"/>
          <p:nvPr/>
        </p:nvSpPr>
        <p:spPr>
          <a:xfrm>
            <a:off x="7096220" y="4780924"/>
            <a:ext cx="325558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John Doe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18</a:t>
            </a:r>
          </a:p>
        </p:txBody>
      </p:sp>
    </p:spTree>
    <p:extLst>
      <p:ext uri="{BB962C8B-B14F-4D97-AF65-F5344CB8AC3E}">
        <p14:creationId xmlns:p14="http://schemas.microsoft.com/office/powerpoint/2010/main" val="1413545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9A061-97FF-187C-7BFC-4FAD51E4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85BA1A8-D79B-FA7C-4705-005CD03BD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Parameterized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F1EF6-E5F9-AF13-FD6A-0E711C53355E}"/>
              </a:ext>
            </a:extLst>
          </p:cNvPr>
          <p:cNvSpPr txBox="1"/>
          <p:nvPr/>
        </p:nvSpPr>
        <p:spPr>
          <a:xfrm>
            <a:off x="459768" y="1149133"/>
            <a:ext cx="10112339" cy="380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permits us to achieve this objective by 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arguments to the constructor function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objects are created.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constructors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take arguments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parameterized constructors.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pass the initial values as arguments to the constructor function when an object is declared. This can be done in two ways.</a:t>
            </a:r>
          </a:p>
          <a:p>
            <a:pPr>
              <a:lnSpc>
                <a:spcPct val="150000"/>
              </a:lnSpc>
              <a:tabLst>
                <a:tab pos="53657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By calling the constructor 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 int1=integer(0,100);</a:t>
            </a:r>
          </a:p>
          <a:p>
            <a:pPr>
              <a:lnSpc>
                <a:spcPct val="150000"/>
              </a:lnSpc>
              <a:tabLst>
                <a:tab pos="53657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By calling the constructor 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 int1(0,100);</a:t>
            </a: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14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53C32-05DE-8771-8338-AF7F17F0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FD19B75-E5D0-2318-C62D-B75E9A6B7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Parameterized Constructors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4E1B9-D0E0-DB52-4832-42BDD8CB97BD}"/>
              </a:ext>
            </a:extLst>
          </p:cNvPr>
          <p:cNvSpPr txBox="1"/>
          <p:nvPr/>
        </p:nvSpPr>
        <p:spPr>
          <a:xfrm>
            <a:off x="459768" y="1149133"/>
            <a:ext cx="10112339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algn="l">
              <a:spcBef>
                <a:spcPts val="300"/>
              </a:spcBef>
            </a:pP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Sample {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m, n;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Sample(int x, int y);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l">
              <a:spcBef>
                <a:spcPts val="300"/>
              </a:spcBef>
            </a:pP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definition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Sample::Sample(int x, int y) {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 = x;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 = y;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"m: " &lt;&lt; m &lt;&lt; " n: " &lt;&lt; n &lt;&lt;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4DA2C-9A7E-7A5B-B968-61D004C8ECF0}"/>
              </a:ext>
            </a:extLst>
          </p:cNvPr>
          <p:cNvSpPr txBox="1"/>
          <p:nvPr/>
        </p:nvSpPr>
        <p:spPr>
          <a:xfrm>
            <a:off x="6963310" y="1149133"/>
            <a:ext cx="6097712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 S(25, 50);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>
              <a:spcBef>
                <a:spcPts val="300"/>
              </a:spcBef>
            </a:pP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7CA29-D510-D7ED-592D-3D8D34C9E4B0}"/>
              </a:ext>
            </a:extLst>
          </p:cNvPr>
          <p:cNvSpPr txBox="1"/>
          <p:nvPr/>
        </p:nvSpPr>
        <p:spPr>
          <a:xfrm>
            <a:off x="7649405" y="3908299"/>
            <a:ext cx="2092884" cy="786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Output: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25 n: 50</a:t>
            </a:r>
          </a:p>
        </p:txBody>
      </p:sp>
    </p:spTree>
    <p:extLst>
      <p:ext uri="{BB962C8B-B14F-4D97-AF65-F5344CB8AC3E}">
        <p14:creationId xmlns:p14="http://schemas.microsoft.com/office/powerpoint/2010/main" val="1844215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19A8E-3047-1D06-D132-EBDE1540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E504A76-D551-1B99-3390-27AC1EBFE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Multiple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5ADF3-A27A-5548-6EA2-3C2C2BC70B86}"/>
              </a:ext>
            </a:extLst>
          </p:cNvPr>
          <p:cNvSpPr txBox="1"/>
          <p:nvPr/>
        </p:nvSpPr>
        <p:spPr>
          <a:xfrm>
            <a:off x="1353671" y="1149133"/>
            <a:ext cx="9218436" cy="231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Multiple constructors in C++ allow you to </a:t>
            </a:r>
            <a:r>
              <a:rPr lang="en-IN" sz="1800" b="1" dirty="0">
                <a:latin typeface="Trebuchet MS" panose="020B0603020202020204" pitchFamily="34" charset="0"/>
              </a:rPr>
              <a:t>create objects</a:t>
            </a:r>
            <a:r>
              <a:rPr lang="en-IN" sz="1800" dirty="0">
                <a:latin typeface="Trebuchet MS" panose="020B0603020202020204" pitchFamily="34" charset="0"/>
              </a:rPr>
              <a:t> of the same class with </a:t>
            </a:r>
            <a:r>
              <a:rPr lang="en-IN" sz="1800" b="1" dirty="0">
                <a:latin typeface="Trebuchet MS" panose="020B0603020202020204" pitchFamily="34" charset="0"/>
              </a:rPr>
              <a:t>different sets of initial values</a:t>
            </a:r>
            <a:r>
              <a:rPr lang="en-IN" sz="1800" dirty="0">
                <a:latin typeface="Trebuchet MS" panose="020B0603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This is useful when you need to </a:t>
            </a:r>
            <a:r>
              <a:rPr lang="en-IN" sz="1800" b="1" dirty="0">
                <a:latin typeface="Trebuchet MS" panose="020B0603020202020204" pitchFamily="34" charset="0"/>
              </a:rPr>
              <a:t>create objects with different initialization parameters.</a:t>
            </a:r>
          </a:p>
          <a:p>
            <a:pPr marL="357187"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360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48A02-D5C9-00BA-7037-681301E8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DDF0FC8-8591-A1D2-DAC5-4DC3A6D0C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Multiple Constructors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99131-B76A-B7FD-F3A3-DC51C275231D}"/>
              </a:ext>
            </a:extLst>
          </p:cNvPr>
          <p:cNvSpPr txBox="1"/>
          <p:nvPr/>
        </p:nvSpPr>
        <p:spPr>
          <a:xfrm>
            <a:off x="459768" y="1149133"/>
            <a:ext cx="516110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30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Person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private: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age;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Person()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 = "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Doe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age =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30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Person(string n)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 =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age =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00486-4A9E-7D0A-B9FD-22EECEE9B087}"/>
              </a:ext>
            </a:extLst>
          </p:cNvPr>
          <p:cNvSpPr txBox="1"/>
          <p:nvPr/>
        </p:nvSpPr>
        <p:spPr>
          <a:xfrm>
            <a:off x="4733365" y="1238412"/>
            <a:ext cx="7288306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Person(string n, int a)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 =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age =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30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display()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"Age: " &lt;&lt; age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30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Person p1;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calling default constructor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Person p2("Jane Smith");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calling constructor with one parameter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Person p3("Mike Johnson", 25);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calling constructor with two parameters</a:t>
            </a:r>
          </a:p>
          <a:p>
            <a:pPr>
              <a:spcBef>
                <a:spcPts val="30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685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33DF8-6553-8C3B-7B4D-BA1C302B0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1D2F3A7-4759-08EB-12E0-EF38E9571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Multiple Constructors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2C7EE-ADA7-3B4B-F0B3-6469CA3845AA}"/>
              </a:ext>
            </a:extLst>
          </p:cNvPr>
          <p:cNvSpPr txBox="1"/>
          <p:nvPr/>
        </p:nvSpPr>
        <p:spPr>
          <a:xfrm>
            <a:off x="459768" y="1149133"/>
            <a:ext cx="10112339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"Person 1"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p1.display();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nPerson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2"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p2.display();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nPerson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3"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p3.display();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3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B0CA3-9079-E145-3808-6E2F65C64C85}"/>
              </a:ext>
            </a:extLst>
          </p:cNvPr>
          <p:cNvSpPr txBox="1"/>
          <p:nvPr/>
        </p:nvSpPr>
        <p:spPr>
          <a:xfrm>
            <a:off x="6536247" y="1129329"/>
            <a:ext cx="2714295" cy="33701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John Doe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18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Jane Smith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18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Mike Johnson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25</a:t>
            </a:r>
          </a:p>
        </p:txBody>
      </p:sp>
    </p:spTree>
    <p:extLst>
      <p:ext uri="{BB962C8B-B14F-4D97-AF65-F5344CB8AC3E}">
        <p14:creationId xmlns:p14="http://schemas.microsoft.com/office/powerpoint/2010/main" val="1307543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BD1CE-0FB1-F088-2976-A71842E8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2810E37-A7D3-E913-1B01-E99D86101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Copy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5494C-A53B-9A35-B1D6-6C67633F5D2C}"/>
              </a:ext>
            </a:extLst>
          </p:cNvPr>
          <p:cNvSpPr txBox="1"/>
          <p:nvPr/>
        </p:nvSpPr>
        <p:spPr>
          <a:xfrm>
            <a:off x="1147482" y="1541929"/>
            <a:ext cx="9424625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is a member function that 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initializes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object using another object of the same class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takes a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an object of the same class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itself as an argument.</a:t>
            </a:r>
          </a:p>
        </p:txBody>
      </p:sp>
    </p:spTree>
    <p:extLst>
      <p:ext uri="{BB962C8B-B14F-4D97-AF65-F5344CB8AC3E}">
        <p14:creationId xmlns:p14="http://schemas.microsoft.com/office/powerpoint/2010/main" val="568927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48447-9102-46D2-C89D-88199DBF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68FAA5A-04C5-425F-1BC5-0D841C232C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Copy Constructors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74580-5850-D037-C78C-669A6FF4C2F8}"/>
              </a:ext>
            </a:extLst>
          </p:cNvPr>
          <p:cNvSpPr txBox="1"/>
          <p:nvPr/>
        </p:nvSpPr>
        <p:spPr>
          <a:xfrm>
            <a:off x="753035" y="1149133"/>
            <a:ext cx="9819072" cy="616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610B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is of two types:</a:t>
            </a:r>
          </a:p>
          <a:p>
            <a:pPr algn="just"/>
            <a:endParaRPr lang="en-US" sz="2400" b="0" i="0" dirty="0">
              <a:solidFill>
                <a:srgbClr val="610B3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Copy constructor: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compiler defines the default copy constructor. If the user defines no copy constructor, compiler supplies its constructor.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constructor: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programmer defines the user-defined constructor.</a:t>
            </a: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User Defined Constructor: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&amp;obj)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// statements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7"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474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D1058-2F3F-00D4-A413-2EAECD17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D51CE67-3773-51FD-4653-82C6AC172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Default Copy Constructors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93081-12E8-31D2-12DA-8735CBA4F8AD}"/>
              </a:ext>
            </a:extLst>
          </p:cNvPr>
          <p:cNvSpPr txBox="1"/>
          <p:nvPr/>
        </p:nvSpPr>
        <p:spPr>
          <a:xfrm>
            <a:off x="459768" y="1149133"/>
            <a:ext cx="500870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Sample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id;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Default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Sample() {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Parameterized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x) {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x;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Copy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 &amp;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id = obj.id;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D1555-0D39-D77A-AEC8-A5DB0126FE2E}"/>
              </a:ext>
            </a:extLst>
          </p:cNvPr>
          <p:cNvSpPr txBox="1"/>
          <p:nvPr/>
        </p:nvSpPr>
        <p:spPr>
          <a:xfrm>
            <a:off x="7254681" y="5728272"/>
            <a:ext cx="1216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32AB0-DF89-99B5-E600-157A9F43E305}"/>
              </a:ext>
            </a:extLst>
          </p:cNvPr>
          <p:cNvSpPr txBox="1"/>
          <p:nvPr/>
        </p:nvSpPr>
        <p:spPr>
          <a:xfrm>
            <a:off x="5692588" y="1149133"/>
            <a:ext cx="60396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"ID=" &lt;&lt; id;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 obj1;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obj1.init(10);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obj1.display();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Explicit Copy Constructor Calling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Sample obj2(obj1);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This calls the copy constructor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obj2.display();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206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A0FD9-98D4-DF35-4798-B2EB8044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6B12D09-614C-1B98-1165-30BB4A966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Destructors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AAAC9-0310-A3CB-1071-052FFFE2B669}"/>
              </a:ext>
            </a:extLst>
          </p:cNvPr>
          <p:cNvSpPr txBox="1"/>
          <p:nvPr/>
        </p:nvSpPr>
        <p:spPr>
          <a:xfrm>
            <a:off x="1084729" y="1149133"/>
            <a:ext cx="9487378" cy="519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defTabSz="10509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constructor, the destructor is a </a:t>
            </a:r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 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whose name is the </a:t>
            </a:r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the class name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is preceded by a </a:t>
            </a:r>
            <a:r>
              <a:rPr lang="en-IN" sz="20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tilde sign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 defTabSz="10509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</a:t>
            </a:r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destroy the objects 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have been </a:t>
            </a:r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a constructor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destructor is responsible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releasing any resources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object might have acquired during its lifetime, such as memory allocated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marL="357188"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357188"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57188"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Destructor definition</a:t>
            </a:r>
          </a:p>
          <a:p>
            <a:pPr marL="357188"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57187"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755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DEDBA-1224-EB17-2042-E7F58B8D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87B1C3F-D49F-C81B-F8C5-FAEDEB4E1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709" y="280027"/>
            <a:ext cx="84833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Destructors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982C2-294F-8710-3644-92094741F3D6}"/>
              </a:ext>
            </a:extLst>
          </p:cNvPr>
          <p:cNvSpPr txBox="1"/>
          <p:nvPr/>
        </p:nvSpPr>
        <p:spPr>
          <a:xfrm>
            <a:off x="459768" y="1149133"/>
            <a:ext cx="5035597" cy="484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Alpha {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created"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~Alpha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destroyed"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D17F2-0618-EC57-FFA0-2DABEC1959F7}"/>
              </a:ext>
            </a:extLst>
          </p:cNvPr>
          <p:cNvSpPr txBox="1"/>
          <p:nvPr/>
        </p:nvSpPr>
        <p:spPr>
          <a:xfrm>
            <a:off x="5863975" y="1308932"/>
            <a:ext cx="459783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Alpha A1;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7DC47-A9D1-6977-C183-E0BC67ECA3E8}"/>
              </a:ext>
            </a:extLst>
          </p:cNvPr>
          <p:cNvSpPr txBox="1"/>
          <p:nvPr/>
        </p:nvSpPr>
        <p:spPr>
          <a:xfrm>
            <a:off x="6942149" y="4325201"/>
            <a:ext cx="2513146" cy="11551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Output: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 created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 destroyed</a:t>
            </a:r>
          </a:p>
        </p:txBody>
      </p:sp>
    </p:spTree>
    <p:extLst>
      <p:ext uri="{BB962C8B-B14F-4D97-AF65-F5344CB8AC3E}">
        <p14:creationId xmlns:p14="http://schemas.microsoft.com/office/powerpoint/2010/main" val="725603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2375</Words>
  <Application>Microsoft Office PowerPoint</Application>
  <PresentationFormat>Widescreen</PresentationFormat>
  <Paragraphs>432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Times New Roman</vt:lpstr>
      <vt:lpstr>Trebuchet MS</vt:lpstr>
      <vt:lpstr>Wingdings</vt:lpstr>
      <vt:lpstr>Wingdings 2</vt:lpstr>
      <vt:lpstr>Office Theme</vt:lpstr>
      <vt:lpstr>PowerPoint Presentation</vt:lpstr>
      <vt:lpstr>PowerPoint Presentation</vt:lpstr>
      <vt:lpstr>Outline</vt:lpstr>
      <vt:lpstr>Class and Objects</vt:lpstr>
      <vt:lpstr>Class and Objects</vt:lpstr>
      <vt:lpstr>Class and Objects</vt:lpstr>
      <vt:lpstr>Class and Objects</vt:lpstr>
      <vt:lpstr>Accessing Data Members</vt:lpstr>
      <vt:lpstr>Accessing Data Members</vt:lpstr>
      <vt:lpstr>Accessing Specifiers</vt:lpstr>
      <vt:lpstr>Accessing Data Members-Public</vt:lpstr>
      <vt:lpstr>Accessing Data Members-Private/Protected</vt:lpstr>
      <vt:lpstr>Defining Member Functions</vt:lpstr>
      <vt:lpstr>Defining Member Functions</vt:lpstr>
      <vt:lpstr>Inside Class Definition</vt:lpstr>
      <vt:lpstr>Outside Class Definition</vt:lpstr>
      <vt:lpstr>Constructors</vt:lpstr>
      <vt:lpstr>Characteristics of Constructors</vt:lpstr>
      <vt:lpstr>Constructors</vt:lpstr>
      <vt:lpstr>Constructors</vt:lpstr>
      <vt:lpstr>Constructors - Types</vt:lpstr>
      <vt:lpstr>Default Constructors</vt:lpstr>
      <vt:lpstr>Default Constructors - Example</vt:lpstr>
      <vt:lpstr>Parameterized Constructors</vt:lpstr>
      <vt:lpstr>Parameterized Constructors - Example</vt:lpstr>
      <vt:lpstr>Multiple Constructors</vt:lpstr>
      <vt:lpstr>Multiple Constructors – Example </vt:lpstr>
      <vt:lpstr>Multiple Constructors – Example </vt:lpstr>
      <vt:lpstr>Copy Constructors</vt:lpstr>
      <vt:lpstr>Copy Constructors</vt:lpstr>
      <vt:lpstr>Default Copy Constructors - Example</vt:lpstr>
      <vt:lpstr>Destructors</vt:lpstr>
      <vt:lpstr>Destructors – Example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Gour</cp:lastModifiedBy>
  <cp:revision>22</cp:revision>
  <dcterms:created xsi:type="dcterms:W3CDTF">2023-12-05T07:58:57Z</dcterms:created>
  <dcterms:modified xsi:type="dcterms:W3CDTF">2025-02-17T10:42:01Z</dcterms:modified>
</cp:coreProperties>
</file>
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6"/>
  </p:notesMasterIdLst>
  <p:sldIdLst>
    <p:sldId id="427" r:id="rId2"/>
    <p:sldId id="265" r:id="rId3"/>
    <p:sldId id="296" r:id="rId4"/>
    <p:sldId id="370" r:id="rId5"/>
    <p:sldId id="372" r:id="rId6"/>
    <p:sldId id="378" r:id="rId7"/>
    <p:sldId id="380" r:id="rId8"/>
    <p:sldId id="381" r:id="rId9"/>
    <p:sldId id="379" r:id="rId10"/>
    <p:sldId id="382" r:id="rId11"/>
    <p:sldId id="384" r:id="rId12"/>
    <p:sldId id="383" r:id="rId13"/>
    <p:sldId id="385" r:id="rId14"/>
    <p:sldId id="386" r:id="rId15"/>
    <p:sldId id="388" r:id="rId16"/>
    <p:sldId id="377" r:id="rId17"/>
    <p:sldId id="389" r:id="rId18"/>
    <p:sldId id="390" r:id="rId19"/>
    <p:sldId id="396" r:id="rId20"/>
    <p:sldId id="387" r:id="rId21"/>
    <p:sldId id="395" r:id="rId22"/>
    <p:sldId id="397" r:id="rId23"/>
    <p:sldId id="422" r:id="rId24"/>
    <p:sldId id="392" r:id="rId25"/>
    <p:sldId id="424" r:id="rId26"/>
    <p:sldId id="428" r:id="rId27"/>
    <p:sldId id="425" r:id="rId28"/>
    <p:sldId id="426" r:id="rId29"/>
    <p:sldId id="393" r:id="rId30"/>
    <p:sldId id="394" r:id="rId31"/>
    <p:sldId id="398" r:id="rId32"/>
    <p:sldId id="399" r:id="rId33"/>
    <p:sldId id="401" r:id="rId34"/>
    <p:sldId id="400" r:id="rId35"/>
    <p:sldId id="429" r:id="rId36"/>
    <p:sldId id="402" r:id="rId37"/>
    <p:sldId id="403" r:id="rId38"/>
    <p:sldId id="405" r:id="rId39"/>
    <p:sldId id="404" r:id="rId40"/>
    <p:sldId id="406" r:id="rId41"/>
    <p:sldId id="407" r:id="rId42"/>
    <p:sldId id="408" r:id="rId43"/>
    <p:sldId id="409" r:id="rId44"/>
    <p:sldId id="410" r:id="rId45"/>
    <p:sldId id="430" r:id="rId46"/>
    <p:sldId id="413" r:id="rId47"/>
    <p:sldId id="391" r:id="rId48"/>
    <p:sldId id="414" r:id="rId49"/>
    <p:sldId id="415" r:id="rId50"/>
    <p:sldId id="416" r:id="rId51"/>
    <p:sldId id="418" r:id="rId52"/>
    <p:sldId id="417" r:id="rId53"/>
    <p:sldId id="421" r:id="rId54"/>
    <p:sldId id="412" r:id="rId55"/>
  </p:sldIdLst>
  <p:sldSz cx="9144000" cy="5143500" type="screen16x9"/>
  <p:notesSz cx="6858000" cy="9144000"/>
  <p:embeddedFontLst>
    <p:embeddedFont>
      <p:font typeface="Trebuchet MS" panose="020B0603020202020204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7B6D"/>
    <a:srgbClr val="EB25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1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3703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6c834fc2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6c834fc2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103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72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24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7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25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153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16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704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851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972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31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746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21769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556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687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936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049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478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018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2370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055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75183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0761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506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7BEAC21-8085-2CC7-5F30-69DBD5A1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>
            <a:extLst>
              <a:ext uri="{FF2B5EF4-FFF2-40B4-BE49-F238E27FC236}">
                <a16:creationId xmlns:a16="http://schemas.microsoft.com/office/drawing/2014/main" id="{43F82B57-0859-E095-2549-6E2D99BF4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>
            <a:extLst>
              <a:ext uri="{FF2B5EF4-FFF2-40B4-BE49-F238E27FC236}">
                <a16:creationId xmlns:a16="http://schemas.microsoft.com/office/drawing/2014/main" id="{4E60E93E-A7B9-ED6D-C635-20E915BDA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6476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2188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2017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9703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493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954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4883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8387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8961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8CBE2E8-7C24-1F76-50B7-3C731F95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>
            <a:extLst>
              <a:ext uri="{FF2B5EF4-FFF2-40B4-BE49-F238E27FC236}">
                <a16:creationId xmlns:a16="http://schemas.microsoft.com/office/drawing/2014/main" id="{3EF8654A-ACA1-FBC9-9FD5-68F127A1B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>
            <a:extLst>
              <a:ext uri="{FF2B5EF4-FFF2-40B4-BE49-F238E27FC236}">
                <a16:creationId xmlns:a16="http://schemas.microsoft.com/office/drawing/2014/main" id="{290976B6-1FD5-A5B1-F651-AEC1EA431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3605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7366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#define PI 3.14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93390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1501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0999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1114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7406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6232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8612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1405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5307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0021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2715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4890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6425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6334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5385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9935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5318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07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DE4A73-6D34-6B34-FF04-AB5BC185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308"/>
            <a:ext cx="8564880" cy="4853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62054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1;p15"/>
          <p:cNvSpPr txBox="1"/>
          <p:nvPr/>
        </p:nvSpPr>
        <p:spPr>
          <a:xfrm>
            <a:off x="361104" y="2382835"/>
            <a:ext cx="385930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000" b="1" dirty="0">
                <a:latin typeface="Trebuchet MS" panose="020B0603020202020204" pitchFamily="34" charset="0"/>
                <a:sym typeface="Proxima Nova"/>
              </a:rPr>
              <a:t>Unit – 3 </a:t>
            </a:r>
          </a:p>
          <a:p>
            <a:pPr lvl="0" algn="ctr"/>
            <a:r>
              <a:rPr lang="en-US" sz="2000" b="1" dirty="0">
                <a:latin typeface="Trebuchet MS" panose="020B0603020202020204" pitchFamily="34" charset="0"/>
              </a:rPr>
              <a:t>Functions </a:t>
            </a:r>
            <a:endParaRPr lang="en-IN" sz="2000" b="1" dirty="0">
              <a:latin typeface="Trebuchet MS" panose="020B0603020202020204" pitchFamily="34" charset="0"/>
              <a:sym typeface="Proxima Nova"/>
            </a:endParaRPr>
          </a:p>
        </p:txBody>
      </p:sp>
      <p:sp>
        <p:nvSpPr>
          <p:cNvPr id="13" name="Google Shape;71;p15"/>
          <p:cNvSpPr txBox="1"/>
          <p:nvPr/>
        </p:nvSpPr>
        <p:spPr>
          <a:xfrm>
            <a:off x="361105" y="904291"/>
            <a:ext cx="385930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400" b="1" dirty="0">
                <a:latin typeface="Trebuchet MS" panose="020B0603020202020204" pitchFamily="34" charset="0"/>
              </a:rPr>
              <a:t>Object Oriented Design and Programming (</a:t>
            </a:r>
            <a:r>
              <a:rPr lang="en-IN" sz="2400" b="1" dirty="0">
                <a:latin typeface="Trebuchet MS" panose="020B0603020202020204" pitchFamily="34" charset="0"/>
                <a:sym typeface="Proxima Nova"/>
              </a:rPr>
              <a:t>01AI0403)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18E72-6713-D678-B3E8-D02B06330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87" y="1078086"/>
            <a:ext cx="4106239" cy="35026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9D6F95-626C-2883-84B9-376F06BF86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134249"/>
            <a:ext cx="1828800" cy="4571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45925" y="134250"/>
            <a:ext cx="1743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bg1"/>
                </a:solidFill>
                <a:latin typeface="Trebuchet MS" panose="020B0603020202020204" pitchFamily="34" charset="0"/>
                <a:sym typeface="Proxima Nova"/>
              </a:rPr>
              <a:t>OUTLINE</a:t>
            </a:r>
            <a:endParaRPr sz="2400" b="1" dirty="0">
              <a:solidFill>
                <a:schemeClr val="bg1"/>
              </a:solidFill>
              <a:latin typeface="Trebuchet MS" panose="020B0603020202020204" pitchFamily="34" charset="0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13620" y="1127133"/>
            <a:ext cx="811671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sym typeface="Proxima Nova"/>
              </a:rPr>
              <a:t>Functions – Introduction 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Call and Return by reference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Default arguments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Overloaded function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Macro Vs. Inline functions 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Friend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AEF7AD-CA84-47C9-950A-AA7938E3F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85124" y="134250"/>
            <a:ext cx="459167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  <a:sym typeface="Proxima Nova"/>
              </a:rPr>
              <a:t>Functions – Introduction </a:t>
            </a:r>
            <a:endParaRPr lang="en-IN" sz="2400" b="1" dirty="0">
              <a:solidFill>
                <a:schemeClr val="bg1"/>
              </a:solidFill>
              <a:latin typeface="Trebuchet MS" panose="020B0603020202020204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DC30F-BA42-873D-3328-399B44D5C90C}"/>
              </a:ext>
            </a:extLst>
          </p:cNvPr>
          <p:cNvSpPr txBox="1"/>
          <p:nvPr/>
        </p:nvSpPr>
        <p:spPr>
          <a:xfrm>
            <a:off x="536027" y="907713"/>
            <a:ext cx="8029904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function is said to be a </a:t>
            </a:r>
            <a:r>
              <a:rPr lang="en-IN" sz="1800" b="1" dirty="0">
                <a:latin typeface="Trebuchet MS" panose="020B0603020202020204" pitchFamily="34" charset="0"/>
              </a:rPr>
              <a:t>set of instructions that can perform a specific task</a:t>
            </a:r>
            <a:r>
              <a:rPr lang="en-IN" sz="1800" dirty="0">
                <a:latin typeface="Trebuchet MS" panose="020B0603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It will </a:t>
            </a:r>
            <a:r>
              <a:rPr lang="en-IN" sz="1800" b="1" dirty="0">
                <a:latin typeface="Trebuchet MS" panose="020B0603020202020204" pitchFamily="34" charset="0"/>
              </a:rPr>
              <a:t>reduce the size of the program </a:t>
            </a:r>
            <a:r>
              <a:rPr lang="en-IN" sz="1800" dirty="0">
                <a:latin typeface="Trebuchet MS" panose="020B0603020202020204" pitchFamily="34" charset="0"/>
              </a:rPr>
              <a:t>by calling and using them at different places in the program.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advantages are: </a:t>
            </a:r>
            <a:r>
              <a:rPr lang="en-IN" sz="1800" b="1" dirty="0">
                <a:latin typeface="Trebuchet MS" panose="020B0603020202020204" pitchFamily="34" charset="0"/>
              </a:rPr>
              <a:t>Reusability, modularity, overall programming simplicity.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Functions are classified into 2 categories,</a:t>
            </a:r>
          </a:p>
          <a:p>
            <a:pPr marL="714375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rebuchet MS" panose="020B0603020202020204" pitchFamily="34" charset="0"/>
              </a:rPr>
              <a:t>Library functions</a:t>
            </a:r>
          </a:p>
          <a:p>
            <a:pPr marL="714375" indent="-357188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rebuchet MS" panose="020B0603020202020204" pitchFamily="34" charset="0"/>
              </a:rPr>
              <a:t>User-defined functions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FEBBBD-BB43-00C9-2531-150453C65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6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37459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85124" y="26036"/>
            <a:ext cx="3330436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Library Functions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EF7D2-CF7D-2F64-E814-CD4D06200182}"/>
              </a:ext>
            </a:extLst>
          </p:cNvPr>
          <p:cNvSpPr txBox="1"/>
          <p:nvPr/>
        </p:nvSpPr>
        <p:spPr>
          <a:xfrm>
            <a:off x="285123" y="1049558"/>
            <a:ext cx="8573752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The functions that are 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already available in the C++ library are called Library functions.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Some important categories of library functions are : </a:t>
            </a:r>
          </a:p>
          <a:p>
            <a:pPr marL="714375" indent="-357188" algn="l">
              <a:lnSpc>
                <a:spcPct val="150000"/>
              </a:lnSpc>
              <a:buFont typeface="+mj-lt"/>
              <a:buAutoNum type="arabicPeriod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Input/Output functions (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iostream.h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), </a:t>
            </a:r>
          </a:p>
          <a:p>
            <a:pPr marL="714375" indent="-357188" algn="l">
              <a:lnSpc>
                <a:spcPct val="150000"/>
              </a:lnSpc>
              <a:buFont typeface="+mj-lt"/>
              <a:buAutoNum type="arabicPeriod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Mathematical functions (</a:t>
            </a:r>
            <a:r>
              <a:rPr lang="en-IN" sz="1800" dirty="0" err="1">
                <a:latin typeface="Trebuchet MS" panose="020B0603020202020204" pitchFamily="34" charset="0"/>
              </a:rPr>
              <a:t>m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ath.h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), </a:t>
            </a:r>
          </a:p>
          <a:p>
            <a:pPr marL="714375" indent="-357188" algn="l">
              <a:lnSpc>
                <a:spcPct val="150000"/>
              </a:lnSpc>
              <a:buFont typeface="+mj-lt"/>
              <a:buAutoNum type="arabicPeriod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String handling functions (</a:t>
            </a:r>
            <a:r>
              <a:rPr lang="en-IN" sz="1800" dirty="0" err="1">
                <a:latin typeface="Trebuchet MS" panose="020B0603020202020204" pitchFamily="34" charset="0"/>
              </a:rPr>
              <a:t>s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tring.h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), </a:t>
            </a:r>
          </a:p>
          <a:p>
            <a:pPr marL="714375" indent="-357188" algn="l">
              <a:lnSpc>
                <a:spcPct val="150000"/>
              </a:lnSpc>
              <a:buFont typeface="+mj-lt"/>
              <a:buAutoNum type="arabicPeriod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Console input/output functions (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conio.h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) and </a:t>
            </a:r>
          </a:p>
          <a:p>
            <a:pPr marL="714375" indent="-357188" algn="l">
              <a:lnSpc>
                <a:spcPct val="150000"/>
              </a:lnSpc>
              <a:buFont typeface="+mj-lt"/>
              <a:buAutoNum type="arabicPeriod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Manipulator functions (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iomanip.h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).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51FDF1-61A7-3781-2B81-52CB89C4A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8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25343-9A07-122D-EA76-F484EA25A12D}"/>
              </a:ext>
            </a:extLst>
          </p:cNvPr>
          <p:cNvSpPr txBox="1"/>
          <p:nvPr/>
        </p:nvSpPr>
        <p:spPr>
          <a:xfrm>
            <a:off x="435358" y="969011"/>
            <a:ext cx="8263758" cy="348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</a:t>
            </a:r>
            <a:r>
              <a:rPr lang="en-IN" sz="1800" b="1" dirty="0">
                <a:latin typeface="Trebuchet MS" panose="020B0603020202020204" pitchFamily="34" charset="0"/>
              </a:rPr>
              <a:t>function defined by the user</a:t>
            </a:r>
            <a:r>
              <a:rPr lang="en-IN" sz="1800" dirty="0">
                <a:latin typeface="Trebuchet MS" panose="020B0603020202020204" pitchFamily="34" charset="0"/>
              </a:rPr>
              <a:t> is called as user-defined function. C++ allows the programmer to 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define their own</a:t>
            </a:r>
            <a:r>
              <a:rPr lang="en-IN" sz="1800" dirty="0">
                <a:latin typeface="Trebuchet MS" panose="020B0603020202020204" pitchFamily="34" charset="0"/>
              </a:rPr>
              <a:t> function. 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user-defined function groups code to perform a </a:t>
            </a:r>
            <a:r>
              <a:rPr lang="en-IN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specific task </a:t>
            </a:r>
            <a:r>
              <a:rPr lang="en-IN" sz="1800" dirty="0">
                <a:latin typeface="Trebuchet MS" panose="020B0603020202020204" pitchFamily="34" charset="0"/>
              </a:rPr>
              <a:t>and that group of code is given a name (identifier). 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When the function is 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invoked or call from any part </a:t>
            </a:r>
            <a:r>
              <a:rPr lang="en-IN" sz="1800" dirty="0">
                <a:latin typeface="Trebuchet MS" panose="020B0603020202020204" pitchFamily="34" charset="0"/>
              </a:rPr>
              <a:t>of the program, it all executes the codes defined in the body of the function.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advantage</a:t>
            </a:r>
            <a:r>
              <a:rPr lang="en-IN" sz="1800" dirty="0">
                <a:latin typeface="Trebuchet MS" panose="020B0603020202020204" pitchFamily="34" charset="0"/>
              </a:rPr>
              <a:t> of user-defined function is that the 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complexity of a program is reduced</a:t>
            </a:r>
            <a:r>
              <a:rPr lang="en-IN" sz="1800" dirty="0">
                <a:latin typeface="Trebuchet MS" panose="020B0603020202020204" pitchFamily="34" charset="0"/>
              </a:rPr>
              <a:t> and the 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errors can be traced easily</a:t>
            </a:r>
            <a:r>
              <a:rPr lang="en-IN" sz="1800" dirty="0"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07C22-473F-C007-BD0C-D7B3EE5B7937}"/>
              </a:ext>
            </a:extLst>
          </p:cNvPr>
          <p:cNvSpPr txBox="1"/>
          <p:nvPr/>
        </p:nvSpPr>
        <p:spPr>
          <a:xfrm>
            <a:off x="285125" y="8696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  <a:sym typeface="Proxima Nova"/>
              </a:rPr>
              <a:t>User-Defined Functions</a:t>
            </a:r>
            <a:endParaRPr lang="en-IN" sz="2400" b="1" dirty="0">
              <a:solidFill>
                <a:schemeClr val="bg1"/>
              </a:solidFill>
              <a:latin typeface="Trebuchet MS" panose="020B0603020202020204" pitchFamily="34" charset="0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0B8D06-3D85-6D75-F812-A0043F1DB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76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25343-9A07-122D-EA76-F484EA25A12D}"/>
              </a:ext>
            </a:extLst>
          </p:cNvPr>
          <p:cNvSpPr txBox="1"/>
          <p:nvPr/>
        </p:nvSpPr>
        <p:spPr>
          <a:xfrm>
            <a:off x="288886" y="803847"/>
            <a:ext cx="8556702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Every C/C++ program has at </a:t>
            </a:r>
            <a:r>
              <a:rPr lang="en-IN" sz="1800" b="0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least one function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that the name is </a:t>
            </a:r>
            <a:r>
              <a:rPr lang="en-IN" sz="1800" b="0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main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. The main function is </a:t>
            </a:r>
            <a:r>
              <a:rPr lang="en-IN" sz="1800" b="0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called by the operating system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by which our code is executed. 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he 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main()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returns a value of type 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int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to the operating system. We can make n number of function in a single program but we can make </a:t>
            </a:r>
            <a:r>
              <a:rPr lang="en-IN" sz="1800" b="1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only one main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function in a single program. Every program has only one main function. </a:t>
            </a:r>
          </a:p>
          <a:p>
            <a:pPr algn="l">
              <a:lnSpc>
                <a:spcPct val="150000"/>
              </a:lnSpc>
            </a:pP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	</a:t>
            </a:r>
            <a:r>
              <a:rPr lang="en-IN" sz="1800" b="1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int main( 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The function that have a </a:t>
            </a:r>
            <a:r>
              <a:rPr lang="en-IN" sz="1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return value should use the </a:t>
            </a:r>
            <a:r>
              <a:rPr lang="en-IN" sz="1800" b="1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return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statement for termination.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B21CF-41CB-0554-B25A-B7EEE3102CA1}"/>
              </a:ext>
            </a:extLst>
          </p:cNvPr>
          <p:cNvSpPr txBox="1"/>
          <p:nvPr/>
        </p:nvSpPr>
        <p:spPr>
          <a:xfrm>
            <a:off x="302173" y="136789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Main Function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04B207-227E-32C4-6D7C-DB0A76B1D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13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25343-9A07-122D-EA76-F484EA25A12D}"/>
              </a:ext>
            </a:extLst>
          </p:cNvPr>
          <p:cNvSpPr txBox="1"/>
          <p:nvPr/>
        </p:nvSpPr>
        <p:spPr>
          <a:xfrm>
            <a:off x="441434" y="803847"/>
            <a:ext cx="7935311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main( )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function in C++, defined as follows:</a:t>
            </a:r>
          </a:p>
          <a:p>
            <a:pPr marL="714375" marR="0" lvl="3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int main( )</a:t>
            </a:r>
          </a:p>
          <a:p>
            <a:pPr marL="714375" marR="0" lvl="3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{ </a:t>
            </a:r>
          </a:p>
          <a:p>
            <a:pPr marL="714375" lvl="4"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---------</a:t>
            </a:r>
          </a:p>
          <a:p>
            <a:pPr marL="714375" lvl="4"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---------</a:t>
            </a:r>
          </a:p>
          <a:p>
            <a:pPr marL="714375" marR="0" lvl="3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return 0;</a:t>
            </a:r>
          </a:p>
          <a:p>
            <a:pPr marL="714375" marR="0" lvl="3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}</a:t>
            </a:r>
            <a:endParaRPr lang="en-IN" sz="1800" b="0" i="0" u="none" strike="noStrike" baseline="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The 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return type of function is int by default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, the </a:t>
            </a:r>
            <a:r>
              <a:rPr lang="en-IN" sz="1800" b="0" i="0" u="none" strike="noStrike" baseline="0" dirty="0">
                <a:solidFill>
                  <a:schemeClr val="tx1"/>
                </a:solidFill>
                <a:latin typeface="Trebuchet MS" panose="020B0603020202020204" pitchFamily="34" charset="0"/>
              </a:rPr>
              <a:t>keyword</a:t>
            </a:r>
            <a:r>
              <a:rPr lang="en-IN" sz="18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 int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in the main( ) header is optional.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Most C++ compilers will generate an error or warning if there is no return statement.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B21CF-41CB-0554-B25A-B7EEE3102CA1}"/>
              </a:ext>
            </a:extLst>
          </p:cNvPr>
          <p:cNvSpPr txBox="1"/>
          <p:nvPr/>
        </p:nvSpPr>
        <p:spPr>
          <a:xfrm>
            <a:off x="302173" y="136789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Main Function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92E897-DADE-3075-E068-2B2A51928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0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3A5CF6-DC13-D72E-91BE-5216FF8D891D}"/>
              </a:ext>
            </a:extLst>
          </p:cNvPr>
          <p:cNvSpPr txBox="1"/>
          <p:nvPr/>
        </p:nvSpPr>
        <p:spPr>
          <a:xfrm>
            <a:off x="564931" y="1450919"/>
            <a:ext cx="7675179" cy="261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prototype describes the function interface to the compiler by giving details such as the </a:t>
            </a:r>
            <a:r>
              <a:rPr lang="en-IN" sz="1800" b="1" dirty="0">
                <a:latin typeface="Trebuchet MS" panose="020B0603020202020204" pitchFamily="34" charset="0"/>
              </a:rPr>
              <a:t>number and type of arguments and the type of return values.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When a function is called, the compiler uses the template to ensure that proper arguments are passed, and the return value is treated correctly.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40D0A-D827-B314-54C5-8772C2868292}"/>
              </a:ext>
            </a:extLst>
          </p:cNvPr>
          <p:cNvSpPr txBox="1"/>
          <p:nvPr/>
        </p:nvSpPr>
        <p:spPr>
          <a:xfrm>
            <a:off x="168166" y="72715"/>
            <a:ext cx="4757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Function Declaration 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5AF19-FB6D-89FB-0D09-4AAA439C497E}"/>
              </a:ext>
            </a:extLst>
          </p:cNvPr>
          <p:cNvSpPr txBox="1"/>
          <p:nvPr/>
        </p:nvSpPr>
        <p:spPr>
          <a:xfrm>
            <a:off x="285125" y="888734"/>
            <a:ext cx="4640316" cy="45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Function Prototyping (or declaration):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AD76C6-12CB-C55D-D383-8F9E313B0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7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A4397-B92D-1C5C-418A-E7F0B237B600}"/>
              </a:ext>
            </a:extLst>
          </p:cNvPr>
          <p:cNvSpPr txBox="1"/>
          <p:nvPr/>
        </p:nvSpPr>
        <p:spPr>
          <a:xfrm>
            <a:off x="285125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Functions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AF18A-9085-AFDD-A1CE-CE8B57BF7689}"/>
              </a:ext>
            </a:extLst>
          </p:cNvPr>
          <p:cNvSpPr txBox="1"/>
          <p:nvPr/>
        </p:nvSpPr>
        <p:spPr>
          <a:xfrm>
            <a:off x="365234" y="663900"/>
            <a:ext cx="8337332" cy="4242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IN" sz="1800" b="1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Syntax: 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Function prototype is a declaration statement in the calling program and is of the following form: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	</a:t>
            </a:r>
            <a:r>
              <a:rPr lang="en-IN" sz="1800" b="1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return type function-name( argument-list );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The </a:t>
            </a:r>
            <a:r>
              <a:rPr lang="en-IN" sz="1800" b="0" i="1" u="none" strike="noStrike" baseline="0" dirty="0">
                <a:latin typeface="Trebuchet MS" panose="020B0603020202020204" pitchFamily="34" charset="0"/>
              </a:rPr>
              <a:t>argument-list 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contains the types and names of arguments that must be passed to the function.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IN" sz="1800" b="1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Example: 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int </a:t>
            </a:r>
            <a:r>
              <a:rPr lang="en-IN" sz="1800" b="1" i="0" u="none" strike="noStrike" baseline="0" dirty="0" err="1">
                <a:latin typeface="Trebuchet MS" panose="020B0603020202020204" pitchFamily="34" charset="0"/>
              </a:rPr>
              <a:t>cal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(int, int, float);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float sum(int a, float b, float c);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DF39EE-F5AE-37A1-3B7A-83DA15528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50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A4397-B92D-1C5C-418A-E7F0B237B600}"/>
              </a:ext>
            </a:extLst>
          </p:cNvPr>
          <p:cNvSpPr txBox="1"/>
          <p:nvPr/>
        </p:nvSpPr>
        <p:spPr>
          <a:xfrm>
            <a:off x="285125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Function Definition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6D331-BCA4-800B-F7AF-9647BA717FD4}"/>
              </a:ext>
            </a:extLst>
          </p:cNvPr>
          <p:cNvSpPr txBox="1"/>
          <p:nvPr/>
        </p:nvSpPr>
        <p:spPr>
          <a:xfrm>
            <a:off x="285125" y="814273"/>
            <a:ext cx="8278359" cy="373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i="0" u="none" strike="noStrike" baseline="0" dirty="0">
                <a:latin typeface="Trebuchet MS" panose="020B0603020202020204" pitchFamily="34" charset="0"/>
              </a:rPr>
              <a:t>Function definition defines the operations of a function which is already declared.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i="0" u="none" strike="noStrike" baseline="0" dirty="0">
                <a:latin typeface="Trebuchet MS" panose="020B0603020202020204" pitchFamily="34" charset="0"/>
              </a:rPr>
              <a:t>When the function definition comes before the main() function, we need not declare it.</a:t>
            </a:r>
          </a:p>
          <a:p>
            <a:pPr algn="l">
              <a:lnSpc>
                <a:spcPct val="150000"/>
              </a:lnSpc>
            </a:pP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Syntax:</a:t>
            </a:r>
          </a:p>
          <a:p>
            <a:pPr marL="630238" lvl="1" indent="-273050">
              <a:lnSpc>
                <a:spcPct val="150000"/>
              </a:lnSpc>
            </a:pPr>
            <a:r>
              <a:rPr lang="en-IN" sz="18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returntype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function-name(parameter list)</a:t>
            </a:r>
          </a:p>
          <a:p>
            <a:pPr marL="630238" lvl="1" indent="-273050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{</a:t>
            </a:r>
          </a:p>
          <a:p>
            <a:pPr marL="630238" lvl="1" indent="-273050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//body of statements</a:t>
            </a:r>
          </a:p>
          <a:p>
            <a:pPr marL="630238" lvl="1" indent="-273050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39BD7-9826-1ADF-307A-670B763B6572}"/>
              </a:ext>
            </a:extLst>
          </p:cNvPr>
          <p:cNvSpPr txBox="1"/>
          <p:nvPr/>
        </p:nvSpPr>
        <p:spPr>
          <a:xfrm>
            <a:off x="5428790" y="2571737"/>
            <a:ext cx="37056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Example:</a:t>
            </a:r>
          </a:p>
          <a:p>
            <a:pPr algn="l"/>
            <a:endParaRPr lang="en-IN" sz="1800" dirty="0">
              <a:latin typeface="Trebuchet MS" panose="020B0603020202020204" pitchFamily="34" charset="0"/>
            </a:endParaRPr>
          </a:p>
          <a:p>
            <a:pPr algn="l"/>
            <a:r>
              <a:rPr lang="en-IN" sz="1800" b="0" i="0" u="none" strike="noStrike" baseline="0" dirty="0">
                <a:latin typeface="Trebuchet MS" panose="020B0603020202020204" pitchFamily="34" charset="0"/>
              </a:rPr>
              <a:t>float </a:t>
            </a:r>
            <a:r>
              <a:rPr lang="en-IN" sz="1800" b="1" i="0" u="none" strike="noStrike" baseline="0" dirty="0">
                <a:latin typeface="Trebuchet MS" panose="020B0603020202020204" pitchFamily="34" charset="0"/>
              </a:rPr>
              <a:t>sum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(int a, float b, float c)</a:t>
            </a:r>
          </a:p>
          <a:p>
            <a:pPr algn="l"/>
            <a:r>
              <a:rPr lang="en-IN" sz="1800" b="0" i="0" u="none" strike="noStrike" baseline="0" dirty="0">
                <a:latin typeface="Trebuchet MS" panose="020B0603020202020204" pitchFamily="34" charset="0"/>
              </a:rPr>
              <a:t>{</a:t>
            </a:r>
          </a:p>
          <a:p>
            <a:pPr algn="l"/>
            <a:r>
              <a:rPr lang="en-IN" sz="1800" b="0" i="0" u="none" strike="noStrike" baseline="0" dirty="0">
                <a:latin typeface="Trebuchet MS" panose="020B0603020202020204" pitchFamily="34" charset="0"/>
              </a:rPr>
              <a:t>float v=</a:t>
            </a:r>
            <a:r>
              <a:rPr lang="en-IN" sz="1800" b="0" i="0" u="none" strike="noStrike" baseline="0" dirty="0" err="1">
                <a:latin typeface="Trebuchet MS" panose="020B0603020202020204" pitchFamily="34" charset="0"/>
              </a:rPr>
              <a:t>a+b+c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;</a:t>
            </a:r>
          </a:p>
          <a:p>
            <a:pPr algn="l"/>
            <a:r>
              <a:rPr lang="en-IN" sz="1800" b="0" i="0" u="none" strike="noStrike" baseline="0" dirty="0">
                <a:latin typeface="Trebuchet MS" panose="020B0603020202020204" pitchFamily="34" charset="0"/>
              </a:rPr>
              <a:t>----------</a:t>
            </a:r>
          </a:p>
          <a:p>
            <a:pPr algn="l"/>
            <a:r>
              <a:rPr lang="en-IN" sz="1800" b="0" i="0" u="none" strike="noStrike" baseline="0" dirty="0">
                <a:latin typeface="Trebuchet MS" panose="020B0603020202020204" pitchFamily="34" charset="0"/>
              </a:rPr>
              <a:t>}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ED6742-C1F3-697E-68D0-8D8A8092C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9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A4397-B92D-1C5C-418A-E7F0B237B600}"/>
              </a:ext>
            </a:extLst>
          </p:cNvPr>
          <p:cNvSpPr txBox="1"/>
          <p:nvPr/>
        </p:nvSpPr>
        <p:spPr>
          <a:xfrm>
            <a:off x="285125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Function Call 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FBC4E-EB53-9869-F8AB-A327F0B76E1D}"/>
              </a:ext>
            </a:extLst>
          </p:cNvPr>
          <p:cNvSpPr txBox="1"/>
          <p:nvPr/>
        </p:nvSpPr>
        <p:spPr>
          <a:xfrm>
            <a:off x="432598" y="1015146"/>
            <a:ext cx="8017719" cy="234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The process of calling a function for execution is known as </a:t>
            </a:r>
            <a:r>
              <a:rPr lang="en-IN" sz="1800" b="0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function call</a:t>
            </a: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. </a:t>
            </a:r>
          </a:p>
          <a:p>
            <a:pPr marL="285750" indent="-28575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u="none" strike="noStrike" baseline="0" dirty="0">
                <a:latin typeface="Trebuchet MS" panose="020B0603020202020204" pitchFamily="34" charset="0"/>
              </a:rPr>
              <a:t>Any user defined function can call any other function. There are two types of function call,</a:t>
            </a:r>
          </a:p>
          <a:p>
            <a:pPr marL="714375" indent="-357188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Call by value </a:t>
            </a:r>
          </a:p>
          <a:p>
            <a:pPr marL="714375" indent="-357188" algn="l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1800" b="1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Call by Reference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B62D69-C435-3CD9-8D92-CA79B5A15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A4397-B92D-1C5C-418A-E7F0B237B600}"/>
              </a:ext>
            </a:extLst>
          </p:cNvPr>
          <p:cNvSpPr txBox="1"/>
          <p:nvPr/>
        </p:nvSpPr>
        <p:spPr>
          <a:xfrm>
            <a:off x="285125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Function call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80014-FE4B-CA47-797D-8899650157A4}"/>
              </a:ext>
            </a:extLst>
          </p:cNvPr>
          <p:cNvSpPr txBox="1"/>
          <p:nvPr/>
        </p:nvSpPr>
        <p:spPr>
          <a:xfrm>
            <a:off x="404451" y="942861"/>
            <a:ext cx="8045866" cy="325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188" marR="0" lvl="0" indent="-177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 function sum( ) can be invoked in a program as follows:</a:t>
            </a:r>
          </a:p>
          <a:p>
            <a:pPr marL="357188" marR="0" lvl="0" indent="-177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     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float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addval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 = sum(b1,w1,h1); //function call</a:t>
            </a:r>
          </a:p>
          <a:p>
            <a:pPr marL="357188" marR="0" lvl="0" indent="-177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 variable b1,w1 and h1 are known as the actual parameters (arguments) which specify the dimensions of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addval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. </a:t>
            </a:r>
          </a:p>
          <a:p>
            <a:pPr marL="357188" marR="0" lvl="0" indent="-177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Their types should match with the types declared in the prototype. </a:t>
            </a:r>
          </a:p>
          <a:p>
            <a:pPr marL="357188" marR="0" lvl="0" indent="-177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 calling statement should not include type names in the argument list.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3FC865-7704-94B4-B2E3-FD0C12550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3485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A4397-B92D-1C5C-418A-E7F0B237B600}"/>
              </a:ext>
            </a:extLst>
          </p:cNvPr>
          <p:cNvSpPr txBox="1"/>
          <p:nvPr/>
        </p:nvSpPr>
        <p:spPr>
          <a:xfrm>
            <a:off x="285125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Proxima Nova"/>
              </a:rPr>
              <a:t>Functions types</a:t>
            </a:r>
            <a:endParaRPr kumimoji="0" lang="en-I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BA6CB-37E2-017D-171F-BD8E3DA87D73}"/>
              </a:ext>
            </a:extLst>
          </p:cNvPr>
          <p:cNvSpPr txBox="1"/>
          <p:nvPr/>
        </p:nvSpPr>
        <p:spPr>
          <a:xfrm>
            <a:off x="365235" y="833707"/>
            <a:ext cx="7149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Different types of Functions based arguments </a:t>
            </a:r>
            <a:endParaRPr lang="en-IN" sz="24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91AD9-F6A4-1777-5E8D-0DAE78D58AF6}"/>
              </a:ext>
            </a:extLst>
          </p:cNvPr>
          <p:cNvSpPr txBox="1"/>
          <p:nvPr/>
        </p:nvSpPr>
        <p:spPr>
          <a:xfrm>
            <a:off x="575441" y="1424892"/>
            <a:ext cx="7612117" cy="222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</a:rPr>
              <a:t>Function with parameters (arguments) and without return values.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800" i="0" u="none" strike="noStrike" baseline="0" dirty="0">
                <a:solidFill>
                  <a:schemeClr val="tx1"/>
                </a:solidFill>
                <a:latin typeface="Trebuchet MS" panose="020B0603020202020204" pitchFamily="34" charset="0"/>
              </a:rPr>
              <a:t>Function with parameters (arguments) and with a return value.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800" i="0" u="none" strike="noStrike" baseline="0" dirty="0">
                <a:solidFill>
                  <a:schemeClr val="tx1"/>
                </a:solidFill>
                <a:latin typeface="Trebuchet MS" panose="020B0603020202020204" pitchFamily="34" charset="0"/>
              </a:rPr>
              <a:t>Function without parameter (argument) and with a return value.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800" i="0" u="none" strike="noStrike" baseline="0" dirty="0">
                <a:solidFill>
                  <a:schemeClr val="tx1"/>
                </a:solidFill>
                <a:latin typeface="Trebuchet MS" panose="020B0603020202020204" pitchFamily="34" charset="0"/>
              </a:rPr>
              <a:t>Function without parameter (argument) and without a return value.</a:t>
            </a:r>
            <a:endParaRPr lang="en-IN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5DD6FE-36D4-14D6-7F61-6D4FEB79E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0FD5E6-9B0A-FAB8-6820-E6675C962F5A}"/>
              </a:ext>
            </a:extLst>
          </p:cNvPr>
          <p:cNvSpPr txBox="1"/>
          <p:nvPr/>
        </p:nvSpPr>
        <p:spPr>
          <a:xfrm>
            <a:off x="-74589" y="-87348"/>
            <a:ext cx="7397409" cy="56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with parameters (arguments) and without return values</a:t>
            </a:r>
            <a:endParaRPr lang="en-IN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1BB74-1AEA-2937-69A1-BC5C9939573C}"/>
              </a:ext>
            </a:extLst>
          </p:cNvPr>
          <p:cNvSpPr txBox="1"/>
          <p:nvPr/>
        </p:nvSpPr>
        <p:spPr>
          <a:xfrm>
            <a:off x="359751" y="807025"/>
            <a:ext cx="4640316" cy="410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add(int x, int y)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&lt;&lt; "Adding a and b is:"&lt;&lt;</a:t>
            </a:r>
            <a:r>
              <a:rPr lang="en-IN" sz="1600" dirty="0" err="1">
                <a:latin typeface="Trebuchet MS" panose="020B0603020202020204" pitchFamily="34" charset="0"/>
              </a:rPr>
              <a:t>x+y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 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a=10, b=10;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add(</a:t>
            </a:r>
            <a:r>
              <a:rPr lang="en-IN" sz="1600" dirty="0" err="1">
                <a:latin typeface="Trebuchet MS" panose="020B0603020202020204" pitchFamily="34" charset="0"/>
              </a:rPr>
              <a:t>a,b</a:t>
            </a:r>
            <a:r>
              <a:rPr lang="en-IN" sz="1600" dirty="0">
                <a:latin typeface="Trebuchet MS" panose="020B0603020202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CBC35-12FA-ADEF-1A46-023D5A77E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4959" y="2861914"/>
            <a:ext cx="4181475" cy="11950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D72E81-144D-AB37-4EA1-1E1B59E60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05155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93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80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2132AC-89F9-D770-4EED-E20085DCC31B}"/>
              </a:ext>
            </a:extLst>
          </p:cNvPr>
          <p:cNvSpPr txBox="1"/>
          <p:nvPr/>
        </p:nvSpPr>
        <p:spPr>
          <a:xfrm>
            <a:off x="-4738" y="-33046"/>
            <a:ext cx="7336221" cy="56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IN" sz="1800" b="1" i="0" u="none" strike="noStrike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Function with parameters (arguments) and with a return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AA92D-B0EA-606E-57BB-F281A8D1B235}"/>
              </a:ext>
            </a:extLst>
          </p:cNvPr>
          <p:cNvSpPr txBox="1"/>
          <p:nvPr/>
        </p:nvSpPr>
        <p:spPr>
          <a:xfrm>
            <a:off x="491360" y="728164"/>
            <a:ext cx="4640316" cy="410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add(int x, int y)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return(</a:t>
            </a:r>
            <a:r>
              <a:rPr lang="en-IN" sz="1600" dirty="0" err="1">
                <a:latin typeface="Trebuchet MS" panose="020B0603020202020204" pitchFamily="34" charset="0"/>
              </a:rPr>
              <a:t>x+y</a:t>
            </a:r>
            <a:r>
              <a:rPr lang="en-IN" sz="1600" dirty="0">
                <a:latin typeface="Trebuchet MS" panose="020B0603020202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 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a=10, b=10;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&lt;&lt;"Result:"&lt;&lt;add(</a:t>
            </a:r>
            <a:r>
              <a:rPr lang="en-IN" sz="1600" dirty="0" err="1">
                <a:latin typeface="Trebuchet MS" panose="020B0603020202020204" pitchFamily="34" charset="0"/>
              </a:rPr>
              <a:t>a,b</a:t>
            </a:r>
            <a:r>
              <a:rPr lang="en-IN" sz="1600" dirty="0">
                <a:latin typeface="Trebuchet MS" panose="020B0603020202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C9BC85-1449-3C32-3C1B-88D65173B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111" y="1692166"/>
            <a:ext cx="4924425" cy="13714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E6583A-4039-9B03-CCC9-FD8BCEA29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3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2132AC-89F9-D770-4EED-E20085DCC31B}"/>
              </a:ext>
            </a:extLst>
          </p:cNvPr>
          <p:cNvSpPr txBox="1"/>
          <p:nvPr/>
        </p:nvSpPr>
        <p:spPr>
          <a:xfrm>
            <a:off x="152401" y="-2911"/>
            <a:ext cx="7336221" cy="56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IN" sz="1800" b="1" i="0" u="none" strike="noStrike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Function without parameter (argument) and with a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6C8D1-8E6A-5FF1-F8E0-02280159169E}"/>
              </a:ext>
            </a:extLst>
          </p:cNvPr>
          <p:cNvSpPr txBox="1"/>
          <p:nvPr/>
        </p:nvSpPr>
        <p:spPr>
          <a:xfrm>
            <a:off x="472966" y="853285"/>
            <a:ext cx="4732281" cy="410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add()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x=10, y=10;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return(</a:t>
            </a:r>
            <a:r>
              <a:rPr lang="en-IN" sz="1600" dirty="0" err="1">
                <a:latin typeface="Trebuchet MS" panose="020B0603020202020204" pitchFamily="34" charset="0"/>
              </a:rPr>
              <a:t>x+y</a:t>
            </a:r>
            <a:r>
              <a:rPr lang="en-IN" sz="1600" dirty="0">
                <a:latin typeface="Trebuchet MS" panose="020B0603020202020204" pitchFamily="34" charset="0"/>
              </a:rPr>
              <a:t>);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 )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 algn="l">
              <a:lnSpc>
                <a:spcPct val="150000"/>
              </a:lnSpc>
            </a:pP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&lt;&lt;"Add a and b:"&lt;&lt; add();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C2F8C-F711-D701-462C-C0D366C26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159" y="2022349"/>
            <a:ext cx="5095875" cy="8858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8B544F-1AC9-CC2A-48FC-244CD2715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344" y="134249"/>
            <a:ext cx="1529255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8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13980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2132AC-89F9-D770-4EED-E20085DCC31B}"/>
              </a:ext>
            </a:extLst>
          </p:cNvPr>
          <p:cNvSpPr txBox="1"/>
          <p:nvPr/>
        </p:nvSpPr>
        <p:spPr>
          <a:xfrm>
            <a:off x="126124" y="148588"/>
            <a:ext cx="7914290" cy="56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IN" sz="1800" b="1" i="0" u="none" strike="noStrike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Function without parameter (argument) and without a return value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10ED0-3E9F-834B-AE2C-15245AFF22FC}"/>
              </a:ext>
            </a:extLst>
          </p:cNvPr>
          <p:cNvSpPr txBox="1"/>
          <p:nvPr/>
        </p:nvSpPr>
        <p:spPr>
          <a:xfrm>
            <a:off x="449319" y="853221"/>
            <a:ext cx="4640316" cy="410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add()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x=10, y=10;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&lt;&lt;" Adding x and y value is:"&lt;&lt; (</a:t>
            </a:r>
            <a:r>
              <a:rPr lang="en-IN" sz="1600" dirty="0" err="1">
                <a:latin typeface="Trebuchet MS" panose="020B0603020202020204" pitchFamily="34" charset="0"/>
              </a:rPr>
              <a:t>x+y</a:t>
            </a:r>
            <a:r>
              <a:rPr lang="en-IN" sz="1600" dirty="0">
                <a:latin typeface="Trebuchet MS" panose="020B0603020202020204" pitchFamily="34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 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add();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D13622-634E-270A-D663-F15E650EA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965" y="3375879"/>
            <a:ext cx="443865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E419AC-CA3B-E1EE-FFCD-86F053EC3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940" y="134249"/>
            <a:ext cx="147066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44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47F722-4F41-63E5-E722-340AD9EB76B3}"/>
              </a:ext>
            </a:extLst>
          </p:cNvPr>
          <p:cNvSpPr txBox="1"/>
          <p:nvPr/>
        </p:nvSpPr>
        <p:spPr>
          <a:xfrm>
            <a:off x="199697" y="148588"/>
            <a:ext cx="4862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Call by value 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58E9F-EBF1-1E6D-A659-FAAAD081F91A}"/>
              </a:ext>
            </a:extLst>
          </p:cNvPr>
          <p:cNvSpPr txBox="1"/>
          <p:nvPr/>
        </p:nvSpPr>
        <p:spPr>
          <a:xfrm>
            <a:off x="400606" y="1007580"/>
            <a:ext cx="7660828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call by value method of passing arguments to a function</a:t>
            </a: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copies the actual value of an argument into the formal parameter of the function.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changes made to the parameter inside the function </a:t>
            </a:r>
            <a:r>
              <a:rPr lang="en-IN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have no effect on the argument.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By default, </a:t>
            </a:r>
            <a:r>
              <a:rPr lang="en-IN" sz="1800" b="1" dirty="0">
                <a:latin typeface="Trebuchet MS" panose="020B0603020202020204" pitchFamily="34" charset="0"/>
              </a:rPr>
              <a:t>C++ uses call by value to pass arguments </a:t>
            </a:r>
            <a:r>
              <a:rPr lang="en-IN" sz="1800" dirty="0">
                <a:latin typeface="Trebuchet MS" panose="020B0603020202020204" pitchFamily="34" charset="0"/>
              </a:rPr>
              <a:t>means that code within a function </a:t>
            </a:r>
            <a:r>
              <a:rPr lang="en-IN" sz="1800" b="1" dirty="0">
                <a:latin typeface="Trebuchet MS" panose="020B0603020202020204" pitchFamily="34" charset="0"/>
              </a:rPr>
              <a:t>cannot alter </a:t>
            </a:r>
            <a:r>
              <a:rPr lang="en-IN" sz="1800" dirty="0">
                <a:latin typeface="Trebuchet MS" panose="020B0603020202020204" pitchFamily="34" charset="0"/>
              </a:rPr>
              <a:t>the arguments used to call the function.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CB1138-010D-784D-520B-2E5E2E475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134249"/>
            <a:ext cx="19812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87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47F722-4F41-63E5-E722-340AD9EB76B3}"/>
              </a:ext>
            </a:extLst>
          </p:cNvPr>
          <p:cNvSpPr txBox="1"/>
          <p:nvPr/>
        </p:nvSpPr>
        <p:spPr>
          <a:xfrm>
            <a:off x="285125" y="103492"/>
            <a:ext cx="4862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Call by value – Example 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B3634-0E5E-C06E-0419-1DCBA5144B50}"/>
              </a:ext>
            </a:extLst>
          </p:cNvPr>
          <p:cNvSpPr txBox="1"/>
          <p:nvPr/>
        </p:nvSpPr>
        <p:spPr>
          <a:xfrm>
            <a:off x="396089" y="725454"/>
            <a:ext cx="512184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void swap(int x, int y); 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// function declaration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int main () 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int a = 100, b= 200; 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// local variable declaration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"Before swap, value of a :" &lt;&lt; a &lt;&lt; 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"Before swap, value of b :" &lt;&lt; b &lt;&lt; 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swap(a, b); </a:t>
            </a: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// Call by value 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"After swap, value of a :" &lt;&lt; a &lt;&lt; 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"After swap, value of b :" &lt;&lt; b &lt;&lt; 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return 0;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BCEAF-3C81-2E1F-8B02-75FE1239F238}"/>
              </a:ext>
            </a:extLst>
          </p:cNvPr>
          <p:cNvSpPr txBox="1"/>
          <p:nvPr/>
        </p:nvSpPr>
        <p:spPr>
          <a:xfrm>
            <a:off x="5791004" y="725454"/>
            <a:ext cx="2711865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fr-FR" sz="1600" dirty="0" err="1">
                <a:latin typeface="Trebuchet MS" panose="020B0603020202020204" pitchFamily="34" charset="0"/>
              </a:rPr>
              <a:t>void</a:t>
            </a:r>
            <a:r>
              <a:rPr lang="fr-FR" sz="1600" dirty="0">
                <a:latin typeface="Trebuchet MS" panose="020B0603020202020204" pitchFamily="34" charset="0"/>
              </a:rPr>
              <a:t> swap(</a:t>
            </a:r>
            <a:r>
              <a:rPr lang="fr-FR" sz="1600" dirty="0" err="1">
                <a:latin typeface="Trebuchet MS" panose="020B0603020202020204" pitchFamily="34" charset="0"/>
              </a:rPr>
              <a:t>int</a:t>
            </a:r>
            <a:r>
              <a:rPr lang="fr-FR" sz="1600" dirty="0">
                <a:latin typeface="Trebuchet MS" panose="020B0603020202020204" pitchFamily="34" charset="0"/>
              </a:rPr>
              <a:t> x, </a:t>
            </a:r>
            <a:r>
              <a:rPr lang="fr-FR" sz="1600" dirty="0" err="1">
                <a:latin typeface="Trebuchet MS" panose="020B0603020202020204" pitchFamily="34" charset="0"/>
              </a:rPr>
              <a:t>int</a:t>
            </a:r>
            <a:r>
              <a:rPr lang="fr-FR" sz="1600" dirty="0">
                <a:latin typeface="Trebuchet MS" panose="020B0603020202020204" pitchFamily="34" charset="0"/>
              </a:rPr>
              <a:t> y)</a:t>
            </a:r>
          </a:p>
          <a:p>
            <a:pPr>
              <a:spcBef>
                <a:spcPts val="600"/>
              </a:spcBef>
            </a:pPr>
            <a:r>
              <a:rPr lang="fr-FR" sz="16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fr-FR" sz="1600" dirty="0">
                <a:latin typeface="Trebuchet MS" panose="020B0603020202020204" pitchFamily="34" charset="0"/>
              </a:rPr>
              <a:t> </a:t>
            </a:r>
            <a:r>
              <a:rPr lang="fr-FR" sz="1600" dirty="0" err="1">
                <a:latin typeface="Trebuchet MS" panose="020B0603020202020204" pitchFamily="34" charset="0"/>
              </a:rPr>
              <a:t>int</a:t>
            </a:r>
            <a:r>
              <a:rPr lang="fr-FR" sz="1600" dirty="0">
                <a:latin typeface="Trebuchet MS" panose="020B0603020202020204" pitchFamily="34" charset="0"/>
              </a:rPr>
              <a:t> temp;</a:t>
            </a:r>
          </a:p>
          <a:p>
            <a:pPr>
              <a:spcBef>
                <a:spcPts val="600"/>
              </a:spcBef>
            </a:pPr>
            <a:r>
              <a:rPr lang="fr-FR" sz="1600" b="1" dirty="0">
                <a:latin typeface="Trebuchet MS" panose="020B0603020202020204" pitchFamily="34" charset="0"/>
              </a:rPr>
              <a:t> </a:t>
            </a:r>
            <a:r>
              <a:rPr lang="fr-FR" sz="1600" b="1" dirty="0">
                <a:solidFill>
                  <a:srgbClr val="FF0000"/>
                </a:solidFill>
                <a:latin typeface="Trebuchet MS" panose="020B0603020202020204" pitchFamily="34" charset="0"/>
              </a:rPr>
              <a:t>temp=x;</a:t>
            </a:r>
          </a:p>
          <a:p>
            <a:pPr>
              <a:spcBef>
                <a:spcPts val="600"/>
              </a:spcBef>
            </a:pPr>
            <a:r>
              <a:rPr lang="fr-FR" sz="1600" b="1" dirty="0">
                <a:solidFill>
                  <a:srgbClr val="FF0000"/>
                </a:solidFill>
                <a:latin typeface="Trebuchet MS" panose="020B0603020202020204" pitchFamily="34" charset="0"/>
              </a:rPr>
              <a:t> x=y;</a:t>
            </a:r>
          </a:p>
          <a:p>
            <a:pPr>
              <a:spcBef>
                <a:spcPts val="600"/>
              </a:spcBef>
            </a:pPr>
            <a:r>
              <a:rPr lang="fr-FR" sz="1600" b="1" dirty="0">
                <a:solidFill>
                  <a:srgbClr val="FF0000"/>
                </a:solidFill>
                <a:latin typeface="Trebuchet MS" panose="020B0603020202020204" pitchFamily="34" charset="0"/>
              </a:rPr>
              <a:t> y=temp;</a:t>
            </a:r>
          </a:p>
          <a:p>
            <a:pPr>
              <a:spcBef>
                <a:spcPts val="600"/>
              </a:spcBef>
            </a:pPr>
            <a:r>
              <a:rPr lang="fr-FR" sz="1600" dirty="0">
                <a:latin typeface="Trebuchet MS" panose="020B0603020202020204" pitchFamily="34" charset="0"/>
              </a:rPr>
              <a:t>}</a:t>
            </a:r>
            <a:endParaRPr lang="en-IN" sz="1600" dirty="0">
              <a:latin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984E2-4EE7-0085-376C-9A9B495D22AF}"/>
              </a:ext>
            </a:extLst>
          </p:cNvPr>
          <p:cNvSpPr txBox="1"/>
          <p:nvPr/>
        </p:nvSpPr>
        <p:spPr>
          <a:xfrm>
            <a:off x="5909281" y="3208392"/>
            <a:ext cx="2711865" cy="16682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  <a:latin typeface="Trebuchet MS" panose="020B0603020202020204" pitchFamily="34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Before swap, value of a :100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Before swap, value of b :200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After swap, value of a :100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After swap, value of b :200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F81795-9E7B-4D15-1017-A0D8D349B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960" y="134249"/>
            <a:ext cx="16916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7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47F722-4F41-63E5-E722-340AD9EB76B3}"/>
              </a:ext>
            </a:extLst>
          </p:cNvPr>
          <p:cNvSpPr txBox="1"/>
          <p:nvPr/>
        </p:nvSpPr>
        <p:spPr>
          <a:xfrm>
            <a:off x="168165" y="72715"/>
            <a:ext cx="4862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Call by 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A3552-BD31-8EB6-34F1-8AC4DEC3FED0}"/>
              </a:ext>
            </a:extLst>
          </p:cNvPr>
          <p:cNvSpPr txBox="1"/>
          <p:nvPr/>
        </p:nvSpPr>
        <p:spPr>
          <a:xfrm>
            <a:off x="470419" y="897448"/>
            <a:ext cx="8193636" cy="367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In C++, it permits us to pass parameters to the function by reference based on actual / formal arguments.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Actual Arguments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arguments listed or defined in the </a:t>
            </a:r>
            <a:r>
              <a:rPr lang="en-IN" sz="1800" b="1" dirty="0">
                <a:latin typeface="Trebuchet MS" panose="020B0603020202020204" pitchFamily="34" charset="0"/>
              </a:rPr>
              <a:t>function calling statement</a:t>
            </a:r>
            <a:r>
              <a:rPr lang="en-IN" sz="1800" dirty="0">
                <a:latin typeface="Trebuchet MS" panose="020B0603020202020204" pitchFamily="34" charset="0"/>
              </a:rPr>
              <a:t> that is called Actual Arguments.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Formal Arguments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arguments used in the </a:t>
            </a:r>
            <a:r>
              <a:rPr lang="en-IN" sz="1800" b="1" dirty="0">
                <a:latin typeface="Trebuchet MS" panose="020B0603020202020204" pitchFamily="34" charset="0"/>
              </a:rPr>
              <a:t>function declaration </a:t>
            </a:r>
            <a:r>
              <a:rPr lang="en-IN" sz="1800" dirty="0">
                <a:latin typeface="Trebuchet MS" panose="020B0603020202020204" pitchFamily="34" charset="0"/>
              </a:rPr>
              <a:t>that is called Formal Arguments.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4AB02B-37CA-F80F-A713-4D04CA3EF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680" y="134249"/>
            <a:ext cx="164592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19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47F722-4F41-63E5-E722-340AD9EB76B3}"/>
              </a:ext>
            </a:extLst>
          </p:cNvPr>
          <p:cNvSpPr txBox="1"/>
          <p:nvPr/>
        </p:nvSpPr>
        <p:spPr>
          <a:xfrm>
            <a:off x="168165" y="72715"/>
            <a:ext cx="4862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Call by Reference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BE65C-3490-9F83-7A8F-2CA157203BD3}"/>
              </a:ext>
            </a:extLst>
          </p:cNvPr>
          <p:cNvSpPr txBox="1"/>
          <p:nvPr/>
        </p:nvSpPr>
        <p:spPr>
          <a:xfrm>
            <a:off x="370884" y="889000"/>
            <a:ext cx="8195047" cy="359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The call by reference method of passing arguments to a function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copies the reference of an argument into the formal parameter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Inside the function, the reference is used to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access the actual argument used in the call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This means that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changes made to the parameter affect the passed argument.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To pass the value by reference, argument reference is passed to the functions just like any other value.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2B8945-1E58-6FCD-ECF9-EC4A8649F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34249"/>
            <a:ext cx="15392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94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EA06BB-7B6D-764C-D666-B23BF83865A6}"/>
              </a:ext>
            </a:extLst>
          </p:cNvPr>
          <p:cNvSpPr txBox="1"/>
          <p:nvPr/>
        </p:nvSpPr>
        <p:spPr>
          <a:xfrm>
            <a:off x="306615" y="679339"/>
            <a:ext cx="464031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// function declaration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void swap(int &amp;x, int &amp;y);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int main () 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</a:t>
            </a:r>
            <a:r>
              <a:rPr lang="en-IN" sz="1500" b="1" dirty="0">
                <a:latin typeface="Trebuchet MS" panose="020B0603020202020204" pitchFamily="34" charset="0"/>
              </a:rPr>
              <a:t>// local variable declaration: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int a = 100;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int b = 200;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</a:t>
            </a:r>
            <a:r>
              <a:rPr lang="en-IN" sz="1500" dirty="0" err="1">
                <a:latin typeface="Trebuchet MS" panose="020B0603020202020204" pitchFamily="34" charset="0"/>
              </a:rPr>
              <a:t>cout</a:t>
            </a:r>
            <a:r>
              <a:rPr lang="en-IN" sz="1500" dirty="0">
                <a:latin typeface="Trebuchet MS" panose="020B0603020202020204" pitchFamily="34" charset="0"/>
              </a:rPr>
              <a:t> &lt;&lt; "Before swap, value of a :" &lt;&lt; a &lt;&lt; </a:t>
            </a:r>
            <a:r>
              <a:rPr lang="en-IN" sz="1500" dirty="0" err="1">
                <a:latin typeface="Trebuchet MS" panose="020B0603020202020204" pitchFamily="34" charset="0"/>
              </a:rPr>
              <a:t>endl</a:t>
            </a:r>
            <a:r>
              <a:rPr lang="en-IN" sz="15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</a:t>
            </a:r>
            <a:r>
              <a:rPr lang="en-IN" sz="1500" dirty="0" err="1">
                <a:latin typeface="Trebuchet MS" panose="020B0603020202020204" pitchFamily="34" charset="0"/>
              </a:rPr>
              <a:t>cout</a:t>
            </a:r>
            <a:r>
              <a:rPr lang="en-IN" sz="1500" dirty="0">
                <a:latin typeface="Trebuchet MS" panose="020B0603020202020204" pitchFamily="34" charset="0"/>
              </a:rPr>
              <a:t> &lt;&lt; "Before swap, value of b :" &lt;&lt; b &lt;&lt; </a:t>
            </a:r>
            <a:r>
              <a:rPr lang="en-IN" sz="1500" dirty="0" err="1">
                <a:latin typeface="Trebuchet MS" panose="020B0603020202020204" pitchFamily="34" charset="0"/>
              </a:rPr>
              <a:t>endl</a:t>
            </a:r>
            <a:r>
              <a:rPr lang="en-IN" sz="15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swap(a, b);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</a:t>
            </a:r>
            <a:r>
              <a:rPr lang="en-IN" sz="1500" dirty="0" err="1">
                <a:latin typeface="Trebuchet MS" panose="020B0603020202020204" pitchFamily="34" charset="0"/>
              </a:rPr>
              <a:t>cout</a:t>
            </a:r>
            <a:r>
              <a:rPr lang="en-IN" sz="1500" dirty="0">
                <a:latin typeface="Trebuchet MS" panose="020B0603020202020204" pitchFamily="34" charset="0"/>
              </a:rPr>
              <a:t> &lt;&lt; "After swap, value of a :" &lt;&lt; a &lt;&lt; </a:t>
            </a:r>
            <a:r>
              <a:rPr lang="en-IN" sz="1500" dirty="0" err="1">
                <a:latin typeface="Trebuchet MS" panose="020B0603020202020204" pitchFamily="34" charset="0"/>
              </a:rPr>
              <a:t>endl</a:t>
            </a:r>
            <a:r>
              <a:rPr lang="en-IN" sz="15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</a:t>
            </a:r>
            <a:r>
              <a:rPr lang="en-IN" sz="1500" dirty="0" err="1">
                <a:latin typeface="Trebuchet MS" panose="020B0603020202020204" pitchFamily="34" charset="0"/>
              </a:rPr>
              <a:t>cout</a:t>
            </a:r>
            <a:r>
              <a:rPr lang="en-IN" sz="1500" dirty="0">
                <a:latin typeface="Trebuchet MS" panose="020B0603020202020204" pitchFamily="34" charset="0"/>
              </a:rPr>
              <a:t> &lt;&lt; "After swap, value of b :" &lt;&lt; b &lt;&lt; </a:t>
            </a:r>
            <a:r>
              <a:rPr lang="en-IN" sz="1500" dirty="0" err="1">
                <a:latin typeface="Trebuchet MS" panose="020B0603020202020204" pitchFamily="34" charset="0"/>
              </a:rPr>
              <a:t>endl</a:t>
            </a:r>
            <a:r>
              <a:rPr lang="en-IN" sz="15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   return 0;</a:t>
            </a:r>
          </a:p>
          <a:p>
            <a:pPr>
              <a:spcBef>
                <a:spcPts val="400"/>
              </a:spcBef>
            </a:pPr>
            <a:r>
              <a:rPr lang="en-IN" sz="15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2534C-EBAD-7B59-DD95-49CC6107F00D}"/>
              </a:ext>
            </a:extLst>
          </p:cNvPr>
          <p:cNvSpPr txBox="1"/>
          <p:nvPr/>
        </p:nvSpPr>
        <p:spPr>
          <a:xfrm>
            <a:off x="5118539" y="781932"/>
            <a:ext cx="4192282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void swap(int &amp;x, int &amp;y)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int temp;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temp = x;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x = y;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y = temp;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D6BA-58E5-5C08-8146-0B8DCBE76FCA}"/>
              </a:ext>
            </a:extLst>
          </p:cNvPr>
          <p:cNvSpPr txBox="1"/>
          <p:nvPr/>
        </p:nvSpPr>
        <p:spPr>
          <a:xfrm>
            <a:off x="5646389" y="3104533"/>
            <a:ext cx="2827282" cy="16685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Before swap, value of a :100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Before swap, value of b :200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After swap, value of a :200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After swap, value of b :100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06CDD-E1E4-5567-17EB-5CCA1D6DFF9D}"/>
              </a:ext>
            </a:extLst>
          </p:cNvPr>
          <p:cNvSpPr txBox="1"/>
          <p:nvPr/>
        </p:nvSpPr>
        <p:spPr>
          <a:xfrm>
            <a:off x="202325" y="131731"/>
            <a:ext cx="5557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Call by Reference – Example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F19F7-ADC0-D9CC-D528-EA1B83428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4249"/>
            <a:ext cx="14478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2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B448B1-EBEC-E70C-E06D-E89EE3D9D5F3}"/>
              </a:ext>
            </a:extLst>
          </p:cNvPr>
          <p:cNvSpPr txBox="1"/>
          <p:nvPr/>
        </p:nvSpPr>
        <p:spPr>
          <a:xfrm>
            <a:off x="211553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Overloading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E0EC-F576-6D4F-9B8E-3F07671564A6}"/>
              </a:ext>
            </a:extLst>
          </p:cNvPr>
          <p:cNvSpPr txBox="1"/>
          <p:nvPr/>
        </p:nvSpPr>
        <p:spPr>
          <a:xfrm>
            <a:off x="211553" y="702444"/>
            <a:ext cx="8764281" cy="3831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50000"/>
              </a:lnSpc>
              <a:spcBef>
                <a:spcPts val="400"/>
              </a:spcBef>
              <a:buSzPct val="90000"/>
              <a:buFont typeface="Symbol" panose="05050102010706020507" pitchFamily="18" charset="2"/>
              <a:buChar char=""/>
            </a:pPr>
            <a:r>
              <a:rPr lang="en-US" sz="1550" b="1" dirty="0">
                <a:solidFill>
                  <a:srgbClr val="FF0000"/>
                </a:solidFill>
              </a:rPr>
              <a:t>Function overloading: </a:t>
            </a:r>
            <a:r>
              <a:rPr lang="en-US" sz="1550" dirty="0"/>
              <a:t>Where two or more functions can have the </a:t>
            </a:r>
            <a:r>
              <a:rPr lang="en-US" sz="1550" b="1" dirty="0"/>
              <a:t>same name </a:t>
            </a:r>
            <a:r>
              <a:rPr lang="en-US" sz="1550" dirty="0"/>
              <a:t>but </a:t>
            </a:r>
            <a:r>
              <a:rPr lang="en-US" sz="1550" b="1" dirty="0"/>
              <a:t>differ in the type or number of their parameters.</a:t>
            </a:r>
            <a:r>
              <a:rPr lang="en-US" sz="1550" dirty="0"/>
              <a:t> This allows you to create functions that can handle different types of input with the same function name.</a:t>
            </a:r>
          </a:p>
          <a:p>
            <a:pPr marL="342900" indent="-342900" algn="just" fontAlgn="base">
              <a:lnSpc>
                <a:spcPct val="150000"/>
              </a:lnSpc>
              <a:spcBef>
                <a:spcPts val="400"/>
              </a:spcBef>
              <a:buSzPct val="90000"/>
              <a:buFont typeface="Symbol" panose="05050102010706020507" pitchFamily="18" charset="2"/>
              <a:buChar char=""/>
            </a:pPr>
            <a:r>
              <a:rPr lang="en-IN" sz="155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overloading</a:t>
            </a: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</a:t>
            </a:r>
            <a:r>
              <a:rPr lang="en-IN" sz="155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compile-time polymorphism. </a:t>
            </a:r>
            <a:endParaRPr lang="en-IN" sz="1550" dirty="0">
              <a:solidFill>
                <a:srgbClr val="FF0000"/>
              </a:solidFill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ts val="400"/>
              </a:spcBef>
              <a:buSzPct val="90000"/>
              <a:buFont typeface="Symbol" panose="05050102010706020507" pitchFamily="18" charset="2"/>
              <a:buChar char=""/>
            </a:pP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function overloading in the </a:t>
            </a:r>
            <a:r>
              <a:rPr lang="en-IN" sz="1550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 feature is used to </a:t>
            </a:r>
            <a:r>
              <a:rPr lang="en-IN" sz="155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the readability of the code</a:t>
            </a: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It is used so that the programmer does not have to remember various function names.</a:t>
            </a:r>
            <a:endParaRPr lang="en-IN" sz="155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ts val="400"/>
              </a:spcBef>
              <a:buSzPct val="90000"/>
              <a:buFont typeface="Symbol" panose="05050102010706020507" pitchFamily="18" charset="2"/>
              <a:buChar char=""/>
            </a:pP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any class has </a:t>
            </a:r>
            <a:r>
              <a:rPr lang="en-IN" sz="155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functions with different parameters having the same name</a:t>
            </a: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they are said to be </a:t>
            </a:r>
            <a:r>
              <a:rPr lang="en-IN" sz="155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155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ts val="400"/>
              </a:spcBef>
              <a:buSzPct val="90000"/>
              <a:buFont typeface="Symbol" panose="05050102010706020507" pitchFamily="18" charset="2"/>
              <a:buChar char=""/>
            </a:pPr>
            <a:r>
              <a:rPr lang="en-IN" sz="155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we have to perform a single operation with different numbers or types of arguments, we need to overload the function.</a:t>
            </a:r>
            <a:r>
              <a:rPr lang="en-IN" sz="155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endParaRPr lang="en-IN" sz="155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BA26FC-45DC-98F3-11D5-5C476952B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840" y="134249"/>
            <a:ext cx="150876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72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B448B1-EBEC-E70C-E06D-E89EE3D9D5F3}"/>
              </a:ext>
            </a:extLst>
          </p:cNvPr>
          <p:cNvSpPr txBox="1"/>
          <p:nvPr/>
        </p:nvSpPr>
        <p:spPr>
          <a:xfrm>
            <a:off x="211553" y="72715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Overloading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75809-4E41-9FEB-5DCE-45AF8D600BC0}"/>
              </a:ext>
            </a:extLst>
          </p:cNvPr>
          <p:cNvSpPr txBox="1"/>
          <p:nvPr/>
        </p:nvSpPr>
        <p:spPr>
          <a:xfrm>
            <a:off x="315162" y="739773"/>
            <a:ext cx="8504150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C++ has many features, and one of the most important features is </a:t>
            </a:r>
            <a:r>
              <a:rPr lang="en-IN" sz="1800" b="1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overloading.</a:t>
            </a:r>
            <a:r>
              <a:rPr lang="en-IN" sz="18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>
              <a:lnSpc>
                <a:spcPct val="150000"/>
              </a:lnSpc>
            </a:pPr>
            <a:endParaRPr lang="en-IN" sz="1800" b="1" dirty="0">
              <a:solidFill>
                <a:schemeClr val="tx1"/>
              </a:solidFill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IN" sz="1800" b="1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Conditions of overloading: </a:t>
            </a:r>
            <a:endParaRPr lang="en-IN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easiest way to remember this rule is that the parameters should qualify any one or more than one of the following conditions: </a:t>
            </a:r>
            <a:endParaRPr lang="en-IN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6575" lvl="0" indent="-263525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should have a different type</a:t>
            </a:r>
            <a:endParaRPr lang="en-IN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6575" lvl="0" indent="-263525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should have a different number </a:t>
            </a:r>
            <a:endParaRPr lang="en-IN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6575" lvl="0" indent="-263525" fontAlgn="base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should have a different sequence of parameters.</a:t>
            </a:r>
            <a:endParaRPr lang="en-IN" sz="18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5D96A-6D15-0BCE-40A8-3F3F17A62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260" y="134249"/>
            <a:ext cx="15773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39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FB265A9-BF31-28E6-02B6-4E7AA4FC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20BDC2FD-CF24-6B34-248A-B37E0FAB35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>
            <a:extLst>
              <a:ext uri="{FF2B5EF4-FFF2-40B4-BE49-F238E27FC236}">
                <a16:creationId xmlns:a16="http://schemas.microsoft.com/office/drawing/2014/main" id="{88E3217D-2A4C-50D5-DBFD-59CA08E0C3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67BEF0-93E3-F983-FB3E-DF88C3C99C31}"/>
              </a:ext>
            </a:extLst>
          </p:cNvPr>
          <p:cNvSpPr txBox="1"/>
          <p:nvPr/>
        </p:nvSpPr>
        <p:spPr>
          <a:xfrm>
            <a:off x="211553" y="72715"/>
            <a:ext cx="6887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Overloading: Example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0F5B1-EAE0-08EE-7A0F-9F76AB87C5BE}"/>
              </a:ext>
            </a:extLst>
          </p:cNvPr>
          <p:cNvSpPr txBox="1"/>
          <p:nvPr/>
        </p:nvSpPr>
        <p:spPr>
          <a:xfrm>
            <a:off x="315162" y="739773"/>
            <a:ext cx="8504150" cy="3936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 fontAlgn="base">
              <a:lnSpc>
                <a:spcPct val="150000"/>
              </a:lnSpc>
            </a:pPr>
            <a:endParaRPr lang="en-IN" sz="1200" dirty="0">
              <a:solidFill>
                <a:schemeClr val="tx1"/>
              </a:solidFill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2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"Here is int: " &lt;&lt;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fontAlgn="base">
              <a:lnSpc>
                <a:spcPct val="150000"/>
              </a:lnSpc>
            </a:pPr>
            <a:endParaRPr lang="en-IN" sz="1200" dirty="0">
              <a:solidFill>
                <a:schemeClr val="tx1"/>
              </a:solidFill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2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(double  f) {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"Here is float: " &lt;&lt; f &lt;&lt;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fontAlgn="base">
              <a:lnSpc>
                <a:spcPct val="150000"/>
              </a:lnSpc>
            </a:pPr>
            <a:endParaRPr lang="en-IN" sz="1200" dirty="0">
              <a:solidFill>
                <a:schemeClr val="tx1"/>
              </a:solidFill>
              <a:effectLst/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2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(string s) {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&lt;&lt; "Here is string: " &lt;&lt; s &lt;&lt; </a:t>
            </a:r>
            <a:r>
              <a:rPr lang="en-IN" sz="1200" dirty="0" err="1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2396-6D33-43A1-2E91-AD1854DF9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260" y="134249"/>
            <a:ext cx="1577340" cy="457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AB3F3-A5B1-0D3F-35BA-FD120D537709}"/>
              </a:ext>
            </a:extLst>
          </p:cNvPr>
          <p:cNvSpPr txBox="1"/>
          <p:nvPr/>
        </p:nvSpPr>
        <p:spPr>
          <a:xfrm>
            <a:off x="4185920" y="744282"/>
            <a:ext cx="4785792" cy="1720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print(10);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print(10.5);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print("Hello");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fontAlgn="base">
              <a:lnSpc>
                <a:spcPct val="150000"/>
              </a:lnSpc>
            </a:pPr>
            <a:r>
              <a:rPr lang="en-IN" sz="1200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3501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0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B448B1-EBEC-E70C-E06D-E89EE3D9D5F3}"/>
              </a:ext>
            </a:extLst>
          </p:cNvPr>
          <p:cNvSpPr txBox="1"/>
          <p:nvPr/>
        </p:nvSpPr>
        <p:spPr>
          <a:xfrm>
            <a:off x="211552" y="72715"/>
            <a:ext cx="64719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Overloading – Example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68D43-8DDD-7726-11FA-3695FE7C9DDA}"/>
              </a:ext>
            </a:extLst>
          </p:cNvPr>
          <p:cNvSpPr txBox="1"/>
          <p:nvPr/>
        </p:nvSpPr>
        <p:spPr>
          <a:xfrm>
            <a:off x="285125" y="803265"/>
            <a:ext cx="3986047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5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 A, int B);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5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 A, int B, int C);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1500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(int A, int B, int C, int D);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Sum(1,2);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Sum(1,2,3);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Sum(1,2,3,4);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  <a:endParaRPr lang="en-IN" sz="15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226AD-2EE8-DEA0-629E-CB6CAEEF303E}"/>
              </a:ext>
            </a:extLst>
          </p:cNvPr>
          <p:cNvSpPr txBox="1"/>
          <p:nvPr/>
        </p:nvSpPr>
        <p:spPr>
          <a:xfrm>
            <a:off x="3720140" y="703922"/>
            <a:ext cx="451997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void Sum(int A, int B)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"SUM is : "&lt;&lt; A+B;     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void Sum(int A, int B, int C)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"SUM is : "&lt;&lt; A+B+C;  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void Sum(int A, int B, int C, int D)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{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&lt;&lt; "SUM is : "&lt;&lt; A+B+C+D;     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}</a:t>
            </a:r>
            <a:endParaRPr kumimoji="0" lang="en-IN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B249D-3D32-EFB3-6420-06528391B4B0}"/>
              </a:ext>
            </a:extLst>
          </p:cNvPr>
          <p:cNvSpPr txBox="1"/>
          <p:nvPr/>
        </p:nvSpPr>
        <p:spPr>
          <a:xfrm>
            <a:off x="7660632" y="956442"/>
            <a:ext cx="1137476" cy="1728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Output:</a:t>
            </a:r>
            <a:endParaRPr lang="en-IN" b="1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Sum is 3</a:t>
            </a:r>
            <a:endParaRPr lang="en-IN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Sum is 6</a:t>
            </a:r>
            <a:endParaRPr lang="en-IN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Sum is 10</a:t>
            </a:r>
            <a:endParaRPr lang="en-IN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398390-CF42-AC99-D670-387AFD384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880" y="134249"/>
            <a:ext cx="156972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10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B448B1-EBEC-E70C-E06D-E89EE3D9D5F3}"/>
              </a:ext>
            </a:extLst>
          </p:cNvPr>
          <p:cNvSpPr txBox="1"/>
          <p:nvPr/>
        </p:nvSpPr>
        <p:spPr>
          <a:xfrm>
            <a:off x="211552" y="72715"/>
            <a:ext cx="64719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Function Overloading – Example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68D43-8DDD-7726-11FA-3695FE7C9DDA}"/>
              </a:ext>
            </a:extLst>
          </p:cNvPr>
          <p:cNvSpPr txBox="1"/>
          <p:nvPr/>
        </p:nvSpPr>
        <p:spPr>
          <a:xfrm>
            <a:off x="223964" y="714321"/>
            <a:ext cx="2729443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&lt;iostream&gt;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namespace std;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FF000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Addition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public: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sum(int </a:t>
            </a:r>
            <a:r>
              <a:rPr lang="en-IN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a,int</a:t>
            </a: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b) 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</a:t>
            </a:r>
            <a:r>
              <a:rPr lang="en-IN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a+b</a:t>
            </a: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sum(int </a:t>
            </a:r>
            <a:r>
              <a:rPr lang="en-IN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a,int</a:t>
            </a: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b, int c) 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return </a:t>
            </a:r>
            <a:r>
              <a:rPr lang="en-IN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a+b+c</a:t>
            </a: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fontAlgn="base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B249D-3D32-EFB3-6420-06528391B4B0}"/>
              </a:ext>
            </a:extLst>
          </p:cNvPr>
          <p:cNvSpPr txBox="1"/>
          <p:nvPr/>
        </p:nvSpPr>
        <p:spPr>
          <a:xfrm>
            <a:off x="6656856" y="3405122"/>
            <a:ext cx="1413188" cy="12548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b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Output:</a:t>
            </a:r>
          </a:p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b="1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  <a:p>
            <a:pPr fontAlgn="base">
              <a:lnSpc>
                <a:spcPct val="107000"/>
              </a:lnSpc>
              <a:spcAft>
                <a:spcPts val="192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b="1" dirty="0">
                <a:solidFill>
                  <a:schemeClr val="tx1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191</a:t>
            </a:r>
            <a:endParaRPr lang="en-IN" b="1" dirty="0">
              <a:solidFill>
                <a:srgbClr val="0070C0"/>
              </a:solidFill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CF36E-1888-B106-167E-23D6D0DD8754}"/>
              </a:ext>
            </a:extLst>
          </p:cNvPr>
          <p:cNvSpPr txBox="1"/>
          <p:nvPr/>
        </p:nvSpPr>
        <p:spPr>
          <a:xfrm>
            <a:off x="3564895" y="695579"/>
            <a:ext cx="4640316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int main(void)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    Addition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obj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;           //creating object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&lt;&lt;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obj.sum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(20, 15)&lt;&lt;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    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cout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&lt;&lt;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obj.sum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(81, 100, 10)&lt;&lt;</a:t>
            </a:r>
            <a:r>
              <a:rPr kumimoji="0" lang="en-I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endl</a:t>
            </a: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2C76AE-C24D-033D-00FA-C23411400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4249"/>
            <a:ext cx="16764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18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E267AF-069C-8128-B673-BEC1A8FD41F4}"/>
              </a:ext>
            </a:extLst>
          </p:cNvPr>
          <p:cNvSpPr txBox="1"/>
          <p:nvPr/>
        </p:nvSpPr>
        <p:spPr>
          <a:xfrm>
            <a:off x="422646" y="97479"/>
            <a:ext cx="4408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rebuchet MS" panose="020B0603020202020204" pitchFamily="34" charset="0"/>
              </a:rPr>
              <a:t>Inline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CA470-9F74-8726-0208-E5F69B8FF370}"/>
              </a:ext>
            </a:extLst>
          </p:cNvPr>
          <p:cNvSpPr txBox="1"/>
          <p:nvPr/>
        </p:nvSpPr>
        <p:spPr>
          <a:xfrm>
            <a:off x="422646" y="863326"/>
            <a:ext cx="7943587" cy="393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An inline function in C++ is a function that </a:t>
            </a:r>
            <a:r>
              <a:rPr lang="en-US" sz="1800" b="1" dirty="0"/>
              <a:t>is expanded in line when it is called.</a:t>
            </a:r>
            <a:r>
              <a:rPr lang="en-US" sz="1800" dirty="0"/>
              <a:t> This means that instead of performing a regular function call, the compiler replaces the function call with the function code itself. This can improve performance by avoiding the overhead of a function call, especially for </a:t>
            </a:r>
            <a:r>
              <a:rPr lang="en-US" sz="1800" b="1" dirty="0"/>
              <a:t>small, frequently-called functions</a:t>
            </a:r>
            <a:r>
              <a:rPr lang="en-US" sz="1800" dirty="0"/>
              <a:t>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C++ provides inline functions to reduce the </a:t>
            </a:r>
            <a:r>
              <a:rPr lang="en-IN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rebuchet MS" panose="020B0603020202020204" pitchFamily="34" charset="0"/>
              </a:rPr>
              <a:t>function call overhead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 An inline function is a function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that is expanded in line when it is called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When the inline function is called whole code of the inline function gets </a:t>
            </a:r>
            <a:r>
              <a:rPr lang="en-IN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rebuchet MS" panose="020B0603020202020204" pitchFamily="34" charset="0"/>
              </a:rPr>
              <a:t>inserted or substituted at the point of the inline function call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1D4DBC-9B4A-D3AE-1144-12769812A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160" y="134249"/>
            <a:ext cx="16154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0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0FA32D-F51E-C430-1294-382168B5D937}"/>
              </a:ext>
            </a:extLst>
          </p:cNvPr>
          <p:cNvSpPr txBox="1"/>
          <p:nvPr/>
        </p:nvSpPr>
        <p:spPr>
          <a:xfrm>
            <a:off x="400607" y="962791"/>
            <a:ext cx="7923586" cy="359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This substitution is performed by the C++ compiler at compile time. An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inline function may increase efficiency if it is small.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When it comes to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enhancing the performance 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of the program, the inline function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proves to be an excellent concept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Inline function in C++ is an </a:t>
            </a:r>
            <a:r>
              <a:rPr lang="en-IN" sz="1800" b="1" dirty="0">
                <a:latin typeface="Trebuchet MS" panose="020B0603020202020204" pitchFamily="34" charset="0"/>
              </a:rPr>
              <a:t>enhancement feature that improves the execution time and speed of the program</a:t>
            </a:r>
            <a:r>
              <a:rPr lang="en-IN" sz="1800" dirty="0">
                <a:latin typeface="Trebuchet MS" panose="020B0603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main advantage of inline functions is that you can </a:t>
            </a:r>
            <a:r>
              <a:rPr lang="en-IN" sz="1800" b="1" dirty="0">
                <a:latin typeface="Trebuchet MS" panose="020B0603020202020204" pitchFamily="34" charset="0"/>
              </a:rPr>
              <a:t>use them with C++ classes</a:t>
            </a:r>
            <a:r>
              <a:rPr lang="en-IN" sz="1800" dirty="0">
                <a:latin typeface="Trebuchet MS" panose="020B0603020202020204" pitchFamily="34" charset="0"/>
              </a:rPr>
              <a:t> as well.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A9BD7B-BBD4-C003-DCC6-0E948E460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134249"/>
            <a:ext cx="15621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08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FA786B-4B68-F02C-4640-BEB2BAF714C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grayscl/>
          </a:blip>
          <a:srcRect l="5275" t="9909" r="4607" b="5341"/>
          <a:stretch/>
        </p:blipFill>
        <p:spPr>
          <a:xfrm>
            <a:off x="786929" y="837916"/>
            <a:ext cx="6801539" cy="38312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A006F2-C1CA-B00D-26FF-166087F9A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8468" y="134249"/>
            <a:ext cx="1403132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24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EE390-F484-D938-6B58-2A9A0246E5D1}"/>
              </a:ext>
            </a:extLst>
          </p:cNvPr>
          <p:cNvSpPr txBox="1"/>
          <p:nvPr/>
        </p:nvSpPr>
        <p:spPr>
          <a:xfrm>
            <a:off x="400607" y="949918"/>
            <a:ext cx="7986648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rebuchet MS" panose="020B0603020202020204" pitchFamily="34" charset="0"/>
              </a:rPr>
              <a:t>The compiler may </a:t>
            </a: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not perform </a:t>
            </a:r>
            <a:r>
              <a:rPr lang="en-IN" sz="2000" dirty="0">
                <a:latin typeface="Trebuchet MS" panose="020B0603020202020204" pitchFamily="34" charset="0"/>
              </a:rPr>
              <a:t>inline in such circumstances as: 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If a function contains a loop.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n-IN" sz="2000" b="0" i="1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for, while and do-while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) 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If a function contains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static variables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. 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If a function is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recursive.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 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If a function return type is other than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void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, and the return statement doesn’t exist in a function body. 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If a function contains a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switch or </a:t>
            </a:r>
            <a:r>
              <a:rPr lang="en-IN" sz="2000" b="0" i="0" dirty="0" err="1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goto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Trebuchet MS" panose="020B0603020202020204" pitchFamily="34" charset="0"/>
              </a:rPr>
              <a:t>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rebuchet MS" panose="020B0603020202020204" pitchFamily="34" charset="0"/>
              </a:rPr>
              <a:t>statement. 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BBF4ED-5FDE-3217-AAED-86B45F7BC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134249"/>
            <a:ext cx="15621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82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85B60-3D49-2BC5-5B1F-EC4688FA7A5C}"/>
              </a:ext>
            </a:extLst>
          </p:cNvPr>
          <p:cNvSpPr txBox="1"/>
          <p:nvPr/>
        </p:nvSpPr>
        <p:spPr>
          <a:xfrm>
            <a:off x="581650" y="1034168"/>
            <a:ext cx="6781800" cy="3075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Syntax: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rebuchet MS" panose="020B0603020202020204" pitchFamily="34" charset="0"/>
              </a:rPr>
              <a:t>inline return-type function-name(parameters)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rebuchet MS" panose="020B0603020202020204" pitchFamily="34" charset="0"/>
              </a:rPr>
              <a:t>    // function code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rebuchet MS" panose="020B0603020202020204" pitchFamily="34" charset="0"/>
              </a:rPr>
              <a:t>} 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23BB6-2F59-C422-E963-7DB66C88D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450" y="134249"/>
            <a:ext cx="162815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93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6" y="148588"/>
            <a:ext cx="52280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 – Example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80ADE-F7EF-38B4-209F-D0F6BC01ED6E}"/>
              </a:ext>
            </a:extLst>
          </p:cNvPr>
          <p:cNvSpPr txBox="1"/>
          <p:nvPr/>
        </p:nvSpPr>
        <p:spPr>
          <a:xfrm>
            <a:off x="400607" y="815646"/>
            <a:ext cx="5432634" cy="410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inline int cube(int s)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return s * s * s;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"The cube of 3 is: " &lt;&lt; cube(3) &lt;&lt; "\n";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30928-E131-76F5-5BE5-EF24002E7F83}"/>
              </a:ext>
            </a:extLst>
          </p:cNvPr>
          <p:cNvSpPr txBox="1"/>
          <p:nvPr/>
        </p:nvSpPr>
        <p:spPr>
          <a:xfrm>
            <a:off x="5833241" y="1819119"/>
            <a:ext cx="2238704" cy="7857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rebuchet MS" panose="020B0603020202020204" pitchFamily="34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The cube of 3 is: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2B7CD2-C008-7C61-D368-5B9F14A16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260" y="134249"/>
            <a:ext cx="15773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56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BA47250-7ADB-DF27-6D3D-E27D4D2A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>
            <a:extLst>
              <a:ext uri="{FF2B5EF4-FFF2-40B4-BE49-F238E27FC236}">
                <a16:creationId xmlns:a16="http://schemas.microsoft.com/office/drawing/2014/main" id="{F3155435-D4D4-A237-EAD3-B1058C7EDC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>
            <a:extLst>
              <a:ext uri="{FF2B5EF4-FFF2-40B4-BE49-F238E27FC236}">
                <a16:creationId xmlns:a16="http://schemas.microsoft.com/office/drawing/2014/main" id="{C8614DBF-A4B8-6030-7FF9-AF6817C2F3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632C9-1787-DE21-B9CF-20B4A38DEFFA}"/>
              </a:ext>
            </a:extLst>
          </p:cNvPr>
          <p:cNvSpPr txBox="1"/>
          <p:nvPr/>
        </p:nvSpPr>
        <p:spPr>
          <a:xfrm>
            <a:off x="400606" y="148588"/>
            <a:ext cx="5349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Inline Function – Example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0F80C-7210-953E-769E-19CA36543679}"/>
              </a:ext>
            </a:extLst>
          </p:cNvPr>
          <p:cNvSpPr txBox="1"/>
          <p:nvPr/>
        </p:nvSpPr>
        <p:spPr>
          <a:xfrm>
            <a:off x="400607" y="815646"/>
            <a:ext cx="7571606" cy="3371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inline int add(int a, int b) 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return a + b;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"Sum: " &lt;&lt; add(5, 3) &lt;&lt; 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lang="en-IN" sz="1600" dirty="0">
                <a:latin typeface="Trebuchet MS" panose="020B0603020202020204" pitchFamily="34" charset="0"/>
              </a:rPr>
              <a:t>; // Inline function call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3A8D-62E6-C66B-51B2-D28A57F63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260" y="134249"/>
            <a:ext cx="15773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35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85B60-3D49-2BC5-5B1F-EC4688FA7A5C}"/>
              </a:ext>
            </a:extLst>
          </p:cNvPr>
          <p:cNvSpPr txBox="1"/>
          <p:nvPr/>
        </p:nvSpPr>
        <p:spPr>
          <a:xfrm>
            <a:off x="338103" y="1131571"/>
            <a:ext cx="8413044" cy="3243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macro is defined as the </a:t>
            </a:r>
            <a:r>
              <a:rPr lang="en-IN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piece of code</a:t>
            </a: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IN" sz="1800" dirty="0">
                <a:latin typeface="Trebuchet MS" panose="020B0603020202020204" pitchFamily="34" charset="0"/>
              </a:rPr>
              <a:t>that is replaced by the </a:t>
            </a:r>
            <a:r>
              <a:rPr lang="en-IN" sz="1800" b="1" dirty="0">
                <a:latin typeface="Trebuchet MS" panose="020B0603020202020204" pitchFamily="34" charset="0"/>
              </a:rPr>
              <a:t>value of the macro in the program</a:t>
            </a:r>
            <a:r>
              <a:rPr lang="en-IN" sz="1800" dirty="0">
                <a:latin typeface="Trebuchet MS" panose="020B0603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Whenever a compiler encounters the macro name, it replaces it with the definition of the macro.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Macros are initialized with the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#define </a:t>
            </a:r>
            <a:r>
              <a:rPr lang="en-IN" sz="1800" dirty="0">
                <a:latin typeface="Trebuchet MS" panose="020B0603020202020204" pitchFamily="34" charset="0"/>
              </a:rPr>
              <a:t>pre-processor command and can be undefined with the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#undef </a:t>
            </a:r>
            <a:r>
              <a:rPr lang="en-IN" sz="1800" dirty="0">
                <a:latin typeface="Trebuchet MS" panose="020B0603020202020204" pitchFamily="34" charset="0"/>
              </a:rPr>
              <a:t>command.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There is </a:t>
            </a:r>
            <a:r>
              <a:rPr lang="en-IN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no need to terminate </a:t>
            </a:r>
            <a:r>
              <a:rPr lang="en-IN" sz="1800" dirty="0">
                <a:latin typeface="Trebuchet MS" panose="020B0603020202020204" pitchFamily="34" charset="0"/>
              </a:rPr>
              <a:t>the macro definition using a </a:t>
            </a:r>
            <a:r>
              <a:rPr lang="en-IN" sz="1800" b="1" dirty="0">
                <a:solidFill>
                  <a:srgbClr val="0070C0"/>
                </a:solidFill>
                <a:latin typeface="Trebuchet MS" panose="020B0603020202020204" pitchFamily="34" charset="0"/>
              </a:rPr>
              <a:t>semi-colon (;)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2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8E89F5-94D1-C394-3DAA-E3893DAC4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840" y="134249"/>
            <a:ext cx="150876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87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819E0-6119-2F9D-6D4D-FEC70CA32756}"/>
              </a:ext>
            </a:extLst>
          </p:cNvPr>
          <p:cNvSpPr txBox="1"/>
          <p:nvPr/>
        </p:nvSpPr>
        <p:spPr>
          <a:xfrm>
            <a:off x="327035" y="923700"/>
            <a:ext cx="5243448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#define Area 10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  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// Print the value of macro defined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  </a:t>
            </a:r>
            <a:r>
              <a:rPr lang="en-IN" sz="1800" dirty="0" err="1">
                <a:latin typeface="Trebuchet MS" panose="020B0603020202020204" pitchFamily="34" charset="0"/>
              </a:rPr>
              <a:t>cout</a:t>
            </a:r>
            <a:r>
              <a:rPr lang="en-IN" sz="1800" dirty="0">
                <a:latin typeface="Trebuchet MS" panose="020B0603020202020204" pitchFamily="34" charset="0"/>
              </a:rPr>
              <a:t> &lt;&lt; "The value of AREA is :" &lt;&lt; Area;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   return 0;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}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51D38-C8D5-2E95-FF55-5ED439D22D52}"/>
              </a:ext>
            </a:extLst>
          </p:cNvPr>
          <p:cNvSpPr txBox="1"/>
          <p:nvPr/>
        </p:nvSpPr>
        <p:spPr>
          <a:xfrm>
            <a:off x="5644055" y="1456832"/>
            <a:ext cx="3099338" cy="8724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The value of AREA is :10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E1C5D5-BD2D-6FA3-6003-6439BDB0B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34249"/>
            <a:ext cx="15392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38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D4E58-30D8-931B-60E3-AF9F6A922F13}"/>
              </a:ext>
            </a:extLst>
          </p:cNvPr>
          <p:cNvSpPr txBox="1"/>
          <p:nvPr/>
        </p:nvSpPr>
        <p:spPr>
          <a:xfrm>
            <a:off x="491359" y="968156"/>
            <a:ext cx="7706710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There are two types of macros: </a:t>
            </a:r>
          </a:p>
          <a:p>
            <a:pPr marL="879475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rebuchet MS" panose="020B0603020202020204" pitchFamily="34" charset="0"/>
              </a:rPr>
              <a:t>Object-like macros </a:t>
            </a:r>
          </a:p>
          <a:p>
            <a:pPr marL="879475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rebuchet MS" panose="020B0603020202020204" pitchFamily="34" charset="0"/>
              </a:rPr>
              <a:t>Function-like macros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1. Object-Like Macros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These macros are </a:t>
            </a:r>
            <a:r>
              <a:rPr lang="en-IN" sz="1800" b="1" dirty="0">
                <a:latin typeface="Trebuchet MS" panose="020B0603020202020204" pitchFamily="34" charset="0"/>
              </a:rPr>
              <a:t>replaced by their value in the source code before compilation</a:t>
            </a:r>
            <a:r>
              <a:rPr lang="en-IN" sz="1800" dirty="0">
                <a:latin typeface="Trebuchet MS" panose="020B0603020202020204" pitchFamily="34" charset="0"/>
              </a:rPr>
              <a:t>. Their primary purpose is to </a:t>
            </a:r>
            <a:r>
              <a:rPr lang="en-IN" sz="1800" b="1" dirty="0">
                <a:latin typeface="Trebuchet MS" panose="020B0603020202020204" pitchFamily="34" charset="0"/>
              </a:rPr>
              <a:t>define constants </a:t>
            </a:r>
            <a:r>
              <a:rPr lang="en-IN" sz="1800" dirty="0">
                <a:latin typeface="Trebuchet MS" panose="020B0603020202020204" pitchFamily="34" charset="0"/>
              </a:rPr>
              <a:t>to be used in the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64DE17-6D02-76DE-F453-CB60AA78C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40" y="134249"/>
            <a:ext cx="143256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51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88B70-FA85-0AED-50C1-5325A005F0F5}"/>
              </a:ext>
            </a:extLst>
          </p:cNvPr>
          <p:cNvSpPr txBox="1"/>
          <p:nvPr/>
        </p:nvSpPr>
        <p:spPr>
          <a:xfrm>
            <a:off x="400607" y="684519"/>
            <a:ext cx="3425159" cy="447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#define PI 3.1416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main()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float radius = 3;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float area;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area = PI * radius * radius;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"Area is " &lt;&lt; area;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return 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E28AA-F3C5-7BA4-BE66-1E9DE08A1248}"/>
              </a:ext>
            </a:extLst>
          </p:cNvPr>
          <p:cNvSpPr txBox="1"/>
          <p:nvPr/>
        </p:nvSpPr>
        <p:spPr>
          <a:xfrm>
            <a:off x="5040923" y="2014857"/>
            <a:ext cx="2190194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  <a:p>
            <a:r>
              <a:rPr lang="en-IN" sz="1600" dirty="0">
                <a:latin typeface="Trebuchet MS" panose="020B0603020202020204" pitchFamily="34" charset="0"/>
              </a:rPr>
              <a:t>Area is 28.2744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924E14-E807-242E-ACF9-B9F3A2D08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134249"/>
            <a:ext cx="147066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4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411FA-58B6-CA57-C58A-C7AB10D91557}"/>
              </a:ext>
            </a:extLst>
          </p:cNvPr>
          <p:cNvSpPr txBox="1"/>
          <p:nvPr/>
        </p:nvSpPr>
        <p:spPr>
          <a:xfrm>
            <a:off x="531379" y="1254553"/>
            <a:ext cx="8081241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2. Function-Like Macros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These macros </a:t>
            </a:r>
            <a:r>
              <a:rPr lang="en-IN" sz="1800" b="1" dirty="0">
                <a:latin typeface="Trebuchet MS" panose="020B0603020202020204" pitchFamily="34" charset="0"/>
              </a:rPr>
              <a:t>behave like functions</a:t>
            </a:r>
            <a:r>
              <a:rPr lang="en-IN" sz="1800" dirty="0">
                <a:latin typeface="Trebuchet MS" panose="020B0603020202020204" pitchFamily="34" charset="0"/>
              </a:rPr>
              <a:t>, in that they take arguments that are used in the </a:t>
            </a:r>
            <a:r>
              <a:rPr lang="en-IN" sz="1800" b="1" dirty="0">
                <a:latin typeface="Trebuchet MS" panose="020B0603020202020204" pitchFamily="34" charset="0"/>
              </a:rPr>
              <a:t>replaced code</a:t>
            </a:r>
            <a:r>
              <a:rPr lang="en-IN" sz="1800" dirty="0">
                <a:latin typeface="Trebuchet MS" panose="020B0603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When defining a function-like macro, there </a:t>
            </a:r>
            <a:r>
              <a:rPr lang="en-IN" sz="1800" b="1" dirty="0">
                <a:latin typeface="Trebuchet MS" panose="020B0603020202020204" pitchFamily="34" charset="0"/>
              </a:rPr>
              <a:t>cannot be a space between the macro name and the opening parenthesis</a:t>
            </a:r>
            <a:r>
              <a:rPr lang="en-IN" sz="1800" dirty="0">
                <a:latin typeface="Trebuchet MS" panose="020B0603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7A983E-71EC-AB17-05AD-27CFE8E74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760" y="134249"/>
            <a:ext cx="13868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76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0984F-D72A-EE3E-339D-FEE1456FA641}"/>
              </a:ext>
            </a:extLst>
          </p:cNvPr>
          <p:cNvSpPr txBox="1"/>
          <p:nvPr/>
        </p:nvSpPr>
        <p:spPr>
          <a:xfrm>
            <a:off x="533402" y="697073"/>
            <a:ext cx="4640316" cy="447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#define PI 3.1416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#define </a:t>
            </a:r>
            <a:r>
              <a:rPr lang="en-IN" sz="1600" b="1" dirty="0">
                <a:solidFill>
                  <a:schemeClr val="tx1"/>
                </a:solidFill>
                <a:latin typeface="Trebuchet MS" panose="020B0603020202020204" pitchFamily="34" charset="0"/>
              </a:rPr>
              <a:t>AREA(r)</a:t>
            </a:r>
            <a:r>
              <a:rPr lang="en-IN" sz="16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r * r * PI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int main()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float radius = 5;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float result;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result = AREA(radius);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"Area is " &lt;&lt; result;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  return 0;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A6A3E-6A5A-0AAA-FDC5-19028E980795}"/>
              </a:ext>
            </a:extLst>
          </p:cNvPr>
          <p:cNvSpPr txBox="1"/>
          <p:nvPr/>
        </p:nvSpPr>
        <p:spPr>
          <a:xfrm>
            <a:off x="5263057" y="1721398"/>
            <a:ext cx="191551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  <a:p>
            <a:r>
              <a:rPr lang="en-IN" sz="1600" dirty="0">
                <a:latin typeface="Trebuchet MS" panose="020B0603020202020204" pitchFamily="34" charset="0"/>
              </a:rPr>
              <a:t>Area is 78.54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D5DC1-F6E1-B85A-4BC6-38EB71F46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134249"/>
            <a:ext cx="14097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936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C671A-2CAC-2F76-C63F-4A9D74230E49}"/>
              </a:ext>
            </a:extLst>
          </p:cNvPr>
          <p:cNvSpPr txBox="1"/>
          <p:nvPr/>
        </p:nvSpPr>
        <p:spPr>
          <a:xfrm>
            <a:off x="400607" y="875046"/>
            <a:ext cx="8060221" cy="281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Predefined Macros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Trebuchet MS" panose="020B0603020202020204" pitchFamily="34" charset="0"/>
              </a:rPr>
              <a:t>C++ has a number of predefined macros, including the following:</a:t>
            </a:r>
          </a:p>
          <a:p>
            <a:pPr>
              <a:lnSpc>
                <a:spcPct val="150000"/>
              </a:lnSpc>
            </a:pPr>
            <a:endParaRPr lang="en-IN" sz="1000" dirty="0">
              <a:latin typeface="Trebuchet MS" panose="020B0603020202020204" pitchFamily="34" charset="0"/>
            </a:endParaRPr>
          </a:p>
          <a:p>
            <a:pPr marL="342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__DATE__</a:t>
            </a:r>
            <a:r>
              <a:rPr lang="en-IN" sz="1800" dirty="0">
                <a:latin typeface="Trebuchet MS" panose="020B0603020202020204" pitchFamily="34" charset="0"/>
              </a:rPr>
              <a:t>: Current date formatted as MMM DD YYYY.</a:t>
            </a:r>
          </a:p>
          <a:p>
            <a:pPr marL="342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__TIME__</a:t>
            </a:r>
            <a:r>
              <a:rPr lang="en-IN" sz="1800" dirty="0">
                <a:latin typeface="Trebuchet MS" panose="020B0603020202020204" pitchFamily="34" charset="0"/>
              </a:rPr>
              <a:t>: Current time formatted as HH:MM:SS.</a:t>
            </a:r>
          </a:p>
          <a:p>
            <a:pPr marL="342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__FILE__</a:t>
            </a:r>
            <a:r>
              <a:rPr lang="en-IN" sz="1800" dirty="0">
                <a:latin typeface="Trebuchet MS" panose="020B0603020202020204" pitchFamily="34" charset="0"/>
              </a:rPr>
              <a:t>: Current filename.</a:t>
            </a:r>
          </a:p>
          <a:p>
            <a:pPr marL="3429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__LINE__</a:t>
            </a:r>
            <a:r>
              <a:rPr lang="en-IN" sz="1800" dirty="0">
                <a:latin typeface="Trebuchet MS" panose="020B0603020202020204" pitchFamily="34" charset="0"/>
              </a:rPr>
              <a:t>: Current line number.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717C5A-AF0D-81DE-B3B6-A374861D9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160" y="134249"/>
            <a:ext cx="12344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08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32709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C393B-9CFC-F579-A8E0-CA8DEC25F001}"/>
              </a:ext>
            </a:extLst>
          </p:cNvPr>
          <p:cNvSpPr txBox="1"/>
          <p:nvPr/>
        </p:nvSpPr>
        <p:spPr>
          <a:xfrm>
            <a:off x="400607" y="671808"/>
            <a:ext cx="4640316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Example - predefined macros 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int main() 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char file[] = __FILE__;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char date[] = __DATE__;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char time[] = __TIME__;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int line = __LINE__;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"File name: " &lt;&lt; file &lt;&lt; "\n";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"Date: " &lt;&lt; date &lt;&lt; "\n";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"Time: " &lt;&lt; time &lt;&lt; "\n";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</a:t>
            </a:r>
            <a:r>
              <a:rPr lang="en-IN" sz="1600" dirty="0" err="1">
                <a:latin typeface="Trebuchet MS" panose="020B0603020202020204" pitchFamily="34" charset="0"/>
              </a:rPr>
              <a:t>cout</a:t>
            </a:r>
            <a:r>
              <a:rPr lang="en-IN" sz="1600" dirty="0">
                <a:latin typeface="Trebuchet MS" panose="020B0603020202020204" pitchFamily="34" charset="0"/>
              </a:rPr>
              <a:t> &lt;&lt; "Line number: " &lt;&lt; line &lt;&lt; "\n";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6D73C-81FB-3475-D103-772866222C00}"/>
              </a:ext>
            </a:extLst>
          </p:cNvPr>
          <p:cNvSpPr txBox="1"/>
          <p:nvPr/>
        </p:nvSpPr>
        <p:spPr>
          <a:xfrm>
            <a:off x="5265527" y="1875322"/>
            <a:ext cx="2845635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  <a:p>
            <a:r>
              <a:rPr lang="en-IN" sz="1600" dirty="0">
                <a:latin typeface="Trebuchet MS" panose="020B0603020202020204" pitchFamily="34" charset="0"/>
              </a:rPr>
              <a:t>File name: main.cpp</a:t>
            </a:r>
          </a:p>
          <a:p>
            <a:r>
              <a:rPr lang="en-IN" sz="1600" dirty="0">
                <a:latin typeface="Trebuchet MS" panose="020B0603020202020204" pitchFamily="34" charset="0"/>
              </a:rPr>
              <a:t>Date: Jun 25 2022</a:t>
            </a:r>
          </a:p>
          <a:p>
            <a:r>
              <a:rPr lang="en-IN" sz="1600" dirty="0">
                <a:latin typeface="Trebuchet MS" panose="020B0603020202020204" pitchFamily="34" charset="0"/>
              </a:rPr>
              <a:t>Time: 14:17:50</a:t>
            </a:r>
          </a:p>
          <a:p>
            <a:r>
              <a:rPr lang="en-IN" sz="1600" dirty="0">
                <a:latin typeface="Trebuchet MS" panose="020B0603020202020204" pitchFamily="34" charset="0"/>
              </a:rPr>
              <a:t>Line number: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31B546-0B70-E17F-64C9-66FD07194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34249"/>
            <a:ext cx="140208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1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" y="-2793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400607" y="148588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48EE2-BDCC-ED98-5700-1FE20F50D9BB}"/>
              </a:ext>
            </a:extLst>
          </p:cNvPr>
          <p:cNvSpPr txBox="1"/>
          <p:nvPr/>
        </p:nvSpPr>
        <p:spPr>
          <a:xfrm>
            <a:off x="501869" y="1081355"/>
            <a:ext cx="79274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Undefining a Macro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Once defined, a macro can be undefined with the 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#undef command.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Using the macro after that point will result in a compile error.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rebuchet MS" panose="020B0603020202020204" pitchFamily="34" charset="0"/>
            </a:endParaRPr>
          </a:p>
          <a:p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711EF5-18A3-2B9E-EB55-A5C24CF7F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134249"/>
            <a:ext cx="14097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19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3" y="40215"/>
            <a:ext cx="9134475" cy="517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8EE2A5-8C01-C15D-45D8-143B5E4CE5D1}"/>
              </a:ext>
            </a:extLst>
          </p:cNvPr>
          <p:cNvSpPr txBox="1"/>
          <p:nvPr/>
        </p:nvSpPr>
        <p:spPr>
          <a:xfrm>
            <a:off x="285125" y="148588"/>
            <a:ext cx="4755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M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acro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F98CE-660B-9D49-7D86-05A8C0BF4470}"/>
              </a:ext>
            </a:extLst>
          </p:cNvPr>
          <p:cNvSpPr txBox="1"/>
          <p:nvPr/>
        </p:nvSpPr>
        <p:spPr>
          <a:xfrm>
            <a:off x="289838" y="707273"/>
            <a:ext cx="4291662" cy="383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Example – Undefining a Macro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#define MAX_SIZE 100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int main() {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</a:t>
            </a:r>
            <a:r>
              <a:rPr lang="en-IN" dirty="0" err="1">
                <a:latin typeface="Trebuchet MS" panose="020B0603020202020204" pitchFamily="34" charset="0"/>
              </a:rPr>
              <a:t>cout</a:t>
            </a:r>
            <a:r>
              <a:rPr lang="en-IN" dirty="0">
                <a:latin typeface="Trebuchet MS" panose="020B0603020202020204" pitchFamily="34" charset="0"/>
              </a:rPr>
              <a:t> &lt;&lt; "The value of MAX_SIZE: " &lt;&lt; MAX_SIZE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&lt;&lt; </a:t>
            </a:r>
            <a:r>
              <a:rPr lang="en-IN" dirty="0" err="1">
                <a:latin typeface="Trebuchet MS" panose="020B0603020202020204" pitchFamily="34" charset="0"/>
              </a:rPr>
              <a:t>endl</a:t>
            </a:r>
            <a:r>
              <a:rPr lang="en-IN" dirty="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    #undef MAX_SIZE 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#ifdef MAX_SIZE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    </a:t>
            </a:r>
            <a:r>
              <a:rPr lang="en-IN" dirty="0" err="1">
                <a:latin typeface="Trebuchet MS" panose="020B0603020202020204" pitchFamily="34" charset="0"/>
              </a:rPr>
              <a:t>cout</a:t>
            </a:r>
            <a:r>
              <a:rPr lang="en-IN" dirty="0">
                <a:latin typeface="Trebuchet MS" panose="020B0603020202020204" pitchFamily="34" charset="0"/>
              </a:rPr>
              <a:t> &lt;&lt; "MAX_SIZE is defined." &lt;&lt; </a:t>
            </a:r>
            <a:r>
              <a:rPr lang="en-IN" dirty="0" err="1">
                <a:latin typeface="Trebuchet MS" panose="020B0603020202020204" pitchFamily="34" charset="0"/>
              </a:rPr>
              <a:t>endl</a:t>
            </a:r>
            <a:r>
              <a:rPr lang="en-IN" dirty="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#else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34C48-0F5A-936F-EFEE-E4376E05C422}"/>
              </a:ext>
            </a:extLst>
          </p:cNvPr>
          <p:cNvSpPr txBox="1"/>
          <p:nvPr/>
        </p:nvSpPr>
        <p:spPr>
          <a:xfrm>
            <a:off x="5781939" y="2629436"/>
            <a:ext cx="2756337" cy="14377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value of MAX_SIZE: 100 MAX_SIZE is not defined.</a:t>
            </a:r>
            <a:endParaRPr lang="en-IN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1BA61-4E2C-C0EA-321D-9476536FB871}"/>
              </a:ext>
            </a:extLst>
          </p:cNvPr>
          <p:cNvSpPr txBox="1"/>
          <p:nvPr/>
        </p:nvSpPr>
        <p:spPr>
          <a:xfrm>
            <a:off x="4769909" y="815645"/>
            <a:ext cx="4163885" cy="166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 err="1">
                <a:latin typeface="Trebuchet MS" panose="020B0603020202020204" pitchFamily="34" charset="0"/>
              </a:rPr>
              <a:t>cout</a:t>
            </a:r>
            <a:r>
              <a:rPr lang="en-IN" dirty="0">
                <a:latin typeface="Trebuchet MS" panose="020B0603020202020204" pitchFamily="34" charset="0"/>
              </a:rPr>
              <a:t> &lt;&lt; "MAX_SIZE is not defined." &lt;&lt; </a:t>
            </a:r>
            <a:r>
              <a:rPr lang="en-IN" dirty="0" err="1">
                <a:latin typeface="Trebuchet MS" panose="020B0603020202020204" pitchFamily="34" charset="0"/>
              </a:rPr>
              <a:t>endl</a:t>
            </a:r>
            <a:r>
              <a:rPr lang="en-IN" dirty="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#endif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100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52E1FB-1410-55CD-2FFF-5F59569CF42B}"/>
              </a:ext>
            </a:extLst>
          </p:cNvPr>
          <p:cNvSpPr txBox="1"/>
          <p:nvPr/>
        </p:nvSpPr>
        <p:spPr>
          <a:xfrm>
            <a:off x="285125" y="1019286"/>
            <a:ext cx="8648668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Friend functions of the class are </a:t>
            </a:r>
            <a:r>
              <a:rPr lang="en-IN" sz="1800" b="1" dirty="0">
                <a:latin typeface="Trebuchet MS" panose="020B0603020202020204" pitchFamily="34" charset="0"/>
              </a:rPr>
              <a:t>granted permission to access private and protected members of the class in C++.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They are defined globally </a:t>
            </a:r>
            <a:r>
              <a:rPr lang="en-IN" sz="1800" b="1" dirty="0">
                <a:latin typeface="Trebuchet MS" panose="020B0603020202020204" pitchFamily="34" charset="0"/>
              </a:rPr>
              <a:t>outside the class scope</a:t>
            </a:r>
            <a:r>
              <a:rPr lang="en-IN" sz="1800" dirty="0">
                <a:latin typeface="Trebuchet MS" panose="020B0603020202020204" pitchFamily="34" charset="0"/>
              </a:rPr>
              <a:t>. Friend functions </a:t>
            </a:r>
            <a:r>
              <a:rPr lang="en-IN" sz="1800" b="1" dirty="0">
                <a:latin typeface="Trebuchet MS" panose="020B0603020202020204" pitchFamily="34" charset="0"/>
              </a:rPr>
              <a:t>are not member functions</a:t>
            </a:r>
            <a:r>
              <a:rPr lang="en-IN" sz="1800" dirty="0">
                <a:latin typeface="Trebuchet MS" panose="020B0603020202020204" pitchFamily="34" charset="0"/>
              </a:rPr>
              <a:t> of the class.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friend function can access </a:t>
            </a:r>
            <a:r>
              <a:rPr lang="en-IN" sz="1800" b="1" dirty="0">
                <a:latin typeface="Trebuchet MS" panose="020B0603020202020204" pitchFamily="34" charset="0"/>
              </a:rPr>
              <a:t>the private and protected data of a class</a:t>
            </a:r>
            <a:r>
              <a:rPr lang="en-IN" sz="1800" dirty="0">
                <a:latin typeface="Trebuchet MS" panose="020B0603020202020204" pitchFamily="34" charset="0"/>
              </a:rPr>
              <a:t>. We declare a friend function using the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friend</a:t>
            </a:r>
            <a:r>
              <a:rPr lang="en-IN" sz="1800" dirty="0">
                <a:latin typeface="Trebuchet MS" panose="020B0603020202020204" pitchFamily="34" charset="0"/>
              </a:rPr>
              <a:t> keyword </a:t>
            </a:r>
            <a:r>
              <a:rPr lang="en-IN" sz="1800" b="1" dirty="0">
                <a:latin typeface="Trebuchet MS" panose="020B0603020202020204" pitchFamily="34" charset="0"/>
              </a:rPr>
              <a:t>inside the body of the class.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CD0F9-8FB7-4CD8-038B-6819854DD857}"/>
              </a:ext>
            </a:extLst>
          </p:cNvPr>
          <p:cNvSpPr txBox="1"/>
          <p:nvPr/>
        </p:nvSpPr>
        <p:spPr>
          <a:xfrm>
            <a:off x="285125" y="212286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Friend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A54BC-F4E0-B89A-5627-1B6EBF46B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860" y="134249"/>
            <a:ext cx="13487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56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9A3FD-4028-AA68-83EA-4870BA212794}"/>
              </a:ext>
            </a:extLst>
          </p:cNvPr>
          <p:cNvSpPr txBox="1"/>
          <p:nvPr/>
        </p:nvSpPr>
        <p:spPr>
          <a:xfrm>
            <a:off x="493986" y="938908"/>
            <a:ext cx="7926606" cy="378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The friend function is declared using the </a:t>
            </a:r>
            <a:r>
              <a:rPr lang="en-IN" sz="1800" b="1" dirty="0">
                <a:latin typeface="Trebuchet MS" panose="020B0603020202020204" pitchFamily="34" charset="0"/>
              </a:rPr>
              <a:t>friend keyword</a:t>
            </a:r>
            <a:r>
              <a:rPr lang="en-IN" sz="1800" dirty="0">
                <a:latin typeface="Trebuchet MS" panose="020B0603020202020204" pitchFamily="34" charset="0"/>
              </a:rPr>
              <a:t> inside the body of the class.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Syntax: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class </a:t>
            </a:r>
            <a:r>
              <a:rPr lang="en-IN" sz="18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className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{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   ... .. ...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   friend </a:t>
            </a:r>
            <a:r>
              <a:rPr lang="en-IN" sz="18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returnType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IN" sz="18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functionName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(arguments);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   ... .. ...</a:t>
            </a:r>
          </a:p>
          <a:p>
            <a:pPr marL="357188">
              <a:lnSpc>
                <a:spcPct val="150000"/>
              </a:lnSpc>
            </a:pP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3163F-16CA-30ED-B400-A07BCD6DD4D5}"/>
              </a:ext>
            </a:extLst>
          </p:cNvPr>
          <p:cNvSpPr txBox="1"/>
          <p:nvPr/>
        </p:nvSpPr>
        <p:spPr>
          <a:xfrm>
            <a:off x="285125" y="144720"/>
            <a:ext cx="4640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Friend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D4A17B-1574-9EAD-DF00-7AE7B0C01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420" y="134249"/>
            <a:ext cx="144018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017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7194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00674" y="140697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Special Characteristics of Friend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06FF9-F6CA-0B94-D614-BF79587F6E75}"/>
              </a:ext>
            </a:extLst>
          </p:cNvPr>
          <p:cNvSpPr txBox="1"/>
          <p:nvPr/>
        </p:nvSpPr>
        <p:spPr>
          <a:xfrm>
            <a:off x="288885" y="925987"/>
            <a:ext cx="855670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It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not in the scope of the class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to which it has been declared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friend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Since it is not in the scope of the class, it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can not be called using object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of that class.</a:t>
            </a:r>
          </a:p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It can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invoked </a:t>
            </a:r>
            <a:r>
              <a:rPr lang="en-US" sz="1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rPr>
              <a:t>or call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like a normal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without the help of any object.</a:t>
            </a:r>
          </a:p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Unlike the normal function, it can not access the members name directly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has to use an object name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and (.)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dot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membership operator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with each member 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It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can be declared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either in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public 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private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part of a class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without affecting its meaning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ClrTx/>
              <a:buSzPct val="10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Usually, it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has the objects as arguments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BDC84D-5224-B2E7-6DE9-ABE0B2804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34249"/>
            <a:ext cx="128778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242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00674" y="43485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Friend Function –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7F054-CCA8-944C-7337-F8EF24537400}"/>
              </a:ext>
            </a:extLst>
          </p:cNvPr>
          <p:cNvSpPr txBox="1"/>
          <p:nvPr/>
        </p:nvSpPr>
        <p:spPr>
          <a:xfrm>
            <a:off x="218090" y="767604"/>
            <a:ext cx="310317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class </a:t>
            </a: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sample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int </a:t>
            </a:r>
            <a:r>
              <a:rPr lang="en-IN" sz="1600" dirty="0" err="1">
                <a:latin typeface="Trebuchet MS" panose="020B0603020202020204" pitchFamily="34" charset="0"/>
              </a:rPr>
              <a:t>a,b</a:t>
            </a:r>
            <a:r>
              <a:rPr lang="en-IN" sz="1600" dirty="0">
                <a:latin typeface="Trebuchet MS" panose="020B0603020202020204" pitchFamily="34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public: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void </a:t>
            </a:r>
            <a:r>
              <a:rPr lang="en-IN" sz="1600" dirty="0" err="1">
                <a:latin typeface="Trebuchet MS" panose="020B0603020202020204" pitchFamily="34" charset="0"/>
              </a:rPr>
              <a:t>setvalue</a:t>
            </a:r>
            <a:r>
              <a:rPr lang="en-IN" sz="1600" dirty="0">
                <a:latin typeface="Trebuchet MS" panose="020B0603020202020204" pitchFamily="34" charset="0"/>
              </a:rPr>
              <a:t>()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{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 a = 25;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    b= 40;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} 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//</a:t>
            </a:r>
            <a:r>
              <a:rPr lang="en-IN" sz="16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func</a:t>
            </a:r>
            <a:r>
              <a:rPr lang="en-IN" sz="1600" dirty="0">
                <a:solidFill>
                  <a:schemeClr val="accent1"/>
                </a:solidFill>
                <a:latin typeface="Trebuchet MS" panose="020B0603020202020204" pitchFamily="34" charset="0"/>
              </a:rPr>
              <a:t> </a:t>
            </a:r>
            <a:r>
              <a:rPr lang="en-IN" sz="160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decleration</a:t>
            </a:r>
            <a:endParaRPr lang="en-IN" sz="1600" dirty="0">
              <a:solidFill>
                <a:schemeClr val="accent1"/>
              </a:solidFill>
              <a:latin typeface="Trebuchet MS" panose="020B0603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sz="1600" dirty="0">
                <a:solidFill>
                  <a:srgbClr val="FF0000"/>
                </a:solidFill>
                <a:latin typeface="Trebuchet MS" panose="020B0603020202020204" pitchFamily="34" charset="0"/>
              </a:rPr>
              <a:t>friend </a:t>
            </a:r>
            <a:r>
              <a:rPr lang="en-IN" sz="1600" dirty="0">
                <a:latin typeface="Trebuchet MS" panose="020B0603020202020204" pitchFamily="34" charset="0"/>
              </a:rPr>
              <a:t>float mean(sample s);</a:t>
            </a:r>
          </a:p>
          <a:p>
            <a:pPr>
              <a:spcBef>
                <a:spcPts val="600"/>
              </a:spcBef>
            </a:pPr>
            <a:r>
              <a:rPr lang="en-IN" sz="1600" dirty="0">
                <a:latin typeface="Trebuchet MS" panose="020B0603020202020204" pitchFamily="34" charset="0"/>
              </a:rPr>
              <a:t>};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2FCD7-8C19-24EA-B4FF-6536DE243A75}"/>
              </a:ext>
            </a:extLst>
          </p:cNvPr>
          <p:cNvSpPr txBox="1"/>
          <p:nvPr/>
        </p:nvSpPr>
        <p:spPr>
          <a:xfrm>
            <a:off x="3321268" y="767604"/>
            <a:ext cx="4686876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float mean(sample s)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//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func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definition 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603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return float(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s.a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+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s.b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)/2.0;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sample X;    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//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objectX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603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X.setvalue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cout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&lt;&lt; "Mean value = " &lt;&lt; mean(X) &lt;&lt;</a:t>
            </a:r>
            <a:r>
              <a:rPr lang="en-IN" sz="1600" dirty="0" err="1">
                <a:latin typeface="Trebuchet MS" panose="020B0603020202020204" pitchFamily="34" charset="0"/>
              </a:rPr>
              <a:t>endl</a:t>
            </a: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}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5EA40-D40F-E5E1-FF39-5DC6CB1CB35B}"/>
              </a:ext>
            </a:extLst>
          </p:cNvPr>
          <p:cNvSpPr txBox="1"/>
          <p:nvPr/>
        </p:nvSpPr>
        <p:spPr>
          <a:xfrm>
            <a:off x="6779664" y="2137372"/>
            <a:ext cx="199959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Trebuchet MS" panose="020B0603020202020204" pitchFamily="34" charset="0"/>
              </a:rPr>
              <a:t>Output:</a:t>
            </a:r>
          </a:p>
          <a:p>
            <a:endParaRPr lang="en-IN" sz="1600" dirty="0">
              <a:latin typeface="Trebuchet MS" panose="020B0603020202020204" pitchFamily="34" charset="0"/>
            </a:endParaRPr>
          </a:p>
          <a:p>
            <a:r>
              <a:rPr lang="en-IN" sz="1600" dirty="0">
                <a:latin typeface="Trebuchet MS" panose="020B0603020202020204" pitchFamily="34" charset="0"/>
              </a:rPr>
              <a:t>Mean value = 32.5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20E180-4FB3-74AA-514D-F501A65B9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134249"/>
            <a:ext cx="137160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52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94240" y="143224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Default Argument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A29FF-F0E5-BEB1-C8F0-CBB04129E35B}"/>
              </a:ext>
            </a:extLst>
          </p:cNvPr>
          <p:cNvSpPr txBox="1"/>
          <p:nvPr/>
        </p:nvSpPr>
        <p:spPr>
          <a:xfrm>
            <a:off x="417787" y="889000"/>
            <a:ext cx="8074572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 default argument is a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value provided in a function declaration </a:t>
            </a:r>
            <a:r>
              <a:rPr lang="en-IN" sz="1800" dirty="0">
                <a:latin typeface="Trebuchet MS" panose="020B0603020202020204" pitchFamily="34" charset="0"/>
              </a:rPr>
              <a:t>that is </a:t>
            </a:r>
            <a:r>
              <a:rPr lang="en-IN" sz="1800" b="1" dirty="0">
                <a:latin typeface="Trebuchet MS" panose="020B0603020202020204" pitchFamily="34" charset="0"/>
              </a:rPr>
              <a:t>automatically assigned by the compiler</a:t>
            </a:r>
            <a:r>
              <a:rPr lang="en-IN" sz="1800" dirty="0">
                <a:latin typeface="Trebuchet MS" panose="020B0603020202020204" pitchFamily="34" charset="0"/>
              </a:rPr>
              <a:t> if the </a:t>
            </a:r>
            <a:r>
              <a:rPr lang="en-IN" sz="1800" b="1" dirty="0">
                <a:latin typeface="Trebuchet MS" panose="020B0603020202020204" pitchFamily="34" charset="0"/>
              </a:rPr>
              <a:t>calling function doesn’t provide a value for the argument</a:t>
            </a:r>
            <a:r>
              <a:rPr lang="en-IN" sz="1800" dirty="0">
                <a:latin typeface="Trebuchet MS" panose="020B0603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A</a:t>
            </a: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ssigning some </a:t>
            </a:r>
            <a:r>
              <a:rPr lang="en-IN" sz="180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default values </a:t>
            </a: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to the argument is the default argument function and the </a:t>
            </a:r>
            <a:r>
              <a:rPr lang="en-IN" sz="1800" b="1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benefit of a default argument is we can combine the overloaded function and write one single function</a:t>
            </a: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This is a very powerful feature of C++ and it is friendly for the programmer.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B5991B-4D82-A919-20B3-A945766FB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582" y="134249"/>
            <a:ext cx="1441017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53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91871" y="147156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Default Argument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A29FF-F0E5-BEB1-C8F0-CBB04129E35B}"/>
              </a:ext>
            </a:extLst>
          </p:cNvPr>
          <p:cNvSpPr txBox="1"/>
          <p:nvPr/>
        </p:nvSpPr>
        <p:spPr>
          <a:xfrm>
            <a:off x="312684" y="731159"/>
            <a:ext cx="8431923" cy="419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Default arguments are different from constant arguments as </a:t>
            </a:r>
            <a:r>
              <a:rPr lang="en-IN" sz="1800" b="1" dirty="0">
                <a:latin typeface="Trebuchet MS" panose="020B0603020202020204" pitchFamily="34" charset="0"/>
              </a:rPr>
              <a:t>constant arguments can’t be changed</a:t>
            </a:r>
            <a:r>
              <a:rPr lang="en-IN" sz="1800" dirty="0">
                <a:latin typeface="Trebuchet MS" panose="020B0603020202020204" pitchFamily="34" charset="0"/>
              </a:rPr>
              <a:t> whereas</a:t>
            </a:r>
            <a:r>
              <a:rPr lang="en-IN" sz="1800" b="1" dirty="0">
                <a:latin typeface="Trebuchet MS" panose="020B0603020202020204" pitchFamily="34" charset="0"/>
              </a:rPr>
              <a:t>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default arguments can be overwritten if required.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Default arguments </a:t>
            </a:r>
            <a:r>
              <a:rPr lang="en-IN" sz="1800" b="1" dirty="0">
                <a:latin typeface="Trebuchet MS" panose="020B0603020202020204" pitchFamily="34" charset="0"/>
              </a:rPr>
              <a:t>are overwritten </a:t>
            </a:r>
            <a:r>
              <a:rPr lang="en-IN" sz="1800" dirty="0">
                <a:latin typeface="Trebuchet MS" panose="020B0603020202020204" pitchFamily="34" charset="0"/>
              </a:rPr>
              <a:t>when the calling function provides values for them.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When a function is called, the </a:t>
            </a:r>
            <a:r>
              <a:rPr lang="en-IN" sz="1800" b="1" dirty="0">
                <a:latin typeface="Trebuchet MS" panose="020B0603020202020204" pitchFamily="34" charset="0"/>
              </a:rPr>
              <a:t>arguments are copied from the calling function to the called function </a:t>
            </a:r>
            <a:r>
              <a:rPr lang="en-IN" sz="1800" dirty="0">
                <a:latin typeface="Trebuchet MS" panose="020B0603020202020204" pitchFamily="34" charset="0"/>
              </a:rPr>
              <a:t>in the </a:t>
            </a:r>
            <a:r>
              <a:rPr lang="en-IN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order left to right</a:t>
            </a:r>
            <a:r>
              <a:rPr lang="en-IN" sz="1800" dirty="0">
                <a:latin typeface="Trebuchet MS" panose="020B0603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rebuchet MS" panose="020B0603020202020204" pitchFamily="34" charset="0"/>
              </a:rPr>
              <a:t>Once a default value is used for an argument in the function definition, all subsequent arguments to it must have a default value as well. It can also be stated that the default arguments are assigned from right to left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908994-4394-DE78-003B-A515F86DD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620" y="134249"/>
            <a:ext cx="136398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78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85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00674" y="43485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Default Argument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6629F-AE89-E1F2-F35E-261AC5F751EA}"/>
              </a:ext>
            </a:extLst>
          </p:cNvPr>
          <p:cNvSpPr txBox="1"/>
          <p:nvPr/>
        </p:nvSpPr>
        <p:spPr>
          <a:xfrm>
            <a:off x="221456" y="664369"/>
            <a:ext cx="5527702" cy="4649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rebuchet MS" panose="020B0603020202020204" pitchFamily="34" charset="0"/>
              </a:rPr>
              <a:t>#</a:t>
            </a:r>
            <a:r>
              <a:rPr lang="en-IN" sz="1500" dirty="0">
                <a:latin typeface="Trebuchet MS" panose="020B0603020202020204" pitchFamily="34" charset="0"/>
              </a:rPr>
              <a:t>include &lt;iostream&gt;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using namespace std;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int Sum(int x, int y, </a:t>
            </a:r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int z = 0</a:t>
            </a:r>
            <a:r>
              <a:rPr lang="en-IN" sz="1500" dirty="0">
                <a:latin typeface="Trebuchet MS" panose="020B0603020202020204" pitchFamily="34" charset="0"/>
              </a:rPr>
              <a:t>)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{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    return x + y + z;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}</a:t>
            </a:r>
          </a:p>
          <a:p>
            <a:endParaRPr lang="en-IN" sz="1500" dirty="0">
              <a:latin typeface="Trebuchet MS" panose="020B0603020202020204" pitchFamily="34" charset="0"/>
            </a:endParaRPr>
          </a:p>
          <a:p>
            <a:r>
              <a:rPr lang="en-IN" sz="1500" dirty="0">
                <a:latin typeface="Trebuchet MS" panose="020B0603020202020204" pitchFamily="34" charset="0"/>
              </a:rPr>
              <a:t>int Max(</a:t>
            </a:r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int a = 0, int b = 0, int c = 0</a:t>
            </a:r>
            <a:r>
              <a:rPr lang="en-IN" sz="1500" dirty="0">
                <a:latin typeface="Trebuchet MS" panose="020B0603020202020204" pitchFamily="34" charset="0"/>
              </a:rPr>
              <a:t>)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{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    return a &gt; b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&amp;&amp;</a:t>
            </a:r>
            <a:r>
              <a:rPr lang="en-IN" sz="1500" dirty="0">
                <a:latin typeface="Trebuchet MS" panose="020B0603020202020204" pitchFamily="34" charset="0"/>
              </a:rPr>
              <a:t> a &gt; c ? a : (b &gt; c ? b : c);</a:t>
            </a:r>
          </a:p>
          <a:p>
            <a:r>
              <a:rPr lang="en-IN" sz="1500" dirty="0">
                <a:latin typeface="Trebuchet MS" panose="020B0603020202020204" pitchFamily="34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&lt;&lt;"Sum of 3 numbers:"&lt;&lt; Sum(10, 20, 3) 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&lt;&lt;"Sum of 2 numbers:"&lt;&lt; Sum(10, 20) 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&lt;&lt;"Max of 3 numbers:"&lt;&lt; Max(13, 22, 45) 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cout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&lt;&lt;"Max of 2 numbers:"&lt;&lt; Max(22, 53) &lt;&lt; </a:t>
            </a:r>
            <a:r>
              <a:rPr kumimoji="0" lang="en-IN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endl</a:t>
            </a: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Arial"/>
              </a:rPr>
              <a:t>}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A6CD9-D1C6-A6B1-87B1-5E2DD0517BF3}"/>
              </a:ext>
            </a:extLst>
          </p:cNvPr>
          <p:cNvSpPr txBox="1"/>
          <p:nvPr/>
        </p:nvSpPr>
        <p:spPr>
          <a:xfrm>
            <a:off x="5830614" y="1144124"/>
            <a:ext cx="2640723" cy="18937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0070C0"/>
                </a:solidFill>
                <a:latin typeface="Trebuchet MS" panose="020B0603020202020204" pitchFamily="34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Sum of 3 numbers:33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Sum of 2 numbers:30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Max of 3 numbers:45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rebuchet MS" panose="020B0603020202020204" pitchFamily="34" charset="0"/>
              </a:rPr>
              <a:t>Max of 2 numbers:53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C676D-0C82-94BB-0392-250894F36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860" y="134249"/>
            <a:ext cx="134874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26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3967"/>
            <a:ext cx="9134475" cy="517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DCF271-79AB-4315-A8FD-F6DF0BE2918F}"/>
              </a:ext>
            </a:extLst>
          </p:cNvPr>
          <p:cNvSpPr txBox="1"/>
          <p:nvPr/>
        </p:nvSpPr>
        <p:spPr>
          <a:xfrm>
            <a:off x="100674" y="43485"/>
            <a:ext cx="7166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Trebuchet MS" panose="020B0603020202020204" pitchFamily="34" charset="0"/>
              </a:rPr>
              <a:t>Default Argument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A29FF-F0E5-BEB1-C8F0-CBB04129E35B}"/>
              </a:ext>
            </a:extLst>
          </p:cNvPr>
          <p:cNvSpPr txBox="1"/>
          <p:nvPr/>
        </p:nvSpPr>
        <p:spPr>
          <a:xfrm>
            <a:off x="312684" y="731159"/>
            <a:ext cx="8431923" cy="396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dirty="0">
                <a:solidFill>
                  <a:srgbClr val="0070C0"/>
                </a:solidFill>
                <a:latin typeface="Trebuchet MS" panose="020B0603020202020204" pitchFamily="34" charset="0"/>
              </a:rPr>
              <a:t>Advantages of Default Arguments: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rebuchet MS" panose="020B0603020202020204" pitchFamily="34" charset="0"/>
              </a:rPr>
              <a:t>Default arguments are </a:t>
            </a:r>
            <a:r>
              <a:rPr lang="en-IN" sz="1700" b="1" dirty="0">
                <a:latin typeface="Trebuchet MS" panose="020B0603020202020204" pitchFamily="34" charset="0"/>
              </a:rPr>
              <a:t>useful when we want to increase the capabilities of an existing function</a:t>
            </a:r>
            <a:r>
              <a:rPr lang="en-IN" sz="1700" dirty="0">
                <a:latin typeface="Trebuchet MS" panose="020B0603020202020204" pitchFamily="34" charset="0"/>
              </a:rPr>
              <a:t> as we can do it just by adding another default argument to the function.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rebuchet MS" panose="020B0603020202020204" pitchFamily="34" charset="0"/>
              </a:rPr>
              <a:t>It helps in </a:t>
            </a:r>
            <a:r>
              <a:rPr lang="en-IN" sz="1700" b="1" dirty="0">
                <a:latin typeface="Trebuchet MS" panose="020B0603020202020204" pitchFamily="34" charset="0"/>
              </a:rPr>
              <a:t>reducing the size</a:t>
            </a:r>
            <a:r>
              <a:rPr lang="en-IN" sz="1700" dirty="0">
                <a:latin typeface="Trebuchet MS" panose="020B0603020202020204" pitchFamily="34" charset="0"/>
              </a:rPr>
              <a:t> of a program.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rebuchet MS" panose="020B0603020202020204" pitchFamily="34" charset="0"/>
              </a:rPr>
              <a:t>It provides a </a:t>
            </a:r>
            <a:r>
              <a:rPr lang="en-IN" sz="1700" b="1" dirty="0">
                <a:latin typeface="Trebuchet MS" panose="020B0603020202020204" pitchFamily="34" charset="0"/>
              </a:rPr>
              <a:t>simple and effective programming </a:t>
            </a:r>
            <a:r>
              <a:rPr lang="en-IN" sz="1700" dirty="0">
                <a:latin typeface="Trebuchet MS" panose="020B0603020202020204" pitchFamily="34" charset="0"/>
              </a:rPr>
              <a:t>approach.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rebuchet MS" panose="020B0603020202020204" pitchFamily="34" charset="0"/>
              </a:rPr>
              <a:t>Default arguments </a:t>
            </a:r>
            <a:r>
              <a:rPr lang="en-IN" sz="1700" b="1" dirty="0">
                <a:latin typeface="Trebuchet MS" panose="020B0603020202020204" pitchFamily="34" charset="0"/>
              </a:rPr>
              <a:t>improve the readability  </a:t>
            </a:r>
            <a:r>
              <a:rPr lang="en-IN" sz="1700" dirty="0">
                <a:latin typeface="Trebuchet MS" panose="020B0603020202020204" pitchFamily="34" charset="0"/>
              </a:rPr>
              <a:t>of a program.</a:t>
            </a:r>
          </a:p>
          <a:p>
            <a:pPr>
              <a:lnSpc>
                <a:spcPct val="150000"/>
              </a:lnSpc>
            </a:pPr>
            <a:r>
              <a:rPr lang="en-IN" sz="1700" dirty="0">
                <a:solidFill>
                  <a:srgbClr val="0070C0"/>
                </a:solidFill>
                <a:latin typeface="Trebuchet MS" panose="020B0603020202020204" pitchFamily="34" charset="0"/>
              </a:rPr>
              <a:t>Disadvantages of Default Arguments: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rebuchet MS" panose="020B0603020202020204" pitchFamily="34" charset="0"/>
              </a:rPr>
              <a:t>It increases </a:t>
            </a:r>
            <a:r>
              <a:rPr lang="en-IN" sz="1700" b="1" dirty="0">
                <a:latin typeface="Trebuchet MS" panose="020B0603020202020204" pitchFamily="34" charset="0"/>
              </a:rPr>
              <a:t>the execution time </a:t>
            </a:r>
            <a:r>
              <a:rPr lang="en-IN" sz="1700" dirty="0">
                <a:latin typeface="Trebuchet MS" panose="020B0603020202020204" pitchFamily="34" charset="0"/>
              </a:rPr>
              <a:t>as the compiler needs to replace the omitted arguments by their default values in the function call.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221AAE-9764-3868-39E2-D176B2313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920" y="134249"/>
            <a:ext cx="1249680" cy="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36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8BA985-2681-D41C-9401-23A509558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134249"/>
            <a:ext cx="1485900" cy="457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FAEB1-6E38-E7BB-A39C-BA6B530BD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" y="857102"/>
            <a:ext cx="8412480" cy="386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655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12284</TotalTime>
  <Words>4126</Words>
  <Application>Microsoft Office PowerPoint</Application>
  <PresentationFormat>On-screen Show (16:9)</PresentationFormat>
  <Paragraphs>548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Wingdings</vt:lpstr>
      <vt:lpstr>Symbol</vt:lpstr>
      <vt:lpstr>Arial Unicode MS</vt:lpstr>
      <vt:lpstr>Arial</vt:lpstr>
      <vt:lpstr>Times New Roman</vt:lpstr>
      <vt:lpstr>Trebuchet MS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prema</dc:creator>
  <cp:lastModifiedBy>Ayush Gour</cp:lastModifiedBy>
  <cp:revision>702</cp:revision>
  <dcterms:modified xsi:type="dcterms:W3CDTF">2025-02-17T07:05:17Z</dcterms:modified>
</cp:coreProperties>
</file>
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327" r:id="rId5"/>
    <p:sldId id="260" r:id="rId6"/>
    <p:sldId id="326"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258"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5" d="100"/>
          <a:sy n="85" d="100"/>
        </p:scale>
        <p:origin x="547"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06-02-2025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203322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06-02-2025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518759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0B3A372-BE42-451E-B14C-5FF9C6C0F46F}" type="datetimeFigureOut">
              <a:rPr lang="en-IN" smtClean="0"/>
              <a:pPr/>
              <a:t>06-02-2025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4142703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0B3A372-BE42-451E-B14C-5FF9C6C0F46F}" type="datetimeFigureOut">
              <a:rPr lang="en-IN" smtClean="0"/>
              <a:pPr/>
              <a:t>06-02-2025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672561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0B3A372-BE42-451E-B14C-5FF9C6C0F46F}" type="datetimeFigureOut">
              <a:rPr lang="en-IN" smtClean="0"/>
              <a:pPr/>
              <a:t>06-02-2025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13686533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0B3A372-BE42-451E-B14C-5FF9C6C0F46F}" type="datetimeFigureOut">
              <a:rPr lang="en-IN" smtClean="0"/>
              <a:pPr/>
              <a:t>06-02-2025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264276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B3A372-BE42-451E-B14C-5FF9C6C0F46F}" type="datetimeFigureOut">
              <a:rPr lang="en-IN" smtClean="0"/>
              <a:pPr/>
              <a:t>06-02-2025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32029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B3A372-BE42-451E-B14C-5FF9C6C0F46F}" type="datetimeFigureOut">
              <a:rPr lang="en-IN" smtClean="0"/>
              <a:pPr/>
              <a:t>06-02-2025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98587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0B3A372-BE42-451E-B14C-5FF9C6C0F46F}" type="datetimeFigureOut">
              <a:rPr lang="en-IN" smtClean="0"/>
              <a:pPr/>
              <a:t>06-02-2025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3777975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06-02-2025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2062684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0B3A372-BE42-451E-B14C-5FF9C6C0F46F}" type="datetimeFigureOut">
              <a:rPr lang="en-IN" smtClean="0"/>
              <a:pPr/>
              <a:t>06-02-2025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1B8729A-A80B-48B4-A1F8-161E6CCF1013}" type="slidenum">
              <a:rPr lang="en-IN" smtClean="0"/>
              <a:pPr/>
              <a:t>‹#›</a:t>
            </a:fld>
            <a:endParaRPr lang="en-IN"/>
          </a:p>
        </p:txBody>
      </p:sp>
    </p:spTree>
    <p:extLst>
      <p:ext uri="{BB962C8B-B14F-4D97-AF65-F5344CB8AC3E}">
        <p14:creationId xmlns:p14="http://schemas.microsoft.com/office/powerpoint/2010/main" val="77038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3A372-BE42-451E-B14C-5FF9C6C0F46F}" type="datetimeFigureOut">
              <a:rPr lang="en-IN" smtClean="0"/>
              <a:pPr/>
              <a:t>06-02-2025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B8729A-A80B-48B4-A1F8-161E6CCF1013}" type="slidenum">
              <a:rPr lang="en-IN" smtClean="0"/>
              <a:pPr/>
              <a:t>‹#›</a:t>
            </a:fld>
            <a:endParaRPr lang="en-IN"/>
          </a:p>
        </p:txBody>
      </p:sp>
    </p:spTree>
    <p:extLst>
      <p:ext uri="{BB962C8B-B14F-4D97-AF65-F5344CB8AC3E}">
        <p14:creationId xmlns:p14="http://schemas.microsoft.com/office/powerpoint/2010/main" val="1854368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7428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8930"/>
            <a:ext cx="8407107" cy="813043"/>
          </a:xfrm>
          <a:prstGeom prst="rect">
            <a:avLst/>
          </a:prstGeom>
        </p:spPr>
        <p:txBody>
          <a:bodyPr vert="horz" wrap="square" lIns="0" tIns="12700" rIns="0" bIns="0" rtlCol="0">
            <a:spAutoFit/>
          </a:bodyPr>
          <a:lstStyle/>
          <a:p>
            <a:pPr marL="12700">
              <a:lnSpc>
                <a:spcPct val="100000"/>
              </a:lnSpc>
              <a:spcBef>
                <a:spcPts val="100"/>
              </a:spcBef>
            </a:pPr>
            <a:r>
              <a:rPr lang="en-IN" sz="2800" b="1" dirty="0">
                <a:solidFill>
                  <a:schemeClr val="bg1"/>
                </a:solidFill>
                <a:latin typeface="Cambria" panose="02040503050406030204" pitchFamily="18" charset="0"/>
              </a:rPr>
              <a:t> </a:t>
            </a:r>
            <a:br>
              <a:rPr lang="en-IN" sz="2400" b="1" dirty="0">
                <a:solidFill>
                  <a:schemeClr val="bg1"/>
                </a:solidFill>
                <a:latin typeface="Cambria" panose="02040503050406030204" pitchFamily="18" charset="0"/>
              </a:rPr>
            </a:br>
            <a:endParaRPr sz="2400" dirty="0"/>
          </a:p>
        </p:txBody>
      </p:sp>
      <p:pic>
        <p:nvPicPr>
          <p:cNvPr id="12" name="Picture 1">
            <a:extLst>
              <a:ext uri="{FF2B5EF4-FFF2-40B4-BE49-F238E27FC236}">
                <a16:creationId xmlns:a16="http://schemas.microsoft.com/office/drawing/2014/main" id="{7E09F35D-8853-4214-9FCA-C7A73EC8071B}"/>
              </a:ext>
            </a:extLst>
          </p:cNvPr>
          <p:cNvPicPr>
            <a:picLocks noChangeAspect="1"/>
          </p:cNvPicPr>
          <p:nvPr/>
        </p:nvPicPr>
        <p:blipFill>
          <a:blip r:embed="rId3"/>
          <a:stretch>
            <a:fillRect/>
          </a:stretch>
        </p:blipFill>
        <p:spPr>
          <a:xfrm>
            <a:off x="7536860" y="1826232"/>
            <a:ext cx="4106239" cy="3502616"/>
          </a:xfrm>
          <a:prstGeom prst="rect">
            <a:avLst/>
          </a:prstGeom>
        </p:spPr>
      </p:pic>
      <p:sp>
        <p:nvSpPr>
          <p:cNvPr id="13" name="Google Shape;71;p15">
            <a:extLst>
              <a:ext uri="{FF2B5EF4-FFF2-40B4-BE49-F238E27FC236}">
                <a16:creationId xmlns:a16="http://schemas.microsoft.com/office/drawing/2014/main" id="{A749339F-1F40-4CEB-BF71-34E314B87C6C}"/>
              </a:ext>
            </a:extLst>
          </p:cNvPr>
          <p:cNvSpPr txBox="1"/>
          <p:nvPr/>
        </p:nvSpPr>
        <p:spPr>
          <a:xfrm>
            <a:off x="650500" y="1826232"/>
            <a:ext cx="5898082" cy="1046410"/>
          </a:xfrm>
          <a:prstGeom prst="rect">
            <a:avLst/>
          </a:prstGeom>
          <a:noFill/>
          <a:ln>
            <a:noFill/>
          </a:ln>
        </p:spPr>
        <p:txBody>
          <a:bodyPr spcFirstLastPara="1" wrap="square" lIns="91425" tIns="91425" rIns="91425" bIns="91425" anchor="t" anchorCtr="0">
            <a:spAutoFit/>
          </a:bodyPr>
          <a:lstStyle/>
          <a:p>
            <a:pPr lvl="0" algn="ctr"/>
            <a:r>
              <a:rPr lang="en-US" sz="2800" b="1" dirty="0">
                <a:latin typeface="Trebuchet MS" panose="020B0603020202020204" pitchFamily="34" charset="0"/>
              </a:rPr>
              <a:t>Object Oriented Design and Programming (</a:t>
            </a:r>
            <a:r>
              <a:rPr lang="en-IN" sz="2800" b="1" dirty="0">
                <a:latin typeface="Trebuchet MS" panose="020B0603020202020204" pitchFamily="34" charset="0"/>
                <a:sym typeface="Proxima Nova"/>
              </a:rPr>
              <a:t>01AI0403)</a:t>
            </a:r>
          </a:p>
        </p:txBody>
      </p:sp>
      <p:sp>
        <p:nvSpPr>
          <p:cNvPr id="14" name="Google Shape;71;p15">
            <a:extLst>
              <a:ext uri="{FF2B5EF4-FFF2-40B4-BE49-F238E27FC236}">
                <a16:creationId xmlns:a16="http://schemas.microsoft.com/office/drawing/2014/main" id="{612CE975-0BBE-4392-8121-4861A833554C}"/>
              </a:ext>
            </a:extLst>
          </p:cNvPr>
          <p:cNvSpPr txBox="1"/>
          <p:nvPr/>
        </p:nvSpPr>
        <p:spPr>
          <a:xfrm>
            <a:off x="478275" y="3965090"/>
            <a:ext cx="6267536" cy="1046410"/>
          </a:xfrm>
          <a:prstGeom prst="rect">
            <a:avLst/>
          </a:prstGeom>
          <a:noFill/>
          <a:ln>
            <a:noFill/>
          </a:ln>
        </p:spPr>
        <p:txBody>
          <a:bodyPr spcFirstLastPara="1" wrap="square" lIns="91425" tIns="91425" rIns="91425" bIns="91425" anchor="t" anchorCtr="0">
            <a:spAutoFit/>
          </a:bodyPr>
          <a:lstStyle/>
          <a:p>
            <a:pPr lvl="0" algn="ctr"/>
            <a:r>
              <a:rPr lang="en-US" sz="2800" b="1" dirty="0">
                <a:latin typeface="Trebuchet MS" panose="020B0603020202020204" pitchFamily="34" charset="0"/>
                <a:sym typeface="Proxima Nova"/>
              </a:rPr>
              <a:t>Unit – 1 </a:t>
            </a:r>
          </a:p>
          <a:p>
            <a:pPr lvl="0" algn="ctr"/>
            <a:r>
              <a:rPr lang="en-US" sz="2800" b="1" dirty="0">
                <a:latin typeface="Trebuchet MS" panose="020B0603020202020204" pitchFamily="34" charset="0"/>
              </a:rPr>
              <a:t>Introduction </a:t>
            </a:r>
            <a:endParaRPr lang="en-IN" sz="2800" b="1" dirty="0">
              <a:solidFill>
                <a:schemeClr val="tx1"/>
              </a:solidFill>
              <a:latin typeface="Trebuchet MS" panose="020B0603020202020204" pitchFamily="34" charset="0"/>
              <a:ea typeface="Proxima Nova"/>
              <a:cs typeface="Proxima Nova"/>
              <a:sym typeface="Proxima Nova"/>
            </a:endParaRPr>
          </a:p>
        </p:txBody>
      </p:sp>
    </p:spTree>
    <p:extLst>
      <p:ext uri="{BB962C8B-B14F-4D97-AF65-F5344CB8AC3E}">
        <p14:creationId xmlns:p14="http://schemas.microsoft.com/office/powerpoint/2010/main" val="469187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203596"/>
            <a:ext cx="8407107" cy="1182375"/>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r>
              <a:rPr lang="en-IN" sz="2800" b="1" dirty="0">
                <a:solidFill>
                  <a:schemeClr val="bg1"/>
                </a:solidFill>
                <a:latin typeface="Cambria" panose="02040503050406030204" pitchFamily="18" charset="0"/>
              </a:rPr>
              <a:t>OUTLINE </a:t>
            </a:r>
            <a:br>
              <a:rPr lang="en-IN" sz="2400" b="1" dirty="0">
                <a:solidFill>
                  <a:schemeClr val="bg1"/>
                </a:solidFill>
                <a:latin typeface="Cambria" panose="02040503050406030204" pitchFamily="18" charset="0"/>
              </a:rPr>
            </a:br>
            <a:endParaRPr sz="2400" dirty="0"/>
          </a:p>
        </p:txBody>
      </p:sp>
      <p:sp>
        <p:nvSpPr>
          <p:cNvPr id="7" name="Google Shape;99;p17">
            <a:extLst>
              <a:ext uri="{FF2B5EF4-FFF2-40B4-BE49-F238E27FC236}">
                <a16:creationId xmlns:a16="http://schemas.microsoft.com/office/drawing/2014/main" id="{36F2FFFB-8525-4E83-BC1A-3FB2C3052DA8}"/>
              </a:ext>
            </a:extLst>
          </p:cNvPr>
          <p:cNvSpPr txBox="1"/>
          <p:nvPr/>
        </p:nvSpPr>
        <p:spPr>
          <a:xfrm>
            <a:off x="982622" y="2021879"/>
            <a:ext cx="8116710" cy="4339619"/>
          </a:xfrm>
          <a:prstGeom prst="rect">
            <a:avLst/>
          </a:prstGeom>
          <a:noFill/>
          <a:ln>
            <a:noFill/>
          </a:ln>
        </p:spPr>
        <p:txBody>
          <a:bodyPr spcFirstLastPara="1" wrap="square" lIns="91425" tIns="91425" rIns="91425" bIns="91425" anchor="t" anchorCtr="0">
            <a:spAutoFit/>
          </a:bodyPr>
          <a:lstStyle/>
          <a:p>
            <a:pPr marL="285750" indent="-285750">
              <a:lnSpc>
                <a:spcPct val="150000"/>
              </a:lnSpc>
              <a:buFont typeface="Wingdings" panose="05000000000000000000" pitchFamily="2" charset="2"/>
              <a:buChar char="Ø"/>
            </a:pPr>
            <a:r>
              <a:rPr lang="en-IN" sz="2000" b="0" i="0" u="none" strike="noStrike" baseline="0" dirty="0">
                <a:solidFill>
                  <a:srgbClr val="000000"/>
                </a:solidFill>
                <a:latin typeface="Cambria" panose="02040503050406030204" pitchFamily="18" charset="0"/>
              </a:rPr>
              <a:t>Introduction to Object Oriented Programming </a:t>
            </a:r>
          </a:p>
          <a:p>
            <a:pPr marL="285750" indent="-285750">
              <a:lnSpc>
                <a:spcPct val="150000"/>
              </a:lnSpc>
              <a:buFont typeface="Wingdings" panose="05000000000000000000" pitchFamily="2" charset="2"/>
              <a:buChar char="Ø"/>
            </a:pPr>
            <a:r>
              <a:rPr lang="en-IN" sz="2000" b="0" i="0" u="none" strike="noStrike" baseline="0" dirty="0">
                <a:solidFill>
                  <a:srgbClr val="000000"/>
                </a:solidFill>
                <a:latin typeface="Cambria" panose="02040503050406030204" pitchFamily="18" charset="0"/>
              </a:rPr>
              <a:t>Procedural Vs. Object Oriented Programming </a:t>
            </a:r>
          </a:p>
          <a:p>
            <a:pPr marL="285750" indent="-285750">
              <a:lnSpc>
                <a:spcPct val="150000"/>
              </a:lnSpc>
              <a:buFont typeface="Wingdings" panose="05000000000000000000" pitchFamily="2" charset="2"/>
              <a:buChar char="Ø"/>
            </a:pPr>
            <a:r>
              <a:rPr lang="en-IN" sz="2000" b="0" i="0" u="none" strike="noStrike" baseline="0" dirty="0">
                <a:solidFill>
                  <a:srgbClr val="000000"/>
                </a:solidFill>
                <a:latin typeface="Cambria" panose="02040503050406030204" pitchFamily="18" charset="0"/>
              </a:rPr>
              <a:t>Principles of OOP </a:t>
            </a:r>
          </a:p>
          <a:p>
            <a:pPr marL="285750" indent="-285750">
              <a:lnSpc>
                <a:spcPct val="150000"/>
              </a:lnSpc>
              <a:buFont typeface="Wingdings" panose="05000000000000000000" pitchFamily="2" charset="2"/>
              <a:buChar char="Ø"/>
            </a:pPr>
            <a:r>
              <a:rPr lang="en-IN" sz="2000" b="0" i="0" u="none" strike="noStrike" baseline="0" dirty="0">
                <a:solidFill>
                  <a:srgbClr val="000000"/>
                </a:solidFill>
                <a:latin typeface="Cambria" panose="02040503050406030204" pitchFamily="18" charset="0"/>
              </a:rPr>
              <a:t>Access Modifiers</a:t>
            </a:r>
          </a:p>
          <a:p>
            <a:pPr marL="285750" indent="-285750">
              <a:lnSpc>
                <a:spcPct val="150000"/>
              </a:lnSpc>
              <a:buFont typeface="Wingdings" panose="05000000000000000000" pitchFamily="2" charset="2"/>
              <a:buChar char="Ø"/>
            </a:pPr>
            <a:r>
              <a:rPr lang="en-IN" sz="2000" b="0" i="0" u="none" strike="noStrike" baseline="0" dirty="0">
                <a:solidFill>
                  <a:srgbClr val="000000"/>
                </a:solidFill>
                <a:latin typeface="Cambria" panose="02040503050406030204" pitchFamily="18" charset="0"/>
              </a:rPr>
              <a:t>Basics of a Typical C++ Environment</a:t>
            </a:r>
          </a:p>
          <a:p>
            <a:pPr marL="285750" indent="-285750">
              <a:lnSpc>
                <a:spcPct val="150000"/>
              </a:lnSpc>
              <a:buFont typeface="Wingdings" panose="05000000000000000000" pitchFamily="2" charset="2"/>
              <a:buChar char="Ø"/>
            </a:pPr>
            <a:r>
              <a:rPr lang="en-IN" sz="2000" b="0" i="0" u="none" strike="noStrike" baseline="0" dirty="0">
                <a:solidFill>
                  <a:srgbClr val="000000"/>
                </a:solidFill>
                <a:latin typeface="Cambria" panose="02040503050406030204" pitchFamily="18" charset="0"/>
              </a:rPr>
              <a:t>Pre-processors Directives</a:t>
            </a:r>
          </a:p>
          <a:p>
            <a:pPr marL="285750" indent="-285750">
              <a:lnSpc>
                <a:spcPct val="150000"/>
              </a:lnSpc>
              <a:buFont typeface="Wingdings" panose="05000000000000000000" pitchFamily="2" charset="2"/>
              <a:buChar char="Ø"/>
            </a:pPr>
            <a:r>
              <a:rPr lang="en-IN" sz="2000" b="0" i="0" u="none" strike="noStrike" baseline="0" dirty="0">
                <a:solidFill>
                  <a:srgbClr val="000000"/>
                </a:solidFill>
                <a:latin typeface="Cambria" panose="02040503050406030204" pitchFamily="18" charset="0"/>
              </a:rPr>
              <a:t>C++ Program structure</a:t>
            </a:r>
          </a:p>
          <a:p>
            <a:pPr marL="285750" indent="-285750">
              <a:lnSpc>
                <a:spcPct val="150000"/>
              </a:lnSpc>
              <a:buFont typeface="Wingdings" panose="05000000000000000000" pitchFamily="2" charset="2"/>
              <a:buChar char="Ø"/>
            </a:pPr>
            <a:r>
              <a:rPr lang="en-IN" sz="2000" b="0" i="0" u="none" strike="noStrike" baseline="0" dirty="0">
                <a:solidFill>
                  <a:srgbClr val="000000"/>
                </a:solidFill>
                <a:latin typeface="Cambria" panose="02040503050406030204" pitchFamily="18" charset="0"/>
              </a:rPr>
              <a:t>Header Files and Namespaces</a:t>
            </a:r>
          </a:p>
          <a:p>
            <a:pPr marL="285750" indent="-285750">
              <a:lnSpc>
                <a:spcPct val="150000"/>
              </a:lnSpc>
              <a:buFont typeface="Wingdings" panose="05000000000000000000" pitchFamily="2" charset="2"/>
              <a:buChar char="Ø"/>
            </a:pPr>
            <a:r>
              <a:rPr lang="en-IN" sz="2000" dirty="0">
                <a:latin typeface="Cambria" panose="02040503050406030204" pitchFamily="18" charset="0"/>
              </a:rPr>
              <a:t>L</a:t>
            </a:r>
            <a:r>
              <a:rPr lang="en-IN" sz="2000" b="0" i="0" u="none" strike="noStrike" baseline="0" dirty="0">
                <a:solidFill>
                  <a:srgbClr val="000000"/>
                </a:solidFill>
                <a:latin typeface="Cambria" panose="02040503050406030204" pitchFamily="18" charset="0"/>
              </a:rPr>
              <a:t>ibrary files</a:t>
            </a:r>
            <a:endParaRPr lang="en-IN" sz="2000" dirty="0">
              <a:solidFill>
                <a:srgbClr val="666666"/>
              </a:solidFill>
              <a:latin typeface="Proxima Nova"/>
              <a:ea typeface="Proxima Nova"/>
              <a:cs typeface="Proxima Nova"/>
              <a:sym typeface="Proxima Nova"/>
            </a:endParaRPr>
          </a:p>
        </p:txBody>
      </p:sp>
    </p:spTree>
    <p:extLst>
      <p:ext uri="{BB962C8B-B14F-4D97-AF65-F5344CB8AC3E}">
        <p14:creationId xmlns:p14="http://schemas.microsoft.com/office/powerpoint/2010/main" val="2378472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203596"/>
            <a:ext cx="8407107" cy="1182375"/>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r>
              <a:rPr lang="en-IN" sz="2800" b="1" dirty="0">
                <a:solidFill>
                  <a:schemeClr val="bg1"/>
                </a:solidFill>
                <a:latin typeface="Cambria" panose="02040503050406030204" pitchFamily="18" charset="0"/>
              </a:rPr>
              <a:t>Introduction to Object Oriented Programming </a:t>
            </a:r>
            <a:br>
              <a:rPr lang="en-IN" sz="2400" b="1" dirty="0">
                <a:solidFill>
                  <a:schemeClr val="bg1"/>
                </a:solidFill>
                <a:latin typeface="Cambria" panose="02040503050406030204" pitchFamily="18" charset="0"/>
              </a:rPr>
            </a:br>
            <a:endParaRPr sz="2400" dirty="0"/>
          </a:p>
        </p:txBody>
      </p:sp>
      <p:sp>
        <p:nvSpPr>
          <p:cNvPr id="9" name="Google Shape;73;p15"/>
          <p:cNvSpPr txBox="1">
            <a:spLocks noChangeArrowheads="1"/>
          </p:cNvSpPr>
          <p:nvPr/>
        </p:nvSpPr>
        <p:spPr bwMode="auto">
          <a:xfrm>
            <a:off x="646113" y="2386013"/>
            <a:ext cx="11130251" cy="3631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a:spAutoFit/>
          </a:bodyPr>
          <a:lstStyle>
            <a:lvl1pPr>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buClr>
                <a:srgbClr val="000000"/>
              </a:buClr>
              <a:buFont typeface="Arial" panose="020B0604020202020204" pitchFamily="34" charset="0"/>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marL="285750" indent="-285750">
              <a:lnSpc>
                <a:spcPct val="150000"/>
              </a:lnSpc>
              <a:buFont typeface="Arial" panose="020B0604020202020204" pitchFamily="34" charset="0"/>
              <a:buChar char="•"/>
            </a:pPr>
            <a:r>
              <a:rPr lang="en-IN" sz="2000" dirty="0">
                <a:latin typeface="Trebuchet MS" panose="020B0603020202020204" pitchFamily="34" charset="0"/>
              </a:rPr>
              <a:t>C++ was developed by </a:t>
            </a:r>
            <a:r>
              <a:rPr lang="en-IN" sz="2000" b="1" dirty="0" err="1">
                <a:solidFill>
                  <a:srgbClr val="0070C0"/>
                </a:solidFill>
                <a:latin typeface="Trebuchet MS" panose="020B0603020202020204" pitchFamily="34" charset="0"/>
              </a:rPr>
              <a:t>Dr.Bjarne</a:t>
            </a:r>
            <a:r>
              <a:rPr lang="en-IN" sz="2000" b="1" dirty="0">
                <a:solidFill>
                  <a:srgbClr val="0070C0"/>
                </a:solidFill>
                <a:latin typeface="Trebuchet MS" panose="020B0603020202020204" pitchFamily="34" charset="0"/>
              </a:rPr>
              <a:t> </a:t>
            </a:r>
            <a:r>
              <a:rPr lang="en-IN" sz="2000" b="1" dirty="0" err="1">
                <a:solidFill>
                  <a:srgbClr val="0070C0"/>
                </a:solidFill>
                <a:latin typeface="Trebuchet MS" panose="020B0603020202020204" pitchFamily="34" charset="0"/>
              </a:rPr>
              <a:t>Stroustrup</a:t>
            </a:r>
            <a:r>
              <a:rPr lang="en-IN" sz="2000" dirty="0">
                <a:latin typeface="Trebuchet MS" panose="020B0603020202020204" pitchFamily="34" charset="0"/>
              </a:rPr>
              <a:t>, as an extension to </a:t>
            </a:r>
          </a:p>
          <a:p>
            <a:pPr>
              <a:lnSpc>
                <a:spcPct val="150000"/>
              </a:lnSpc>
            </a:pPr>
            <a:r>
              <a:rPr lang="en-IN" sz="2000" dirty="0">
                <a:latin typeface="Trebuchet MS" panose="020B0603020202020204" pitchFamily="34" charset="0"/>
              </a:rPr>
              <a:t>    the C language. </a:t>
            </a:r>
          </a:p>
          <a:p>
            <a:pPr marL="285750" indent="-285750">
              <a:lnSpc>
                <a:spcPct val="150000"/>
              </a:lnSpc>
              <a:buFont typeface="Arial" panose="020B0604020202020204" pitchFamily="34" charset="0"/>
              <a:buChar char="•"/>
            </a:pPr>
            <a:r>
              <a:rPr lang="en-IN" sz="2000" dirty="0">
                <a:latin typeface="Trebuchet MS" panose="020B0603020202020204" pitchFamily="34" charset="0"/>
              </a:rPr>
              <a:t>Danish computer scientist Bjarne </a:t>
            </a:r>
            <a:r>
              <a:rPr lang="en-IN" sz="2000" dirty="0" err="1">
                <a:latin typeface="Trebuchet MS" panose="020B0603020202020204" pitchFamily="34" charset="0"/>
              </a:rPr>
              <a:t>Stroustrup</a:t>
            </a:r>
            <a:r>
              <a:rPr lang="en-IN" sz="2000" dirty="0">
                <a:latin typeface="Trebuchet MS" panose="020B0603020202020204" pitchFamily="34" charset="0"/>
              </a:rPr>
              <a:t> began developing </a:t>
            </a:r>
          </a:p>
          <a:p>
            <a:pPr>
              <a:lnSpc>
                <a:spcPct val="150000"/>
              </a:lnSpc>
            </a:pPr>
            <a:r>
              <a:rPr lang="en-IN" sz="2000" dirty="0">
                <a:latin typeface="Trebuchet MS" panose="020B0603020202020204" pitchFamily="34" charset="0"/>
              </a:rPr>
              <a:t>    the new programming language shortly after joining the technical staff at</a:t>
            </a:r>
          </a:p>
          <a:p>
            <a:pPr>
              <a:lnSpc>
                <a:spcPct val="150000"/>
              </a:lnSpc>
            </a:pPr>
            <a:r>
              <a:rPr lang="en-IN" sz="2000" dirty="0">
                <a:latin typeface="Trebuchet MS" panose="020B0603020202020204" pitchFamily="34" charset="0"/>
              </a:rPr>
              <a:t>    </a:t>
            </a:r>
            <a:r>
              <a:rPr lang="en-IN" sz="2000" b="1" dirty="0">
                <a:solidFill>
                  <a:srgbClr val="0070C0"/>
                </a:solidFill>
                <a:latin typeface="Trebuchet MS" panose="020B0603020202020204" pitchFamily="34" charset="0"/>
              </a:rPr>
              <a:t>Bell Laboratories in 1979</a:t>
            </a:r>
            <a:r>
              <a:rPr lang="en-IN" sz="2000" dirty="0">
                <a:latin typeface="Trebuchet MS" panose="020B0603020202020204" pitchFamily="34" charset="0"/>
              </a:rPr>
              <a:t>.</a:t>
            </a:r>
          </a:p>
          <a:p>
            <a:pPr marL="285750" indent="-285750">
              <a:lnSpc>
                <a:spcPct val="150000"/>
              </a:lnSpc>
              <a:buFont typeface="Arial" panose="020B0604020202020204" pitchFamily="34" charset="0"/>
              <a:buChar char="•"/>
            </a:pPr>
            <a:r>
              <a:rPr lang="en-IN" sz="2000" dirty="0">
                <a:latin typeface="Trebuchet MS" panose="020B0603020202020204" pitchFamily="34" charset="0"/>
              </a:rPr>
              <a:t>C++ gives programmers </a:t>
            </a:r>
            <a:r>
              <a:rPr lang="en-IN" sz="2000" dirty="0">
                <a:solidFill>
                  <a:srgbClr val="FF0000"/>
                </a:solidFill>
                <a:latin typeface="Trebuchet MS" panose="020B0603020202020204" pitchFamily="34" charset="0"/>
              </a:rPr>
              <a:t>a high level of control over system resources </a:t>
            </a:r>
            <a:r>
              <a:rPr lang="en-IN" sz="2000" dirty="0">
                <a:latin typeface="Trebuchet MS" panose="020B0603020202020204" pitchFamily="34" charset="0"/>
              </a:rPr>
              <a:t>and </a:t>
            </a:r>
            <a:r>
              <a:rPr lang="en-IN" sz="2000" dirty="0">
                <a:solidFill>
                  <a:srgbClr val="FF0000"/>
                </a:solidFill>
                <a:latin typeface="Trebuchet MS" panose="020B0603020202020204" pitchFamily="34" charset="0"/>
              </a:rPr>
              <a:t>memory</a:t>
            </a:r>
            <a:r>
              <a:rPr lang="en-IN" sz="2000" dirty="0">
                <a:latin typeface="Trebuchet MS" panose="020B0603020202020204" pitchFamily="34" charset="0"/>
              </a:rPr>
              <a:t>. It is one of the more-challenging programming languages to apply on a large scale. </a:t>
            </a:r>
          </a:p>
          <a:p>
            <a:pPr eaLnBrk="1" hangingPunct="1"/>
            <a:endParaRPr lang="en-US" altLang="en-US" dirty="0">
              <a:solidFill>
                <a:srgbClr val="595959"/>
              </a:solidFill>
            </a:endParaRPr>
          </a:p>
        </p:txBody>
      </p:sp>
      <p:pic>
        <p:nvPicPr>
          <p:cNvPr id="11" name="Picture 4">
            <a:extLst>
              <a:ext uri="{FF2B5EF4-FFF2-40B4-BE49-F238E27FC236}">
                <a16:creationId xmlns:a16="http://schemas.microsoft.com/office/drawing/2014/main" id="{E701302E-6443-444E-BD40-3B2C38FF18E1}"/>
              </a:ext>
            </a:extLst>
          </p:cNvPr>
          <p:cNvPicPr>
            <a:picLocks noChangeAspect="1"/>
          </p:cNvPicPr>
          <p:nvPr/>
        </p:nvPicPr>
        <p:blipFill>
          <a:blip r:embed="rId3"/>
          <a:stretch>
            <a:fillRect/>
          </a:stretch>
        </p:blipFill>
        <p:spPr>
          <a:xfrm>
            <a:off x="10142553" y="1124744"/>
            <a:ext cx="1707444" cy="1678517"/>
          </a:xfrm>
          <a:prstGeom prst="rect">
            <a:avLst/>
          </a:prstGeom>
        </p:spPr>
      </p:pic>
    </p:spTree>
    <p:extLst>
      <p:ext uri="{BB962C8B-B14F-4D97-AF65-F5344CB8AC3E}">
        <p14:creationId xmlns:p14="http://schemas.microsoft.com/office/powerpoint/2010/main" val="2510397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203596"/>
            <a:ext cx="8407107" cy="1182375"/>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r>
              <a:rPr lang="en-IN" sz="2800" b="1" dirty="0">
                <a:solidFill>
                  <a:schemeClr val="bg1"/>
                </a:solidFill>
                <a:latin typeface="Cambria" panose="02040503050406030204" pitchFamily="18" charset="0"/>
              </a:rPr>
              <a:t>Applications </a:t>
            </a:r>
            <a:br>
              <a:rPr lang="en-IN" sz="2400" b="1" dirty="0">
                <a:solidFill>
                  <a:schemeClr val="bg1"/>
                </a:solidFill>
                <a:latin typeface="Cambria" panose="02040503050406030204" pitchFamily="18" charset="0"/>
              </a:rPr>
            </a:br>
            <a:endParaRPr sz="2400" dirty="0"/>
          </a:p>
        </p:txBody>
      </p:sp>
      <p:pic>
        <p:nvPicPr>
          <p:cNvPr id="6" name="Picture 10">
            <a:extLst>
              <a:ext uri="{FF2B5EF4-FFF2-40B4-BE49-F238E27FC236}">
                <a16:creationId xmlns:a16="http://schemas.microsoft.com/office/drawing/2014/main" id="{6FBA4A64-D341-41D7-94ED-327D7D7ED8C2}"/>
              </a:ext>
            </a:extLst>
          </p:cNvPr>
          <p:cNvPicPr>
            <a:picLocks noChangeAspect="1"/>
          </p:cNvPicPr>
          <p:nvPr/>
        </p:nvPicPr>
        <p:blipFill>
          <a:blip r:embed="rId3"/>
          <a:stretch>
            <a:fillRect/>
          </a:stretch>
        </p:blipFill>
        <p:spPr>
          <a:xfrm>
            <a:off x="478275" y="1698292"/>
            <a:ext cx="1266825" cy="1362075"/>
          </a:xfrm>
          <a:prstGeom prst="rect">
            <a:avLst/>
          </a:prstGeom>
        </p:spPr>
      </p:pic>
      <p:pic>
        <p:nvPicPr>
          <p:cNvPr id="7" name="Picture 16">
            <a:extLst>
              <a:ext uri="{FF2B5EF4-FFF2-40B4-BE49-F238E27FC236}">
                <a16:creationId xmlns:a16="http://schemas.microsoft.com/office/drawing/2014/main" id="{CECAB2DB-D583-4ACD-B5AE-236D5F0CA24A}"/>
              </a:ext>
            </a:extLst>
          </p:cNvPr>
          <p:cNvPicPr>
            <a:picLocks noChangeAspect="1"/>
          </p:cNvPicPr>
          <p:nvPr/>
        </p:nvPicPr>
        <p:blipFill>
          <a:blip r:embed="rId4"/>
          <a:stretch>
            <a:fillRect/>
          </a:stretch>
        </p:blipFill>
        <p:spPr>
          <a:xfrm>
            <a:off x="2957803" y="1698292"/>
            <a:ext cx="1724025" cy="1495425"/>
          </a:xfrm>
          <a:prstGeom prst="rect">
            <a:avLst/>
          </a:prstGeom>
        </p:spPr>
      </p:pic>
      <p:pic>
        <p:nvPicPr>
          <p:cNvPr id="8" name="Picture 8">
            <a:extLst>
              <a:ext uri="{FF2B5EF4-FFF2-40B4-BE49-F238E27FC236}">
                <a16:creationId xmlns:a16="http://schemas.microsoft.com/office/drawing/2014/main" id="{37B778D5-AF80-488E-91F8-442AF49BCB13}"/>
              </a:ext>
            </a:extLst>
          </p:cNvPr>
          <p:cNvPicPr>
            <a:picLocks noChangeAspect="1"/>
          </p:cNvPicPr>
          <p:nvPr/>
        </p:nvPicPr>
        <p:blipFill>
          <a:blip r:embed="rId5"/>
          <a:stretch>
            <a:fillRect/>
          </a:stretch>
        </p:blipFill>
        <p:spPr>
          <a:xfrm>
            <a:off x="6095914" y="1698292"/>
            <a:ext cx="2006023" cy="1352550"/>
          </a:xfrm>
          <a:prstGeom prst="rect">
            <a:avLst/>
          </a:prstGeom>
        </p:spPr>
      </p:pic>
      <p:pic>
        <p:nvPicPr>
          <p:cNvPr id="10" name="Picture 12">
            <a:extLst>
              <a:ext uri="{FF2B5EF4-FFF2-40B4-BE49-F238E27FC236}">
                <a16:creationId xmlns:a16="http://schemas.microsoft.com/office/drawing/2014/main" id="{995CABCC-7B93-486A-9214-0EDD4A1FEB67}"/>
              </a:ext>
            </a:extLst>
          </p:cNvPr>
          <p:cNvPicPr>
            <a:picLocks noChangeAspect="1"/>
          </p:cNvPicPr>
          <p:nvPr/>
        </p:nvPicPr>
        <p:blipFill>
          <a:blip r:embed="rId6"/>
          <a:stretch>
            <a:fillRect/>
          </a:stretch>
        </p:blipFill>
        <p:spPr>
          <a:xfrm>
            <a:off x="8959273" y="1745917"/>
            <a:ext cx="2006023" cy="1447800"/>
          </a:xfrm>
          <a:prstGeom prst="rect">
            <a:avLst/>
          </a:prstGeom>
        </p:spPr>
      </p:pic>
      <p:pic>
        <p:nvPicPr>
          <p:cNvPr id="12" name="Picture 18">
            <a:extLst>
              <a:ext uri="{FF2B5EF4-FFF2-40B4-BE49-F238E27FC236}">
                <a16:creationId xmlns:a16="http://schemas.microsoft.com/office/drawing/2014/main" id="{EFA09A9E-DAFE-40BE-96CB-6B84F96EF516}"/>
              </a:ext>
            </a:extLst>
          </p:cNvPr>
          <p:cNvPicPr>
            <a:picLocks noChangeAspect="1"/>
          </p:cNvPicPr>
          <p:nvPr/>
        </p:nvPicPr>
        <p:blipFill>
          <a:blip r:embed="rId7"/>
          <a:stretch>
            <a:fillRect/>
          </a:stretch>
        </p:blipFill>
        <p:spPr>
          <a:xfrm>
            <a:off x="4267200" y="3375067"/>
            <a:ext cx="3131127" cy="1023648"/>
          </a:xfrm>
          <a:prstGeom prst="rect">
            <a:avLst/>
          </a:prstGeom>
        </p:spPr>
      </p:pic>
      <p:pic>
        <p:nvPicPr>
          <p:cNvPr id="13" name="Picture 14">
            <a:extLst>
              <a:ext uri="{FF2B5EF4-FFF2-40B4-BE49-F238E27FC236}">
                <a16:creationId xmlns:a16="http://schemas.microsoft.com/office/drawing/2014/main" id="{5331F1A8-3B15-4D7B-9FEC-B15BF6D48A2C}"/>
              </a:ext>
            </a:extLst>
          </p:cNvPr>
          <p:cNvPicPr>
            <a:picLocks noChangeAspect="1"/>
          </p:cNvPicPr>
          <p:nvPr/>
        </p:nvPicPr>
        <p:blipFill>
          <a:blip r:embed="rId8"/>
          <a:stretch>
            <a:fillRect/>
          </a:stretch>
        </p:blipFill>
        <p:spPr>
          <a:xfrm>
            <a:off x="615356" y="4533244"/>
            <a:ext cx="1795335" cy="1524000"/>
          </a:xfrm>
          <a:prstGeom prst="rect">
            <a:avLst/>
          </a:prstGeom>
        </p:spPr>
      </p:pic>
      <p:grpSp>
        <p:nvGrpSpPr>
          <p:cNvPr id="14" name="Group 22">
            <a:extLst>
              <a:ext uri="{FF2B5EF4-FFF2-40B4-BE49-F238E27FC236}">
                <a16:creationId xmlns:a16="http://schemas.microsoft.com/office/drawing/2014/main" id="{36D9FBA5-B210-4BA5-8CF2-282065CA9C0C}"/>
              </a:ext>
            </a:extLst>
          </p:cNvPr>
          <p:cNvGrpSpPr/>
          <p:nvPr/>
        </p:nvGrpSpPr>
        <p:grpSpPr>
          <a:xfrm>
            <a:off x="2865440" y="4541589"/>
            <a:ext cx="2251506" cy="1889910"/>
            <a:chOff x="480345" y="739217"/>
            <a:chExt cx="1775178" cy="1339173"/>
          </a:xfrm>
        </p:grpSpPr>
        <p:pic>
          <p:nvPicPr>
            <p:cNvPr id="15" name="Picture 4">
              <a:extLst>
                <a:ext uri="{FF2B5EF4-FFF2-40B4-BE49-F238E27FC236}">
                  <a16:creationId xmlns:a16="http://schemas.microsoft.com/office/drawing/2014/main" id="{0B22C654-EE89-4058-AA59-CD931AC43914}"/>
                </a:ext>
              </a:extLst>
            </p:cNvPr>
            <p:cNvPicPr>
              <a:picLocks noChangeAspect="1"/>
            </p:cNvPicPr>
            <p:nvPr/>
          </p:nvPicPr>
          <p:blipFill>
            <a:blip r:embed="rId9"/>
            <a:stretch>
              <a:fillRect/>
            </a:stretch>
          </p:blipFill>
          <p:spPr>
            <a:xfrm>
              <a:off x="607861" y="983015"/>
              <a:ext cx="1190625" cy="1095375"/>
            </a:xfrm>
            <a:prstGeom prst="rect">
              <a:avLst/>
            </a:prstGeom>
          </p:spPr>
        </p:pic>
        <p:sp>
          <p:nvSpPr>
            <p:cNvPr id="16" name="TextBox 6">
              <a:extLst>
                <a:ext uri="{FF2B5EF4-FFF2-40B4-BE49-F238E27FC236}">
                  <a16:creationId xmlns:a16="http://schemas.microsoft.com/office/drawing/2014/main" id="{761242DA-5554-4893-9DF7-0BA1A30F6154}"/>
                </a:ext>
              </a:extLst>
            </p:cNvPr>
            <p:cNvSpPr txBox="1"/>
            <p:nvPr/>
          </p:nvSpPr>
          <p:spPr>
            <a:xfrm>
              <a:off x="480345" y="739217"/>
              <a:ext cx="1775178" cy="307777"/>
            </a:xfrm>
            <a:prstGeom prst="rect">
              <a:avLst/>
            </a:prstGeom>
            <a:noFill/>
          </p:spPr>
          <p:txBody>
            <a:bodyPr wrap="square">
              <a:spAutoFit/>
            </a:bodyPr>
            <a:lstStyle/>
            <a:p>
              <a:r>
                <a:rPr lang="en-IN" b="1" dirty="0"/>
                <a:t>Adobe Photoshop</a:t>
              </a:r>
            </a:p>
          </p:txBody>
        </p:sp>
      </p:grpSp>
      <p:pic>
        <p:nvPicPr>
          <p:cNvPr id="17" name="Picture 24">
            <a:extLst>
              <a:ext uri="{FF2B5EF4-FFF2-40B4-BE49-F238E27FC236}">
                <a16:creationId xmlns:a16="http://schemas.microsoft.com/office/drawing/2014/main" id="{2DF511D5-0215-477B-B54A-CB5CEBE454A5}"/>
              </a:ext>
            </a:extLst>
          </p:cNvPr>
          <p:cNvPicPr>
            <a:picLocks noChangeAspect="1"/>
          </p:cNvPicPr>
          <p:nvPr/>
        </p:nvPicPr>
        <p:blipFill>
          <a:blip r:embed="rId10"/>
          <a:stretch>
            <a:fillRect/>
          </a:stretch>
        </p:blipFill>
        <p:spPr>
          <a:xfrm>
            <a:off x="5691646" y="4557072"/>
            <a:ext cx="1963082" cy="1889910"/>
          </a:xfrm>
          <a:prstGeom prst="rect">
            <a:avLst/>
          </a:prstGeom>
        </p:spPr>
      </p:pic>
      <p:pic>
        <p:nvPicPr>
          <p:cNvPr id="18" name="Picture 23">
            <a:extLst>
              <a:ext uri="{FF2B5EF4-FFF2-40B4-BE49-F238E27FC236}">
                <a16:creationId xmlns:a16="http://schemas.microsoft.com/office/drawing/2014/main" id="{76536830-223A-4C8F-AC9C-9B63174C6306}"/>
              </a:ext>
            </a:extLst>
          </p:cNvPr>
          <p:cNvPicPr>
            <a:picLocks noChangeAspect="1"/>
          </p:cNvPicPr>
          <p:nvPr/>
        </p:nvPicPr>
        <p:blipFill>
          <a:blip r:embed="rId11"/>
          <a:stretch>
            <a:fillRect/>
          </a:stretch>
        </p:blipFill>
        <p:spPr>
          <a:xfrm>
            <a:off x="8681851" y="4166258"/>
            <a:ext cx="2743531" cy="1438781"/>
          </a:xfrm>
          <a:prstGeom prst="rect">
            <a:avLst/>
          </a:prstGeom>
        </p:spPr>
      </p:pic>
    </p:spTree>
    <p:extLst>
      <p:ext uri="{BB962C8B-B14F-4D97-AF65-F5344CB8AC3E}">
        <p14:creationId xmlns:p14="http://schemas.microsoft.com/office/powerpoint/2010/main" val="2940874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203596"/>
            <a:ext cx="8407107" cy="1182375"/>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r>
              <a:rPr lang="en-IN" sz="2800" b="1" dirty="0">
                <a:solidFill>
                  <a:schemeClr val="bg1"/>
                </a:solidFill>
                <a:latin typeface="Cambria" panose="02040503050406030204" pitchFamily="18" charset="0"/>
              </a:rPr>
              <a:t>Applications </a:t>
            </a:r>
            <a:br>
              <a:rPr lang="en-IN" sz="2400" b="1" dirty="0">
                <a:solidFill>
                  <a:schemeClr val="bg1"/>
                </a:solidFill>
                <a:latin typeface="Cambria" panose="02040503050406030204" pitchFamily="18" charset="0"/>
              </a:rPr>
            </a:br>
            <a:endParaRPr sz="2400" dirty="0"/>
          </a:p>
        </p:txBody>
      </p:sp>
      <p:pic>
        <p:nvPicPr>
          <p:cNvPr id="6" name="Picture 2">
            <a:extLst>
              <a:ext uri="{FF2B5EF4-FFF2-40B4-BE49-F238E27FC236}">
                <a16:creationId xmlns:a16="http://schemas.microsoft.com/office/drawing/2014/main" id="{AE5FE3AE-776F-4F59-8FDB-2B46C18EDEF2}"/>
              </a:ext>
            </a:extLst>
          </p:cNvPr>
          <p:cNvPicPr>
            <a:picLocks noChangeAspect="1"/>
          </p:cNvPicPr>
          <p:nvPr/>
        </p:nvPicPr>
        <p:blipFill>
          <a:blip r:embed="rId3"/>
          <a:stretch>
            <a:fillRect/>
          </a:stretch>
        </p:blipFill>
        <p:spPr>
          <a:xfrm>
            <a:off x="478274" y="1426281"/>
            <a:ext cx="1885949" cy="1575329"/>
          </a:xfrm>
          <a:prstGeom prst="rect">
            <a:avLst/>
          </a:prstGeom>
        </p:spPr>
      </p:pic>
      <p:pic>
        <p:nvPicPr>
          <p:cNvPr id="7" name="Picture 3">
            <a:extLst>
              <a:ext uri="{FF2B5EF4-FFF2-40B4-BE49-F238E27FC236}">
                <a16:creationId xmlns:a16="http://schemas.microsoft.com/office/drawing/2014/main" id="{D9FB6D77-33EB-471D-BCC0-D76C985580FE}"/>
              </a:ext>
            </a:extLst>
          </p:cNvPr>
          <p:cNvPicPr>
            <a:picLocks noChangeAspect="1"/>
          </p:cNvPicPr>
          <p:nvPr/>
        </p:nvPicPr>
        <p:blipFill>
          <a:blip r:embed="rId4"/>
          <a:stretch>
            <a:fillRect/>
          </a:stretch>
        </p:blipFill>
        <p:spPr>
          <a:xfrm>
            <a:off x="2792368" y="1426281"/>
            <a:ext cx="1943100" cy="1467555"/>
          </a:xfrm>
          <a:prstGeom prst="rect">
            <a:avLst/>
          </a:prstGeom>
        </p:spPr>
      </p:pic>
      <p:pic>
        <p:nvPicPr>
          <p:cNvPr id="8" name="Picture 5">
            <a:extLst>
              <a:ext uri="{FF2B5EF4-FFF2-40B4-BE49-F238E27FC236}">
                <a16:creationId xmlns:a16="http://schemas.microsoft.com/office/drawing/2014/main" id="{5630D25C-4610-4989-8845-419931B7CAD5}"/>
              </a:ext>
            </a:extLst>
          </p:cNvPr>
          <p:cNvPicPr>
            <a:picLocks noChangeAspect="1"/>
          </p:cNvPicPr>
          <p:nvPr/>
        </p:nvPicPr>
        <p:blipFill>
          <a:blip r:embed="rId5"/>
          <a:stretch>
            <a:fillRect/>
          </a:stretch>
        </p:blipFill>
        <p:spPr>
          <a:xfrm>
            <a:off x="5755502" y="1448635"/>
            <a:ext cx="2270898" cy="1666875"/>
          </a:xfrm>
          <a:prstGeom prst="rect">
            <a:avLst/>
          </a:prstGeom>
        </p:spPr>
      </p:pic>
      <p:pic>
        <p:nvPicPr>
          <p:cNvPr id="10" name="Picture 7">
            <a:extLst>
              <a:ext uri="{FF2B5EF4-FFF2-40B4-BE49-F238E27FC236}">
                <a16:creationId xmlns:a16="http://schemas.microsoft.com/office/drawing/2014/main" id="{C41B5C16-9872-411F-BE2D-3D944F9894F6}"/>
              </a:ext>
            </a:extLst>
          </p:cNvPr>
          <p:cNvPicPr>
            <a:picLocks noChangeAspect="1"/>
          </p:cNvPicPr>
          <p:nvPr/>
        </p:nvPicPr>
        <p:blipFill>
          <a:blip r:embed="rId6"/>
          <a:stretch>
            <a:fillRect/>
          </a:stretch>
        </p:blipFill>
        <p:spPr>
          <a:xfrm>
            <a:off x="8885382" y="1367672"/>
            <a:ext cx="2562613" cy="1747838"/>
          </a:xfrm>
          <a:prstGeom prst="rect">
            <a:avLst/>
          </a:prstGeom>
        </p:spPr>
      </p:pic>
      <p:pic>
        <p:nvPicPr>
          <p:cNvPr id="12" name="Picture 15">
            <a:extLst>
              <a:ext uri="{FF2B5EF4-FFF2-40B4-BE49-F238E27FC236}">
                <a16:creationId xmlns:a16="http://schemas.microsoft.com/office/drawing/2014/main" id="{E6449099-88EA-4EDE-B7F1-96526116F4FC}"/>
              </a:ext>
            </a:extLst>
          </p:cNvPr>
          <p:cNvPicPr>
            <a:picLocks noChangeAspect="1"/>
          </p:cNvPicPr>
          <p:nvPr/>
        </p:nvPicPr>
        <p:blipFill>
          <a:blip r:embed="rId7"/>
          <a:stretch>
            <a:fillRect/>
          </a:stretch>
        </p:blipFill>
        <p:spPr>
          <a:xfrm>
            <a:off x="3971637" y="3429000"/>
            <a:ext cx="3010132" cy="1123950"/>
          </a:xfrm>
          <a:prstGeom prst="rect">
            <a:avLst/>
          </a:prstGeom>
        </p:spPr>
      </p:pic>
      <p:pic>
        <p:nvPicPr>
          <p:cNvPr id="13" name="Picture 13">
            <a:extLst>
              <a:ext uri="{FF2B5EF4-FFF2-40B4-BE49-F238E27FC236}">
                <a16:creationId xmlns:a16="http://schemas.microsoft.com/office/drawing/2014/main" id="{5326B6A5-3F60-4049-B25E-45FB6BB59D6E}"/>
              </a:ext>
            </a:extLst>
          </p:cNvPr>
          <p:cNvPicPr>
            <a:picLocks noChangeAspect="1"/>
          </p:cNvPicPr>
          <p:nvPr/>
        </p:nvPicPr>
        <p:blipFill>
          <a:blip r:embed="rId8"/>
          <a:stretch>
            <a:fillRect/>
          </a:stretch>
        </p:blipFill>
        <p:spPr>
          <a:xfrm>
            <a:off x="685937" y="4320571"/>
            <a:ext cx="1885950" cy="1747720"/>
          </a:xfrm>
          <a:prstGeom prst="rect">
            <a:avLst/>
          </a:prstGeom>
        </p:spPr>
      </p:pic>
      <p:pic>
        <p:nvPicPr>
          <p:cNvPr id="14" name="Picture 17">
            <a:extLst>
              <a:ext uri="{FF2B5EF4-FFF2-40B4-BE49-F238E27FC236}">
                <a16:creationId xmlns:a16="http://schemas.microsoft.com/office/drawing/2014/main" id="{361135FF-E937-4449-AEE2-013280AC8C1A}"/>
              </a:ext>
            </a:extLst>
          </p:cNvPr>
          <p:cNvPicPr>
            <a:picLocks noChangeAspect="1"/>
          </p:cNvPicPr>
          <p:nvPr/>
        </p:nvPicPr>
        <p:blipFill>
          <a:blip r:embed="rId9"/>
          <a:stretch>
            <a:fillRect/>
          </a:stretch>
        </p:blipFill>
        <p:spPr>
          <a:xfrm>
            <a:off x="3306618" y="5089480"/>
            <a:ext cx="2760519" cy="1209719"/>
          </a:xfrm>
          <a:prstGeom prst="rect">
            <a:avLst/>
          </a:prstGeom>
        </p:spPr>
      </p:pic>
      <p:pic>
        <p:nvPicPr>
          <p:cNvPr id="15" name="Picture 21">
            <a:extLst>
              <a:ext uri="{FF2B5EF4-FFF2-40B4-BE49-F238E27FC236}">
                <a16:creationId xmlns:a16="http://schemas.microsoft.com/office/drawing/2014/main" id="{F97B6A76-BBDB-4465-8E76-D9680AD40DC8}"/>
              </a:ext>
            </a:extLst>
          </p:cNvPr>
          <p:cNvPicPr>
            <a:picLocks noChangeAspect="1"/>
          </p:cNvPicPr>
          <p:nvPr/>
        </p:nvPicPr>
        <p:blipFill>
          <a:blip r:embed="rId10"/>
          <a:stretch>
            <a:fillRect/>
          </a:stretch>
        </p:blipFill>
        <p:spPr>
          <a:xfrm>
            <a:off x="6981769" y="5220003"/>
            <a:ext cx="2432225" cy="1310106"/>
          </a:xfrm>
          <a:prstGeom prst="rect">
            <a:avLst/>
          </a:prstGeom>
        </p:spPr>
      </p:pic>
      <p:pic>
        <p:nvPicPr>
          <p:cNvPr id="16" name="Picture 19">
            <a:extLst>
              <a:ext uri="{FF2B5EF4-FFF2-40B4-BE49-F238E27FC236}">
                <a16:creationId xmlns:a16="http://schemas.microsoft.com/office/drawing/2014/main" id="{A8739627-A9DE-4A19-9776-7F26BCD64C12}"/>
              </a:ext>
            </a:extLst>
          </p:cNvPr>
          <p:cNvPicPr>
            <a:picLocks noChangeAspect="1"/>
          </p:cNvPicPr>
          <p:nvPr/>
        </p:nvPicPr>
        <p:blipFill>
          <a:blip r:embed="rId11"/>
          <a:stretch>
            <a:fillRect/>
          </a:stretch>
        </p:blipFill>
        <p:spPr>
          <a:xfrm>
            <a:off x="8979805" y="3648644"/>
            <a:ext cx="2095500" cy="1399495"/>
          </a:xfrm>
          <a:prstGeom prst="rect">
            <a:avLst/>
          </a:prstGeom>
        </p:spPr>
      </p:pic>
    </p:spTree>
    <p:extLst>
      <p:ext uri="{BB962C8B-B14F-4D97-AF65-F5344CB8AC3E}">
        <p14:creationId xmlns:p14="http://schemas.microsoft.com/office/powerpoint/2010/main" val="33279528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203596"/>
            <a:ext cx="8407107" cy="1182375"/>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r>
              <a:rPr lang="en-IN" sz="2800" b="1" dirty="0">
                <a:solidFill>
                  <a:schemeClr val="bg1"/>
                </a:solidFill>
                <a:latin typeface="Cambria" panose="02040503050406030204" pitchFamily="18" charset="0"/>
              </a:rPr>
              <a:t>Applications </a:t>
            </a:r>
            <a:br>
              <a:rPr lang="en-IN" sz="2400" b="1" dirty="0">
                <a:solidFill>
                  <a:schemeClr val="bg1"/>
                </a:solidFill>
                <a:latin typeface="Cambria" panose="02040503050406030204" pitchFamily="18" charset="0"/>
              </a:rPr>
            </a:br>
            <a:endParaRPr sz="2400" dirty="0"/>
          </a:p>
        </p:txBody>
      </p:sp>
      <p:sp>
        <p:nvSpPr>
          <p:cNvPr id="6" name="TextBox 10">
            <a:extLst>
              <a:ext uri="{FF2B5EF4-FFF2-40B4-BE49-F238E27FC236}">
                <a16:creationId xmlns:a16="http://schemas.microsoft.com/office/drawing/2014/main" id="{11FA9F99-2102-4281-8854-040DDFFB8BE0}"/>
              </a:ext>
            </a:extLst>
          </p:cNvPr>
          <p:cNvSpPr txBox="1"/>
          <p:nvPr/>
        </p:nvSpPr>
        <p:spPr>
          <a:xfrm>
            <a:off x="36452" y="1226282"/>
            <a:ext cx="4645376"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2000" dirty="0">
                <a:latin typeface="Trebuchet MS" panose="020B0603020202020204" pitchFamily="34" charset="0"/>
              </a:rPr>
              <a:t>Real-World Applications Of C++</a:t>
            </a:r>
          </a:p>
        </p:txBody>
      </p:sp>
      <p:sp>
        <p:nvSpPr>
          <p:cNvPr id="7" name="TextBox 6">
            <a:extLst>
              <a:ext uri="{FF2B5EF4-FFF2-40B4-BE49-F238E27FC236}">
                <a16:creationId xmlns:a16="http://schemas.microsoft.com/office/drawing/2014/main" id="{64760934-8CE1-42EF-8314-5D2DFBDA407C}"/>
              </a:ext>
            </a:extLst>
          </p:cNvPr>
          <p:cNvSpPr txBox="1"/>
          <p:nvPr/>
        </p:nvSpPr>
        <p:spPr>
          <a:xfrm>
            <a:off x="579663" y="1936395"/>
            <a:ext cx="3376367" cy="4190827"/>
          </a:xfrm>
          <a:prstGeom prst="rect">
            <a:avLst/>
          </a:prstGeom>
          <a:noFill/>
        </p:spPr>
        <p:txBody>
          <a:bodyPr wrap="square">
            <a:spAutoFit/>
          </a:bodyPr>
          <a:lstStyle/>
          <a:p>
            <a:pPr marL="180975" indent="-180975">
              <a:lnSpc>
                <a:spcPct val="150000"/>
              </a:lnSpc>
              <a:buFont typeface="Arial" panose="020B0604020202020204" pitchFamily="34" charset="0"/>
              <a:buChar char="•"/>
            </a:pPr>
            <a:r>
              <a:rPr lang="en-IN" sz="2000" dirty="0">
                <a:solidFill>
                  <a:schemeClr val="tx1"/>
                </a:solidFill>
                <a:latin typeface="Trebuchet MS" panose="020B0603020202020204" pitchFamily="34" charset="0"/>
              </a:rPr>
              <a:t>Games</a:t>
            </a:r>
          </a:p>
          <a:p>
            <a:pPr marL="180975" indent="-180975">
              <a:lnSpc>
                <a:spcPct val="150000"/>
              </a:lnSpc>
              <a:buFont typeface="Arial" panose="020B0604020202020204" pitchFamily="34" charset="0"/>
              <a:buChar char="•"/>
            </a:pPr>
            <a:r>
              <a:rPr lang="en-IN" sz="2000" dirty="0">
                <a:solidFill>
                  <a:schemeClr val="tx1"/>
                </a:solidFill>
                <a:latin typeface="Trebuchet MS" panose="020B0603020202020204" pitchFamily="34" charset="0"/>
              </a:rPr>
              <a:t>GUI-Based Applications</a:t>
            </a:r>
          </a:p>
          <a:p>
            <a:pPr marL="450850" lvl="2" indent="-179388">
              <a:lnSpc>
                <a:spcPct val="150000"/>
              </a:lnSpc>
              <a:buFont typeface="Wingdings" panose="05000000000000000000" pitchFamily="2" charset="2"/>
              <a:buChar char="ü"/>
            </a:pPr>
            <a:r>
              <a:rPr lang="en-IN" sz="2000" dirty="0">
                <a:latin typeface="Trebuchet MS" panose="020B0603020202020204" pitchFamily="34" charset="0"/>
              </a:rPr>
              <a:t> </a:t>
            </a:r>
            <a:r>
              <a:rPr lang="en-IN" sz="2000" dirty="0">
                <a:solidFill>
                  <a:srgbClr val="0070C0"/>
                </a:solidFill>
                <a:latin typeface="Trebuchet MS" panose="020B0603020202020204" pitchFamily="34" charset="0"/>
              </a:rPr>
              <a:t>Adobe Systems</a:t>
            </a:r>
          </a:p>
          <a:p>
            <a:pPr marL="450850" lvl="2" indent="-179388">
              <a:lnSpc>
                <a:spcPct val="150000"/>
              </a:lnSpc>
              <a:buFont typeface="Wingdings" panose="05000000000000000000" pitchFamily="2" charset="2"/>
              <a:buChar char="ü"/>
            </a:pPr>
            <a:r>
              <a:rPr lang="en-IN" sz="2000" dirty="0">
                <a:solidFill>
                  <a:srgbClr val="0070C0"/>
                </a:solidFill>
                <a:latin typeface="Trebuchet MS" panose="020B0603020202020204" pitchFamily="34" charset="0"/>
              </a:rPr>
              <a:t> Win Amp Media Player</a:t>
            </a:r>
          </a:p>
          <a:p>
            <a:pPr marL="180975" indent="-180975">
              <a:lnSpc>
                <a:spcPct val="150000"/>
              </a:lnSpc>
              <a:buFont typeface="Arial" panose="020B0604020202020204" pitchFamily="34" charset="0"/>
              <a:buChar char="•"/>
            </a:pPr>
            <a:r>
              <a:rPr lang="en-IN" sz="2000" dirty="0">
                <a:latin typeface="Trebuchet MS" panose="020B0603020202020204" pitchFamily="34" charset="0"/>
              </a:rPr>
              <a:t> </a:t>
            </a:r>
            <a:r>
              <a:rPr lang="en-IN" sz="2000" dirty="0">
                <a:solidFill>
                  <a:schemeClr val="tx1"/>
                </a:solidFill>
                <a:latin typeface="Trebuchet MS" panose="020B0603020202020204" pitchFamily="34" charset="0"/>
              </a:rPr>
              <a:t>Database Software</a:t>
            </a:r>
          </a:p>
          <a:p>
            <a:pPr marL="450850" indent="-179388">
              <a:lnSpc>
                <a:spcPct val="150000"/>
              </a:lnSpc>
              <a:buFont typeface="Wingdings" panose="05000000000000000000" pitchFamily="2" charset="2"/>
              <a:buChar char="ü"/>
            </a:pPr>
            <a:r>
              <a:rPr lang="en-IN" sz="2000" dirty="0">
                <a:latin typeface="Trebuchet MS" panose="020B0603020202020204" pitchFamily="34" charset="0"/>
              </a:rPr>
              <a:t> </a:t>
            </a:r>
            <a:r>
              <a:rPr lang="en-IN" sz="2000" dirty="0">
                <a:solidFill>
                  <a:srgbClr val="0070C0"/>
                </a:solidFill>
                <a:latin typeface="Trebuchet MS" panose="020B0603020202020204" pitchFamily="34" charset="0"/>
              </a:rPr>
              <a:t>MYSQL Server</a:t>
            </a:r>
          </a:p>
          <a:p>
            <a:pPr marL="285750" indent="-285750">
              <a:lnSpc>
                <a:spcPct val="150000"/>
              </a:lnSpc>
              <a:buFont typeface="Arial" panose="020B0604020202020204" pitchFamily="34" charset="0"/>
              <a:buChar char="•"/>
            </a:pPr>
            <a:r>
              <a:rPr lang="en-IN" sz="2000" dirty="0">
                <a:solidFill>
                  <a:schemeClr val="tx1"/>
                </a:solidFill>
                <a:latin typeface="Trebuchet MS" panose="020B0603020202020204" pitchFamily="34" charset="0"/>
              </a:rPr>
              <a:t>Operating Systems</a:t>
            </a:r>
          </a:p>
          <a:p>
            <a:pPr marL="541338" indent="-269875">
              <a:lnSpc>
                <a:spcPct val="150000"/>
              </a:lnSpc>
              <a:buFont typeface="Wingdings" panose="05000000000000000000" pitchFamily="2" charset="2"/>
              <a:buChar char="ü"/>
            </a:pPr>
            <a:r>
              <a:rPr lang="en-IN" sz="2000" dirty="0">
                <a:latin typeface="Trebuchet MS" panose="020B0603020202020204" pitchFamily="34" charset="0"/>
              </a:rPr>
              <a:t> </a:t>
            </a:r>
            <a:r>
              <a:rPr lang="en-IN" sz="2000" dirty="0">
                <a:solidFill>
                  <a:srgbClr val="0070C0"/>
                </a:solidFill>
                <a:latin typeface="Trebuchet MS" panose="020B0603020202020204" pitchFamily="34" charset="0"/>
              </a:rPr>
              <a:t>Apple OS</a:t>
            </a:r>
          </a:p>
          <a:p>
            <a:pPr marL="541338" indent="-269875">
              <a:lnSpc>
                <a:spcPct val="150000"/>
              </a:lnSpc>
              <a:buFont typeface="Wingdings" panose="05000000000000000000" pitchFamily="2" charset="2"/>
              <a:buChar char="ü"/>
            </a:pPr>
            <a:r>
              <a:rPr lang="en-IN" sz="2000" dirty="0">
                <a:solidFill>
                  <a:srgbClr val="0070C0"/>
                </a:solidFill>
                <a:latin typeface="Trebuchet MS" panose="020B0603020202020204" pitchFamily="34" charset="0"/>
              </a:rPr>
              <a:t> Microsoft Windows OS</a:t>
            </a:r>
          </a:p>
        </p:txBody>
      </p:sp>
      <p:sp>
        <p:nvSpPr>
          <p:cNvPr id="8" name="TextBox 5">
            <a:extLst>
              <a:ext uri="{FF2B5EF4-FFF2-40B4-BE49-F238E27FC236}">
                <a16:creationId xmlns:a16="http://schemas.microsoft.com/office/drawing/2014/main" id="{3B788AFF-7C58-4EE0-9BE4-B799582A55B5}"/>
              </a:ext>
            </a:extLst>
          </p:cNvPr>
          <p:cNvSpPr txBox="1"/>
          <p:nvPr/>
        </p:nvSpPr>
        <p:spPr>
          <a:xfrm>
            <a:off x="6269213" y="2004506"/>
            <a:ext cx="4271706" cy="4611968"/>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Browsers</a:t>
            </a:r>
          </a:p>
          <a:p>
            <a:pPr marL="557213"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ü"/>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r>
              <a:rPr kumimoji="0" lang="en-IN" sz="20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Mozilla Firefox</a:t>
            </a:r>
          </a:p>
          <a:p>
            <a:pPr marL="557213"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ü"/>
              <a:tabLst/>
              <a:defRPr/>
            </a:pPr>
            <a:r>
              <a:rPr kumimoji="0" lang="en-IN" sz="20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 Thunderbird</a:t>
            </a:r>
          </a:p>
          <a:p>
            <a:pPr marL="557213"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ü"/>
              <a:tabLst/>
              <a:defRPr/>
            </a:pPr>
            <a:r>
              <a:rPr kumimoji="0" lang="en-IN" sz="20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 Google Applications</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Advanced Computation And Graphics</a:t>
            </a:r>
          </a:p>
          <a:p>
            <a:pPr marL="541338" marR="0" lvl="0" indent="-179388"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ü"/>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r>
              <a:rPr kumimoji="0" lang="en-IN" sz="20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Alias System</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Banking Applications</a:t>
            </a:r>
          </a:p>
          <a:p>
            <a:pPr marL="541338" marR="0" lvl="0" indent="-179388"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ü"/>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a:t>
            </a:r>
            <a:r>
              <a:rPr kumimoji="0" lang="en-IN" sz="20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Infosys Finacle</a:t>
            </a:r>
          </a:p>
          <a:p>
            <a:pPr marL="557213" marR="0" lvl="0" indent="-285750"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ü"/>
              <a:tabLst/>
              <a:defRPr/>
            </a:pPr>
            <a:endParaRPr kumimoji="0" lang="en-IN" sz="1800" b="0"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endParaRPr>
          </a:p>
        </p:txBody>
      </p:sp>
    </p:spTree>
    <p:extLst>
      <p:ext uri="{BB962C8B-B14F-4D97-AF65-F5344CB8AC3E}">
        <p14:creationId xmlns:p14="http://schemas.microsoft.com/office/powerpoint/2010/main" val="1029613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203596"/>
            <a:ext cx="8407107" cy="1182375"/>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r>
              <a:rPr lang="en-IN" sz="2800" b="1" dirty="0">
                <a:solidFill>
                  <a:schemeClr val="bg1"/>
                </a:solidFill>
                <a:latin typeface="Cambria" panose="02040503050406030204" pitchFamily="18" charset="0"/>
              </a:rPr>
              <a:t>Applications </a:t>
            </a:r>
            <a:br>
              <a:rPr lang="en-IN" sz="2400" b="1" dirty="0">
                <a:solidFill>
                  <a:schemeClr val="bg1"/>
                </a:solidFill>
                <a:latin typeface="Cambria" panose="02040503050406030204" pitchFamily="18" charset="0"/>
              </a:rPr>
            </a:br>
            <a:endParaRPr sz="2400" dirty="0"/>
          </a:p>
        </p:txBody>
      </p:sp>
      <p:sp>
        <p:nvSpPr>
          <p:cNvPr id="3" name="TextBox 10">
            <a:extLst>
              <a:ext uri="{FF2B5EF4-FFF2-40B4-BE49-F238E27FC236}">
                <a16:creationId xmlns:a16="http://schemas.microsoft.com/office/drawing/2014/main" id="{C18F1F03-54D0-46AD-97E5-70E5CC7975D7}"/>
              </a:ext>
            </a:extLst>
          </p:cNvPr>
          <p:cNvSpPr txBox="1"/>
          <p:nvPr/>
        </p:nvSpPr>
        <p:spPr>
          <a:xfrm>
            <a:off x="0" y="1175544"/>
            <a:ext cx="4645376"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2000" dirty="0">
                <a:latin typeface="Trebuchet MS" panose="020B0603020202020204" pitchFamily="34" charset="0"/>
              </a:rPr>
              <a:t>Real-World Applications Of C++</a:t>
            </a:r>
          </a:p>
        </p:txBody>
      </p:sp>
      <p:sp>
        <p:nvSpPr>
          <p:cNvPr id="4" name="TextBox 8">
            <a:extLst>
              <a:ext uri="{FF2B5EF4-FFF2-40B4-BE49-F238E27FC236}">
                <a16:creationId xmlns:a16="http://schemas.microsoft.com/office/drawing/2014/main" id="{8AB3D83D-59DB-499D-B332-ADAD38CAEA08}"/>
              </a:ext>
            </a:extLst>
          </p:cNvPr>
          <p:cNvSpPr txBox="1"/>
          <p:nvPr/>
        </p:nvSpPr>
        <p:spPr>
          <a:xfrm>
            <a:off x="712055" y="2506247"/>
            <a:ext cx="4486301" cy="3348481"/>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400" dirty="0">
                <a:solidFill>
                  <a:schemeClr val="tx1"/>
                </a:solidFill>
                <a:latin typeface="Trebuchet MS" panose="020B0603020202020204" pitchFamily="34" charset="0"/>
              </a:rPr>
              <a:t>Cloud/Distributed System</a:t>
            </a:r>
          </a:p>
          <a:p>
            <a:pPr marL="541338" indent="-179388">
              <a:lnSpc>
                <a:spcPct val="150000"/>
              </a:lnSpc>
              <a:buFont typeface="Wingdings" panose="05000000000000000000" pitchFamily="2" charset="2"/>
              <a:buChar char="ü"/>
            </a:pPr>
            <a:r>
              <a:rPr lang="en-IN" sz="2400" dirty="0">
                <a:latin typeface="Trebuchet MS" panose="020B0603020202020204" pitchFamily="34" charset="0"/>
              </a:rPr>
              <a:t> </a:t>
            </a:r>
            <a:r>
              <a:rPr lang="en-IN" sz="2400" dirty="0">
                <a:solidFill>
                  <a:srgbClr val="0070C0"/>
                </a:solidFill>
                <a:latin typeface="Trebuchet MS" panose="020B0603020202020204" pitchFamily="34" charset="0"/>
              </a:rPr>
              <a:t>Bloomberg</a:t>
            </a:r>
          </a:p>
          <a:p>
            <a:pPr marL="285750" indent="-285750">
              <a:lnSpc>
                <a:spcPct val="150000"/>
              </a:lnSpc>
              <a:buFont typeface="Arial" panose="020B0604020202020204" pitchFamily="34" charset="0"/>
              <a:buChar char="•"/>
            </a:pPr>
            <a:r>
              <a:rPr lang="en-IN" sz="2400" dirty="0">
                <a:solidFill>
                  <a:schemeClr val="tx1"/>
                </a:solidFill>
                <a:latin typeface="Trebuchet MS" panose="020B0603020202020204" pitchFamily="34" charset="0"/>
              </a:rPr>
              <a:t>Compilers</a:t>
            </a:r>
          </a:p>
          <a:p>
            <a:pPr marL="285750" indent="-285750">
              <a:lnSpc>
                <a:spcPct val="150000"/>
              </a:lnSpc>
              <a:buFont typeface="Arial" panose="020B0604020202020204" pitchFamily="34" charset="0"/>
              <a:buChar char="•"/>
            </a:pPr>
            <a:r>
              <a:rPr lang="en-IN" sz="2400" dirty="0">
                <a:solidFill>
                  <a:schemeClr val="tx1"/>
                </a:solidFill>
                <a:latin typeface="Trebuchet MS" panose="020B0603020202020204" pitchFamily="34" charset="0"/>
              </a:rPr>
              <a:t>Embedded Systems</a:t>
            </a:r>
          </a:p>
          <a:p>
            <a:pPr marL="285750" indent="-285750">
              <a:lnSpc>
                <a:spcPct val="150000"/>
              </a:lnSpc>
              <a:buFont typeface="Arial" panose="020B0604020202020204" pitchFamily="34" charset="0"/>
              <a:buChar char="•"/>
            </a:pPr>
            <a:r>
              <a:rPr lang="en-IN" sz="2400" dirty="0">
                <a:solidFill>
                  <a:schemeClr val="tx1"/>
                </a:solidFill>
                <a:latin typeface="Trebuchet MS" panose="020B0603020202020204" pitchFamily="34" charset="0"/>
              </a:rPr>
              <a:t>Enterprise Software</a:t>
            </a:r>
          </a:p>
          <a:p>
            <a:pPr marL="285750" indent="-285750">
              <a:lnSpc>
                <a:spcPct val="150000"/>
              </a:lnSpc>
              <a:buFont typeface="Arial" panose="020B0604020202020204" pitchFamily="34" charset="0"/>
              <a:buChar char="•"/>
            </a:pPr>
            <a:r>
              <a:rPr lang="en-IN" sz="2400" dirty="0">
                <a:solidFill>
                  <a:schemeClr val="tx1"/>
                </a:solidFill>
                <a:latin typeface="Trebuchet MS" panose="020B0603020202020204" pitchFamily="34" charset="0"/>
              </a:rPr>
              <a:t>Libraries</a:t>
            </a:r>
          </a:p>
        </p:txBody>
      </p:sp>
    </p:spTree>
    <p:extLst>
      <p:ext uri="{BB962C8B-B14F-4D97-AF65-F5344CB8AC3E}">
        <p14:creationId xmlns:p14="http://schemas.microsoft.com/office/powerpoint/2010/main" val="3655065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US" sz="2800" b="1" dirty="0">
                <a:solidFill>
                  <a:srgbClr val="FFFFFF"/>
                </a:solidFill>
                <a:latin typeface="Trebuchet MS" panose="020B0603020202020204" pitchFamily="34" charset="0"/>
              </a:rPr>
              <a:t>Introduction</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5F72A753-10A0-40C9-B725-FC82D2FB2D2F}"/>
              </a:ext>
            </a:extLst>
          </p:cNvPr>
          <p:cNvSpPr txBox="1"/>
          <p:nvPr/>
        </p:nvSpPr>
        <p:spPr>
          <a:xfrm>
            <a:off x="922222" y="1583655"/>
            <a:ext cx="8495294" cy="4964308"/>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400" dirty="0">
                <a:latin typeface="Trebuchet MS" panose="020B0603020202020204" pitchFamily="34" charset="0"/>
              </a:rPr>
              <a:t>Programmers write instructions in various programming languages to perform their computation tasks.</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4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Programming languages allow programmers to code software.</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4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The three major families of languages are:</a:t>
            </a:r>
          </a:p>
          <a:p>
            <a:pPr marL="892175" lvl="3" indent="-350838">
              <a:lnSpc>
                <a:spcPct val="200000"/>
              </a:lnSpc>
              <a:buFont typeface="Wingdings" panose="05000000000000000000" pitchFamily="2" charset="2"/>
              <a:buChar char="ü"/>
            </a:pPr>
            <a:r>
              <a:rPr lang="en-IN" sz="2400" dirty="0">
                <a:solidFill>
                  <a:srgbClr val="0070C0"/>
                </a:solidFill>
                <a:latin typeface="Trebuchet MS" panose="020B0603020202020204" pitchFamily="34" charset="0"/>
              </a:rPr>
              <a:t>	Machine level Language </a:t>
            </a:r>
          </a:p>
          <a:p>
            <a:pPr marL="892175" lvl="3" indent="-350838">
              <a:lnSpc>
                <a:spcPct val="200000"/>
              </a:lnSpc>
              <a:buFont typeface="Wingdings" panose="05000000000000000000" pitchFamily="2" charset="2"/>
              <a:buChar char="ü"/>
            </a:pPr>
            <a:r>
              <a:rPr lang="en-IN" sz="2400" dirty="0">
                <a:solidFill>
                  <a:srgbClr val="0070C0"/>
                </a:solidFill>
                <a:latin typeface="Trebuchet MS" panose="020B0603020202020204" pitchFamily="34" charset="0"/>
              </a:rPr>
              <a:t>	Assembly level Language </a:t>
            </a:r>
          </a:p>
          <a:p>
            <a:pPr marL="892175" lvl="3" indent="-350838">
              <a:lnSpc>
                <a:spcPct val="200000"/>
              </a:lnSpc>
              <a:buFont typeface="Wingdings" panose="05000000000000000000" pitchFamily="2" charset="2"/>
              <a:buChar char="ü"/>
            </a:pPr>
            <a:r>
              <a:rPr lang="en-IN" sz="2400" dirty="0">
                <a:solidFill>
                  <a:srgbClr val="0070C0"/>
                </a:solidFill>
                <a:latin typeface="Trebuchet MS" panose="020B0603020202020204" pitchFamily="34" charset="0"/>
              </a:rPr>
              <a:t>	High level Language</a:t>
            </a:r>
          </a:p>
        </p:txBody>
      </p:sp>
    </p:spTree>
    <p:extLst>
      <p:ext uri="{BB962C8B-B14F-4D97-AF65-F5344CB8AC3E}">
        <p14:creationId xmlns:p14="http://schemas.microsoft.com/office/powerpoint/2010/main" val="273315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203596"/>
            <a:ext cx="8407107" cy="1182375"/>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r>
              <a:rPr lang="en-IN" sz="2800" b="1" dirty="0">
                <a:solidFill>
                  <a:schemeClr val="bg1"/>
                </a:solidFill>
                <a:latin typeface="Cambria" panose="02040503050406030204" pitchFamily="18" charset="0"/>
              </a:rPr>
              <a:t>Introduction  </a:t>
            </a: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121842EF-3AEC-43CC-9CE7-5C90426725DD}"/>
              </a:ext>
            </a:extLst>
          </p:cNvPr>
          <p:cNvSpPr txBox="1"/>
          <p:nvPr/>
        </p:nvSpPr>
        <p:spPr>
          <a:xfrm>
            <a:off x="931484" y="1492766"/>
            <a:ext cx="8451705" cy="5193729"/>
          </a:xfrm>
          <a:prstGeom prst="rect">
            <a:avLst/>
          </a:prstGeom>
          <a:noFill/>
        </p:spPr>
        <p:txBody>
          <a:bodyPr wrap="square">
            <a:spAutoFit/>
          </a:bodyPr>
          <a:lstStyle/>
          <a:p>
            <a:r>
              <a:rPr lang="en-IN" sz="2400" dirty="0">
                <a:solidFill>
                  <a:srgbClr val="0070C0"/>
                </a:solidFill>
                <a:latin typeface="Trebuchet MS" panose="020B0603020202020204" pitchFamily="34" charset="0"/>
              </a:rPr>
              <a:t>Machine level Language : </a:t>
            </a:r>
          </a:p>
          <a:p>
            <a:pPr marL="355600" marR="0" lvl="0" indent="-342900" algn="l" defTabSz="914400" rtl="0" eaLnBrk="1" fontAlgn="auto" latinLnBrk="0" hangingPunct="1">
              <a:spcBef>
                <a:spcPts val="1065"/>
              </a:spcBef>
              <a:spcAft>
                <a:spcPts val="0"/>
              </a:spcAft>
              <a:buClrTx/>
              <a:buSzTx/>
              <a:buFont typeface="Arial" panose="020B0604020202020204" pitchFamily="34" charset="0"/>
              <a:buChar char="•"/>
              <a:tabLst>
                <a:tab pos="195580" algn="l"/>
              </a:tabLst>
              <a:defRPr/>
            </a:pPr>
            <a:r>
              <a:rPr kumimoji="0" lang="en-IN" sz="2400" b="0" i="0" u="none" strike="noStrike" kern="1200" cap="none" spc="-80" normalizeH="0" baseline="0" noProof="0" dirty="0">
                <a:ln>
                  <a:noFill/>
                </a:ln>
                <a:solidFill>
                  <a:schemeClr val="tx1"/>
                </a:solidFill>
                <a:effectLst/>
                <a:uLnTx/>
                <a:uFillTx/>
                <a:latin typeface="Arial"/>
                <a:ea typeface="+mn-ea"/>
                <a:cs typeface="Arial"/>
              </a:rPr>
              <a:t>Machine</a:t>
            </a:r>
            <a:r>
              <a:rPr kumimoji="0" lang="en-IN" sz="2400" b="0" i="0" u="none" strike="noStrike" kern="1200" cap="none" spc="-135" normalizeH="0" baseline="0" noProof="0" dirty="0">
                <a:ln>
                  <a:noFill/>
                </a:ln>
                <a:solidFill>
                  <a:schemeClr val="tx1"/>
                </a:solidFill>
                <a:effectLst/>
                <a:uLnTx/>
                <a:uFillTx/>
                <a:latin typeface="Arial"/>
                <a:ea typeface="+mn-ea"/>
                <a:cs typeface="Arial"/>
              </a:rPr>
              <a:t> </a:t>
            </a:r>
            <a:r>
              <a:rPr kumimoji="0" lang="en-IN" sz="2400" b="0" i="0" u="none" strike="noStrike" kern="1200" cap="none" spc="-80" normalizeH="0" baseline="0" noProof="0" dirty="0">
                <a:ln>
                  <a:noFill/>
                </a:ln>
                <a:solidFill>
                  <a:schemeClr val="tx1"/>
                </a:solidFill>
                <a:effectLst/>
                <a:uLnTx/>
                <a:uFillTx/>
                <a:latin typeface="Arial"/>
                <a:ea typeface="+mn-ea"/>
                <a:cs typeface="Arial"/>
              </a:rPr>
              <a:t>language</a:t>
            </a:r>
            <a:r>
              <a:rPr kumimoji="0" lang="en-IN" sz="2400" b="0" i="0" u="none" strike="noStrike" kern="1200" cap="none" spc="-160" normalizeH="0" baseline="0" noProof="0" dirty="0">
                <a:ln>
                  <a:noFill/>
                </a:ln>
                <a:solidFill>
                  <a:schemeClr val="tx1"/>
                </a:solidFill>
                <a:effectLst/>
                <a:uLnTx/>
                <a:uFillTx/>
                <a:latin typeface="Arial"/>
                <a:ea typeface="+mn-ea"/>
                <a:cs typeface="Arial"/>
              </a:rPr>
              <a:t> </a:t>
            </a:r>
            <a:r>
              <a:rPr kumimoji="0" lang="en-IN" sz="2400" b="0" i="0" u="none" strike="noStrike" kern="1200" cap="none" spc="-95" normalizeH="0" baseline="0" noProof="0" dirty="0">
                <a:ln>
                  <a:noFill/>
                </a:ln>
                <a:solidFill>
                  <a:schemeClr val="tx1"/>
                </a:solidFill>
                <a:effectLst/>
                <a:uLnTx/>
                <a:uFillTx/>
                <a:latin typeface="Arial"/>
                <a:ea typeface="+mn-ea"/>
                <a:cs typeface="Arial"/>
              </a:rPr>
              <a:t>is</a:t>
            </a:r>
            <a:r>
              <a:rPr kumimoji="0" lang="en-IN" sz="2400" b="0" i="0" u="none" strike="noStrike" kern="1200" cap="none" spc="-140" normalizeH="0" baseline="0" noProof="0" dirty="0">
                <a:ln>
                  <a:noFill/>
                </a:ln>
                <a:solidFill>
                  <a:schemeClr val="tx1"/>
                </a:solidFill>
                <a:effectLst/>
                <a:uLnTx/>
                <a:uFillTx/>
                <a:latin typeface="Arial"/>
                <a:ea typeface="+mn-ea"/>
                <a:cs typeface="Arial"/>
              </a:rPr>
              <a:t> </a:t>
            </a:r>
            <a:r>
              <a:rPr kumimoji="0" lang="en-IN" sz="2400" b="0" i="0" u="none" strike="noStrike" kern="1200" cap="none" spc="-20" normalizeH="0" baseline="0" noProof="0" dirty="0">
                <a:ln>
                  <a:noFill/>
                </a:ln>
                <a:solidFill>
                  <a:schemeClr val="tx1"/>
                </a:solidFill>
                <a:effectLst/>
                <a:uLnTx/>
                <a:uFillTx/>
                <a:latin typeface="Arial"/>
                <a:ea typeface="+mn-ea"/>
                <a:cs typeface="Arial"/>
              </a:rPr>
              <a:t>the</a:t>
            </a:r>
            <a:r>
              <a:rPr kumimoji="0" lang="en-IN" sz="2400" b="0" i="0" u="none" strike="noStrike" kern="1200" cap="none" spc="-130" normalizeH="0" baseline="0" noProof="0" dirty="0">
                <a:ln>
                  <a:noFill/>
                </a:ln>
                <a:solidFill>
                  <a:schemeClr val="tx1"/>
                </a:solidFill>
                <a:effectLst/>
                <a:uLnTx/>
                <a:uFillTx/>
                <a:latin typeface="Arial"/>
                <a:ea typeface="+mn-ea"/>
                <a:cs typeface="Arial"/>
              </a:rPr>
              <a:t> </a:t>
            </a:r>
            <a:r>
              <a:rPr kumimoji="0" lang="en-IN" sz="2400" b="0" i="0" u="none" strike="noStrike" kern="1200" cap="none" spc="-80" normalizeH="0" baseline="0" noProof="0" dirty="0">
                <a:ln>
                  <a:noFill/>
                </a:ln>
                <a:solidFill>
                  <a:schemeClr val="tx1"/>
                </a:solidFill>
                <a:effectLst/>
                <a:uLnTx/>
                <a:uFillTx/>
                <a:latin typeface="Arial"/>
                <a:ea typeface="+mn-ea"/>
                <a:cs typeface="Arial"/>
              </a:rPr>
              <a:t>language</a:t>
            </a:r>
            <a:r>
              <a:rPr kumimoji="0" lang="en-IN" sz="2400" b="0" i="0" u="none" strike="noStrike" kern="1200" cap="none" spc="-160" normalizeH="0" baseline="0" noProof="0" dirty="0">
                <a:ln>
                  <a:noFill/>
                </a:ln>
                <a:solidFill>
                  <a:schemeClr val="tx1"/>
                </a:solidFill>
                <a:effectLst/>
                <a:uLnTx/>
                <a:uFillTx/>
                <a:latin typeface="Arial"/>
                <a:ea typeface="+mn-ea"/>
                <a:cs typeface="Arial"/>
              </a:rPr>
              <a:t> </a:t>
            </a:r>
            <a:r>
              <a:rPr kumimoji="0" lang="en-IN" sz="2400" b="0" i="0" u="none" strike="noStrike" kern="1200" cap="none" spc="-55" normalizeH="0" baseline="0" noProof="0" dirty="0">
                <a:ln>
                  <a:noFill/>
                </a:ln>
                <a:solidFill>
                  <a:schemeClr val="tx1"/>
                </a:solidFill>
                <a:effectLst/>
                <a:uLnTx/>
                <a:uFillTx/>
                <a:latin typeface="Arial"/>
                <a:ea typeface="+mn-ea"/>
                <a:cs typeface="Arial"/>
              </a:rPr>
              <a:t>which</a:t>
            </a:r>
            <a:r>
              <a:rPr kumimoji="0" lang="en-IN" sz="2400" b="0" i="0" u="none" strike="noStrike" kern="1200" cap="none" spc="-110" normalizeH="0" baseline="0" noProof="0" dirty="0">
                <a:ln>
                  <a:noFill/>
                </a:ln>
                <a:solidFill>
                  <a:schemeClr val="tx1"/>
                </a:solidFill>
                <a:effectLst/>
                <a:uLnTx/>
                <a:uFillTx/>
                <a:latin typeface="Arial"/>
                <a:ea typeface="+mn-ea"/>
                <a:cs typeface="Arial"/>
              </a:rPr>
              <a:t> </a:t>
            </a:r>
            <a:r>
              <a:rPr kumimoji="0" lang="en-IN" sz="2400" b="0" i="0" u="none" strike="noStrike" kern="1200" cap="none" spc="-140" normalizeH="0" baseline="0" noProof="0" dirty="0">
                <a:ln>
                  <a:noFill/>
                </a:ln>
                <a:solidFill>
                  <a:schemeClr val="tx1"/>
                </a:solidFill>
                <a:effectLst/>
                <a:uLnTx/>
                <a:uFillTx/>
                <a:latin typeface="Arial"/>
                <a:ea typeface="+mn-ea"/>
                <a:cs typeface="Arial"/>
              </a:rPr>
              <a:t>a</a:t>
            </a:r>
            <a:r>
              <a:rPr kumimoji="0" lang="en-IN" sz="2400" b="0" i="0" u="none" strike="noStrike" kern="1200" cap="none" spc="-235" normalizeH="0" baseline="0" noProof="0" dirty="0">
                <a:ln>
                  <a:noFill/>
                </a:ln>
                <a:solidFill>
                  <a:schemeClr val="tx1"/>
                </a:solidFill>
                <a:effectLst/>
                <a:uLnTx/>
                <a:uFillTx/>
                <a:latin typeface="Arial"/>
                <a:ea typeface="+mn-ea"/>
                <a:cs typeface="Arial"/>
              </a:rPr>
              <a:t> </a:t>
            </a:r>
            <a:r>
              <a:rPr kumimoji="0" lang="en-IN" sz="2400" b="0" i="0" u="none" strike="noStrike" kern="1200" cap="none" spc="-200" normalizeH="0" baseline="0" noProof="0" dirty="0">
                <a:ln>
                  <a:noFill/>
                </a:ln>
                <a:solidFill>
                  <a:schemeClr val="tx1"/>
                </a:solidFill>
                <a:effectLst/>
                <a:uLnTx/>
                <a:uFillTx/>
                <a:latin typeface="Arial"/>
                <a:ea typeface="+mn-ea"/>
                <a:cs typeface="Arial"/>
              </a:rPr>
              <a:t>CPU</a:t>
            </a:r>
            <a:r>
              <a:rPr kumimoji="0" lang="en-IN" sz="2400" b="0" i="0" u="none" strike="noStrike" kern="1200" cap="none" spc="-175" normalizeH="0" baseline="0" noProof="0" dirty="0">
                <a:ln>
                  <a:noFill/>
                </a:ln>
                <a:solidFill>
                  <a:schemeClr val="tx1"/>
                </a:solidFill>
                <a:effectLst/>
                <a:uLnTx/>
                <a:uFillTx/>
                <a:latin typeface="Arial"/>
                <a:ea typeface="+mn-ea"/>
                <a:cs typeface="Arial"/>
              </a:rPr>
              <a:t> </a:t>
            </a:r>
            <a:r>
              <a:rPr kumimoji="0" lang="en-IN" sz="2400" b="0" i="0" u="none" strike="noStrike" kern="1200" cap="none" spc="-80" normalizeH="0" baseline="0" noProof="0" dirty="0">
                <a:ln>
                  <a:noFill/>
                </a:ln>
                <a:solidFill>
                  <a:schemeClr val="tx1"/>
                </a:solidFill>
                <a:effectLst/>
                <a:uLnTx/>
                <a:uFillTx/>
                <a:latin typeface="Arial"/>
                <a:ea typeface="+mn-ea"/>
                <a:cs typeface="Arial"/>
              </a:rPr>
              <a:t>understands</a:t>
            </a:r>
            <a:endParaRPr kumimoji="0" lang="en-IN" sz="2400" b="0" i="0" u="none" strike="noStrike" kern="1200" cap="none" spc="0" normalizeH="0" baseline="0" noProof="0" dirty="0">
              <a:ln>
                <a:noFill/>
              </a:ln>
              <a:solidFill>
                <a:schemeClr val="tx1"/>
              </a:solidFill>
              <a:effectLst/>
              <a:uLnTx/>
              <a:uFillTx/>
              <a:latin typeface="Arial"/>
              <a:ea typeface="+mn-ea"/>
              <a:cs typeface="Arial"/>
            </a:endParaRPr>
          </a:p>
          <a:p>
            <a:pPr marL="355600" marR="0" lvl="0" indent="-342900" algn="l" defTabSz="914400" rtl="0" eaLnBrk="1" fontAlgn="auto" latinLnBrk="0" hangingPunct="1">
              <a:spcBef>
                <a:spcPts val="960"/>
              </a:spcBef>
              <a:spcAft>
                <a:spcPts val="0"/>
              </a:spcAft>
              <a:buClrTx/>
              <a:buSzTx/>
              <a:buFont typeface="Arial" panose="020B0604020202020204" pitchFamily="34" charset="0"/>
              <a:buChar char="•"/>
              <a:tabLst>
                <a:tab pos="195580" algn="l"/>
              </a:tabLst>
              <a:defRPr/>
            </a:pPr>
            <a:r>
              <a:rPr kumimoji="0" lang="en-IN" sz="2400" b="0" i="0" u="none" strike="noStrike" kern="1200" cap="none" spc="25" normalizeH="0" baseline="0" noProof="0" dirty="0">
                <a:ln>
                  <a:noFill/>
                </a:ln>
                <a:solidFill>
                  <a:schemeClr val="tx1"/>
                </a:solidFill>
                <a:effectLst/>
                <a:uLnTx/>
                <a:uFillTx/>
                <a:latin typeface="Arial"/>
                <a:ea typeface="+mn-ea"/>
                <a:cs typeface="Arial"/>
              </a:rPr>
              <a:t>It</a:t>
            </a:r>
            <a:r>
              <a:rPr kumimoji="0" lang="en-IN" sz="2400" b="0" i="0" u="none" strike="noStrike" kern="1200" cap="none" spc="-155" normalizeH="0" baseline="0" noProof="0" dirty="0">
                <a:ln>
                  <a:noFill/>
                </a:ln>
                <a:solidFill>
                  <a:schemeClr val="tx1"/>
                </a:solidFill>
                <a:effectLst/>
                <a:uLnTx/>
                <a:uFillTx/>
                <a:latin typeface="Arial"/>
                <a:ea typeface="+mn-ea"/>
                <a:cs typeface="Arial"/>
              </a:rPr>
              <a:t> </a:t>
            </a:r>
            <a:r>
              <a:rPr kumimoji="0" lang="en-IN" sz="2400" b="0" i="0" u="none" strike="noStrike" kern="1200" cap="none" spc="-90" normalizeH="0" baseline="0" noProof="0" dirty="0">
                <a:ln>
                  <a:noFill/>
                </a:ln>
                <a:solidFill>
                  <a:schemeClr val="tx1"/>
                </a:solidFill>
                <a:effectLst/>
                <a:uLnTx/>
                <a:uFillTx/>
                <a:latin typeface="Arial"/>
                <a:ea typeface="+mn-ea"/>
                <a:cs typeface="Arial"/>
              </a:rPr>
              <a:t>consists</a:t>
            </a:r>
            <a:r>
              <a:rPr kumimoji="0" lang="en-IN" sz="2400" b="0" i="0" u="none" strike="noStrike" kern="1200" cap="none" spc="-140" normalizeH="0" baseline="0" noProof="0" dirty="0">
                <a:ln>
                  <a:noFill/>
                </a:ln>
                <a:solidFill>
                  <a:schemeClr val="tx1"/>
                </a:solidFill>
                <a:effectLst/>
                <a:uLnTx/>
                <a:uFillTx/>
                <a:latin typeface="Arial"/>
                <a:ea typeface="+mn-ea"/>
                <a:cs typeface="Arial"/>
              </a:rPr>
              <a:t> </a:t>
            </a:r>
            <a:r>
              <a:rPr kumimoji="0" lang="en-IN" sz="2400" b="0" i="0" u="none" strike="noStrike" kern="1200" cap="none" spc="-40" normalizeH="0" baseline="0" noProof="0" dirty="0">
                <a:ln>
                  <a:noFill/>
                </a:ln>
                <a:solidFill>
                  <a:schemeClr val="tx1"/>
                </a:solidFill>
                <a:effectLst/>
                <a:uLnTx/>
                <a:uFillTx/>
                <a:latin typeface="Arial"/>
                <a:ea typeface="+mn-ea"/>
                <a:cs typeface="Arial"/>
              </a:rPr>
              <a:t>only</a:t>
            </a:r>
            <a:r>
              <a:rPr kumimoji="0" lang="en-IN" sz="2400" b="0" i="0" u="none" strike="noStrike" kern="1200" cap="none" spc="-155" normalizeH="0" baseline="0" noProof="0" dirty="0">
                <a:ln>
                  <a:noFill/>
                </a:ln>
                <a:solidFill>
                  <a:schemeClr val="tx1"/>
                </a:solidFill>
                <a:effectLst/>
                <a:uLnTx/>
                <a:uFillTx/>
                <a:latin typeface="Arial"/>
                <a:ea typeface="+mn-ea"/>
                <a:cs typeface="Arial"/>
              </a:rPr>
              <a:t> </a:t>
            </a:r>
            <a:r>
              <a:rPr kumimoji="0" lang="en-IN" sz="2400" b="0" i="0" u="none" strike="noStrike" kern="1200" cap="none" spc="10" normalizeH="0" baseline="0" noProof="0" dirty="0">
                <a:ln>
                  <a:noFill/>
                </a:ln>
                <a:solidFill>
                  <a:schemeClr val="tx1"/>
                </a:solidFill>
                <a:effectLst/>
                <a:uLnTx/>
                <a:uFillTx/>
                <a:latin typeface="Arial"/>
                <a:ea typeface="+mn-ea"/>
                <a:cs typeface="Arial"/>
              </a:rPr>
              <a:t>of</a:t>
            </a:r>
            <a:r>
              <a:rPr kumimoji="0" lang="en-IN" sz="2400" b="0" i="0" u="none" strike="noStrike" kern="1200" cap="none" spc="-145" normalizeH="0" baseline="0" noProof="0" dirty="0">
                <a:ln>
                  <a:noFill/>
                </a:ln>
                <a:solidFill>
                  <a:schemeClr val="tx1"/>
                </a:solidFill>
                <a:effectLst/>
                <a:uLnTx/>
                <a:uFillTx/>
                <a:latin typeface="Arial"/>
                <a:ea typeface="+mn-ea"/>
                <a:cs typeface="Arial"/>
              </a:rPr>
              <a:t> </a:t>
            </a:r>
            <a:r>
              <a:rPr kumimoji="0" lang="en-IN" sz="2400" b="0" i="0" u="none" strike="noStrike" kern="1200" cap="none" spc="-70" normalizeH="0" baseline="0" noProof="0" dirty="0">
                <a:ln>
                  <a:noFill/>
                </a:ln>
                <a:solidFill>
                  <a:schemeClr val="tx1"/>
                </a:solidFill>
                <a:effectLst/>
                <a:uLnTx/>
                <a:uFillTx/>
                <a:latin typeface="Arial"/>
                <a:ea typeface="+mn-ea"/>
                <a:cs typeface="Arial"/>
              </a:rPr>
              <a:t>numbers:</a:t>
            </a:r>
            <a:r>
              <a:rPr kumimoji="0" lang="en-IN" sz="2400" b="0" i="0" u="none" strike="noStrike" kern="1200" cap="none" spc="-100" normalizeH="0" baseline="0" noProof="0" dirty="0">
                <a:ln>
                  <a:noFill/>
                </a:ln>
                <a:solidFill>
                  <a:schemeClr val="tx1"/>
                </a:solidFill>
                <a:effectLst/>
                <a:uLnTx/>
                <a:uFillTx/>
                <a:latin typeface="Arial"/>
                <a:ea typeface="+mn-ea"/>
                <a:cs typeface="Arial"/>
              </a:rPr>
              <a:t> </a:t>
            </a:r>
            <a:r>
              <a:rPr kumimoji="0" lang="en-IN" sz="2400" b="0" i="0" u="none" strike="noStrike" kern="1200" cap="none" spc="-90" normalizeH="0" baseline="0" noProof="0" dirty="0">
                <a:ln>
                  <a:noFill/>
                </a:ln>
                <a:solidFill>
                  <a:schemeClr val="tx1"/>
                </a:solidFill>
                <a:effectLst/>
                <a:uLnTx/>
                <a:uFillTx/>
                <a:latin typeface="Arial"/>
                <a:ea typeface="+mn-ea"/>
                <a:cs typeface="Arial"/>
              </a:rPr>
              <a:t>0</a:t>
            </a:r>
            <a:r>
              <a:rPr kumimoji="0" lang="en-IN" sz="2400" b="0" i="0" u="none" strike="noStrike" kern="1200" cap="none" spc="-165" normalizeH="0" baseline="0" noProof="0" dirty="0">
                <a:ln>
                  <a:noFill/>
                </a:ln>
                <a:solidFill>
                  <a:schemeClr val="tx1"/>
                </a:solidFill>
                <a:effectLst/>
                <a:uLnTx/>
                <a:uFillTx/>
                <a:latin typeface="Arial"/>
                <a:ea typeface="+mn-ea"/>
                <a:cs typeface="Arial"/>
              </a:rPr>
              <a:t> </a:t>
            </a:r>
            <a:r>
              <a:rPr kumimoji="0" lang="en-IN" sz="2400" b="0" i="0" u="none" strike="noStrike" kern="1200" cap="none" spc="-5" normalizeH="0" baseline="0" noProof="0" dirty="0">
                <a:ln>
                  <a:noFill/>
                </a:ln>
                <a:solidFill>
                  <a:schemeClr val="tx1"/>
                </a:solidFill>
                <a:effectLst/>
                <a:uLnTx/>
                <a:uFillTx/>
                <a:latin typeface="Arial"/>
                <a:ea typeface="+mn-ea"/>
                <a:cs typeface="Arial"/>
              </a:rPr>
              <a:t>&amp;</a:t>
            </a:r>
            <a:r>
              <a:rPr kumimoji="0" lang="en-IN" sz="2400" b="0" i="0" u="none" strike="noStrike" kern="1200" cap="none" spc="-140" normalizeH="0" baseline="0" noProof="0" dirty="0">
                <a:ln>
                  <a:noFill/>
                </a:ln>
                <a:solidFill>
                  <a:schemeClr val="tx1"/>
                </a:solidFill>
                <a:effectLst/>
                <a:uLnTx/>
                <a:uFillTx/>
                <a:latin typeface="Arial"/>
                <a:ea typeface="+mn-ea"/>
                <a:cs typeface="Arial"/>
              </a:rPr>
              <a:t> </a:t>
            </a:r>
            <a:r>
              <a:rPr kumimoji="0" lang="en-IN" sz="2400" b="0" i="0" u="none" strike="noStrike" kern="1200" cap="none" spc="-130" normalizeH="0" baseline="0" noProof="0" dirty="0">
                <a:ln>
                  <a:noFill/>
                </a:ln>
                <a:solidFill>
                  <a:schemeClr val="tx1"/>
                </a:solidFill>
                <a:effectLst/>
                <a:uLnTx/>
                <a:uFillTx/>
                <a:latin typeface="Arial"/>
                <a:ea typeface="+mn-ea"/>
                <a:cs typeface="Arial"/>
              </a:rPr>
              <a:t>1.</a:t>
            </a:r>
            <a:endParaRPr kumimoji="0" lang="en-IN" sz="2400" b="0" i="0" u="none" strike="noStrike" kern="1200" cap="none" spc="0" normalizeH="0" baseline="0" noProof="0" dirty="0">
              <a:ln>
                <a:noFill/>
              </a:ln>
              <a:solidFill>
                <a:schemeClr val="tx1"/>
              </a:solidFill>
              <a:effectLst/>
              <a:uLnTx/>
              <a:uFillTx/>
              <a:latin typeface="Arial"/>
              <a:ea typeface="+mn-ea"/>
              <a:cs typeface="Arial"/>
            </a:endParaRPr>
          </a:p>
          <a:p>
            <a:pPr marL="355600" marR="0" lvl="0" indent="-342900" algn="l" defTabSz="914400" rtl="0" eaLnBrk="1" fontAlgn="auto" latinLnBrk="0" hangingPunct="1">
              <a:spcBef>
                <a:spcPts val="960"/>
              </a:spcBef>
              <a:spcAft>
                <a:spcPts val="0"/>
              </a:spcAft>
              <a:buClrTx/>
              <a:buSzTx/>
              <a:buFont typeface="Arial" panose="020B0604020202020204" pitchFamily="34" charset="0"/>
              <a:buChar char="•"/>
              <a:tabLst>
                <a:tab pos="195580" algn="l"/>
              </a:tabLst>
              <a:defRPr/>
            </a:pPr>
            <a:r>
              <a:rPr kumimoji="0" lang="en-IN" sz="2400" b="0" i="0" u="none" strike="noStrike" kern="1200" cap="none" spc="-95" normalizeH="0" baseline="0" noProof="0" dirty="0">
                <a:ln>
                  <a:noFill/>
                </a:ln>
                <a:solidFill>
                  <a:schemeClr val="tx1"/>
                </a:solidFill>
                <a:effectLst/>
                <a:uLnTx/>
                <a:uFillTx/>
                <a:latin typeface="Arial"/>
                <a:ea typeface="+mn-ea"/>
                <a:cs typeface="Arial"/>
              </a:rPr>
              <a:t>Example </a:t>
            </a:r>
            <a:r>
              <a:rPr kumimoji="0" lang="en-IN" sz="2400" b="0" i="0" u="none" strike="noStrike" kern="1200" cap="none" spc="5" normalizeH="0" baseline="0" noProof="0" dirty="0">
                <a:ln>
                  <a:noFill/>
                </a:ln>
                <a:solidFill>
                  <a:schemeClr val="tx1"/>
                </a:solidFill>
                <a:effectLst/>
                <a:uLnTx/>
                <a:uFillTx/>
                <a:latin typeface="Arial"/>
                <a:ea typeface="+mn-ea"/>
                <a:cs typeface="Arial"/>
              </a:rPr>
              <a:t>of</a:t>
            </a:r>
            <a:r>
              <a:rPr kumimoji="0" lang="en-IN" sz="2400" b="0" i="0" u="none" strike="noStrike" kern="1200" cap="none" spc="-204" normalizeH="0" baseline="0" noProof="0" dirty="0">
                <a:ln>
                  <a:noFill/>
                </a:ln>
                <a:solidFill>
                  <a:schemeClr val="tx1"/>
                </a:solidFill>
                <a:effectLst/>
                <a:uLnTx/>
                <a:uFillTx/>
                <a:latin typeface="Arial"/>
                <a:ea typeface="+mn-ea"/>
                <a:cs typeface="Arial"/>
              </a:rPr>
              <a:t> </a:t>
            </a:r>
            <a:r>
              <a:rPr kumimoji="0" lang="en-IN" sz="2400" b="0" i="0" u="none" strike="noStrike" kern="1200" cap="none" spc="-85" normalizeH="0" baseline="0" noProof="0" dirty="0">
                <a:ln>
                  <a:noFill/>
                </a:ln>
                <a:solidFill>
                  <a:schemeClr val="tx1"/>
                </a:solidFill>
                <a:effectLst/>
                <a:uLnTx/>
                <a:uFillTx/>
                <a:latin typeface="Arial"/>
                <a:ea typeface="+mn-ea"/>
                <a:cs typeface="Arial"/>
              </a:rPr>
              <a:t>code:</a:t>
            </a:r>
            <a:endParaRPr kumimoji="0" lang="en-IN" sz="2400" b="0" i="0" u="none" strike="noStrike" kern="1200" cap="none" spc="0" normalizeH="0" baseline="0" noProof="0" dirty="0">
              <a:ln>
                <a:noFill/>
              </a:ln>
              <a:solidFill>
                <a:schemeClr val="tx1"/>
              </a:solidFill>
              <a:effectLst/>
              <a:uLnTx/>
              <a:uFillTx/>
              <a:latin typeface="Arial"/>
              <a:ea typeface="+mn-ea"/>
              <a:cs typeface="Arial"/>
            </a:endParaRPr>
          </a:p>
          <a:p>
            <a:pPr marL="12700" marR="0" lvl="0" algn="l" defTabSz="914400" rtl="0" eaLnBrk="1" fontAlgn="auto" latinLnBrk="0" hangingPunct="1">
              <a:spcBef>
                <a:spcPts val="965"/>
              </a:spcBef>
              <a:spcAft>
                <a:spcPts val="0"/>
              </a:spcAft>
              <a:buClrTx/>
              <a:buSzTx/>
              <a:tabLst>
                <a:tab pos="2114550" algn="l"/>
              </a:tabLst>
              <a:defRPr/>
            </a:pPr>
            <a:r>
              <a:rPr lang="en-IN" sz="2400" b="1" kern="1200" spc="-170" dirty="0">
                <a:solidFill>
                  <a:schemeClr val="tx1"/>
                </a:solidFill>
                <a:latin typeface="Trebuchet MS"/>
                <a:ea typeface="+mn-ea"/>
                <a:cs typeface="Trebuchet MS"/>
              </a:rPr>
              <a:t>     </a:t>
            </a:r>
            <a:r>
              <a:rPr lang="en-IN" sz="2400" b="1" spc="-170" dirty="0">
                <a:solidFill>
                  <a:schemeClr val="tx1"/>
                </a:solidFill>
                <a:latin typeface="Trebuchet MS"/>
              </a:rPr>
              <a:t>1110100010101</a:t>
            </a:r>
            <a:r>
              <a:rPr lang="en-IN" sz="2400" b="1" spc="-170" dirty="0">
                <a:solidFill>
                  <a:schemeClr val="tx1"/>
                </a:solidFill>
                <a:latin typeface="Trebuchet MS"/>
                <a:cs typeface="Trebuchet MS"/>
              </a:rPr>
              <a:t> </a:t>
            </a:r>
            <a:r>
              <a:rPr lang="en-IN" sz="2400" b="1" spc="-170" dirty="0">
                <a:solidFill>
                  <a:srgbClr val="585858"/>
                </a:solidFill>
                <a:latin typeface="Trebuchet MS"/>
                <a:cs typeface="Trebuchet MS"/>
              </a:rPr>
              <a:t>       </a:t>
            </a:r>
            <a:r>
              <a:rPr kumimoji="0" lang="en-IN" sz="2400" b="1" i="0" u="none" strike="noStrike" kern="1200" cap="none" spc="-175" normalizeH="0" baseline="0" noProof="0" dirty="0">
                <a:ln>
                  <a:noFill/>
                </a:ln>
                <a:solidFill>
                  <a:schemeClr val="tx1"/>
                </a:solidFill>
                <a:effectLst/>
                <a:uLnTx/>
                <a:uFillTx/>
                <a:latin typeface="Trebuchet MS"/>
                <a:ea typeface="+mn-ea"/>
                <a:cs typeface="Trebuchet MS"/>
              </a:rPr>
              <a:t>111010101110</a:t>
            </a:r>
            <a:endParaRPr kumimoji="0" lang="en-IN" sz="2400" b="0" i="0" u="none" strike="noStrike" kern="1200" cap="none" spc="0" normalizeH="0" baseline="0" noProof="0" dirty="0">
              <a:ln>
                <a:noFill/>
              </a:ln>
              <a:solidFill>
                <a:schemeClr val="tx1"/>
              </a:solidFill>
              <a:effectLst/>
              <a:uLnTx/>
              <a:uFillTx/>
              <a:latin typeface="Trebuchet MS"/>
              <a:ea typeface="+mn-ea"/>
              <a:cs typeface="Trebuchet MS"/>
            </a:endParaRPr>
          </a:p>
          <a:p>
            <a:pPr marL="12700" marR="0" lvl="0" algn="l" defTabSz="914400" rtl="0" eaLnBrk="1" fontAlgn="auto" latinLnBrk="0" hangingPunct="1">
              <a:spcBef>
                <a:spcPts val="960"/>
              </a:spcBef>
              <a:spcAft>
                <a:spcPts val="0"/>
              </a:spcAft>
              <a:buClrTx/>
              <a:buSzTx/>
              <a:tabLst>
                <a:tab pos="2188845" algn="l"/>
              </a:tabLst>
              <a:defRPr/>
            </a:pPr>
            <a:r>
              <a:rPr kumimoji="0" lang="en-IN" sz="2400" b="1" i="0" u="none" strike="noStrike" kern="1200" cap="none" spc="-170" normalizeH="0" baseline="0" noProof="0" dirty="0">
                <a:ln>
                  <a:noFill/>
                </a:ln>
                <a:solidFill>
                  <a:schemeClr val="tx1"/>
                </a:solidFill>
                <a:effectLst/>
                <a:uLnTx/>
                <a:uFillTx/>
                <a:latin typeface="Trebuchet MS"/>
                <a:ea typeface="+mn-ea"/>
                <a:cs typeface="Trebuchet MS"/>
              </a:rPr>
              <a:t>     10111010110100	   </a:t>
            </a:r>
            <a:r>
              <a:rPr kumimoji="0" lang="en-IN" sz="2400" b="1" i="0" u="none" strike="noStrike" kern="1200" cap="none" spc="-175" normalizeH="0" baseline="0" noProof="0" dirty="0">
                <a:ln>
                  <a:noFill/>
                </a:ln>
                <a:solidFill>
                  <a:schemeClr val="tx1"/>
                </a:solidFill>
                <a:effectLst/>
                <a:uLnTx/>
                <a:uFillTx/>
                <a:latin typeface="Trebuchet MS"/>
                <a:ea typeface="+mn-ea"/>
                <a:cs typeface="Trebuchet MS"/>
              </a:rPr>
              <a:t>10100011110111</a:t>
            </a:r>
            <a:endParaRPr kumimoji="0" lang="en-IN" sz="2400" b="0" i="0" u="none" strike="noStrike" kern="1200" cap="none" spc="0" normalizeH="0" baseline="0" noProof="0" dirty="0">
              <a:ln>
                <a:noFill/>
              </a:ln>
              <a:solidFill>
                <a:schemeClr val="tx1"/>
              </a:solidFill>
              <a:effectLst/>
              <a:uLnTx/>
              <a:uFillTx/>
              <a:latin typeface="Trebuchet MS"/>
              <a:ea typeface="+mn-ea"/>
              <a:cs typeface="Trebuchet MS"/>
            </a:endParaRPr>
          </a:p>
          <a:p>
            <a:pPr marL="355600" marR="0" lvl="0" indent="-342900" algn="l" defTabSz="914400" rtl="0" eaLnBrk="1" fontAlgn="auto" latinLnBrk="0" hangingPunct="1">
              <a:spcBef>
                <a:spcPts val="960"/>
              </a:spcBef>
              <a:spcAft>
                <a:spcPts val="0"/>
              </a:spcAft>
              <a:buClrTx/>
              <a:buSzTx/>
              <a:buFont typeface="Arial" panose="020B0604020202020204" pitchFamily="34" charset="0"/>
              <a:buChar char="•"/>
              <a:tabLst>
                <a:tab pos="195580" algn="l"/>
              </a:tabLst>
              <a:defRPr/>
            </a:pPr>
            <a:r>
              <a:rPr kumimoji="0" lang="en-IN" sz="2400" b="0" i="0" u="none" strike="noStrike" kern="1200" cap="none" spc="-60" normalizeH="0" baseline="0" noProof="0" dirty="0">
                <a:ln>
                  <a:noFill/>
                </a:ln>
                <a:solidFill>
                  <a:schemeClr val="tx1"/>
                </a:solidFill>
                <a:effectLst/>
                <a:uLnTx/>
                <a:uFillTx/>
                <a:latin typeface="Arial"/>
                <a:ea typeface="+mn-ea"/>
                <a:cs typeface="Arial"/>
              </a:rPr>
              <a:t>Any</a:t>
            </a:r>
            <a:r>
              <a:rPr kumimoji="0" lang="en-IN" sz="2400" b="0" i="0" u="none" strike="noStrike" kern="1200" cap="none" spc="-140" normalizeH="0" baseline="0" noProof="0" dirty="0">
                <a:ln>
                  <a:noFill/>
                </a:ln>
                <a:solidFill>
                  <a:schemeClr val="tx1"/>
                </a:solidFill>
                <a:effectLst/>
                <a:uLnTx/>
                <a:uFillTx/>
                <a:latin typeface="Arial"/>
                <a:ea typeface="+mn-ea"/>
                <a:cs typeface="Arial"/>
              </a:rPr>
              <a:t> </a:t>
            </a:r>
            <a:r>
              <a:rPr kumimoji="0" lang="en-IN" sz="2400" b="0" i="0" u="none" strike="noStrike" kern="1200" cap="none" spc="-45" normalizeH="0" baseline="0" noProof="0" dirty="0">
                <a:ln>
                  <a:noFill/>
                </a:ln>
                <a:solidFill>
                  <a:schemeClr val="tx1"/>
                </a:solidFill>
                <a:effectLst/>
                <a:uLnTx/>
                <a:uFillTx/>
                <a:latin typeface="Arial"/>
                <a:ea typeface="+mn-ea"/>
                <a:cs typeface="Arial"/>
              </a:rPr>
              <a:t>computer</a:t>
            </a:r>
            <a:r>
              <a:rPr kumimoji="0" lang="en-IN" sz="2400" b="0" i="0" u="none" strike="noStrike" kern="1200" cap="none" spc="-95" normalizeH="0" baseline="0" noProof="0" dirty="0">
                <a:ln>
                  <a:noFill/>
                </a:ln>
                <a:solidFill>
                  <a:schemeClr val="tx1"/>
                </a:solidFill>
                <a:effectLst/>
                <a:uLnTx/>
                <a:uFillTx/>
                <a:latin typeface="Arial"/>
                <a:ea typeface="+mn-ea"/>
                <a:cs typeface="Arial"/>
              </a:rPr>
              <a:t> </a:t>
            </a:r>
            <a:r>
              <a:rPr kumimoji="0" lang="en-IN" sz="2400" b="0" i="0" u="none" strike="noStrike" kern="1200" cap="none" spc="-114" normalizeH="0" baseline="0" noProof="0" dirty="0">
                <a:ln>
                  <a:noFill/>
                </a:ln>
                <a:solidFill>
                  <a:schemeClr val="tx1"/>
                </a:solidFill>
                <a:effectLst/>
                <a:uLnTx/>
                <a:uFillTx/>
                <a:latin typeface="Arial"/>
                <a:ea typeface="+mn-ea"/>
                <a:cs typeface="Arial"/>
              </a:rPr>
              <a:t>can</a:t>
            </a:r>
            <a:r>
              <a:rPr kumimoji="0" lang="en-IN" sz="2400" b="0" i="0" u="none" strike="noStrike" kern="1200" cap="none" spc="-160" normalizeH="0" baseline="0" noProof="0" dirty="0">
                <a:ln>
                  <a:noFill/>
                </a:ln>
                <a:solidFill>
                  <a:schemeClr val="tx1"/>
                </a:solidFill>
                <a:effectLst/>
                <a:uLnTx/>
                <a:uFillTx/>
                <a:latin typeface="Arial"/>
                <a:ea typeface="+mn-ea"/>
                <a:cs typeface="Arial"/>
              </a:rPr>
              <a:t> </a:t>
            </a:r>
            <a:r>
              <a:rPr kumimoji="0" lang="en-IN" sz="2400" b="0" i="0" u="none" strike="noStrike" kern="1200" cap="none" spc="-30" normalizeH="0" baseline="0" noProof="0" dirty="0">
                <a:ln>
                  <a:noFill/>
                </a:ln>
                <a:solidFill>
                  <a:schemeClr val="tx1"/>
                </a:solidFill>
                <a:effectLst/>
                <a:uLnTx/>
                <a:uFillTx/>
                <a:latin typeface="Arial"/>
                <a:ea typeface="+mn-ea"/>
                <a:cs typeface="Arial"/>
              </a:rPr>
              <a:t>directly</a:t>
            </a:r>
            <a:r>
              <a:rPr kumimoji="0" lang="en-IN" sz="2400" b="0" i="0" u="none" strike="noStrike" kern="1200" cap="none" spc="-75" normalizeH="0" baseline="0" noProof="0" dirty="0">
                <a:ln>
                  <a:noFill/>
                </a:ln>
                <a:solidFill>
                  <a:schemeClr val="tx1"/>
                </a:solidFill>
                <a:effectLst/>
                <a:uLnTx/>
                <a:uFillTx/>
                <a:latin typeface="Arial"/>
                <a:ea typeface="+mn-ea"/>
                <a:cs typeface="Arial"/>
              </a:rPr>
              <a:t> </a:t>
            </a:r>
            <a:r>
              <a:rPr kumimoji="0" lang="en-IN" sz="2400" b="0" i="0" u="none" strike="noStrike" kern="1200" cap="none" spc="-65" normalizeH="0" baseline="0" noProof="0" dirty="0">
                <a:ln>
                  <a:noFill/>
                </a:ln>
                <a:solidFill>
                  <a:schemeClr val="tx1"/>
                </a:solidFill>
                <a:effectLst/>
                <a:uLnTx/>
                <a:uFillTx/>
                <a:latin typeface="Arial"/>
                <a:ea typeface="+mn-ea"/>
                <a:cs typeface="Arial"/>
              </a:rPr>
              <a:t>understand</a:t>
            </a:r>
            <a:r>
              <a:rPr kumimoji="0" lang="en-IN" sz="2400" b="0" i="0" u="none" strike="noStrike" kern="1200" cap="none" spc="-125" normalizeH="0" baseline="0" noProof="0" dirty="0">
                <a:ln>
                  <a:noFill/>
                </a:ln>
                <a:solidFill>
                  <a:schemeClr val="tx1"/>
                </a:solidFill>
                <a:effectLst/>
                <a:uLnTx/>
                <a:uFillTx/>
                <a:latin typeface="Arial"/>
                <a:ea typeface="+mn-ea"/>
                <a:cs typeface="Arial"/>
              </a:rPr>
              <a:t> </a:t>
            </a:r>
            <a:r>
              <a:rPr kumimoji="0" lang="en-IN" sz="2400" b="0" i="0" u="none" strike="noStrike" kern="1200" cap="none" spc="-40" normalizeH="0" baseline="0" noProof="0" dirty="0">
                <a:ln>
                  <a:noFill/>
                </a:ln>
                <a:solidFill>
                  <a:schemeClr val="tx1"/>
                </a:solidFill>
                <a:effectLst/>
                <a:uLnTx/>
                <a:uFillTx/>
                <a:latin typeface="Arial"/>
                <a:ea typeface="+mn-ea"/>
                <a:cs typeface="Arial"/>
              </a:rPr>
              <a:t>only</a:t>
            </a:r>
            <a:r>
              <a:rPr kumimoji="0" lang="en-IN" sz="2400" b="0" i="0" u="none" strike="noStrike" kern="1200" cap="none" spc="-150" normalizeH="0" baseline="0" noProof="0" dirty="0">
                <a:ln>
                  <a:noFill/>
                </a:ln>
                <a:solidFill>
                  <a:schemeClr val="tx1"/>
                </a:solidFill>
                <a:effectLst/>
                <a:uLnTx/>
                <a:uFillTx/>
                <a:latin typeface="Arial"/>
                <a:ea typeface="+mn-ea"/>
                <a:cs typeface="Arial"/>
              </a:rPr>
              <a:t> </a:t>
            </a:r>
            <a:r>
              <a:rPr kumimoji="0" lang="en-IN" sz="2400" b="0" i="0" u="none" strike="noStrike" kern="1200" cap="none" spc="-20" normalizeH="0" baseline="0" noProof="0" dirty="0">
                <a:ln>
                  <a:noFill/>
                </a:ln>
                <a:solidFill>
                  <a:schemeClr val="tx1"/>
                </a:solidFill>
                <a:effectLst/>
                <a:uLnTx/>
                <a:uFillTx/>
                <a:latin typeface="Arial"/>
                <a:ea typeface="+mn-ea"/>
                <a:cs typeface="Arial"/>
              </a:rPr>
              <a:t>its</a:t>
            </a:r>
            <a:r>
              <a:rPr kumimoji="0" lang="en-IN" sz="2400" b="0" i="0" u="none" strike="noStrike" kern="1200" cap="none" spc="-130" normalizeH="0" baseline="0" noProof="0" dirty="0">
                <a:ln>
                  <a:noFill/>
                </a:ln>
                <a:solidFill>
                  <a:schemeClr val="tx1"/>
                </a:solidFill>
                <a:effectLst/>
                <a:uLnTx/>
                <a:uFillTx/>
                <a:latin typeface="Arial"/>
                <a:ea typeface="+mn-ea"/>
                <a:cs typeface="Arial"/>
              </a:rPr>
              <a:t> </a:t>
            </a:r>
            <a:r>
              <a:rPr kumimoji="0" lang="en-IN" sz="2400" b="0" i="0" u="none" strike="noStrike" kern="1200" cap="none" spc="-50" normalizeH="0" baseline="0" noProof="0" dirty="0">
                <a:ln>
                  <a:noFill/>
                </a:ln>
                <a:solidFill>
                  <a:schemeClr val="tx1"/>
                </a:solidFill>
                <a:effectLst/>
                <a:uLnTx/>
                <a:uFillTx/>
                <a:latin typeface="Arial"/>
                <a:ea typeface="+mn-ea"/>
                <a:cs typeface="Arial"/>
              </a:rPr>
              <a:t>own</a:t>
            </a:r>
            <a:r>
              <a:rPr kumimoji="0" lang="en-IN" sz="2400" b="0" i="0" u="none" strike="noStrike" kern="1200" cap="none" spc="-145" normalizeH="0" baseline="0" noProof="0" dirty="0">
                <a:ln>
                  <a:noFill/>
                </a:ln>
                <a:solidFill>
                  <a:schemeClr val="tx1"/>
                </a:solidFill>
                <a:effectLst/>
                <a:uLnTx/>
                <a:uFillTx/>
                <a:latin typeface="Arial"/>
                <a:ea typeface="+mn-ea"/>
                <a:cs typeface="Arial"/>
              </a:rPr>
              <a:t> </a:t>
            </a:r>
            <a:r>
              <a:rPr kumimoji="0" lang="en-IN" sz="2400" b="0" i="0" u="none" strike="noStrike" kern="1200" cap="none" spc="-90" normalizeH="0" baseline="0" noProof="0" dirty="0">
                <a:ln>
                  <a:noFill/>
                </a:ln>
                <a:solidFill>
                  <a:schemeClr val="tx1"/>
                </a:solidFill>
                <a:effectLst/>
                <a:uLnTx/>
                <a:uFillTx/>
                <a:latin typeface="Arial"/>
                <a:ea typeface="+mn-ea"/>
                <a:cs typeface="Arial"/>
              </a:rPr>
              <a:t>machine</a:t>
            </a:r>
            <a:r>
              <a:rPr lang="en-IN" sz="2400" kern="1200" dirty="0">
                <a:solidFill>
                  <a:schemeClr val="tx1"/>
                </a:solidFill>
                <a:ea typeface="+mn-ea"/>
              </a:rPr>
              <a:t> </a:t>
            </a:r>
            <a:r>
              <a:rPr kumimoji="0" lang="en-IN" sz="2400" b="0" i="0" u="none" strike="noStrike" kern="1200" cap="none" spc="-80" normalizeH="0" baseline="0" noProof="0" dirty="0">
                <a:ln>
                  <a:noFill/>
                </a:ln>
                <a:solidFill>
                  <a:schemeClr val="tx1"/>
                </a:solidFill>
                <a:effectLst/>
                <a:uLnTx/>
                <a:uFillTx/>
                <a:latin typeface="Arial"/>
                <a:ea typeface="+mn-ea"/>
                <a:cs typeface="Arial"/>
              </a:rPr>
              <a:t>language, </a:t>
            </a:r>
            <a:r>
              <a:rPr kumimoji="0" lang="en-IN" sz="2400" b="0" i="0" u="none" strike="noStrike" kern="1200" cap="none" spc="-55" normalizeH="0" baseline="0" noProof="0" dirty="0">
                <a:ln>
                  <a:noFill/>
                </a:ln>
                <a:solidFill>
                  <a:schemeClr val="tx1"/>
                </a:solidFill>
                <a:effectLst/>
                <a:uLnTx/>
                <a:uFillTx/>
                <a:latin typeface="Arial"/>
                <a:ea typeface="+mn-ea"/>
                <a:cs typeface="Arial"/>
              </a:rPr>
              <a:t>defined by </a:t>
            </a:r>
            <a:r>
              <a:rPr kumimoji="0" lang="en-IN" sz="2400" b="0" i="0" u="none" strike="noStrike" kern="1200" cap="none" spc="-20" normalizeH="0" baseline="0" noProof="0" dirty="0">
                <a:ln>
                  <a:noFill/>
                </a:ln>
                <a:solidFill>
                  <a:schemeClr val="tx1"/>
                </a:solidFill>
                <a:effectLst/>
                <a:uLnTx/>
                <a:uFillTx/>
                <a:latin typeface="Arial"/>
                <a:ea typeface="+mn-ea"/>
                <a:cs typeface="Arial"/>
              </a:rPr>
              <a:t>its </a:t>
            </a:r>
            <a:r>
              <a:rPr kumimoji="0" lang="en-IN" sz="2400" b="0" i="0" u="none" strike="noStrike" kern="1200" cap="none" spc="-70" normalizeH="0" baseline="0" noProof="0" dirty="0">
                <a:ln>
                  <a:noFill/>
                </a:ln>
                <a:solidFill>
                  <a:schemeClr val="tx1"/>
                </a:solidFill>
                <a:effectLst/>
                <a:uLnTx/>
                <a:uFillTx/>
                <a:latin typeface="Arial"/>
                <a:ea typeface="+mn-ea"/>
                <a:cs typeface="Arial"/>
              </a:rPr>
              <a:t>hardware</a:t>
            </a:r>
            <a:r>
              <a:rPr kumimoji="0" lang="en-IN" sz="2400" b="0" i="0" u="none" strike="noStrike" kern="1200" cap="none" spc="-425" normalizeH="0" baseline="0" noProof="0" dirty="0">
                <a:ln>
                  <a:noFill/>
                </a:ln>
                <a:solidFill>
                  <a:schemeClr val="tx1"/>
                </a:solidFill>
                <a:effectLst/>
                <a:uLnTx/>
                <a:uFillTx/>
                <a:latin typeface="Arial"/>
                <a:ea typeface="+mn-ea"/>
                <a:cs typeface="Arial"/>
              </a:rPr>
              <a:t> </a:t>
            </a:r>
            <a:r>
              <a:rPr kumimoji="0" lang="en-IN" sz="2400" b="0" i="0" u="none" strike="noStrike" kern="1200" cap="none" spc="-75" normalizeH="0" baseline="0" noProof="0" dirty="0">
                <a:ln>
                  <a:noFill/>
                </a:ln>
                <a:solidFill>
                  <a:schemeClr val="tx1"/>
                </a:solidFill>
                <a:effectLst/>
                <a:uLnTx/>
                <a:uFillTx/>
                <a:latin typeface="Arial"/>
                <a:ea typeface="+mn-ea"/>
                <a:cs typeface="Arial"/>
              </a:rPr>
              <a:t>design.</a:t>
            </a:r>
            <a:endParaRPr kumimoji="0" lang="en-IN" sz="2400" b="0" i="0" u="none" strike="noStrike" kern="1200" cap="none" spc="0" normalizeH="0" baseline="0" noProof="0" dirty="0">
              <a:ln>
                <a:noFill/>
              </a:ln>
              <a:solidFill>
                <a:schemeClr val="tx1"/>
              </a:solidFill>
              <a:effectLst/>
              <a:uLnTx/>
              <a:uFillTx/>
              <a:latin typeface="Arial"/>
              <a:ea typeface="+mn-ea"/>
              <a:cs typeface="Arial"/>
            </a:endParaRPr>
          </a:p>
          <a:p>
            <a:pPr marL="355600" marR="0" lvl="0" indent="-342900" algn="l" defTabSz="914400" rtl="0" eaLnBrk="1" fontAlgn="auto" latinLnBrk="0" hangingPunct="1">
              <a:spcBef>
                <a:spcPts val="960"/>
              </a:spcBef>
              <a:spcAft>
                <a:spcPts val="0"/>
              </a:spcAft>
              <a:buClrTx/>
              <a:buSzTx/>
              <a:buFont typeface="Arial" panose="020B0604020202020204" pitchFamily="34" charset="0"/>
              <a:buChar char="•"/>
              <a:tabLst>
                <a:tab pos="195580" algn="l"/>
              </a:tabLst>
              <a:defRPr/>
            </a:pPr>
            <a:r>
              <a:rPr kumimoji="0" lang="en-IN" sz="2400" b="0" i="0" u="none" strike="noStrike" kern="1200" cap="none" spc="-80" normalizeH="0" baseline="0" noProof="0" dirty="0">
                <a:ln>
                  <a:noFill/>
                </a:ln>
                <a:solidFill>
                  <a:schemeClr val="tx1"/>
                </a:solidFill>
                <a:effectLst/>
                <a:uLnTx/>
                <a:uFillTx/>
                <a:latin typeface="Arial"/>
                <a:ea typeface="+mn-ea"/>
                <a:cs typeface="Arial"/>
              </a:rPr>
              <a:t>Machine</a:t>
            </a:r>
            <a:r>
              <a:rPr kumimoji="0" lang="en-IN" sz="2400" b="0" i="0" u="none" strike="noStrike" kern="1200" cap="none" spc="-140" normalizeH="0" baseline="0" noProof="0" dirty="0">
                <a:ln>
                  <a:noFill/>
                </a:ln>
                <a:solidFill>
                  <a:schemeClr val="tx1"/>
                </a:solidFill>
                <a:effectLst/>
                <a:uLnTx/>
                <a:uFillTx/>
                <a:latin typeface="Arial"/>
                <a:ea typeface="+mn-ea"/>
                <a:cs typeface="Arial"/>
              </a:rPr>
              <a:t> </a:t>
            </a:r>
            <a:r>
              <a:rPr kumimoji="0" lang="en-IN" sz="2400" b="0" i="0" u="none" strike="noStrike" kern="1200" cap="none" spc="-65" normalizeH="0" baseline="0" noProof="0" dirty="0">
                <a:ln>
                  <a:noFill/>
                </a:ln>
                <a:solidFill>
                  <a:schemeClr val="tx1"/>
                </a:solidFill>
                <a:effectLst/>
                <a:uLnTx/>
                <a:uFillTx/>
                <a:latin typeface="Arial"/>
                <a:ea typeface="+mn-ea"/>
                <a:cs typeface="Arial"/>
              </a:rPr>
              <a:t>dependent</a:t>
            </a:r>
            <a:endParaRPr kumimoji="0" lang="en-IN" sz="2400" b="0" i="0" u="none" strike="noStrike" kern="1200" cap="none" spc="0" normalizeH="0" baseline="0" noProof="0" dirty="0">
              <a:ln>
                <a:noFill/>
              </a:ln>
              <a:solidFill>
                <a:schemeClr val="tx1"/>
              </a:solidFill>
              <a:effectLst/>
              <a:uLnTx/>
              <a:uFillTx/>
              <a:latin typeface="Arial"/>
              <a:ea typeface="+mn-ea"/>
              <a:cs typeface="Arial"/>
            </a:endParaRPr>
          </a:p>
          <a:p>
            <a:pPr marL="355600" marR="0" lvl="0" indent="-342900" algn="l" defTabSz="914400" rtl="0" eaLnBrk="1" fontAlgn="auto" latinLnBrk="0" hangingPunct="1">
              <a:spcBef>
                <a:spcPts val="960"/>
              </a:spcBef>
              <a:spcAft>
                <a:spcPts val="0"/>
              </a:spcAft>
              <a:buClrTx/>
              <a:buSzTx/>
              <a:buFont typeface="Arial" panose="020B0604020202020204" pitchFamily="34" charset="0"/>
              <a:buChar char="•"/>
              <a:tabLst>
                <a:tab pos="195580" algn="l"/>
              </a:tabLst>
              <a:defRPr/>
            </a:pPr>
            <a:r>
              <a:rPr kumimoji="0" lang="en-IN" sz="2400" b="0" i="0" u="none" strike="noStrike" kern="1200" cap="none" spc="-5" normalizeH="0" baseline="0" noProof="0" dirty="0">
                <a:ln>
                  <a:noFill/>
                </a:ln>
                <a:solidFill>
                  <a:schemeClr val="tx1"/>
                </a:solidFill>
                <a:effectLst/>
                <a:uLnTx/>
                <a:uFillTx/>
                <a:latin typeface="Arial"/>
                <a:ea typeface="+mn-ea"/>
                <a:cs typeface="Arial"/>
              </a:rPr>
              <a:t>Difficult</a:t>
            </a:r>
            <a:r>
              <a:rPr kumimoji="0" lang="en-IN" sz="2400" b="0" i="0" u="none" strike="noStrike" kern="1200" cap="none" spc="-100" normalizeH="0" baseline="0" noProof="0" dirty="0">
                <a:ln>
                  <a:noFill/>
                </a:ln>
                <a:solidFill>
                  <a:schemeClr val="tx1"/>
                </a:solidFill>
                <a:effectLst/>
                <a:uLnTx/>
                <a:uFillTx/>
                <a:latin typeface="Arial"/>
                <a:ea typeface="+mn-ea"/>
                <a:cs typeface="Arial"/>
              </a:rPr>
              <a:t> </a:t>
            </a:r>
            <a:r>
              <a:rPr kumimoji="0" lang="en-IN" sz="2400" b="0" i="0" u="none" strike="noStrike" kern="1200" cap="none" spc="40" normalizeH="0" baseline="0" noProof="0" dirty="0">
                <a:ln>
                  <a:noFill/>
                </a:ln>
                <a:solidFill>
                  <a:schemeClr val="tx1"/>
                </a:solidFill>
                <a:effectLst/>
                <a:uLnTx/>
                <a:uFillTx/>
                <a:latin typeface="Arial"/>
                <a:ea typeface="+mn-ea"/>
                <a:cs typeface="Arial"/>
              </a:rPr>
              <a:t>to</a:t>
            </a:r>
            <a:r>
              <a:rPr kumimoji="0" lang="en-IN" sz="2400" b="0" i="0" u="none" strike="noStrike" kern="1200" cap="none" spc="-155" normalizeH="0" baseline="0" noProof="0" dirty="0">
                <a:ln>
                  <a:noFill/>
                </a:ln>
                <a:solidFill>
                  <a:schemeClr val="tx1"/>
                </a:solidFill>
                <a:effectLst/>
                <a:uLnTx/>
                <a:uFillTx/>
                <a:latin typeface="Arial"/>
                <a:ea typeface="+mn-ea"/>
                <a:cs typeface="Arial"/>
              </a:rPr>
              <a:t> </a:t>
            </a:r>
            <a:r>
              <a:rPr kumimoji="0" lang="en-IN" sz="2400" b="0" i="0" u="none" strike="noStrike" kern="1200" cap="none" spc="-45" normalizeH="0" baseline="0" noProof="0" dirty="0">
                <a:ln>
                  <a:noFill/>
                </a:ln>
                <a:solidFill>
                  <a:schemeClr val="tx1"/>
                </a:solidFill>
                <a:effectLst/>
                <a:uLnTx/>
                <a:uFillTx/>
                <a:latin typeface="Arial"/>
                <a:ea typeface="+mn-ea"/>
                <a:cs typeface="Arial"/>
              </a:rPr>
              <a:t>program</a:t>
            </a:r>
            <a:r>
              <a:rPr kumimoji="0" lang="en-IN" sz="2400" b="0" i="0" u="none" strike="noStrike" kern="1200" cap="none" spc="-105" normalizeH="0" baseline="0" noProof="0" dirty="0">
                <a:ln>
                  <a:noFill/>
                </a:ln>
                <a:solidFill>
                  <a:schemeClr val="tx1"/>
                </a:solidFill>
                <a:effectLst/>
                <a:uLnTx/>
                <a:uFillTx/>
                <a:latin typeface="Arial"/>
                <a:ea typeface="+mn-ea"/>
                <a:cs typeface="Arial"/>
              </a:rPr>
              <a:t> </a:t>
            </a:r>
            <a:r>
              <a:rPr kumimoji="0" lang="en-IN" sz="2400" b="0" i="0" u="none" strike="noStrike" kern="1200" cap="none" spc="-95" normalizeH="0" baseline="0" noProof="0" dirty="0">
                <a:ln>
                  <a:noFill/>
                </a:ln>
                <a:solidFill>
                  <a:schemeClr val="tx1"/>
                </a:solidFill>
                <a:effectLst/>
                <a:uLnTx/>
                <a:uFillTx/>
                <a:latin typeface="Arial"/>
                <a:ea typeface="+mn-ea"/>
                <a:cs typeface="Arial"/>
              </a:rPr>
              <a:t>–</a:t>
            </a:r>
            <a:r>
              <a:rPr kumimoji="0" lang="en-IN" sz="2400" b="1" i="0" u="none" strike="noStrike" kern="1200" cap="none" spc="-95" normalizeH="0" baseline="0" noProof="0" dirty="0">
                <a:ln>
                  <a:noFill/>
                </a:ln>
                <a:solidFill>
                  <a:schemeClr val="tx1"/>
                </a:solidFill>
                <a:effectLst/>
                <a:uLnTx/>
                <a:uFillTx/>
                <a:latin typeface="Trebuchet MS"/>
                <a:ea typeface="+mn-ea"/>
                <a:cs typeface="Trebuchet MS"/>
              </a:rPr>
              <a:t>one</a:t>
            </a:r>
            <a:r>
              <a:rPr kumimoji="0" lang="en-IN" sz="2400" b="1" i="0" u="none" strike="noStrike" kern="1200" cap="none" spc="-185" normalizeH="0" baseline="0" noProof="0" dirty="0">
                <a:ln>
                  <a:noFill/>
                </a:ln>
                <a:solidFill>
                  <a:schemeClr val="tx1"/>
                </a:solidFill>
                <a:effectLst/>
                <a:uLnTx/>
                <a:uFillTx/>
                <a:latin typeface="Trebuchet MS"/>
                <a:ea typeface="+mn-ea"/>
                <a:cs typeface="Trebuchet MS"/>
              </a:rPr>
              <a:t> </a:t>
            </a:r>
            <a:r>
              <a:rPr kumimoji="0" lang="en-IN" sz="2400" b="1" i="0" u="none" strike="noStrike" kern="1200" cap="none" spc="-75" normalizeH="0" baseline="0" noProof="0" dirty="0">
                <a:ln>
                  <a:noFill/>
                </a:ln>
                <a:solidFill>
                  <a:schemeClr val="tx1"/>
                </a:solidFill>
                <a:effectLst/>
                <a:uLnTx/>
                <a:uFillTx/>
                <a:latin typeface="Trebuchet MS"/>
                <a:ea typeface="+mn-ea"/>
                <a:cs typeface="Trebuchet MS"/>
              </a:rPr>
              <a:t>misplaced</a:t>
            </a:r>
            <a:r>
              <a:rPr kumimoji="0" lang="en-IN" sz="2400" b="1" i="0" u="none" strike="noStrike" kern="1200" cap="none" spc="-190" normalizeH="0" baseline="0" noProof="0" dirty="0">
                <a:ln>
                  <a:noFill/>
                </a:ln>
                <a:solidFill>
                  <a:schemeClr val="tx1"/>
                </a:solidFill>
                <a:effectLst/>
                <a:uLnTx/>
                <a:uFillTx/>
                <a:latin typeface="Trebuchet MS"/>
                <a:ea typeface="+mn-ea"/>
                <a:cs typeface="Trebuchet MS"/>
              </a:rPr>
              <a:t> 1</a:t>
            </a:r>
            <a:r>
              <a:rPr kumimoji="0" lang="en-IN" sz="2400" b="1" i="0" u="none" strike="noStrike" kern="1200" cap="none" spc="-195" normalizeH="0" baseline="0" noProof="0" dirty="0">
                <a:ln>
                  <a:noFill/>
                </a:ln>
                <a:solidFill>
                  <a:schemeClr val="tx1"/>
                </a:solidFill>
                <a:effectLst/>
                <a:uLnTx/>
                <a:uFillTx/>
                <a:latin typeface="Trebuchet MS"/>
                <a:ea typeface="+mn-ea"/>
                <a:cs typeface="Trebuchet MS"/>
              </a:rPr>
              <a:t> </a:t>
            </a:r>
            <a:r>
              <a:rPr kumimoji="0" lang="en-IN" sz="2400" b="1" i="0" u="none" strike="noStrike" kern="1200" cap="none" spc="-95" normalizeH="0" baseline="0" noProof="0" dirty="0">
                <a:ln>
                  <a:noFill/>
                </a:ln>
                <a:solidFill>
                  <a:schemeClr val="tx1"/>
                </a:solidFill>
                <a:effectLst/>
                <a:uLnTx/>
                <a:uFillTx/>
                <a:latin typeface="Trebuchet MS"/>
                <a:ea typeface="+mn-ea"/>
                <a:cs typeface="Trebuchet MS"/>
              </a:rPr>
              <a:t>or</a:t>
            </a:r>
            <a:r>
              <a:rPr kumimoji="0" lang="en-IN" sz="2400" b="1" i="0" u="none" strike="noStrike" kern="1200" cap="none" spc="-175" normalizeH="0" baseline="0" noProof="0" dirty="0">
                <a:ln>
                  <a:noFill/>
                </a:ln>
                <a:solidFill>
                  <a:schemeClr val="tx1"/>
                </a:solidFill>
                <a:effectLst/>
                <a:uLnTx/>
                <a:uFillTx/>
                <a:latin typeface="Trebuchet MS"/>
                <a:ea typeface="+mn-ea"/>
                <a:cs typeface="Trebuchet MS"/>
              </a:rPr>
              <a:t> </a:t>
            </a:r>
            <a:r>
              <a:rPr kumimoji="0" lang="en-IN" sz="2400" b="1" i="0" u="none" strike="noStrike" kern="1200" cap="none" spc="-150" normalizeH="0" baseline="0" noProof="0" dirty="0">
                <a:ln>
                  <a:noFill/>
                </a:ln>
                <a:solidFill>
                  <a:schemeClr val="tx1"/>
                </a:solidFill>
                <a:effectLst/>
                <a:uLnTx/>
                <a:uFillTx/>
                <a:latin typeface="Trebuchet MS"/>
                <a:ea typeface="+mn-ea"/>
                <a:cs typeface="Trebuchet MS"/>
              </a:rPr>
              <a:t>0</a:t>
            </a:r>
            <a:r>
              <a:rPr kumimoji="0" lang="en-IN" sz="2400" b="1" i="0" u="none" strike="noStrike" kern="1200" cap="none" spc="-190" normalizeH="0" baseline="0" noProof="0" dirty="0">
                <a:ln>
                  <a:noFill/>
                </a:ln>
                <a:solidFill>
                  <a:schemeClr val="tx1"/>
                </a:solidFill>
                <a:effectLst/>
                <a:uLnTx/>
                <a:uFillTx/>
                <a:latin typeface="Trebuchet MS"/>
                <a:ea typeface="+mn-ea"/>
                <a:cs typeface="Trebuchet MS"/>
              </a:rPr>
              <a:t> </a:t>
            </a:r>
            <a:r>
              <a:rPr kumimoji="0" lang="en-IN" sz="2400" b="1" i="0" u="none" strike="noStrike" kern="1200" cap="none" spc="-90" normalizeH="0" baseline="0" noProof="0" dirty="0">
                <a:ln>
                  <a:noFill/>
                </a:ln>
                <a:solidFill>
                  <a:schemeClr val="tx1"/>
                </a:solidFill>
                <a:effectLst/>
                <a:uLnTx/>
                <a:uFillTx/>
                <a:latin typeface="Trebuchet MS"/>
                <a:ea typeface="+mn-ea"/>
                <a:cs typeface="Trebuchet MS"/>
              </a:rPr>
              <a:t>will</a:t>
            </a:r>
            <a:r>
              <a:rPr kumimoji="0" lang="en-IN" sz="2400" b="1" i="0" u="none" strike="noStrike" kern="1200" cap="none" spc="-185" normalizeH="0" baseline="0" noProof="0" dirty="0">
                <a:ln>
                  <a:noFill/>
                </a:ln>
                <a:solidFill>
                  <a:schemeClr val="tx1"/>
                </a:solidFill>
                <a:effectLst/>
                <a:uLnTx/>
                <a:uFillTx/>
                <a:latin typeface="Trebuchet MS"/>
                <a:ea typeface="+mn-ea"/>
                <a:cs typeface="Trebuchet MS"/>
              </a:rPr>
              <a:t> </a:t>
            </a:r>
            <a:r>
              <a:rPr kumimoji="0" lang="en-IN" sz="2400" b="1" i="0" u="none" strike="noStrike" kern="1200" cap="none" spc="-85" normalizeH="0" baseline="0" noProof="0" dirty="0">
                <a:ln>
                  <a:noFill/>
                </a:ln>
                <a:solidFill>
                  <a:schemeClr val="tx1"/>
                </a:solidFill>
                <a:effectLst/>
                <a:uLnTx/>
                <a:uFillTx/>
                <a:latin typeface="Trebuchet MS"/>
                <a:ea typeface="+mn-ea"/>
                <a:cs typeface="Trebuchet MS"/>
              </a:rPr>
              <a:t>cause</a:t>
            </a:r>
            <a:r>
              <a:rPr kumimoji="0" lang="en-IN" sz="2400" b="1" i="0" u="none" strike="noStrike" kern="1200" cap="none" spc="-190" normalizeH="0" baseline="0" noProof="0" dirty="0">
                <a:ln>
                  <a:noFill/>
                </a:ln>
                <a:solidFill>
                  <a:schemeClr val="tx1"/>
                </a:solidFill>
                <a:effectLst/>
                <a:uLnTx/>
                <a:uFillTx/>
                <a:latin typeface="Trebuchet MS"/>
                <a:ea typeface="+mn-ea"/>
                <a:cs typeface="Trebuchet MS"/>
              </a:rPr>
              <a:t> </a:t>
            </a:r>
            <a:r>
              <a:rPr kumimoji="0" lang="en-IN" sz="2400" b="1" i="0" u="none" strike="noStrike" kern="1200" cap="none" spc="-90" normalizeH="0" baseline="0" noProof="0" dirty="0">
                <a:ln>
                  <a:noFill/>
                </a:ln>
                <a:solidFill>
                  <a:schemeClr val="tx1"/>
                </a:solidFill>
                <a:effectLst/>
                <a:uLnTx/>
                <a:uFillTx/>
                <a:latin typeface="Trebuchet MS"/>
                <a:ea typeface="+mn-ea"/>
                <a:cs typeface="Trebuchet MS"/>
              </a:rPr>
              <a:t>the </a:t>
            </a:r>
            <a:r>
              <a:rPr kumimoji="0" lang="en-IN" sz="2400" b="1" i="0" u="none" strike="noStrike" kern="1200" cap="none" spc="-55" normalizeH="0" baseline="0" noProof="0" dirty="0">
                <a:ln>
                  <a:noFill/>
                </a:ln>
                <a:solidFill>
                  <a:schemeClr val="tx1"/>
                </a:solidFill>
                <a:effectLst/>
                <a:uLnTx/>
                <a:uFillTx/>
                <a:latin typeface="Trebuchet MS"/>
                <a:ea typeface="+mn-ea"/>
                <a:cs typeface="Trebuchet MS"/>
              </a:rPr>
              <a:t>program </a:t>
            </a:r>
            <a:r>
              <a:rPr kumimoji="0" lang="en-IN" sz="2400" b="1" i="0" u="none" strike="noStrike" kern="1200" cap="none" spc="-40" normalizeH="0" baseline="0" noProof="0" dirty="0">
                <a:ln>
                  <a:noFill/>
                </a:ln>
                <a:solidFill>
                  <a:schemeClr val="tx1"/>
                </a:solidFill>
                <a:effectLst/>
                <a:uLnTx/>
                <a:uFillTx/>
                <a:latin typeface="Trebuchet MS"/>
                <a:ea typeface="+mn-ea"/>
                <a:cs typeface="Trebuchet MS"/>
              </a:rPr>
              <a:t>to</a:t>
            </a:r>
            <a:r>
              <a:rPr kumimoji="0" lang="en-IN" sz="2400" b="1" i="0" u="none" strike="noStrike" kern="1200" cap="none" spc="-320" normalizeH="0" baseline="0" noProof="0" dirty="0">
                <a:ln>
                  <a:noFill/>
                </a:ln>
                <a:solidFill>
                  <a:schemeClr val="tx1"/>
                </a:solidFill>
                <a:effectLst/>
                <a:uLnTx/>
                <a:uFillTx/>
                <a:latin typeface="Trebuchet MS"/>
                <a:ea typeface="+mn-ea"/>
                <a:cs typeface="Trebuchet MS"/>
              </a:rPr>
              <a:t> </a:t>
            </a:r>
            <a:r>
              <a:rPr kumimoji="0" lang="en-IN" sz="2400" b="1" i="0" u="none" strike="noStrike" kern="1200" cap="none" spc="-95" normalizeH="0" baseline="0" noProof="0" dirty="0">
                <a:ln>
                  <a:noFill/>
                </a:ln>
                <a:solidFill>
                  <a:schemeClr val="tx1"/>
                </a:solidFill>
                <a:effectLst/>
                <a:uLnTx/>
                <a:uFillTx/>
                <a:latin typeface="Trebuchet MS"/>
                <a:ea typeface="+mn-ea"/>
                <a:cs typeface="Trebuchet MS"/>
              </a:rPr>
              <a:t>fail.</a:t>
            </a:r>
            <a:endParaRPr lang="en-IN" sz="2400" dirty="0">
              <a:latin typeface="Trebuchet MS" panose="020B0603020202020204" pitchFamily="34" charset="0"/>
            </a:endParaRPr>
          </a:p>
        </p:txBody>
      </p:sp>
    </p:spTree>
    <p:extLst>
      <p:ext uri="{BB962C8B-B14F-4D97-AF65-F5344CB8AC3E}">
        <p14:creationId xmlns:p14="http://schemas.microsoft.com/office/powerpoint/2010/main" val="1566964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203596"/>
            <a:ext cx="8407107" cy="1182375"/>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r>
              <a:rPr lang="en-IN" sz="2800" b="1" dirty="0">
                <a:solidFill>
                  <a:schemeClr val="bg1"/>
                </a:solidFill>
                <a:latin typeface="Cambria" panose="02040503050406030204" pitchFamily="18" charset="0"/>
              </a:rPr>
              <a:t>Introduction </a:t>
            </a: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34E1C683-FD68-44D4-9C40-A8854E636395}"/>
              </a:ext>
            </a:extLst>
          </p:cNvPr>
          <p:cNvSpPr txBox="1"/>
          <p:nvPr/>
        </p:nvSpPr>
        <p:spPr>
          <a:xfrm>
            <a:off x="977677" y="1296210"/>
            <a:ext cx="9671850" cy="4785926"/>
          </a:xfrm>
          <a:prstGeom prst="rect">
            <a:avLst/>
          </a:prstGeom>
          <a:noFill/>
        </p:spPr>
        <p:txBody>
          <a:bodyPr wrap="square">
            <a:spAutoFit/>
          </a:bodyPr>
          <a:lstStyle/>
          <a:p>
            <a:pPr>
              <a:lnSpc>
                <a:spcPct val="150000"/>
              </a:lnSpc>
            </a:pPr>
            <a:r>
              <a:rPr lang="en-IN" sz="2000" dirty="0">
                <a:solidFill>
                  <a:srgbClr val="0070C0"/>
                </a:solidFill>
                <a:latin typeface="Trebuchet MS" panose="020B0603020202020204" pitchFamily="34" charset="0"/>
              </a:rPr>
              <a:t>Assembly level Language :</a:t>
            </a:r>
          </a:p>
          <a:p>
            <a:pPr marL="273050" indent="-273050">
              <a:spcBef>
                <a:spcPts val="600"/>
              </a:spcBef>
              <a:spcAft>
                <a:spcPts val="600"/>
              </a:spcAft>
              <a:buFont typeface="Arial" panose="020B0604020202020204" pitchFamily="34" charset="0"/>
              <a:buChar char="•"/>
            </a:pPr>
            <a:r>
              <a:rPr lang="en-IN" sz="2000" spc="-90" dirty="0">
                <a:solidFill>
                  <a:schemeClr val="tx1"/>
                </a:solidFill>
                <a:latin typeface="Arial"/>
                <a:cs typeface="Arial"/>
              </a:rPr>
              <a:t>Assembly </a:t>
            </a:r>
            <a:r>
              <a:rPr lang="en-IN" sz="2000" spc="-95" dirty="0">
                <a:solidFill>
                  <a:schemeClr val="tx1"/>
                </a:solidFill>
                <a:latin typeface="Arial"/>
                <a:cs typeface="Arial"/>
              </a:rPr>
              <a:t>languages </a:t>
            </a:r>
            <a:r>
              <a:rPr lang="en-IN" sz="2000" spc="-85" dirty="0">
                <a:solidFill>
                  <a:schemeClr val="tx1"/>
                </a:solidFill>
                <a:latin typeface="Arial"/>
                <a:cs typeface="Arial"/>
              </a:rPr>
              <a:t>are </a:t>
            </a:r>
            <a:r>
              <a:rPr lang="en-IN" sz="2000" spc="-140" dirty="0">
                <a:solidFill>
                  <a:schemeClr val="tx1"/>
                </a:solidFill>
                <a:latin typeface="Arial"/>
                <a:cs typeface="Arial"/>
              </a:rPr>
              <a:t>a </a:t>
            </a:r>
            <a:r>
              <a:rPr lang="en-IN" sz="2000" spc="-60" dirty="0">
                <a:solidFill>
                  <a:schemeClr val="tx1"/>
                </a:solidFill>
                <a:latin typeface="Arial"/>
                <a:cs typeface="Arial"/>
              </a:rPr>
              <a:t>step </a:t>
            </a:r>
            <a:r>
              <a:rPr lang="en-IN" sz="2000" spc="-50" dirty="0">
                <a:solidFill>
                  <a:schemeClr val="tx1"/>
                </a:solidFill>
                <a:latin typeface="Arial"/>
                <a:cs typeface="Arial"/>
              </a:rPr>
              <a:t>towards </a:t>
            </a:r>
            <a:r>
              <a:rPr lang="en-IN" sz="2000" spc="-100" dirty="0">
                <a:solidFill>
                  <a:schemeClr val="tx1"/>
                </a:solidFill>
                <a:latin typeface="Arial"/>
                <a:cs typeface="Arial"/>
              </a:rPr>
              <a:t>easier</a:t>
            </a:r>
            <a:r>
              <a:rPr lang="en-IN" sz="2000" spc="-405" dirty="0">
                <a:solidFill>
                  <a:schemeClr val="tx1"/>
                </a:solidFill>
                <a:latin typeface="Arial"/>
                <a:cs typeface="Arial"/>
              </a:rPr>
              <a:t> </a:t>
            </a:r>
            <a:r>
              <a:rPr lang="en-IN" sz="2000" spc="-45" dirty="0">
                <a:solidFill>
                  <a:schemeClr val="tx1"/>
                </a:solidFill>
                <a:latin typeface="Arial"/>
                <a:cs typeface="Arial"/>
              </a:rPr>
              <a:t>programming.</a:t>
            </a:r>
            <a:endParaRPr lang="en-IN" sz="2000" spc="-45" dirty="0">
              <a:solidFill>
                <a:schemeClr val="tx1"/>
              </a:solidFill>
              <a:latin typeface="Trebuchet MS" panose="020B0603020202020204" pitchFamily="34" charset="0"/>
              <a:cs typeface="Arial"/>
            </a:endParaRPr>
          </a:p>
          <a:p>
            <a:pPr marL="273050" indent="-273050" defTabSz="1065213">
              <a:spcBef>
                <a:spcPts val="600"/>
              </a:spcBef>
              <a:spcAft>
                <a:spcPts val="600"/>
              </a:spcAft>
              <a:buFont typeface="Arial" panose="020B0604020202020204" pitchFamily="34" charset="0"/>
              <a:buChar char="•"/>
            </a:pPr>
            <a:r>
              <a:rPr lang="en-IN" sz="2000" spc="-90" dirty="0">
                <a:solidFill>
                  <a:schemeClr val="tx1"/>
                </a:solidFill>
              </a:rPr>
              <a:t>Similar to machine language, but use naturally understandable  symbols called “</a:t>
            </a:r>
            <a:r>
              <a:rPr lang="en-IN" sz="2000" b="1" spc="-90" dirty="0">
                <a:solidFill>
                  <a:schemeClr val="tx1"/>
                </a:solidFill>
              </a:rPr>
              <a:t>Mnemonics</a:t>
            </a:r>
            <a:r>
              <a:rPr lang="en-IN" sz="2000" spc="-90" dirty="0">
                <a:solidFill>
                  <a:schemeClr val="tx1"/>
                </a:solidFill>
              </a:rPr>
              <a:t>” for numeric instructions present in  the machine language.</a:t>
            </a:r>
          </a:p>
          <a:p>
            <a:pPr marL="273050" marR="0" lvl="0" indent="-273050" algn="l" defTabSz="914400" rtl="0" eaLnBrk="1" fontAlgn="auto" latinLnBrk="0" hangingPunct="1">
              <a:spcBef>
                <a:spcPts val="600"/>
              </a:spcBef>
              <a:spcAft>
                <a:spcPts val="600"/>
              </a:spcAft>
              <a:buClrTx/>
              <a:buSzTx/>
              <a:buFont typeface="Arial" panose="020B0604020202020204" pitchFamily="34" charset="0"/>
              <a:buChar char="•"/>
              <a:tabLst>
                <a:tab pos="195580" algn="l"/>
              </a:tabLst>
              <a:defRPr/>
            </a:pPr>
            <a:r>
              <a:rPr lang="en-IN" sz="2000" spc="-90" dirty="0">
                <a:solidFill>
                  <a:schemeClr val="tx1"/>
                </a:solidFill>
              </a:rPr>
              <a:t> </a:t>
            </a:r>
            <a:r>
              <a:rPr kumimoji="0" lang="en-IN" sz="2000" b="0" i="0" u="none" strike="noStrike" kern="1200" cap="none" spc="-85" normalizeH="0" baseline="0" noProof="0" dirty="0">
                <a:ln>
                  <a:noFill/>
                </a:ln>
                <a:solidFill>
                  <a:schemeClr val="tx1"/>
                </a:solidFill>
                <a:effectLst/>
                <a:uLnTx/>
                <a:uFillTx/>
                <a:latin typeface="Arial"/>
                <a:ea typeface="+mn-ea"/>
                <a:cs typeface="Arial"/>
              </a:rPr>
              <a:t>Example:</a:t>
            </a:r>
            <a:endParaRPr kumimoji="0" lang="en-IN" sz="2000" b="0" i="0" u="none" strike="noStrike" kern="1200" cap="none" spc="0" normalizeH="0" baseline="0" noProof="0" dirty="0">
              <a:ln>
                <a:noFill/>
              </a:ln>
              <a:solidFill>
                <a:schemeClr val="tx1"/>
              </a:solidFill>
              <a:effectLst/>
              <a:uLnTx/>
              <a:uFillTx/>
              <a:latin typeface="Arial"/>
              <a:ea typeface="+mn-ea"/>
              <a:cs typeface="Arial"/>
            </a:endParaRPr>
          </a:p>
          <a:p>
            <a:pPr marL="809625" lvl="1" indent="-273050">
              <a:spcBef>
                <a:spcPts val="600"/>
              </a:spcBef>
              <a:spcAft>
                <a:spcPts val="600"/>
              </a:spcAft>
              <a:buClrTx/>
              <a:tabLst>
                <a:tab pos="195580" algn="l"/>
              </a:tabLst>
              <a:defRPr/>
            </a:pPr>
            <a:r>
              <a:rPr kumimoji="0" lang="en-IN" sz="2000" b="1" i="0" u="none" strike="noStrike" kern="1200" cap="none" spc="-40" normalizeH="0" baseline="0" noProof="0" dirty="0">
                <a:ln>
                  <a:noFill/>
                </a:ln>
                <a:solidFill>
                  <a:srgbClr val="0070C0"/>
                </a:solidFill>
                <a:effectLst/>
                <a:uLnTx/>
                <a:uFillTx/>
                <a:latin typeface="Trebuchet MS"/>
                <a:ea typeface="+mn-ea"/>
                <a:cs typeface="Trebuchet MS"/>
              </a:rPr>
              <a:t>Load</a:t>
            </a:r>
            <a:r>
              <a:rPr kumimoji="0" lang="en-IN" sz="2000" b="1" i="0" u="none" strike="noStrike" kern="1200" cap="none" spc="-204" normalizeH="0" baseline="0" noProof="0" dirty="0">
                <a:ln>
                  <a:noFill/>
                </a:ln>
                <a:solidFill>
                  <a:srgbClr val="0070C0"/>
                </a:solidFill>
                <a:effectLst/>
                <a:uLnTx/>
                <a:uFillTx/>
                <a:latin typeface="Trebuchet MS"/>
                <a:ea typeface="+mn-ea"/>
                <a:cs typeface="Trebuchet MS"/>
              </a:rPr>
              <a:t> </a:t>
            </a:r>
            <a:r>
              <a:rPr kumimoji="0" lang="en-IN" sz="2000" b="1" i="0" u="none" strike="noStrike" kern="1200" cap="none" spc="-150" normalizeH="0" baseline="0" noProof="0" dirty="0">
                <a:ln>
                  <a:noFill/>
                </a:ln>
                <a:solidFill>
                  <a:srgbClr val="0070C0"/>
                </a:solidFill>
                <a:effectLst/>
                <a:uLnTx/>
                <a:uFillTx/>
                <a:latin typeface="Trebuchet MS"/>
                <a:ea typeface="+mn-ea"/>
                <a:cs typeface="Trebuchet MS"/>
              </a:rPr>
              <a:t>5,</a:t>
            </a:r>
            <a:r>
              <a:rPr kumimoji="0" lang="en-IN" sz="2000" b="1" i="0" u="none" strike="noStrike" kern="1200" cap="none" spc="-180" normalizeH="0" baseline="0" noProof="0" dirty="0">
                <a:ln>
                  <a:noFill/>
                </a:ln>
                <a:solidFill>
                  <a:srgbClr val="0070C0"/>
                </a:solidFill>
                <a:effectLst/>
                <a:uLnTx/>
                <a:uFillTx/>
                <a:latin typeface="Trebuchet MS"/>
                <a:ea typeface="+mn-ea"/>
                <a:cs typeface="Trebuchet MS"/>
              </a:rPr>
              <a:t> </a:t>
            </a:r>
            <a:r>
              <a:rPr kumimoji="0" lang="en-IN" sz="2000" b="1" i="0" u="none" strike="noStrike" kern="1200" cap="none" spc="-35" normalizeH="0" baseline="0" noProof="0" dirty="0">
                <a:ln>
                  <a:noFill/>
                </a:ln>
                <a:solidFill>
                  <a:srgbClr val="0070C0"/>
                </a:solidFill>
                <a:effectLst/>
                <a:uLnTx/>
                <a:uFillTx/>
                <a:latin typeface="Trebuchet MS"/>
                <a:ea typeface="+mn-ea"/>
                <a:cs typeface="Trebuchet MS"/>
              </a:rPr>
              <a:t>Load</a:t>
            </a:r>
            <a:r>
              <a:rPr kumimoji="0" lang="en-IN" sz="2000" b="1" i="0" u="none" strike="noStrike" kern="1200" cap="none" spc="-204" normalizeH="0" baseline="0" noProof="0" dirty="0">
                <a:ln>
                  <a:noFill/>
                </a:ln>
                <a:solidFill>
                  <a:srgbClr val="0070C0"/>
                </a:solidFill>
                <a:effectLst/>
                <a:uLnTx/>
                <a:uFillTx/>
                <a:latin typeface="Trebuchet MS"/>
                <a:ea typeface="+mn-ea"/>
                <a:cs typeface="Trebuchet MS"/>
              </a:rPr>
              <a:t> </a:t>
            </a:r>
            <a:r>
              <a:rPr kumimoji="0" lang="en-IN" sz="2000" b="1" i="0" u="none" strike="noStrike" kern="1200" cap="none" spc="-150" normalizeH="0" baseline="0" noProof="0" dirty="0">
                <a:ln>
                  <a:noFill/>
                </a:ln>
                <a:solidFill>
                  <a:srgbClr val="0070C0"/>
                </a:solidFill>
                <a:effectLst/>
                <a:uLnTx/>
                <a:uFillTx/>
                <a:latin typeface="Trebuchet MS"/>
                <a:ea typeface="+mn-ea"/>
                <a:cs typeface="Trebuchet MS"/>
              </a:rPr>
              <a:t>1,</a:t>
            </a:r>
            <a:r>
              <a:rPr kumimoji="0" lang="en-IN" sz="2000" b="1" i="0" u="none" strike="noStrike" kern="1200" cap="none" spc="-280" normalizeH="0" baseline="0" noProof="0" dirty="0">
                <a:ln>
                  <a:noFill/>
                </a:ln>
                <a:solidFill>
                  <a:srgbClr val="0070C0"/>
                </a:solidFill>
                <a:effectLst/>
                <a:uLnTx/>
                <a:uFillTx/>
                <a:latin typeface="Trebuchet MS"/>
                <a:ea typeface="+mn-ea"/>
                <a:cs typeface="Trebuchet MS"/>
              </a:rPr>
              <a:t> </a:t>
            </a:r>
            <a:r>
              <a:rPr kumimoji="0" lang="en-IN" sz="2000" b="1" i="0" u="none" strike="noStrike" kern="1200" cap="none" spc="-20" normalizeH="0" baseline="0" noProof="0" dirty="0">
                <a:ln>
                  <a:noFill/>
                </a:ln>
                <a:solidFill>
                  <a:srgbClr val="0070C0"/>
                </a:solidFill>
                <a:effectLst/>
                <a:uLnTx/>
                <a:uFillTx/>
                <a:latin typeface="Trebuchet MS"/>
                <a:ea typeface="+mn-ea"/>
                <a:cs typeface="Trebuchet MS"/>
              </a:rPr>
              <a:t>Add</a:t>
            </a:r>
            <a:endParaRPr kumimoji="0" lang="en-IN" sz="2000" b="0" i="0" u="none" strike="noStrike" kern="1200" cap="none" spc="0" normalizeH="0" baseline="0" noProof="0" dirty="0">
              <a:ln>
                <a:noFill/>
              </a:ln>
              <a:solidFill>
                <a:srgbClr val="0070C0"/>
              </a:solidFill>
              <a:effectLst/>
              <a:uLnTx/>
              <a:uFillTx/>
              <a:latin typeface="Trebuchet MS"/>
              <a:ea typeface="+mn-ea"/>
              <a:cs typeface="Trebuchet MS"/>
            </a:endParaRPr>
          </a:p>
          <a:p>
            <a:pPr marL="809625" lvl="1" indent="-273050">
              <a:spcBef>
                <a:spcPts val="600"/>
              </a:spcBef>
              <a:spcAft>
                <a:spcPts val="600"/>
              </a:spcAft>
              <a:buClrTx/>
              <a:defRPr/>
            </a:pPr>
            <a:r>
              <a:rPr kumimoji="0" lang="en-IN" sz="2000" b="1" i="0" u="none" strike="noStrike" kern="1200" cap="none" spc="-155" normalizeH="0" baseline="0" noProof="0" dirty="0">
                <a:ln>
                  <a:noFill/>
                </a:ln>
                <a:solidFill>
                  <a:srgbClr val="0070C0"/>
                </a:solidFill>
                <a:effectLst/>
                <a:uLnTx/>
                <a:uFillTx/>
                <a:latin typeface="Trebuchet MS"/>
                <a:ea typeface="+mn-ea"/>
                <a:cs typeface="Trebuchet MS"/>
              </a:rPr>
              <a:t>ADD 1001010,</a:t>
            </a:r>
            <a:r>
              <a:rPr kumimoji="0" lang="en-IN" sz="2000" b="1" i="0" u="none" strike="noStrike" kern="1200" cap="none" spc="-50" normalizeH="0" baseline="0" noProof="0" dirty="0">
                <a:ln>
                  <a:noFill/>
                </a:ln>
                <a:solidFill>
                  <a:srgbClr val="0070C0"/>
                </a:solidFill>
                <a:effectLst/>
                <a:uLnTx/>
                <a:uFillTx/>
                <a:latin typeface="Trebuchet MS"/>
                <a:ea typeface="+mn-ea"/>
                <a:cs typeface="Trebuchet MS"/>
              </a:rPr>
              <a:t> </a:t>
            </a:r>
            <a:r>
              <a:rPr kumimoji="0" lang="en-IN" sz="2000" b="1" i="0" u="none" strike="noStrike" kern="1200" cap="none" spc="-170" normalizeH="0" baseline="0" noProof="0" dirty="0">
                <a:ln>
                  <a:noFill/>
                </a:ln>
                <a:solidFill>
                  <a:srgbClr val="0070C0"/>
                </a:solidFill>
                <a:effectLst/>
                <a:uLnTx/>
                <a:uFillTx/>
                <a:latin typeface="Trebuchet MS"/>
                <a:ea typeface="+mn-ea"/>
                <a:cs typeface="Trebuchet MS"/>
              </a:rPr>
              <a:t>1011010</a:t>
            </a:r>
            <a:endParaRPr kumimoji="0" lang="en-IN" sz="2000" b="0" i="0" u="none" strike="noStrike" kern="1200" cap="none" spc="0" normalizeH="0" baseline="0" noProof="0" dirty="0">
              <a:ln>
                <a:noFill/>
              </a:ln>
              <a:solidFill>
                <a:srgbClr val="0070C0"/>
              </a:solidFill>
              <a:effectLst/>
              <a:uLnTx/>
              <a:uFillTx/>
              <a:latin typeface="Trebuchet MS"/>
              <a:ea typeface="+mn-ea"/>
              <a:cs typeface="Trebuchet MS"/>
            </a:endParaRPr>
          </a:p>
          <a:p>
            <a:pPr marL="273050" marR="0" lvl="0" indent="-273050" algn="l" defTabSz="914400" rtl="0" eaLnBrk="1" fontAlgn="auto" latinLnBrk="0" hangingPunct="1">
              <a:spcBef>
                <a:spcPts val="600"/>
              </a:spcBef>
              <a:spcAft>
                <a:spcPts val="600"/>
              </a:spcAft>
              <a:buClrTx/>
              <a:buSzTx/>
              <a:buFont typeface="Arial" panose="020B0604020202020204" pitchFamily="34" charset="0"/>
              <a:buChar char="•"/>
              <a:tabLst>
                <a:tab pos="195580" algn="l"/>
              </a:tabLst>
              <a:defRPr/>
            </a:pPr>
            <a:r>
              <a:rPr kumimoji="0" lang="en-IN" sz="2000" b="0" i="0" u="none" strike="noStrike" kern="1200" cap="none" spc="25" normalizeH="0" baseline="0" noProof="0" dirty="0">
                <a:ln>
                  <a:noFill/>
                </a:ln>
                <a:solidFill>
                  <a:schemeClr val="tx1"/>
                </a:solidFill>
                <a:effectLst/>
                <a:uLnTx/>
                <a:uFillTx/>
                <a:latin typeface="Arial"/>
                <a:ea typeface="+mn-ea"/>
                <a:cs typeface="Arial"/>
              </a:rPr>
              <a:t>It </a:t>
            </a:r>
            <a:r>
              <a:rPr kumimoji="0" lang="en-IN" sz="2000" b="0" i="0" u="none" strike="noStrike" kern="1200" cap="none" spc="-65" normalizeH="0" baseline="0" noProof="0" dirty="0">
                <a:ln>
                  <a:noFill/>
                </a:ln>
                <a:solidFill>
                  <a:schemeClr val="tx1"/>
                </a:solidFill>
                <a:effectLst/>
                <a:uLnTx/>
                <a:uFillTx/>
                <a:latin typeface="Arial"/>
                <a:ea typeface="+mn-ea"/>
                <a:cs typeface="Arial"/>
              </a:rPr>
              <a:t>works </a:t>
            </a:r>
            <a:r>
              <a:rPr kumimoji="0" lang="en-IN" sz="2000" b="0" i="0" u="none" strike="noStrike" kern="1200" cap="none" spc="-30" normalizeH="0" baseline="0" noProof="0" dirty="0">
                <a:ln>
                  <a:noFill/>
                </a:ln>
                <a:solidFill>
                  <a:schemeClr val="tx1"/>
                </a:solidFill>
                <a:effectLst/>
                <a:uLnTx/>
                <a:uFillTx/>
                <a:latin typeface="Arial"/>
                <a:ea typeface="+mn-ea"/>
                <a:cs typeface="Arial"/>
              </a:rPr>
              <a:t>directly </a:t>
            </a:r>
            <a:r>
              <a:rPr kumimoji="0" lang="en-IN" sz="2000" b="0" i="0" u="none" strike="noStrike" kern="1200" cap="none" spc="15" normalizeH="0" baseline="0" noProof="0" dirty="0">
                <a:ln>
                  <a:noFill/>
                </a:ln>
                <a:solidFill>
                  <a:schemeClr val="tx1"/>
                </a:solidFill>
                <a:effectLst/>
                <a:uLnTx/>
                <a:uFillTx/>
                <a:latin typeface="Arial"/>
                <a:ea typeface="+mn-ea"/>
                <a:cs typeface="Arial"/>
              </a:rPr>
              <a:t>with</a:t>
            </a:r>
            <a:r>
              <a:rPr kumimoji="0" lang="en-IN" sz="2000" b="0" i="0" u="none" strike="noStrike" kern="1200" cap="none" spc="-425" normalizeH="0" baseline="0" noProof="0" dirty="0">
                <a:ln>
                  <a:noFill/>
                </a:ln>
                <a:solidFill>
                  <a:schemeClr val="tx1"/>
                </a:solidFill>
                <a:effectLst/>
                <a:uLnTx/>
                <a:uFillTx/>
                <a:latin typeface="Arial"/>
                <a:ea typeface="+mn-ea"/>
                <a:cs typeface="Arial"/>
              </a:rPr>
              <a:t> </a:t>
            </a:r>
            <a:r>
              <a:rPr kumimoji="0" lang="en-IN" sz="2000" b="0" i="0" u="none" strike="noStrike" kern="1200" cap="none" spc="-75" normalizeH="0" baseline="0" noProof="0" dirty="0">
                <a:ln>
                  <a:noFill/>
                </a:ln>
                <a:solidFill>
                  <a:schemeClr val="tx1"/>
                </a:solidFill>
                <a:effectLst/>
                <a:uLnTx/>
                <a:uFillTx/>
                <a:latin typeface="Arial"/>
                <a:ea typeface="+mn-ea"/>
                <a:cs typeface="Arial"/>
              </a:rPr>
              <a:t>microprocessor. </a:t>
            </a:r>
          </a:p>
          <a:p>
            <a:pPr marL="273050" marR="0" lvl="0" indent="-273050" algn="l" defTabSz="914400" rtl="0" eaLnBrk="1" fontAlgn="auto" latinLnBrk="0" hangingPunct="1">
              <a:spcBef>
                <a:spcPts val="600"/>
              </a:spcBef>
              <a:spcAft>
                <a:spcPts val="600"/>
              </a:spcAft>
              <a:buClrTx/>
              <a:buSzTx/>
              <a:buFont typeface="Arial" panose="020B0604020202020204" pitchFamily="34" charset="0"/>
              <a:buChar char="•"/>
              <a:tabLst>
                <a:tab pos="195580" algn="l"/>
              </a:tabLst>
              <a:defRPr/>
            </a:pPr>
            <a:r>
              <a:rPr kumimoji="0" lang="en-IN" sz="2000" b="0" i="0" u="none" strike="noStrike" kern="1200" cap="none" spc="-85" normalizeH="0" baseline="0" noProof="0" dirty="0">
                <a:ln>
                  <a:noFill/>
                </a:ln>
                <a:solidFill>
                  <a:schemeClr val="tx1"/>
                </a:solidFill>
                <a:effectLst/>
                <a:uLnTx/>
                <a:uFillTx/>
                <a:latin typeface="Arial"/>
                <a:ea typeface="+mn-ea"/>
                <a:cs typeface="Arial"/>
              </a:rPr>
              <a:t>Assembly</a:t>
            </a:r>
            <a:r>
              <a:rPr kumimoji="0" lang="en-IN" sz="2000" b="0" i="0" u="none" strike="noStrike" kern="1200" cap="none" spc="-100" normalizeH="0" baseline="0" noProof="0" dirty="0">
                <a:ln>
                  <a:noFill/>
                </a:ln>
                <a:solidFill>
                  <a:schemeClr val="tx1"/>
                </a:solidFill>
                <a:effectLst/>
                <a:uLnTx/>
                <a:uFillTx/>
                <a:latin typeface="Arial"/>
                <a:ea typeface="+mn-ea"/>
                <a:cs typeface="Arial"/>
              </a:rPr>
              <a:t> </a:t>
            </a:r>
            <a:r>
              <a:rPr kumimoji="0" lang="en-IN" sz="2000" b="0" i="0" u="none" strike="noStrike" kern="1200" cap="none" spc="-85" normalizeH="0" baseline="0" noProof="0" dirty="0">
                <a:ln>
                  <a:noFill/>
                </a:ln>
                <a:solidFill>
                  <a:schemeClr val="tx1"/>
                </a:solidFill>
                <a:effectLst/>
                <a:uLnTx/>
                <a:uFillTx/>
                <a:latin typeface="Arial"/>
                <a:ea typeface="+mn-ea"/>
                <a:cs typeface="Arial"/>
              </a:rPr>
              <a:t>language</a:t>
            </a:r>
            <a:r>
              <a:rPr kumimoji="0" lang="en-IN" sz="2000" b="0" i="0" u="none" strike="noStrike" kern="1200" cap="none" spc="-165" normalizeH="0" baseline="0" noProof="0" dirty="0">
                <a:ln>
                  <a:noFill/>
                </a:ln>
                <a:solidFill>
                  <a:schemeClr val="tx1"/>
                </a:solidFill>
                <a:effectLst/>
                <a:uLnTx/>
                <a:uFillTx/>
                <a:latin typeface="Arial"/>
                <a:ea typeface="+mn-ea"/>
                <a:cs typeface="Arial"/>
              </a:rPr>
              <a:t> </a:t>
            </a:r>
            <a:r>
              <a:rPr kumimoji="0" lang="en-IN" sz="2000" b="0" i="0" u="none" strike="noStrike" kern="1200" cap="none" spc="-95" normalizeH="0" baseline="0" noProof="0" dirty="0">
                <a:ln>
                  <a:noFill/>
                </a:ln>
                <a:solidFill>
                  <a:schemeClr val="tx1"/>
                </a:solidFill>
                <a:effectLst/>
                <a:uLnTx/>
                <a:uFillTx/>
                <a:latin typeface="Arial"/>
                <a:ea typeface="+mn-ea"/>
                <a:cs typeface="Arial"/>
              </a:rPr>
              <a:t>code</a:t>
            </a:r>
            <a:r>
              <a:rPr kumimoji="0" lang="en-IN" sz="2000" b="0" i="0" u="none" strike="noStrike" kern="1200" cap="none" spc="-105" normalizeH="0" baseline="0" noProof="0" dirty="0">
                <a:ln>
                  <a:noFill/>
                </a:ln>
                <a:solidFill>
                  <a:schemeClr val="tx1"/>
                </a:solidFill>
                <a:effectLst/>
                <a:uLnTx/>
                <a:uFillTx/>
                <a:latin typeface="Arial"/>
                <a:ea typeface="+mn-ea"/>
                <a:cs typeface="Arial"/>
              </a:rPr>
              <a:t> </a:t>
            </a:r>
            <a:r>
              <a:rPr kumimoji="0" lang="en-IN" sz="2000" b="0" i="0" u="none" strike="noStrike" kern="1200" cap="none" spc="-120" normalizeH="0" baseline="0" noProof="0" dirty="0">
                <a:ln>
                  <a:noFill/>
                </a:ln>
                <a:solidFill>
                  <a:schemeClr val="tx1"/>
                </a:solidFill>
                <a:effectLst/>
                <a:uLnTx/>
                <a:uFillTx/>
                <a:latin typeface="Arial"/>
                <a:ea typeface="+mn-ea"/>
                <a:cs typeface="Arial"/>
              </a:rPr>
              <a:t>needs </a:t>
            </a:r>
            <a:r>
              <a:rPr kumimoji="0" lang="en-IN" sz="2000" b="0" i="0" u="none" strike="noStrike" kern="1200" cap="none" spc="40" normalizeH="0" baseline="0" noProof="0" dirty="0">
                <a:ln>
                  <a:noFill/>
                </a:ln>
                <a:solidFill>
                  <a:schemeClr val="tx1"/>
                </a:solidFill>
                <a:effectLst/>
                <a:uLnTx/>
                <a:uFillTx/>
                <a:latin typeface="Arial"/>
                <a:ea typeface="+mn-ea"/>
                <a:cs typeface="Arial"/>
              </a:rPr>
              <a:t>to</a:t>
            </a:r>
            <a:r>
              <a:rPr kumimoji="0" lang="en-IN" sz="2000" b="0" i="0" u="none" strike="noStrike" kern="1200" cap="none" spc="-150" normalizeH="0" baseline="0" noProof="0" dirty="0">
                <a:ln>
                  <a:noFill/>
                </a:ln>
                <a:solidFill>
                  <a:schemeClr val="tx1"/>
                </a:solidFill>
                <a:effectLst/>
                <a:uLnTx/>
                <a:uFillTx/>
                <a:latin typeface="Arial"/>
                <a:ea typeface="+mn-ea"/>
                <a:cs typeface="Arial"/>
              </a:rPr>
              <a:t> </a:t>
            </a:r>
            <a:r>
              <a:rPr kumimoji="0" lang="en-IN" sz="2000" b="0" i="0" u="none" strike="noStrike" kern="1200" cap="none" spc="-90" normalizeH="0" baseline="0" noProof="0" dirty="0">
                <a:ln>
                  <a:noFill/>
                </a:ln>
                <a:solidFill>
                  <a:schemeClr val="tx1"/>
                </a:solidFill>
                <a:effectLst/>
                <a:uLnTx/>
                <a:uFillTx/>
                <a:latin typeface="Arial"/>
                <a:ea typeface="+mn-ea"/>
                <a:cs typeface="Arial"/>
              </a:rPr>
              <a:t>be</a:t>
            </a:r>
            <a:r>
              <a:rPr kumimoji="0" lang="en-IN" sz="2000" b="0" i="0" u="none" strike="noStrike" kern="1200" cap="none" spc="-135" normalizeH="0" baseline="0" noProof="0" dirty="0">
                <a:ln>
                  <a:noFill/>
                </a:ln>
                <a:solidFill>
                  <a:schemeClr val="tx1"/>
                </a:solidFill>
                <a:effectLst/>
                <a:uLnTx/>
                <a:uFillTx/>
                <a:latin typeface="Arial"/>
                <a:ea typeface="+mn-ea"/>
                <a:cs typeface="Arial"/>
              </a:rPr>
              <a:t> </a:t>
            </a:r>
            <a:r>
              <a:rPr kumimoji="0" lang="en-IN" sz="2000" b="1" i="0" u="none" strike="noStrike" kern="1200" cap="none" spc="-45" normalizeH="0" baseline="0" noProof="0" dirty="0">
                <a:ln>
                  <a:noFill/>
                </a:ln>
                <a:solidFill>
                  <a:schemeClr val="tx1"/>
                </a:solidFill>
                <a:effectLst/>
                <a:uLnTx/>
                <a:uFillTx/>
                <a:latin typeface="Arial"/>
                <a:ea typeface="+mn-ea"/>
                <a:cs typeface="Arial"/>
              </a:rPr>
              <a:t>translated</a:t>
            </a:r>
            <a:r>
              <a:rPr kumimoji="0" lang="en-IN" sz="2000" b="1" i="0" u="none" strike="noStrike" kern="1200" cap="none" spc="-140" normalizeH="0" baseline="0" noProof="0" dirty="0">
                <a:ln>
                  <a:noFill/>
                </a:ln>
                <a:solidFill>
                  <a:schemeClr val="tx1"/>
                </a:solidFill>
                <a:effectLst/>
                <a:uLnTx/>
                <a:uFillTx/>
                <a:latin typeface="Arial"/>
                <a:ea typeface="+mn-ea"/>
                <a:cs typeface="Arial"/>
              </a:rPr>
              <a:t> </a:t>
            </a:r>
            <a:r>
              <a:rPr kumimoji="0" lang="en-IN" sz="2000" b="1" i="0" u="none" strike="noStrike" kern="1200" cap="none" spc="40" normalizeH="0" baseline="0" noProof="0" dirty="0">
                <a:ln>
                  <a:noFill/>
                </a:ln>
                <a:solidFill>
                  <a:schemeClr val="tx1"/>
                </a:solidFill>
                <a:effectLst/>
                <a:uLnTx/>
                <a:uFillTx/>
                <a:latin typeface="Arial"/>
                <a:ea typeface="+mn-ea"/>
                <a:cs typeface="Arial"/>
              </a:rPr>
              <a:t>to</a:t>
            </a:r>
            <a:r>
              <a:rPr kumimoji="0" lang="en-IN" sz="2000" b="1" i="0" u="none" strike="noStrike" kern="1200" cap="none" spc="-155" normalizeH="0" baseline="0" noProof="0" dirty="0">
                <a:ln>
                  <a:noFill/>
                </a:ln>
                <a:solidFill>
                  <a:schemeClr val="tx1"/>
                </a:solidFill>
                <a:effectLst/>
                <a:uLnTx/>
                <a:uFillTx/>
                <a:latin typeface="Arial"/>
                <a:ea typeface="+mn-ea"/>
                <a:cs typeface="Arial"/>
              </a:rPr>
              <a:t> </a:t>
            </a:r>
            <a:r>
              <a:rPr kumimoji="0" lang="en-IN" sz="2000" b="1" i="0" u="none" strike="noStrike" kern="1200" cap="none" spc="-80" normalizeH="0" baseline="0" noProof="0" dirty="0">
                <a:ln>
                  <a:noFill/>
                </a:ln>
                <a:solidFill>
                  <a:schemeClr val="tx1"/>
                </a:solidFill>
                <a:effectLst/>
                <a:uLnTx/>
                <a:uFillTx/>
                <a:latin typeface="Arial"/>
                <a:ea typeface="+mn-ea"/>
                <a:cs typeface="Arial"/>
              </a:rPr>
              <a:t>machine language</a:t>
            </a:r>
            <a:r>
              <a:rPr kumimoji="0" lang="en-IN" sz="2000" b="0" i="0" u="none" strike="noStrike" kern="1200" cap="none" spc="-80" normalizeH="0" baseline="0" noProof="0" dirty="0">
                <a:ln>
                  <a:noFill/>
                </a:ln>
                <a:solidFill>
                  <a:schemeClr val="tx1"/>
                </a:solidFill>
                <a:effectLst/>
                <a:uLnTx/>
                <a:uFillTx/>
                <a:latin typeface="Arial"/>
                <a:ea typeface="+mn-ea"/>
                <a:cs typeface="Arial"/>
              </a:rPr>
              <a:t> </a:t>
            </a:r>
            <a:r>
              <a:rPr kumimoji="0" lang="en-IN" sz="2000" b="0" i="0" u="none" strike="noStrike" kern="1200" cap="none" spc="-55" normalizeH="0" baseline="0" noProof="0" dirty="0">
                <a:ln>
                  <a:noFill/>
                </a:ln>
                <a:solidFill>
                  <a:schemeClr val="tx1"/>
                </a:solidFill>
                <a:effectLst/>
                <a:uLnTx/>
                <a:uFillTx/>
                <a:latin typeface="Arial"/>
                <a:ea typeface="+mn-ea"/>
                <a:cs typeface="Arial"/>
              </a:rPr>
              <a:t>before </a:t>
            </a:r>
            <a:r>
              <a:rPr kumimoji="0" lang="en-IN" sz="2000" b="0" i="0" u="none" strike="noStrike" kern="1200" cap="none" spc="-20" normalizeH="0" baseline="0" noProof="0" dirty="0">
                <a:ln>
                  <a:noFill/>
                </a:ln>
                <a:solidFill>
                  <a:schemeClr val="tx1"/>
                </a:solidFill>
                <a:effectLst/>
                <a:uLnTx/>
                <a:uFillTx/>
                <a:latin typeface="Arial"/>
                <a:ea typeface="+mn-ea"/>
                <a:cs typeface="Arial"/>
              </a:rPr>
              <a:t>the </a:t>
            </a:r>
            <a:r>
              <a:rPr kumimoji="0" lang="en-IN" sz="2000" b="0" i="0" u="none" strike="noStrike" kern="1200" cap="none" spc="-45" normalizeH="0" baseline="0" noProof="0" dirty="0">
                <a:ln>
                  <a:noFill/>
                </a:ln>
                <a:solidFill>
                  <a:schemeClr val="tx1"/>
                </a:solidFill>
                <a:effectLst/>
                <a:uLnTx/>
                <a:uFillTx/>
                <a:latin typeface="Arial"/>
                <a:ea typeface="+mn-ea"/>
                <a:cs typeface="Arial"/>
              </a:rPr>
              <a:t>computer </a:t>
            </a:r>
            <a:r>
              <a:rPr kumimoji="0" lang="en-IN" sz="2000" b="0" i="0" u="none" strike="noStrike" kern="1200" cap="none" spc="-125" normalizeH="0" baseline="0" noProof="0" dirty="0">
                <a:ln>
                  <a:noFill/>
                </a:ln>
                <a:solidFill>
                  <a:schemeClr val="tx1"/>
                </a:solidFill>
                <a:effectLst/>
                <a:uLnTx/>
                <a:uFillTx/>
                <a:latin typeface="Arial"/>
                <a:ea typeface="+mn-ea"/>
                <a:cs typeface="Arial"/>
              </a:rPr>
              <a:t>processes</a:t>
            </a:r>
            <a:r>
              <a:rPr kumimoji="0" lang="en-IN" sz="2000" b="0" i="0" u="none" strike="noStrike" kern="1200" cap="none" spc="-390" normalizeH="0" baseline="0" noProof="0" dirty="0">
                <a:ln>
                  <a:noFill/>
                </a:ln>
                <a:solidFill>
                  <a:schemeClr val="tx1"/>
                </a:solidFill>
                <a:effectLst/>
                <a:uLnTx/>
                <a:uFillTx/>
                <a:latin typeface="Arial"/>
                <a:ea typeface="+mn-ea"/>
                <a:cs typeface="Arial"/>
              </a:rPr>
              <a:t>  </a:t>
            </a:r>
            <a:r>
              <a:rPr kumimoji="0" lang="en-IN" sz="2000" b="0" i="0" u="none" strike="noStrike" kern="1200" cap="none" spc="50" normalizeH="0" baseline="0" noProof="0" dirty="0">
                <a:ln>
                  <a:noFill/>
                </a:ln>
                <a:solidFill>
                  <a:schemeClr val="tx1"/>
                </a:solidFill>
                <a:effectLst/>
                <a:uLnTx/>
                <a:uFillTx/>
                <a:latin typeface="Arial"/>
                <a:ea typeface="+mn-ea"/>
                <a:cs typeface="Arial"/>
              </a:rPr>
              <a:t>it.</a:t>
            </a:r>
            <a:endParaRPr kumimoji="0" lang="en-IN" sz="2000" b="0" i="0" u="none" strike="noStrike" kern="1200" cap="none" spc="0" normalizeH="0" baseline="0" noProof="0" dirty="0">
              <a:ln>
                <a:noFill/>
              </a:ln>
              <a:solidFill>
                <a:schemeClr val="tx1"/>
              </a:solidFill>
              <a:effectLst/>
              <a:uLnTx/>
              <a:uFillTx/>
              <a:latin typeface="Arial"/>
              <a:ea typeface="+mn-ea"/>
              <a:cs typeface="Arial"/>
            </a:endParaRPr>
          </a:p>
          <a:p>
            <a:pPr marL="273050" marR="0" lvl="0" indent="-273050" algn="l" defTabSz="914400" rtl="0" eaLnBrk="1" fontAlgn="auto" latinLnBrk="0" hangingPunct="1">
              <a:spcBef>
                <a:spcPts val="600"/>
              </a:spcBef>
              <a:spcAft>
                <a:spcPts val="600"/>
              </a:spcAft>
              <a:buClrTx/>
              <a:buSzTx/>
              <a:buFont typeface="Arial" panose="020B0604020202020204" pitchFamily="34" charset="0"/>
              <a:buChar char="•"/>
              <a:tabLst>
                <a:tab pos="195580" algn="l"/>
              </a:tabLst>
              <a:defRPr/>
            </a:pPr>
            <a:r>
              <a:rPr kumimoji="0" lang="en-IN" sz="2000" b="0" i="0" u="none" strike="noStrike" kern="1200" cap="none" spc="-85" normalizeH="0" baseline="0" noProof="0" dirty="0">
                <a:ln>
                  <a:noFill/>
                </a:ln>
                <a:solidFill>
                  <a:schemeClr val="tx1"/>
                </a:solidFill>
                <a:effectLst/>
                <a:uLnTx/>
                <a:uFillTx/>
                <a:latin typeface="Arial"/>
                <a:ea typeface="+mn-ea"/>
                <a:cs typeface="Arial"/>
              </a:rPr>
              <a:t>Assembly</a:t>
            </a:r>
            <a:r>
              <a:rPr kumimoji="0" lang="en-IN" sz="2000" b="0" i="0" u="none" strike="noStrike" kern="1200" cap="none" spc="-100" normalizeH="0" baseline="0" noProof="0" dirty="0">
                <a:ln>
                  <a:noFill/>
                </a:ln>
                <a:solidFill>
                  <a:schemeClr val="tx1"/>
                </a:solidFill>
                <a:effectLst/>
                <a:uLnTx/>
                <a:uFillTx/>
                <a:latin typeface="Arial"/>
                <a:ea typeface="+mn-ea"/>
                <a:cs typeface="Arial"/>
              </a:rPr>
              <a:t> </a:t>
            </a:r>
            <a:r>
              <a:rPr kumimoji="0" lang="en-IN" sz="2000" b="0" i="0" u="none" strike="noStrike" kern="1200" cap="none" spc="-85" normalizeH="0" baseline="0" noProof="0" dirty="0">
                <a:ln>
                  <a:noFill/>
                </a:ln>
                <a:solidFill>
                  <a:schemeClr val="tx1"/>
                </a:solidFill>
                <a:effectLst/>
                <a:uLnTx/>
                <a:uFillTx/>
                <a:latin typeface="Arial"/>
                <a:ea typeface="+mn-ea"/>
                <a:cs typeface="Arial"/>
              </a:rPr>
              <a:t>language</a:t>
            </a:r>
            <a:r>
              <a:rPr kumimoji="0" lang="en-IN" sz="2000" b="0" i="0" u="none" strike="noStrike" kern="1200" cap="none" spc="-165" normalizeH="0" baseline="0" noProof="0" dirty="0">
                <a:ln>
                  <a:noFill/>
                </a:ln>
                <a:solidFill>
                  <a:schemeClr val="tx1"/>
                </a:solidFill>
                <a:effectLst/>
                <a:uLnTx/>
                <a:uFillTx/>
                <a:latin typeface="Arial"/>
                <a:ea typeface="+mn-ea"/>
                <a:cs typeface="Arial"/>
              </a:rPr>
              <a:t> </a:t>
            </a:r>
            <a:r>
              <a:rPr kumimoji="0" lang="en-IN" sz="2000" b="0" i="0" u="none" strike="noStrike" kern="1200" cap="none" spc="-95" normalizeH="0" baseline="0" noProof="0" dirty="0">
                <a:ln>
                  <a:noFill/>
                </a:ln>
                <a:solidFill>
                  <a:schemeClr val="tx1"/>
                </a:solidFill>
                <a:effectLst/>
                <a:uLnTx/>
                <a:uFillTx/>
                <a:latin typeface="Arial"/>
                <a:ea typeface="+mn-ea"/>
                <a:cs typeface="Arial"/>
              </a:rPr>
              <a:t>is</a:t>
            </a:r>
            <a:r>
              <a:rPr kumimoji="0" lang="en-IN" sz="2000" b="0" i="0" u="none" strike="noStrike" kern="1200" cap="none" spc="-120" normalizeH="0" baseline="0" noProof="0" dirty="0">
                <a:ln>
                  <a:noFill/>
                </a:ln>
                <a:solidFill>
                  <a:schemeClr val="tx1"/>
                </a:solidFill>
                <a:effectLst/>
                <a:uLnTx/>
                <a:uFillTx/>
                <a:latin typeface="Arial"/>
                <a:ea typeface="+mn-ea"/>
                <a:cs typeface="Arial"/>
              </a:rPr>
              <a:t> </a:t>
            </a:r>
            <a:r>
              <a:rPr kumimoji="0" lang="en-IN" sz="2000" b="1" i="0" u="none" strike="noStrike" kern="1200" cap="none" spc="-85" normalizeH="0" baseline="0" noProof="0" dirty="0">
                <a:ln>
                  <a:noFill/>
                </a:ln>
                <a:solidFill>
                  <a:schemeClr val="tx1"/>
                </a:solidFill>
                <a:effectLst/>
                <a:uLnTx/>
                <a:uFillTx/>
                <a:latin typeface="Trebuchet MS"/>
                <a:ea typeface="+mn-ea"/>
                <a:cs typeface="Trebuchet MS"/>
              </a:rPr>
              <a:t>intermediate</a:t>
            </a:r>
            <a:r>
              <a:rPr kumimoji="0" lang="en-IN" sz="2000" b="1" i="0" u="none" strike="noStrike" kern="1200" cap="none" spc="-185" normalizeH="0" baseline="0" noProof="0" dirty="0">
                <a:ln>
                  <a:noFill/>
                </a:ln>
                <a:solidFill>
                  <a:schemeClr val="tx1"/>
                </a:solidFill>
                <a:effectLst/>
                <a:uLnTx/>
                <a:uFillTx/>
                <a:latin typeface="Trebuchet MS"/>
                <a:ea typeface="+mn-ea"/>
                <a:cs typeface="Trebuchet MS"/>
              </a:rPr>
              <a:t> </a:t>
            </a:r>
            <a:r>
              <a:rPr kumimoji="0" lang="en-IN" sz="2000" b="0" i="0" u="none" strike="noStrike" kern="1200" cap="none" spc="-60" normalizeH="0" baseline="0" noProof="0" dirty="0">
                <a:ln>
                  <a:noFill/>
                </a:ln>
                <a:solidFill>
                  <a:schemeClr val="tx1"/>
                </a:solidFill>
                <a:effectLst/>
                <a:uLnTx/>
                <a:uFillTx/>
                <a:latin typeface="Arial"/>
                <a:ea typeface="+mn-ea"/>
                <a:cs typeface="Arial"/>
              </a:rPr>
              <a:t>between</a:t>
            </a:r>
            <a:r>
              <a:rPr kumimoji="0" lang="en-IN" sz="2000" b="0" i="0" u="none" strike="noStrike" kern="1200" cap="none" spc="-75" normalizeH="0" baseline="0" noProof="0" dirty="0">
                <a:ln>
                  <a:noFill/>
                </a:ln>
                <a:solidFill>
                  <a:schemeClr val="tx1"/>
                </a:solidFill>
                <a:effectLst/>
                <a:uLnTx/>
                <a:uFillTx/>
                <a:latin typeface="Arial"/>
                <a:ea typeface="+mn-ea"/>
                <a:cs typeface="Arial"/>
              </a:rPr>
              <a:t> </a:t>
            </a:r>
            <a:r>
              <a:rPr kumimoji="0" lang="en-IN" sz="2000" b="0" i="0" u="none" strike="noStrike" kern="1200" cap="none" spc="-40" normalizeH="0" baseline="0" noProof="0" dirty="0">
                <a:ln>
                  <a:noFill/>
                </a:ln>
                <a:solidFill>
                  <a:schemeClr val="tx1"/>
                </a:solidFill>
                <a:effectLst/>
                <a:uLnTx/>
                <a:uFillTx/>
                <a:latin typeface="Arial"/>
                <a:ea typeface="+mn-ea"/>
                <a:cs typeface="Arial"/>
              </a:rPr>
              <a:t>high</a:t>
            </a:r>
            <a:r>
              <a:rPr kumimoji="0" lang="en-IN" sz="2000" b="0" i="0" u="none" strike="noStrike" kern="1200" cap="none" spc="-130" normalizeH="0" baseline="0" noProof="0" dirty="0">
                <a:ln>
                  <a:noFill/>
                </a:ln>
                <a:solidFill>
                  <a:schemeClr val="tx1"/>
                </a:solidFill>
                <a:effectLst/>
                <a:uLnTx/>
                <a:uFillTx/>
                <a:latin typeface="Arial"/>
                <a:ea typeface="+mn-ea"/>
                <a:cs typeface="Arial"/>
              </a:rPr>
              <a:t> </a:t>
            </a:r>
            <a:r>
              <a:rPr kumimoji="0" lang="en-IN" sz="2000" b="0" i="0" u="none" strike="noStrike" kern="1200" cap="none" spc="-65" normalizeH="0" baseline="0" noProof="0" dirty="0">
                <a:ln>
                  <a:noFill/>
                </a:ln>
                <a:solidFill>
                  <a:schemeClr val="tx1"/>
                </a:solidFill>
                <a:effectLst/>
                <a:uLnTx/>
                <a:uFillTx/>
                <a:latin typeface="Arial"/>
                <a:ea typeface="+mn-ea"/>
                <a:cs typeface="Arial"/>
              </a:rPr>
              <a:t>level</a:t>
            </a:r>
            <a:r>
              <a:rPr kumimoji="0" lang="en-IN" sz="2000" b="0" i="0" u="none" strike="noStrike" kern="1200" cap="none" spc="-135" normalizeH="0" baseline="0" noProof="0" dirty="0">
                <a:ln>
                  <a:noFill/>
                </a:ln>
                <a:solidFill>
                  <a:schemeClr val="tx1"/>
                </a:solidFill>
                <a:effectLst/>
                <a:uLnTx/>
                <a:uFillTx/>
                <a:latin typeface="Arial"/>
                <a:ea typeface="+mn-ea"/>
                <a:cs typeface="Arial"/>
              </a:rPr>
              <a:t> </a:t>
            </a:r>
            <a:r>
              <a:rPr kumimoji="0" lang="en-IN" sz="2000" b="0" i="0" u="none" strike="noStrike" kern="1200" cap="none" spc="-85" normalizeH="0" baseline="0" noProof="0" dirty="0">
                <a:ln>
                  <a:noFill/>
                </a:ln>
                <a:solidFill>
                  <a:schemeClr val="tx1"/>
                </a:solidFill>
                <a:effectLst/>
                <a:uLnTx/>
                <a:uFillTx/>
                <a:latin typeface="Arial"/>
                <a:ea typeface="+mn-ea"/>
                <a:cs typeface="Arial"/>
              </a:rPr>
              <a:t>language </a:t>
            </a:r>
            <a:r>
              <a:rPr kumimoji="0" lang="en-IN" sz="2000" b="0" i="0" u="none" strike="noStrike" kern="1200" cap="none" spc="-80" normalizeH="0" baseline="0" noProof="0" dirty="0">
                <a:ln>
                  <a:noFill/>
                </a:ln>
                <a:solidFill>
                  <a:schemeClr val="tx1"/>
                </a:solidFill>
                <a:effectLst/>
                <a:uLnTx/>
                <a:uFillTx/>
                <a:latin typeface="Arial"/>
                <a:ea typeface="+mn-ea"/>
                <a:cs typeface="Arial"/>
              </a:rPr>
              <a:t>and </a:t>
            </a:r>
            <a:r>
              <a:rPr kumimoji="0" lang="en-IN" sz="2000" b="0" i="0" u="none" strike="noStrike" kern="1200" cap="none" spc="-75" normalizeH="0" baseline="0" noProof="0" dirty="0">
                <a:ln>
                  <a:noFill/>
                </a:ln>
                <a:solidFill>
                  <a:schemeClr val="tx1"/>
                </a:solidFill>
                <a:effectLst/>
                <a:uLnTx/>
                <a:uFillTx/>
                <a:latin typeface="Arial"/>
                <a:ea typeface="+mn-ea"/>
                <a:cs typeface="Arial"/>
              </a:rPr>
              <a:t>machine</a:t>
            </a:r>
            <a:r>
              <a:rPr kumimoji="0" lang="en-IN" sz="2000" b="0" i="0" u="none" strike="noStrike" kern="1200" cap="none" spc="-225" normalizeH="0" baseline="0" noProof="0" dirty="0">
                <a:ln>
                  <a:noFill/>
                </a:ln>
                <a:solidFill>
                  <a:schemeClr val="tx1"/>
                </a:solidFill>
                <a:effectLst/>
                <a:uLnTx/>
                <a:uFillTx/>
                <a:latin typeface="Arial"/>
                <a:ea typeface="+mn-ea"/>
                <a:cs typeface="Arial"/>
              </a:rPr>
              <a:t> </a:t>
            </a:r>
            <a:r>
              <a:rPr kumimoji="0" lang="en-IN" sz="2000" b="0" i="0" u="none" strike="noStrike" kern="1200" cap="none" spc="-85" normalizeH="0" baseline="0" noProof="0" dirty="0">
                <a:ln>
                  <a:noFill/>
                </a:ln>
                <a:solidFill>
                  <a:schemeClr val="tx1"/>
                </a:solidFill>
                <a:effectLst/>
                <a:uLnTx/>
                <a:uFillTx/>
                <a:latin typeface="Arial"/>
                <a:ea typeface="+mn-ea"/>
                <a:cs typeface="Arial"/>
              </a:rPr>
              <a:t>code</a:t>
            </a:r>
            <a:r>
              <a:rPr kumimoji="0" lang="en-IN" sz="2000" b="0" i="0" u="none" strike="noStrike" kern="1200" cap="none" spc="-85" normalizeH="0" baseline="0" noProof="0" dirty="0">
                <a:ln>
                  <a:noFill/>
                </a:ln>
                <a:solidFill>
                  <a:srgbClr val="585858"/>
                </a:solidFill>
                <a:effectLst/>
                <a:uLnTx/>
                <a:uFillTx/>
                <a:latin typeface="Arial"/>
                <a:ea typeface="+mn-ea"/>
                <a:cs typeface="Arial"/>
              </a:rPr>
              <a:t>.</a:t>
            </a:r>
            <a:endParaRPr lang="en-IN" sz="2000" spc="-90" dirty="0">
              <a:solidFill>
                <a:schemeClr val="tx1"/>
              </a:solidFill>
            </a:endParaRPr>
          </a:p>
        </p:txBody>
      </p:sp>
    </p:spTree>
    <p:extLst>
      <p:ext uri="{BB962C8B-B14F-4D97-AF65-F5344CB8AC3E}">
        <p14:creationId xmlns:p14="http://schemas.microsoft.com/office/powerpoint/2010/main" val="836098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165736"/>
            <a:ext cx="8407107" cy="443711"/>
          </a:xfrm>
          <a:prstGeom prst="rect">
            <a:avLst/>
          </a:prstGeom>
        </p:spPr>
        <p:txBody>
          <a:bodyPr vert="horz" wrap="square" lIns="0" tIns="12700" rIns="0" bIns="0" rtlCol="0">
            <a:spAutoFit/>
          </a:bodyPr>
          <a:lstStyle/>
          <a:p>
            <a:pPr marL="12700">
              <a:lnSpc>
                <a:spcPct val="100000"/>
              </a:lnSpc>
              <a:spcBef>
                <a:spcPts val="100"/>
              </a:spcBef>
            </a:pPr>
            <a:r>
              <a:rPr lang="en-IN" sz="2800" b="1" dirty="0">
                <a:solidFill>
                  <a:schemeClr val="bg1"/>
                </a:solidFill>
                <a:latin typeface="Cambria" panose="02040503050406030204" pitchFamily="18" charset="0"/>
              </a:rPr>
              <a:t>Introduction</a:t>
            </a:r>
            <a:endParaRPr sz="2400" dirty="0"/>
          </a:p>
        </p:txBody>
      </p:sp>
      <p:sp>
        <p:nvSpPr>
          <p:cNvPr id="3" name="TextBox 2">
            <a:extLst>
              <a:ext uri="{FF2B5EF4-FFF2-40B4-BE49-F238E27FC236}">
                <a16:creationId xmlns:a16="http://schemas.microsoft.com/office/drawing/2014/main" id="{4033D099-339A-4940-94CA-884CFB355F64}"/>
              </a:ext>
            </a:extLst>
          </p:cNvPr>
          <p:cNvSpPr txBox="1"/>
          <p:nvPr/>
        </p:nvSpPr>
        <p:spPr>
          <a:xfrm>
            <a:off x="1049119" y="1673877"/>
            <a:ext cx="9812845" cy="4601260"/>
          </a:xfrm>
          <a:prstGeom prst="rect">
            <a:avLst/>
          </a:prstGeom>
          <a:noFill/>
        </p:spPr>
        <p:txBody>
          <a:bodyPr wrap="square">
            <a:spAutoFit/>
          </a:bodyPr>
          <a:lstStyle/>
          <a:p>
            <a:pPr>
              <a:lnSpc>
                <a:spcPct val="150000"/>
              </a:lnSpc>
            </a:pPr>
            <a:r>
              <a:rPr lang="en-IN" sz="2400" dirty="0">
                <a:solidFill>
                  <a:srgbClr val="0070C0"/>
                </a:solidFill>
                <a:latin typeface="Trebuchet MS" panose="020B0603020202020204" pitchFamily="34" charset="0"/>
              </a:rPr>
              <a:t>High level Language :</a:t>
            </a:r>
          </a:p>
          <a:p>
            <a:pPr marL="342900" indent="-342900">
              <a:spcBef>
                <a:spcPts val="600"/>
              </a:spcBef>
              <a:spcAft>
                <a:spcPts val="600"/>
              </a:spcAft>
              <a:buFont typeface="Arial" panose="020B0604020202020204" pitchFamily="34" charset="0"/>
              <a:buChar char="•"/>
            </a:pPr>
            <a:r>
              <a:rPr kumimoji="0" lang="en-IN" sz="2400" b="0" i="0" u="none" strike="noStrike" kern="1200" cap="none" spc="-60" normalizeH="0" baseline="0" noProof="0" dirty="0">
                <a:ln>
                  <a:noFill/>
                </a:ln>
                <a:solidFill>
                  <a:schemeClr val="tx1"/>
                </a:solidFill>
                <a:effectLst/>
                <a:uLnTx/>
                <a:uFillTx/>
                <a:latin typeface="Trebuchet MS" panose="020B0603020202020204" pitchFamily="34" charset="0"/>
                <a:ea typeface="+mn-ea"/>
              </a:rPr>
              <a:t>High-level </a:t>
            </a:r>
            <a:r>
              <a:rPr kumimoji="0" lang="en-IN" sz="2400" b="0" i="0" u="none" strike="noStrike" kern="1200" cap="none" spc="-95" normalizeH="0" baseline="0" noProof="0" dirty="0">
                <a:ln>
                  <a:noFill/>
                </a:ln>
                <a:solidFill>
                  <a:schemeClr val="tx1"/>
                </a:solidFill>
                <a:effectLst/>
                <a:uLnTx/>
                <a:uFillTx/>
                <a:latin typeface="Trebuchet MS" panose="020B0603020202020204" pitchFamily="34" charset="0"/>
                <a:ea typeface="+mn-ea"/>
              </a:rPr>
              <a:t>languages </a:t>
            </a:r>
            <a:r>
              <a:rPr kumimoji="0" lang="en-IN" sz="2400" b="0" i="0" u="none" strike="noStrike" kern="1200" cap="none" spc="-65" normalizeH="0" baseline="0" noProof="0" dirty="0">
                <a:ln>
                  <a:noFill/>
                </a:ln>
                <a:solidFill>
                  <a:schemeClr val="tx1"/>
                </a:solidFill>
                <a:effectLst/>
                <a:uLnTx/>
                <a:uFillTx/>
                <a:latin typeface="Trebuchet MS" panose="020B0603020202020204" pitchFamily="34" charset="0"/>
                <a:ea typeface="+mn-ea"/>
              </a:rPr>
              <a:t>represent </a:t>
            </a:r>
            <a:r>
              <a:rPr kumimoji="0" lang="en-IN" sz="2400" b="0" i="0" u="none" strike="noStrike" kern="1200" cap="none" spc="-140" normalizeH="0" baseline="0" noProof="0" dirty="0">
                <a:ln>
                  <a:noFill/>
                </a:ln>
                <a:solidFill>
                  <a:schemeClr val="tx1"/>
                </a:solidFill>
                <a:effectLst/>
                <a:uLnTx/>
                <a:uFillTx/>
                <a:latin typeface="Trebuchet MS" panose="020B0603020202020204" pitchFamily="34" charset="0"/>
                <a:ea typeface="+mn-ea"/>
              </a:rPr>
              <a:t>a </a:t>
            </a:r>
            <a:r>
              <a:rPr kumimoji="0" lang="en-IN" sz="2400" b="0" i="0" u="none" strike="noStrike" kern="1200" cap="none" spc="-25" normalizeH="0" baseline="0" noProof="0" dirty="0">
                <a:ln>
                  <a:noFill/>
                </a:ln>
                <a:solidFill>
                  <a:schemeClr val="tx1"/>
                </a:solidFill>
                <a:effectLst/>
                <a:uLnTx/>
                <a:uFillTx/>
                <a:latin typeface="Trebuchet MS" panose="020B0603020202020204" pitchFamily="34" charset="0"/>
                <a:ea typeface="+mn-ea"/>
              </a:rPr>
              <a:t>giant </a:t>
            </a:r>
            <a:r>
              <a:rPr kumimoji="0" lang="en-IN" sz="2400" b="0" i="0" u="none" strike="noStrike" kern="1200" cap="none" spc="-80" normalizeH="0" baseline="0" noProof="0" dirty="0">
                <a:ln>
                  <a:noFill/>
                </a:ln>
                <a:solidFill>
                  <a:schemeClr val="tx1"/>
                </a:solidFill>
                <a:effectLst/>
                <a:uLnTx/>
                <a:uFillTx/>
                <a:latin typeface="Trebuchet MS" panose="020B0603020202020204" pitchFamily="34" charset="0"/>
                <a:ea typeface="+mn-ea"/>
              </a:rPr>
              <a:t>leap </a:t>
            </a:r>
            <a:r>
              <a:rPr kumimoji="0" lang="en-IN" sz="2400" b="0" i="0" u="none" strike="noStrike" kern="1200" cap="none" spc="-50" normalizeH="0" baseline="0" noProof="0" dirty="0">
                <a:ln>
                  <a:noFill/>
                </a:ln>
                <a:solidFill>
                  <a:schemeClr val="tx1"/>
                </a:solidFill>
                <a:effectLst/>
                <a:uLnTx/>
                <a:uFillTx/>
                <a:latin typeface="Trebuchet MS" panose="020B0603020202020204" pitchFamily="34" charset="0"/>
                <a:ea typeface="+mn-ea"/>
              </a:rPr>
              <a:t>towards</a:t>
            </a:r>
            <a:r>
              <a:rPr kumimoji="0" lang="en-IN" sz="2400" b="0" i="0" u="none" strike="noStrike" kern="1200" cap="none" spc="-380" normalizeH="0" baseline="0" noProof="0" dirty="0">
                <a:ln>
                  <a:noFill/>
                </a:ln>
                <a:solidFill>
                  <a:schemeClr val="tx1"/>
                </a:solidFill>
                <a:effectLst/>
                <a:uLnTx/>
                <a:uFillTx/>
                <a:latin typeface="Trebuchet MS" panose="020B0603020202020204" pitchFamily="34" charset="0"/>
                <a:ea typeface="+mn-ea"/>
              </a:rPr>
              <a:t> </a:t>
            </a:r>
            <a:r>
              <a:rPr kumimoji="0" lang="en-IN" sz="2400" b="0" i="0" u="none" strike="noStrike" kern="1200" cap="none" spc="-114" normalizeH="0" baseline="0" noProof="0" dirty="0">
                <a:ln>
                  <a:noFill/>
                </a:ln>
                <a:solidFill>
                  <a:schemeClr val="tx1"/>
                </a:solidFill>
                <a:effectLst/>
                <a:uLnTx/>
                <a:uFillTx/>
                <a:latin typeface="Trebuchet MS" panose="020B0603020202020204" pitchFamily="34" charset="0"/>
                <a:ea typeface="+mn-ea"/>
              </a:rPr>
              <a:t>easier programming.</a:t>
            </a:r>
          </a:p>
          <a:p>
            <a:pPr marL="355600" indent="-342900">
              <a:spcBef>
                <a:spcPts val="600"/>
              </a:spcBef>
              <a:spcAft>
                <a:spcPts val="600"/>
              </a:spcAft>
              <a:buClrTx/>
              <a:buFont typeface="Arial" panose="020B0604020202020204" pitchFamily="34" charset="0"/>
              <a:buChar char="•"/>
              <a:tabLst>
                <a:tab pos="195580" algn="l"/>
              </a:tabLst>
            </a:pPr>
            <a:r>
              <a:rPr lang="en-IN" sz="2400" spc="-100" dirty="0">
                <a:solidFill>
                  <a:schemeClr val="tx1"/>
                </a:solidFill>
                <a:latin typeface="Trebuchet MS" panose="020B0603020202020204" pitchFamily="34" charset="0"/>
              </a:rPr>
              <a:t>The</a:t>
            </a:r>
            <a:r>
              <a:rPr lang="en-IN" sz="2400" spc="-145" dirty="0">
                <a:solidFill>
                  <a:schemeClr val="tx1"/>
                </a:solidFill>
                <a:latin typeface="Trebuchet MS" panose="020B0603020202020204" pitchFamily="34" charset="0"/>
              </a:rPr>
              <a:t> </a:t>
            </a:r>
            <a:r>
              <a:rPr lang="en-IN" sz="2400" spc="-65" dirty="0">
                <a:solidFill>
                  <a:schemeClr val="tx1"/>
                </a:solidFill>
                <a:latin typeface="Trebuchet MS" panose="020B0603020202020204" pitchFamily="34" charset="0"/>
              </a:rPr>
              <a:t>syntax</a:t>
            </a:r>
            <a:r>
              <a:rPr lang="en-IN" sz="2400" spc="-170" dirty="0">
                <a:solidFill>
                  <a:schemeClr val="tx1"/>
                </a:solidFill>
                <a:latin typeface="Trebuchet MS" panose="020B0603020202020204" pitchFamily="34" charset="0"/>
              </a:rPr>
              <a:t> </a:t>
            </a:r>
            <a:r>
              <a:rPr lang="en-IN" sz="2400" spc="10" dirty="0">
                <a:solidFill>
                  <a:schemeClr val="tx1"/>
                </a:solidFill>
                <a:latin typeface="Trebuchet MS" panose="020B0603020202020204" pitchFamily="34" charset="0"/>
              </a:rPr>
              <a:t>of</a:t>
            </a:r>
            <a:r>
              <a:rPr lang="en-IN" sz="2400" spc="-145" dirty="0">
                <a:solidFill>
                  <a:schemeClr val="tx1"/>
                </a:solidFill>
                <a:latin typeface="Trebuchet MS" panose="020B0603020202020204" pitchFamily="34" charset="0"/>
              </a:rPr>
              <a:t> </a:t>
            </a:r>
            <a:r>
              <a:rPr lang="en-IN" sz="2400" spc="-105" dirty="0">
                <a:solidFill>
                  <a:schemeClr val="tx1"/>
                </a:solidFill>
                <a:latin typeface="Trebuchet MS" panose="020B0603020202020204" pitchFamily="34" charset="0"/>
              </a:rPr>
              <a:t>HL</a:t>
            </a:r>
            <a:r>
              <a:rPr lang="en-IN" sz="2400" spc="-160" dirty="0">
                <a:solidFill>
                  <a:schemeClr val="tx1"/>
                </a:solidFill>
                <a:latin typeface="Trebuchet MS" panose="020B0603020202020204" pitchFamily="34" charset="0"/>
              </a:rPr>
              <a:t> </a:t>
            </a:r>
            <a:r>
              <a:rPr lang="en-IN" sz="2400" spc="-95" dirty="0">
                <a:solidFill>
                  <a:schemeClr val="tx1"/>
                </a:solidFill>
                <a:latin typeface="Trebuchet MS" panose="020B0603020202020204" pitchFamily="34" charset="0"/>
              </a:rPr>
              <a:t>languages</a:t>
            </a:r>
            <a:r>
              <a:rPr lang="en-IN" sz="2400" spc="-120" dirty="0">
                <a:solidFill>
                  <a:schemeClr val="tx1"/>
                </a:solidFill>
                <a:latin typeface="Trebuchet MS" panose="020B0603020202020204" pitchFamily="34" charset="0"/>
              </a:rPr>
              <a:t> </a:t>
            </a:r>
            <a:r>
              <a:rPr lang="en-IN" sz="2400" spc="-95" dirty="0">
                <a:solidFill>
                  <a:schemeClr val="tx1"/>
                </a:solidFill>
                <a:latin typeface="Trebuchet MS" panose="020B0603020202020204" pitchFamily="34" charset="0"/>
              </a:rPr>
              <a:t>is</a:t>
            </a:r>
            <a:r>
              <a:rPr lang="en-IN" sz="2400" spc="-165" dirty="0">
                <a:solidFill>
                  <a:schemeClr val="tx1"/>
                </a:solidFill>
                <a:latin typeface="Trebuchet MS" panose="020B0603020202020204" pitchFamily="34" charset="0"/>
              </a:rPr>
              <a:t> </a:t>
            </a:r>
            <a:r>
              <a:rPr lang="en-IN" sz="2400" spc="-45" dirty="0">
                <a:solidFill>
                  <a:schemeClr val="tx1"/>
                </a:solidFill>
                <a:latin typeface="Trebuchet MS" panose="020B0603020202020204" pitchFamily="34" charset="0"/>
              </a:rPr>
              <a:t>similar</a:t>
            </a:r>
            <a:r>
              <a:rPr lang="en-IN" sz="2400" spc="-130" dirty="0">
                <a:solidFill>
                  <a:schemeClr val="tx1"/>
                </a:solidFill>
                <a:latin typeface="Trebuchet MS" panose="020B0603020202020204" pitchFamily="34" charset="0"/>
              </a:rPr>
              <a:t> </a:t>
            </a:r>
            <a:r>
              <a:rPr lang="en-IN" sz="2400" spc="40" dirty="0">
                <a:solidFill>
                  <a:schemeClr val="tx1"/>
                </a:solidFill>
                <a:latin typeface="Trebuchet MS" panose="020B0603020202020204" pitchFamily="34" charset="0"/>
              </a:rPr>
              <a:t>to</a:t>
            </a:r>
            <a:r>
              <a:rPr lang="en-IN" sz="2400" spc="-155" dirty="0">
                <a:solidFill>
                  <a:schemeClr val="tx1"/>
                </a:solidFill>
                <a:latin typeface="Trebuchet MS" panose="020B0603020202020204" pitchFamily="34" charset="0"/>
              </a:rPr>
              <a:t> </a:t>
            </a:r>
            <a:r>
              <a:rPr lang="en-IN" sz="2400" spc="-80" dirty="0">
                <a:solidFill>
                  <a:schemeClr val="tx1"/>
                </a:solidFill>
                <a:latin typeface="Trebuchet MS" panose="020B0603020202020204" pitchFamily="34" charset="0"/>
              </a:rPr>
              <a:t>English.</a:t>
            </a:r>
            <a:endParaRPr lang="en-IN" sz="2400" dirty="0">
              <a:solidFill>
                <a:schemeClr val="tx1"/>
              </a:solidFill>
              <a:latin typeface="Trebuchet MS" panose="020B0603020202020204" pitchFamily="34" charset="0"/>
            </a:endParaRPr>
          </a:p>
          <a:p>
            <a:pPr marL="355600" indent="-342900">
              <a:spcBef>
                <a:spcPts val="600"/>
              </a:spcBef>
              <a:spcAft>
                <a:spcPts val="600"/>
              </a:spcAft>
              <a:buClrTx/>
              <a:buFont typeface="Arial" panose="020B0604020202020204" pitchFamily="34" charset="0"/>
              <a:buChar char="•"/>
              <a:tabLst>
                <a:tab pos="195580" algn="l"/>
              </a:tabLst>
            </a:pPr>
            <a:r>
              <a:rPr lang="en-IN" sz="2400" dirty="0">
                <a:latin typeface="Trebuchet MS" panose="020B0603020202020204" pitchFamily="34" charset="0"/>
              </a:rPr>
              <a:t>The high-level programming languages are broadly categorized in to two categories:</a:t>
            </a:r>
          </a:p>
          <a:p>
            <a:pPr marL="1250950" lvl="1" indent="-263525">
              <a:spcBef>
                <a:spcPts val="600"/>
              </a:spcBef>
              <a:spcAft>
                <a:spcPts val="600"/>
              </a:spcAft>
              <a:buFont typeface="Wingdings" panose="05000000000000000000" pitchFamily="2" charset="2"/>
              <a:buChar char="ü"/>
              <a:tabLst>
                <a:tab pos="469265" algn="l"/>
              </a:tabLst>
            </a:pPr>
            <a:r>
              <a:rPr lang="en-IN" sz="2400" spc="-80" dirty="0">
                <a:solidFill>
                  <a:srgbClr val="0070C0"/>
                </a:solidFill>
                <a:latin typeface="Trebuchet MS" panose="020B0603020202020204" pitchFamily="34" charset="0"/>
              </a:rPr>
              <a:t>Procedural oriented programming</a:t>
            </a:r>
            <a:r>
              <a:rPr lang="en-IN" sz="2400" spc="-140" dirty="0">
                <a:solidFill>
                  <a:srgbClr val="0070C0"/>
                </a:solidFill>
                <a:latin typeface="Trebuchet MS" panose="020B0603020202020204" pitchFamily="34" charset="0"/>
              </a:rPr>
              <a:t> </a:t>
            </a:r>
            <a:r>
              <a:rPr lang="en-IN" sz="2400" spc="-95" dirty="0">
                <a:solidFill>
                  <a:srgbClr val="0070C0"/>
                </a:solidFill>
                <a:latin typeface="Trebuchet MS" panose="020B0603020202020204" pitchFamily="34" charset="0"/>
              </a:rPr>
              <a:t>languages(POP)</a:t>
            </a:r>
            <a:endParaRPr lang="en-IN" sz="2400" dirty="0">
              <a:solidFill>
                <a:srgbClr val="0070C0"/>
              </a:solidFill>
              <a:latin typeface="Trebuchet MS" panose="020B0603020202020204" pitchFamily="34" charset="0"/>
            </a:endParaRPr>
          </a:p>
          <a:p>
            <a:pPr marL="987425" lvl="1">
              <a:spcBef>
                <a:spcPts val="600"/>
              </a:spcBef>
              <a:spcAft>
                <a:spcPts val="600"/>
              </a:spcAft>
            </a:pPr>
            <a:r>
              <a:rPr lang="en-IN" sz="2400" spc="-110" dirty="0">
                <a:solidFill>
                  <a:schemeClr val="tx1"/>
                </a:solidFill>
                <a:latin typeface="Trebuchet MS" panose="020B0603020202020204" pitchFamily="34" charset="0"/>
              </a:rPr>
              <a:t>	Ex:  </a:t>
            </a:r>
            <a:r>
              <a:rPr lang="en-IN" sz="2400" spc="-240" dirty="0">
                <a:solidFill>
                  <a:schemeClr val="tx1"/>
                </a:solidFill>
                <a:latin typeface="Trebuchet MS" panose="020B0603020202020204" pitchFamily="34" charset="0"/>
              </a:rPr>
              <a:t>C  </a:t>
            </a:r>
            <a:r>
              <a:rPr lang="en-IN" sz="2400" spc="-70" dirty="0">
                <a:solidFill>
                  <a:schemeClr val="tx1"/>
                </a:solidFill>
                <a:latin typeface="Trebuchet MS" panose="020B0603020202020204" pitchFamily="34" charset="0"/>
              </a:rPr>
              <a:t>language</a:t>
            </a:r>
            <a:endParaRPr lang="en-IN" sz="2400" dirty="0">
              <a:solidFill>
                <a:schemeClr val="tx1"/>
              </a:solidFill>
              <a:latin typeface="Trebuchet MS" panose="020B0603020202020204" pitchFamily="34" charset="0"/>
            </a:endParaRPr>
          </a:p>
          <a:p>
            <a:pPr marL="1250950" lvl="1" indent="-263525">
              <a:spcBef>
                <a:spcPts val="600"/>
              </a:spcBef>
              <a:spcAft>
                <a:spcPts val="600"/>
              </a:spcAft>
              <a:buFont typeface="Wingdings" panose="05000000000000000000" pitchFamily="2" charset="2"/>
              <a:buChar char="ü"/>
              <a:tabLst>
                <a:tab pos="469265" algn="l"/>
              </a:tabLst>
            </a:pPr>
            <a:r>
              <a:rPr lang="en-IN" sz="2400" spc="-40" dirty="0">
                <a:solidFill>
                  <a:srgbClr val="0070C0"/>
                </a:solidFill>
                <a:latin typeface="Trebuchet MS" panose="020B0603020202020204" pitchFamily="34" charset="0"/>
              </a:rPr>
              <a:t>Object-Oriented Programming </a:t>
            </a:r>
            <a:r>
              <a:rPr lang="en-IN" sz="2400" spc="-95" dirty="0">
                <a:solidFill>
                  <a:srgbClr val="0070C0"/>
                </a:solidFill>
                <a:latin typeface="Trebuchet MS" panose="020B0603020202020204" pitchFamily="34" charset="0"/>
              </a:rPr>
              <a:t>languages</a:t>
            </a:r>
            <a:r>
              <a:rPr lang="en-IN" sz="2400" spc="-200" dirty="0">
                <a:solidFill>
                  <a:srgbClr val="0070C0"/>
                </a:solidFill>
                <a:latin typeface="Trebuchet MS" panose="020B0603020202020204" pitchFamily="34" charset="0"/>
              </a:rPr>
              <a:t> </a:t>
            </a:r>
            <a:r>
              <a:rPr lang="en-IN" sz="2400" spc="-120" dirty="0">
                <a:solidFill>
                  <a:srgbClr val="0070C0"/>
                </a:solidFill>
                <a:latin typeface="Trebuchet MS" panose="020B0603020202020204" pitchFamily="34" charset="0"/>
              </a:rPr>
              <a:t>(OOP)</a:t>
            </a:r>
            <a:endParaRPr lang="en-IN" sz="2400" dirty="0">
              <a:solidFill>
                <a:srgbClr val="0070C0"/>
              </a:solidFill>
              <a:latin typeface="Trebuchet MS" panose="020B0603020202020204" pitchFamily="34" charset="0"/>
            </a:endParaRPr>
          </a:p>
          <a:p>
            <a:pPr marL="987425" lvl="1">
              <a:spcBef>
                <a:spcPts val="600"/>
              </a:spcBef>
              <a:spcAft>
                <a:spcPts val="600"/>
              </a:spcAft>
            </a:pPr>
            <a:r>
              <a:rPr lang="en-IN" sz="2400" spc="-110" dirty="0">
                <a:solidFill>
                  <a:schemeClr val="tx1"/>
                </a:solidFill>
                <a:latin typeface="Trebuchet MS" panose="020B0603020202020204" pitchFamily="34" charset="0"/>
              </a:rPr>
              <a:t>	Ex. </a:t>
            </a:r>
            <a:r>
              <a:rPr lang="en-IN" sz="2400" spc="-145" dirty="0">
                <a:solidFill>
                  <a:schemeClr val="tx1"/>
                </a:solidFill>
                <a:latin typeface="Trebuchet MS" panose="020B0603020202020204" pitchFamily="34" charset="0"/>
              </a:rPr>
              <a:t>C++, </a:t>
            </a:r>
            <a:r>
              <a:rPr lang="en-IN" sz="2400" spc="-110" dirty="0">
                <a:solidFill>
                  <a:schemeClr val="tx1"/>
                </a:solidFill>
                <a:latin typeface="Trebuchet MS" panose="020B0603020202020204" pitchFamily="34" charset="0"/>
              </a:rPr>
              <a:t>Java,</a:t>
            </a:r>
            <a:r>
              <a:rPr lang="en-IN" sz="2400" spc="-315" dirty="0">
                <a:solidFill>
                  <a:schemeClr val="tx1"/>
                </a:solidFill>
                <a:latin typeface="Trebuchet MS" panose="020B0603020202020204" pitchFamily="34" charset="0"/>
              </a:rPr>
              <a:t> </a:t>
            </a:r>
            <a:r>
              <a:rPr lang="en-IN" sz="2400" spc="-40" dirty="0">
                <a:solidFill>
                  <a:schemeClr val="tx1"/>
                </a:solidFill>
                <a:latin typeface="Trebuchet MS" panose="020B0603020202020204" pitchFamily="34" charset="0"/>
              </a:rPr>
              <a:t>C#</a:t>
            </a:r>
            <a:r>
              <a:rPr kumimoji="0" lang="en-IN" sz="2400" b="0" i="0" u="none" strike="noStrike" kern="1200" cap="none" spc="-114" normalizeH="0" baseline="0" noProof="0" dirty="0">
                <a:ln>
                  <a:noFill/>
                </a:ln>
                <a:solidFill>
                  <a:srgbClr val="585858"/>
                </a:solidFill>
                <a:effectLst/>
                <a:uLnTx/>
                <a:uFillTx/>
                <a:latin typeface="Arial"/>
                <a:ea typeface="+mn-ea"/>
                <a:cs typeface="Arial"/>
              </a:rPr>
              <a:t> </a:t>
            </a:r>
            <a:endParaRPr lang="en-IN" sz="2400" dirty="0">
              <a:solidFill>
                <a:srgbClr val="0070C0"/>
              </a:solidFill>
              <a:latin typeface="Trebuchet MS" panose="020B0603020202020204" pitchFamily="34" charset="0"/>
            </a:endParaRPr>
          </a:p>
        </p:txBody>
      </p:sp>
    </p:spTree>
    <p:extLst>
      <p:ext uri="{BB962C8B-B14F-4D97-AF65-F5344CB8AC3E}">
        <p14:creationId xmlns:p14="http://schemas.microsoft.com/office/powerpoint/2010/main" val="1451019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7"/>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Procedural Vs. Object Oriented Programming</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D73F20E8-7792-4BF5-AC4F-CDF865645619}"/>
              </a:ext>
            </a:extLst>
          </p:cNvPr>
          <p:cNvSpPr txBox="1"/>
          <p:nvPr/>
        </p:nvSpPr>
        <p:spPr>
          <a:xfrm>
            <a:off x="478275" y="1810729"/>
            <a:ext cx="10751657" cy="3267498"/>
          </a:xfrm>
          <a:prstGeom prst="rect">
            <a:avLst/>
          </a:prstGeom>
          <a:noFill/>
        </p:spPr>
        <p:txBody>
          <a:bodyPr wrap="square">
            <a:spAutoFit/>
          </a:bodyPr>
          <a:lstStyle/>
          <a:p>
            <a:pPr>
              <a:lnSpc>
                <a:spcPct val="150000"/>
              </a:lnSpc>
            </a:pPr>
            <a:r>
              <a:rPr lang="en-IN" sz="2000" b="1" dirty="0">
                <a:solidFill>
                  <a:srgbClr val="0070C0"/>
                </a:solidFill>
                <a:latin typeface="Trebuchet MS" panose="020B0603020202020204" pitchFamily="34" charset="0"/>
              </a:rPr>
              <a:t>Procedure Oriented Programming Language</a:t>
            </a:r>
          </a:p>
          <a:p>
            <a:pPr>
              <a:lnSpc>
                <a:spcPct val="150000"/>
              </a:lnSpc>
            </a:pPr>
            <a:endParaRPr lang="en-IN" sz="2000" dirty="0">
              <a:latin typeface="Trebuchet MS" panose="020B0603020202020204" pitchFamily="34" charset="0"/>
            </a:endParaRPr>
          </a:p>
          <a:p>
            <a:pPr marL="342900" indent="-342900">
              <a:lnSpc>
                <a:spcPct val="150000"/>
              </a:lnSpc>
              <a:buFont typeface="Arial" panose="020B0604020202020204" pitchFamily="34" charset="0"/>
              <a:buChar char="•"/>
            </a:pPr>
            <a:r>
              <a:rPr lang="en-IN" sz="2000" dirty="0">
                <a:latin typeface="Trebuchet MS" panose="020B0603020202020204" pitchFamily="34" charset="0"/>
              </a:rPr>
              <a:t>In the procedure oriented approach, the problem is viewed as </a:t>
            </a:r>
            <a:r>
              <a:rPr lang="en-IN" sz="2000" dirty="0">
                <a:solidFill>
                  <a:srgbClr val="FF0000"/>
                </a:solidFill>
                <a:latin typeface="Trebuchet MS" panose="020B0603020202020204" pitchFamily="34" charset="0"/>
              </a:rPr>
              <a:t>sequence of things </a:t>
            </a:r>
            <a:r>
              <a:rPr lang="en-IN" sz="2000" dirty="0">
                <a:latin typeface="Trebuchet MS" panose="020B0603020202020204" pitchFamily="34" charset="0"/>
              </a:rPr>
              <a:t>to be done such as reading , calculation and printing.</a:t>
            </a:r>
          </a:p>
          <a:p>
            <a:pPr marL="342900" indent="-342900">
              <a:lnSpc>
                <a:spcPct val="150000"/>
              </a:lnSpc>
              <a:buFont typeface="Arial" panose="020B0604020202020204" pitchFamily="34" charset="0"/>
              <a:buChar char="•"/>
            </a:pPr>
            <a:r>
              <a:rPr lang="en-IN" sz="2000" dirty="0">
                <a:latin typeface="Trebuchet MS" panose="020B0603020202020204" pitchFamily="34" charset="0"/>
              </a:rPr>
              <a:t>Procedure oriented programming basically consist of writing a list of instruction or actions for the computer to follow and </a:t>
            </a:r>
            <a:r>
              <a:rPr lang="en-IN" sz="2000" dirty="0">
                <a:solidFill>
                  <a:srgbClr val="FF0000"/>
                </a:solidFill>
                <a:latin typeface="Trebuchet MS" panose="020B0603020202020204" pitchFamily="34" charset="0"/>
              </a:rPr>
              <a:t>organizing these instruction into groups</a:t>
            </a:r>
            <a:r>
              <a:rPr lang="en-IN" sz="2000" dirty="0">
                <a:latin typeface="Trebuchet MS" panose="020B0603020202020204" pitchFamily="34" charset="0"/>
              </a:rPr>
              <a:t> known as functions. </a:t>
            </a:r>
          </a:p>
        </p:txBody>
      </p:sp>
    </p:spTree>
    <p:extLst>
      <p:ext uri="{BB962C8B-B14F-4D97-AF65-F5344CB8AC3E}">
        <p14:creationId xmlns:p14="http://schemas.microsoft.com/office/powerpoint/2010/main" val="6533206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7"/>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Procedural Vs. Object Oriented Programming</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5">
            <a:extLst>
              <a:ext uri="{FF2B5EF4-FFF2-40B4-BE49-F238E27FC236}">
                <a16:creationId xmlns:a16="http://schemas.microsoft.com/office/drawing/2014/main" id="{B053BEB4-9556-43F4-9331-22F125C4C967}"/>
              </a:ext>
            </a:extLst>
          </p:cNvPr>
          <p:cNvSpPr txBox="1"/>
          <p:nvPr/>
        </p:nvSpPr>
        <p:spPr>
          <a:xfrm>
            <a:off x="1018913" y="1676013"/>
            <a:ext cx="9732213" cy="4456476"/>
          </a:xfrm>
          <a:prstGeom prst="rect">
            <a:avLst/>
          </a:prstGeom>
          <a:noFill/>
        </p:spPr>
        <p:txBody>
          <a:bodyPr wrap="square">
            <a:spAutoFit/>
          </a:bodyPr>
          <a:lstStyle/>
          <a:p>
            <a:pPr>
              <a:lnSpc>
                <a:spcPct val="150000"/>
              </a:lnSpc>
            </a:pPr>
            <a:r>
              <a:rPr lang="en-IN" sz="2400" b="1" dirty="0">
                <a:solidFill>
                  <a:srgbClr val="0070C0"/>
                </a:solidFill>
                <a:latin typeface="Trebuchet MS" panose="020B0603020202020204" pitchFamily="34" charset="0"/>
              </a:rPr>
              <a:t>Characteristics of procedure oriented programming: </a:t>
            </a:r>
          </a:p>
          <a:p>
            <a:pPr marL="457200" indent="-457200">
              <a:lnSpc>
                <a:spcPct val="150000"/>
              </a:lnSpc>
              <a:buAutoNum type="arabicPeriod"/>
            </a:pPr>
            <a:r>
              <a:rPr lang="en-IN" sz="2400" dirty="0">
                <a:latin typeface="Trebuchet MS" panose="020B0603020202020204" pitchFamily="34" charset="0"/>
              </a:rPr>
              <a:t>Emphasis is on doing things(algorithm). </a:t>
            </a:r>
          </a:p>
          <a:p>
            <a:pPr marL="457200" indent="-457200">
              <a:lnSpc>
                <a:spcPct val="150000"/>
              </a:lnSpc>
              <a:buAutoNum type="arabicPeriod"/>
            </a:pPr>
            <a:r>
              <a:rPr lang="en-IN" sz="2400" dirty="0">
                <a:latin typeface="Trebuchet MS" panose="020B0603020202020204" pitchFamily="34" charset="0"/>
              </a:rPr>
              <a:t>Large programs are divided into smaller programs known as functions. </a:t>
            </a:r>
          </a:p>
          <a:p>
            <a:pPr marL="457200" indent="-457200">
              <a:lnSpc>
                <a:spcPct val="150000"/>
              </a:lnSpc>
              <a:buAutoNum type="arabicPeriod"/>
            </a:pPr>
            <a:r>
              <a:rPr lang="en-IN" sz="2400" dirty="0">
                <a:latin typeface="Trebuchet MS" panose="020B0603020202020204" pitchFamily="34" charset="0"/>
              </a:rPr>
              <a:t>Most of the functions share global data. </a:t>
            </a:r>
          </a:p>
          <a:p>
            <a:pPr marL="457200" indent="-457200">
              <a:lnSpc>
                <a:spcPct val="150000"/>
              </a:lnSpc>
              <a:buAutoNum type="arabicPeriod"/>
            </a:pPr>
            <a:r>
              <a:rPr lang="en-IN" sz="2400" dirty="0">
                <a:latin typeface="Trebuchet MS" panose="020B0603020202020204" pitchFamily="34" charset="0"/>
              </a:rPr>
              <a:t>Data move openly around the system from function to function. </a:t>
            </a:r>
          </a:p>
          <a:p>
            <a:pPr marL="457200" indent="-457200">
              <a:lnSpc>
                <a:spcPct val="150000"/>
              </a:lnSpc>
              <a:buAutoNum type="arabicPeriod"/>
            </a:pPr>
            <a:r>
              <a:rPr lang="en-IN" sz="2400" dirty="0">
                <a:latin typeface="Trebuchet MS" panose="020B0603020202020204" pitchFamily="34" charset="0"/>
              </a:rPr>
              <a:t>Function transforms data from one form to another. </a:t>
            </a:r>
          </a:p>
          <a:p>
            <a:pPr marL="457200" indent="-457200">
              <a:lnSpc>
                <a:spcPct val="150000"/>
              </a:lnSpc>
              <a:buAutoNum type="arabicPeriod"/>
            </a:pPr>
            <a:r>
              <a:rPr lang="en-IN" sz="2400" dirty="0">
                <a:latin typeface="Trebuchet MS" panose="020B0603020202020204" pitchFamily="34" charset="0"/>
              </a:rPr>
              <a:t>Employs top-down approach in program design.</a:t>
            </a:r>
          </a:p>
        </p:txBody>
      </p:sp>
    </p:spTree>
    <p:extLst>
      <p:ext uri="{BB962C8B-B14F-4D97-AF65-F5344CB8AC3E}">
        <p14:creationId xmlns:p14="http://schemas.microsoft.com/office/powerpoint/2010/main" val="31687094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603705"/>
            <a:ext cx="8407107" cy="1982594"/>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Procedural Vs. Object Oriented Programming</a:t>
            </a:r>
            <a:br>
              <a:rPr lang="en-IN" sz="2800" b="1" dirty="0">
                <a:solidFill>
                  <a:srgbClr val="FFFFFF"/>
                </a:solidFill>
                <a:latin typeface="Trebuchet MS" panose="020B0603020202020204" pitchFamily="34" charset="0"/>
              </a:rPr>
            </a:br>
            <a:r>
              <a:rPr lang="en-IN" sz="2800" b="1" dirty="0">
                <a:solidFill>
                  <a:schemeClr val="bg1"/>
                </a:solidFill>
                <a:latin typeface="Cambria" panose="02040503050406030204" pitchFamily="18" charset="0"/>
              </a:rPr>
              <a:t> </a:t>
            </a:r>
            <a:br>
              <a:rPr lang="en-IN" sz="2400" b="1" dirty="0">
                <a:solidFill>
                  <a:schemeClr val="bg1"/>
                </a:solidFill>
                <a:latin typeface="Cambria" panose="02040503050406030204" pitchFamily="18" charset="0"/>
              </a:rPr>
            </a:br>
            <a:endParaRPr sz="2400" dirty="0"/>
          </a:p>
        </p:txBody>
      </p:sp>
      <p:pic>
        <p:nvPicPr>
          <p:cNvPr id="3" name="Picture 1">
            <a:extLst>
              <a:ext uri="{FF2B5EF4-FFF2-40B4-BE49-F238E27FC236}">
                <a16:creationId xmlns:a16="http://schemas.microsoft.com/office/drawing/2014/main" id="{BC2AD268-480B-4AC8-92FD-6E0EB263A1D4}"/>
              </a:ext>
            </a:extLst>
          </p:cNvPr>
          <p:cNvPicPr>
            <a:picLocks noChangeAspect="1"/>
          </p:cNvPicPr>
          <p:nvPr/>
        </p:nvPicPr>
        <p:blipFill>
          <a:blip r:embed="rId3"/>
          <a:stretch>
            <a:fillRect/>
          </a:stretch>
        </p:blipFill>
        <p:spPr>
          <a:xfrm>
            <a:off x="1331758" y="2124114"/>
            <a:ext cx="9336242" cy="3792041"/>
          </a:xfrm>
          <a:prstGeom prst="rect">
            <a:avLst/>
          </a:prstGeom>
        </p:spPr>
      </p:pic>
    </p:spTree>
    <p:extLst>
      <p:ext uri="{BB962C8B-B14F-4D97-AF65-F5344CB8AC3E}">
        <p14:creationId xmlns:p14="http://schemas.microsoft.com/office/powerpoint/2010/main" val="12190449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7"/>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Procedural Vs. Object Oriented Programming</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7FA675B7-5332-4398-ACA7-FFD16B396022}"/>
              </a:ext>
            </a:extLst>
          </p:cNvPr>
          <p:cNvSpPr txBox="1"/>
          <p:nvPr/>
        </p:nvSpPr>
        <p:spPr>
          <a:xfrm>
            <a:off x="999836" y="2559275"/>
            <a:ext cx="8376276" cy="2794483"/>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24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The </a:t>
            </a:r>
            <a:r>
              <a:rPr kumimoji="0" lang="en-IN" sz="24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disadvantage </a:t>
            </a:r>
            <a:r>
              <a:rPr kumimoji="0" lang="en-IN" sz="24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of the procedure oriented programming languages is:</a:t>
            </a:r>
          </a:p>
          <a:p>
            <a:pPr marL="457200" lvl="1" indent="-457200">
              <a:lnSpc>
                <a:spcPct val="150000"/>
              </a:lnSpc>
              <a:buFont typeface="+mj-lt"/>
              <a:buAutoNum type="arabicPeriod"/>
              <a:defRPr/>
            </a:pPr>
            <a:r>
              <a:rPr lang="en-IN" sz="2400" dirty="0">
                <a:latin typeface="Trebuchet MS" panose="020B0603020202020204" pitchFamily="34" charset="0"/>
              </a:rPr>
              <a:t>Global</a:t>
            </a:r>
            <a:r>
              <a:rPr kumimoji="0" lang="en-IN" sz="24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data access </a:t>
            </a:r>
          </a:p>
          <a:p>
            <a:pPr marL="457200" lvl="1" indent="-457200">
              <a:lnSpc>
                <a:spcPct val="150000"/>
              </a:lnSpc>
              <a:buFont typeface="+mj-lt"/>
              <a:buAutoNum type="arabicPeriod"/>
              <a:defRPr/>
            </a:pPr>
            <a:r>
              <a:rPr kumimoji="0" lang="en-IN" sz="24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It does not model real word problem very well </a:t>
            </a:r>
          </a:p>
          <a:p>
            <a:pPr marL="457200" lvl="1" indent="-457200">
              <a:lnSpc>
                <a:spcPct val="150000"/>
              </a:lnSpc>
              <a:buFont typeface="+mj-lt"/>
              <a:buAutoNum type="arabicPeriod"/>
              <a:defRPr/>
            </a:pPr>
            <a:r>
              <a:rPr kumimoji="0" lang="en-IN" sz="24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No data hiding</a:t>
            </a:r>
          </a:p>
        </p:txBody>
      </p:sp>
    </p:spTree>
    <p:extLst>
      <p:ext uri="{BB962C8B-B14F-4D97-AF65-F5344CB8AC3E}">
        <p14:creationId xmlns:p14="http://schemas.microsoft.com/office/powerpoint/2010/main" val="3648490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42150"/>
            <a:ext cx="8407107" cy="1859483"/>
          </a:xfrm>
          <a:prstGeom prst="rect">
            <a:avLst/>
          </a:prstGeom>
        </p:spPr>
        <p:txBody>
          <a:bodyPr vert="horz" wrap="square" lIns="0" tIns="12700" rIns="0" bIns="0" rtlCol="0">
            <a:spAutoFit/>
          </a:bodyPr>
          <a:lstStyle/>
          <a:p>
            <a:pPr marL="12700">
              <a:lnSpc>
                <a:spcPct val="100000"/>
              </a:lnSpc>
              <a:spcBef>
                <a:spcPts val="100"/>
              </a:spcBef>
            </a:pPr>
            <a:br>
              <a:rPr lang="en-IN" sz="2400" b="1" kern="0" dirty="0">
                <a:solidFill>
                  <a:srgbClr val="FFFFFF"/>
                </a:solidFill>
                <a:latin typeface="Trebuchet MS" panose="020B0603020202020204" pitchFamily="34" charset="0"/>
                <a:cs typeface="Arial"/>
                <a:sym typeface="Arial"/>
              </a:rPr>
            </a:br>
            <a:br>
              <a:rPr lang="en-IN" sz="2400" b="1" kern="0" dirty="0">
                <a:solidFill>
                  <a:srgbClr val="FFFFFF"/>
                </a:solidFill>
                <a:latin typeface="Trebuchet MS" panose="020B0603020202020204" pitchFamily="34" charset="0"/>
                <a:cs typeface="Arial"/>
                <a:sym typeface="Arial"/>
              </a:rPr>
            </a:br>
            <a:r>
              <a:rPr lang="en-IN" sz="2400" b="1" kern="0" dirty="0">
                <a:solidFill>
                  <a:srgbClr val="FFFFFF"/>
                </a:solidFill>
                <a:latin typeface="Trebuchet MS" panose="020B0603020202020204" pitchFamily="34" charset="0"/>
                <a:cs typeface="Arial"/>
                <a:sym typeface="Arial"/>
              </a:rPr>
              <a:t>Procedural Vs. Object Oriented Programming</a:t>
            </a:r>
            <a:br>
              <a:rPr lang="en-IN" sz="2400" b="1" kern="0" dirty="0">
                <a:solidFill>
                  <a:srgbClr val="FFFFFF"/>
                </a:solidFill>
                <a:latin typeface="Trebuchet MS" panose="020B0603020202020204" pitchFamily="34" charset="0"/>
                <a:cs typeface="Arial"/>
                <a:sym typeface="Arial"/>
              </a:rPr>
            </a:b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D5CE2FD3-D368-498F-A34A-57EB9D1F0C19}"/>
              </a:ext>
            </a:extLst>
          </p:cNvPr>
          <p:cNvSpPr txBox="1"/>
          <p:nvPr/>
        </p:nvSpPr>
        <p:spPr>
          <a:xfrm>
            <a:off x="1055784" y="1671357"/>
            <a:ext cx="9972434" cy="4575548"/>
          </a:xfrm>
          <a:prstGeom prst="rect">
            <a:avLst/>
          </a:prstGeom>
          <a:noFill/>
        </p:spPr>
        <p:txBody>
          <a:bodyPr wrap="square">
            <a:spAutoFit/>
          </a:bodyPr>
          <a:lstStyle/>
          <a:p>
            <a:pPr>
              <a:lnSpc>
                <a:spcPct val="150000"/>
              </a:lnSpc>
            </a:pPr>
            <a:r>
              <a:rPr lang="en-IN" sz="2000" b="1" dirty="0">
                <a:solidFill>
                  <a:srgbClr val="0070C0"/>
                </a:solidFill>
                <a:latin typeface="Trebuchet MS" panose="020B0603020202020204" pitchFamily="34" charset="0"/>
              </a:rPr>
              <a:t>Object Oriented Programming </a:t>
            </a:r>
          </a:p>
          <a:p>
            <a:pPr marL="342900" indent="-342900">
              <a:lnSpc>
                <a:spcPct val="150000"/>
              </a:lnSpc>
              <a:spcBef>
                <a:spcPts val="600"/>
              </a:spcBef>
              <a:spcAft>
                <a:spcPts val="600"/>
              </a:spcAft>
              <a:buFont typeface="Arial" panose="020B0604020202020204" pitchFamily="34" charset="0"/>
              <a:buChar char="•"/>
            </a:pPr>
            <a:r>
              <a:rPr lang="en-IN" sz="2000" dirty="0">
                <a:latin typeface="Trebuchet MS" panose="020B0603020202020204" pitchFamily="34" charset="0"/>
              </a:rPr>
              <a:t>Object-oriented programming (OOP) is a programming paradigm that emphasizes the concept of objects. An object is a real-world entity that has state and </a:t>
            </a:r>
            <a:r>
              <a:rPr lang="en-IN" sz="2000" dirty="0" err="1">
                <a:latin typeface="Trebuchet MS" panose="020B0603020202020204" pitchFamily="34" charset="0"/>
              </a:rPr>
              <a:t>behavior</a:t>
            </a:r>
            <a:r>
              <a:rPr lang="en-IN" sz="2000" dirty="0">
                <a:latin typeface="Trebuchet MS" panose="020B0603020202020204" pitchFamily="34" charset="0"/>
              </a:rPr>
              <a:t>. </a:t>
            </a:r>
          </a:p>
          <a:p>
            <a:pPr marL="342900" indent="-342900">
              <a:lnSpc>
                <a:spcPct val="150000"/>
              </a:lnSpc>
              <a:spcBef>
                <a:spcPts val="600"/>
              </a:spcBef>
              <a:spcAft>
                <a:spcPts val="600"/>
              </a:spcAft>
              <a:buFont typeface="Arial" panose="020B0604020202020204" pitchFamily="34" charset="0"/>
              <a:buChar char="•"/>
            </a:pPr>
            <a:r>
              <a:rPr lang="en-IN" sz="2000" dirty="0">
                <a:latin typeface="Trebuchet MS" panose="020B0603020202020204" pitchFamily="34" charset="0"/>
              </a:rPr>
              <a:t>In OOP, a program is designed by creating classes that represent objects, and these classes encapsulate the data and </a:t>
            </a:r>
            <a:r>
              <a:rPr lang="en-IN" sz="2000" dirty="0" err="1">
                <a:latin typeface="Trebuchet MS" panose="020B0603020202020204" pitchFamily="34" charset="0"/>
              </a:rPr>
              <a:t>behavior</a:t>
            </a:r>
            <a:r>
              <a:rPr lang="en-IN" sz="2000" dirty="0">
                <a:latin typeface="Trebuchet MS" panose="020B0603020202020204" pitchFamily="34" charset="0"/>
              </a:rPr>
              <a:t> of those objects.</a:t>
            </a:r>
          </a:p>
          <a:p>
            <a:pPr marL="342900" indent="-342900">
              <a:lnSpc>
                <a:spcPct val="150000"/>
              </a:lnSpc>
              <a:spcBef>
                <a:spcPts val="600"/>
              </a:spcBef>
              <a:spcAft>
                <a:spcPts val="600"/>
              </a:spcAft>
              <a:buFont typeface="Arial" panose="020B0604020202020204" pitchFamily="34" charset="0"/>
              <a:buChar char="•"/>
            </a:pPr>
            <a:r>
              <a:rPr lang="en-IN" sz="2000" dirty="0">
                <a:latin typeface="Trebuchet MS" panose="020B0603020202020204" pitchFamily="34" charset="0"/>
              </a:rPr>
              <a:t>OOP provides a way to organize complex programs by breaking them down into smaller, more manageable pieces. It also allows for code reusability and modularity, making it easier to maintain and extend code over time.</a:t>
            </a:r>
          </a:p>
        </p:txBody>
      </p:sp>
    </p:spTree>
    <p:extLst>
      <p:ext uri="{BB962C8B-B14F-4D97-AF65-F5344CB8AC3E}">
        <p14:creationId xmlns:p14="http://schemas.microsoft.com/office/powerpoint/2010/main" val="1929797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603705"/>
            <a:ext cx="8407107" cy="1982594"/>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kern="0" dirty="0">
                <a:solidFill>
                  <a:srgbClr val="FFFFFF"/>
                </a:solidFill>
                <a:latin typeface="Trebuchet MS" panose="020B0603020202020204" pitchFamily="34" charset="0"/>
                <a:cs typeface="Arial"/>
                <a:sym typeface="Arial"/>
              </a:rPr>
              <a:t>Procedural Vs. Object Oriented Programming</a:t>
            </a:r>
            <a:br>
              <a:rPr lang="en-IN" sz="2800" b="1" kern="0" dirty="0">
                <a:solidFill>
                  <a:srgbClr val="FFFFFF"/>
                </a:solidFill>
                <a:latin typeface="Trebuchet MS" panose="020B0603020202020204" pitchFamily="34" charset="0"/>
                <a:cs typeface="Arial"/>
                <a:sym typeface="Arial"/>
              </a:rPr>
            </a:br>
            <a:r>
              <a:rPr lang="en-IN" sz="2800" b="1" dirty="0">
                <a:solidFill>
                  <a:schemeClr val="bg1"/>
                </a:solidFill>
                <a:latin typeface="Cambria" panose="02040503050406030204" pitchFamily="18" charset="0"/>
              </a:rPr>
              <a:t> </a:t>
            </a: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7EFB6CDA-1ADA-42EE-8EE5-3BD7000FB88A}"/>
              </a:ext>
            </a:extLst>
          </p:cNvPr>
          <p:cNvSpPr txBox="1"/>
          <p:nvPr/>
        </p:nvSpPr>
        <p:spPr>
          <a:xfrm>
            <a:off x="994952" y="1726775"/>
            <a:ext cx="9802357" cy="3939540"/>
          </a:xfrm>
          <a:prstGeom prst="rect">
            <a:avLst/>
          </a:prstGeom>
          <a:noFill/>
        </p:spPr>
        <p:txBody>
          <a:bodyPr wrap="square">
            <a:spAutoFit/>
          </a:bodyPr>
          <a:lstStyle/>
          <a:p>
            <a:pPr algn="l">
              <a:spcBef>
                <a:spcPts val="600"/>
              </a:spcBef>
              <a:spcAft>
                <a:spcPts val="600"/>
              </a:spcAft>
            </a:pPr>
            <a:r>
              <a:rPr lang="en-IN" sz="2000" b="1" i="0" u="none" strike="noStrike" baseline="0" dirty="0">
                <a:solidFill>
                  <a:srgbClr val="0070C0"/>
                </a:solidFill>
                <a:latin typeface="Trebuchet MS" panose="020B0603020202020204" pitchFamily="34" charset="0"/>
              </a:rPr>
              <a:t>Benefits of OOPs:</a:t>
            </a:r>
          </a:p>
          <a:p>
            <a:pPr algn="l">
              <a:spcBef>
                <a:spcPts val="600"/>
              </a:spcBef>
              <a:spcAft>
                <a:spcPts val="600"/>
              </a:spcAft>
            </a:pPr>
            <a:r>
              <a:rPr lang="en-IN" sz="2000" b="0" i="0" u="none" strike="noStrike" baseline="0" dirty="0">
                <a:latin typeface="Trebuchet MS" panose="020B0603020202020204" pitchFamily="34" charset="0"/>
              </a:rPr>
              <a:t>OOP offers several benefits to both the program designer and user.</a:t>
            </a:r>
          </a:p>
          <a:p>
            <a:pPr marL="285750" indent="-285750" algn="l">
              <a:spcBef>
                <a:spcPts val="600"/>
              </a:spcBef>
              <a:spcAft>
                <a:spcPts val="600"/>
              </a:spcAft>
              <a:buFont typeface="Arial" panose="020B0604020202020204" pitchFamily="34" charset="0"/>
              <a:buChar char="•"/>
            </a:pPr>
            <a:r>
              <a:rPr lang="en-IN" sz="2000" dirty="0">
                <a:latin typeface="Trebuchet MS" panose="020B0603020202020204" pitchFamily="34" charset="0"/>
              </a:rPr>
              <a:t>Through inheritance, we can eliminate redundant code and extend the use of existing classes.</a:t>
            </a:r>
          </a:p>
          <a:p>
            <a:pPr marL="285750" indent="-285750" algn="l">
              <a:spcBef>
                <a:spcPts val="600"/>
              </a:spcBef>
              <a:spcAft>
                <a:spcPts val="600"/>
              </a:spcAft>
              <a:buFont typeface="Arial" panose="020B0604020202020204" pitchFamily="34" charset="0"/>
              <a:buChar char="•"/>
            </a:pPr>
            <a:r>
              <a:rPr lang="en-IN" sz="2000" dirty="0">
                <a:latin typeface="Trebuchet MS" panose="020B0603020202020204" pitchFamily="34" charset="0"/>
              </a:rPr>
              <a:t>The principle of data hiding helps the programmer to build secure programs that cannot be invaded by code on other parts of the program.</a:t>
            </a:r>
          </a:p>
          <a:p>
            <a:pPr marL="285750" indent="-285750" algn="l">
              <a:spcBef>
                <a:spcPts val="600"/>
              </a:spcBef>
              <a:spcAft>
                <a:spcPts val="600"/>
              </a:spcAft>
              <a:buFont typeface="Arial" panose="020B0604020202020204" pitchFamily="34" charset="0"/>
              <a:buChar char="•"/>
            </a:pPr>
            <a:r>
              <a:rPr lang="en-IN" sz="2000" dirty="0">
                <a:latin typeface="Trebuchet MS" panose="020B0603020202020204" pitchFamily="34" charset="0"/>
              </a:rPr>
              <a:t>It is possible to have multiple instances of on object to co-exist without any interference.</a:t>
            </a:r>
          </a:p>
          <a:p>
            <a:pPr marL="285750" indent="-285750" algn="l">
              <a:spcBef>
                <a:spcPts val="600"/>
              </a:spcBef>
              <a:spcAft>
                <a:spcPts val="600"/>
              </a:spcAft>
              <a:buFont typeface="Arial" panose="020B0604020202020204" pitchFamily="34" charset="0"/>
              <a:buChar char="•"/>
            </a:pPr>
            <a:r>
              <a:rPr lang="en-IN" sz="2000" dirty="0">
                <a:latin typeface="Trebuchet MS" panose="020B0603020202020204" pitchFamily="34" charset="0"/>
              </a:rPr>
              <a:t>It is possible to map objects in the problem domain to those objects in the program.</a:t>
            </a:r>
          </a:p>
        </p:txBody>
      </p:sp>
    </p:spTree>
    <p:extLst>
      <p:ext uri="{BB962C8B-B14F-4D97-AF65-F5344CB8AC3E}">
        <p14:creationId xmlns:p14="http://schemas.microsoft.com/office/powerpoint/2010/main" val="347415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42150"/>
            <a:ext cx="8407107" cy="1859483"/>
          </a:xfrm>
          <a:prstGeom prst="rect">
            <a:avLst/>
          </a:prstGeom>
        </p:spPr>
        <p:txBody>
          <a:bodyPr vert="horz" wrap="square" lIns="0" tIns="12700" rIns="0" bIns="0" rtlCol="0">
            <a:spAutoFit/>
          </a:bodyPr>
          <a:lstStyle/>
          <a:p>
            <a:pPr marL="12700">
              <a:lnSpc>
                <a:spcPct val="100000"/>
              </a:lnSpc>
              <a:spcBef>
                <a:spcPts val="100"/>
              </a:spcBef>
            </a:pPr>
            <a:br>
              <a:rPr lang="en-IN" sz="2400" b="1" kern="0" dirty="0">
                <a:solidFill>
                  <a:srgbClr val="FFFFFF"/>
                </a:solidFill>
                <a:latin typeface="Trebuchet MS" panose="020B0603020202020204" pitchFamily="34" charset="0"/>
                <a:cs typeface="Arial"/>
                <a:sym typeface="Arial"/>
              </a:rPr>
            </a:br>
            <a:br>
              <a:rPr lang="en-IN" sz="2400" b="1" kern="0" dirty="0">
                <a:solidFill>
                  <a:srgbClr val="FFFFFF"/>
                </a:solidFill>
                <a:latin typeface="Trebuchet MS" panose="020B0603020202020204" pitchFamily="34" charset="0"/>
                <a:cs typeface="Arial"/>
                <a:sym typeface="Arial"/>
              </a:rPr>
            </a:br>
            <a:r>
              <a:rPr lang="en-IN" sz="2400" b="1" kern="0" dirty="0">
                <a:solidFill>
                  <a:srgbClr val="FFFFFF"/>
                </a:solidFill>
                <a:latin typeface="Trebuchet MS" panose="020B0603020202020204" pitchFamily="34" charset="0"/>
                <a:cs typeface="Arial"/>
                <a:sym typeface="Arial"/>
              </a:rPr>
              <a:t>Procedural Vs. Object Oriented Programming</a:t>
            </a:r>
            <a:br>
              <a:rPr lang="en-IN" sz="2400" b="1" kern="0" dirty="0">
                <a:solidFill>
                  <a:srgbClr val="FFFFFF"/>
                </a:solidFill>
                <a:latin typeface="Trebuchet MS" panose="020B0603020202020204" pitchFamily="34" charset="0"/>
                <a:cs typeface="Arial"/>
                <a:sym typeface="Arial"/>
              </a:rPr>
            </a:br>
            <a:br>
              <a:rPr lang="en-IN" sz="2400" b="1" dirty="0">
                <a:solidFill>
                  <a:schemeClr val="bg1"/>
                </a:solidFill>
                <a:latin typeface="Cambria" panose="02040503050406030204" pitchFamily="18" charset="0"/>
              </a:rPr>
            </a:br>
            <a:endParaRPr sz="2400" dirty="0"/>
          </a:p>
        </p:txBody>
      </p:sp>
      <p:sp>
        <p:nvSpPr>
          <p:cNvPr id="4" name="TextBox 3">
            <a:extLst>
              <a:ext uri="{FF2B5EF4-FFF2-40B4-BE49-F238E27FC236}">
                <a16:creationId xmlns:a16="http://schemas.microsoft.com/office/drawing/2014/main" id="{33B9645B-4705-46D8-BBDF-7FB382A51B4B}"/>
              </a:ext>
            </a:extLst>
          </p:cNvPr>
          <p:cNvSpPr txBox="1"/>
          <p:nvPr/>
        </p:nvSpPr>
        <p:spPr>
          <a:xfrm>
            <a:off x="357394" y="1219001"/>
            <a:ext cx="4640316"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600"/>
              </a:spcBef>
              <a:spcAft>
                <a:spcPts val="600"/>
              </a:spcAft>
              <a:buClr>
                <a:srgbClr val="000000"/>
              </a:buClr>
              <a:buSzTx/>
              <a:buFont typeface="Arial"/>
              <a:buNone/>
              <a:tabLst/>
              <a:defRPr/>
            </a:pPr>
            <a:r>
              <a:rPr kumimoji="0" lang="en-IN" sz="2000" b="1" i="0" u="none" strike="noStrike" kern="0" cap="none" spc="0" normalizeH="0" baseline="0" noProof="0" dirty="0">
                <a:ln>
                  <a:noFill/>
                </a:ln>
                <a:solidFill>
                  <a:srgbClr val="0070C0"/>
                </a:solidFill>
                <a:effectLst/>
                <a:uLnTx/>
                <a:uFillTx/>
                <a:latin typeface="Trebuchet MS" panose="020B0603020202020204" pitchFamily="34" charset="0"/>
                <a:cs typeface="Arial"/>
                <a:sym typeface="Arial"/>
              </a:rPr>
              <a:t>Benefits of OOPs: (Continued…)</a:t>
            </a:r>
          </a:p>
        </p:txBody>
      </p:sp>
      <p:sp>
        <p:nvSpPr>
          <p:cNvPr id="6" name="TextBox 2">
            <a:extLst>
              <a:ext uri="{FF2B5EF4-FFF2-40B4-BE49-F238E27FC236}">
                <a16:creationId xmlns:a16="http://schemas.microsoft.com/office/drawing/2014/main" id="{C85CD050-D8D3-448B-A747-39D8186BC77F}"/>
              </a:ext>
            </a:extLst>
          </p:cNvPr>
          <p:cNvSpPr txBox="1"/>
          <p:nvPr/>
        </p:nvSpPr>
        <p:spPr>
          <a:xfrm>
            <a:off x="478275" y="2026045"/>
            <a:ext cx="9764852" cy="3139321"/>
          </a:xfrm>
          <a:prstGeom prst="rect">
            <a:avLst/>
          </a:prstGeom>
          <a:noFill/>
        </p:spPr>
        <p:txBody>
          <a:bodyPr wrap="square">
            <a:spAutoFit/>
          </a:bodyPr>
          <a:lstStyle/>
          <a:p>
            <a:pPr marL="285750" indent="-285750" algn="l">
              <a:spcBef>
                <a:spcPts val="600"/>
              </a:spcBef>
              <a:spcAft>
                <a:spcPts val="600"/>
              </a:spcAft>
              <a:buFont typeface="Arial" panose="020B0604020202020204" pitchFamily="34" charset="0"/>
              <a:buChar char="•"/>
            </a:pPr>
            <a:r>
              <a:rPr lang="en-IN" sz="2400" dirty="0">
                <a:latin typeface="Trebuchet MS" panose="020B0603020202020204" pitchFamily="34" charset="0"/>
              </a:rPr>
              <a:t>It is easy to partition the work in a project based on objects.</a:t>
            </a:r>
          </a:p>
          <a:p>
            <a:pPr marL="285750" indent="-285750" algn="l">
              <a:spcBef>
                <a:spcPts val="600"/>
              </a:spcBef>
              <a:spcAft>
                <a:spcPts val="600"/>
              </a:spcAft>
              <a:buFont typeface="Arial" panose="020B0604020202020204" pitchFamily="34" charset="0"/>
              <a:buChar char="•"/>
            </a:pPr>
            <a:r>
              <a:rPr lang="en-IN" sz="2400" dirty="0">
                <a:latin typeface="Trebuchet MS" panose="020B0603020202020204" pitchFamily="34" charset="0"/>
              </a:rPr>
              <a:t>Object-oriented systems can be easily upgraded from small to large systems.</a:t>
            </a:r>
          </a:p>
          <a:p>
            <a:pPr marL="285750" indent="-285750" algn="l">
              <a:spcBef>
                <a:spcPts val="600"/>
              </a:spcBef>
              <a:spcAft>
                <a:spcPts val="600"/>
              </a:spcAft>
              <a:buFont typeface="Arial" panose="020B0604020202020204" pitchFamily="34" charset="0"/>
              <a:buChar char="•"/>
            </a:pPr>
            <a:r>
              <a:rPr lang="en-IN" sz="2400" dirty="0">
                <a:latin typeface="Trebuchet MS" panose="020B0603020202020204" pitchFamily="34" charset="0"/>
              </a:rPr>
              <a:t>Message passing techniques for communication between objects makes the interface descriptions with external systems much simpler.</a:t>
            </a:r>
          </a:p>
          <a:p>
            <a:pPr marL="285750" indent="-285750" algn="l">
              <a:spcBef>
                <a:spcPts val="600"/>
              </a:spcBef>
              <a:spcAft>
                <a:spcPts val="600"/>
              </a:spcAft>
              <a:buFont typeface="Arial" panose="020B0604020202020204" pitchFamily="34" charset="0"/>
              <a:buChar char="•"/>
            </a:pPr>
            <a:r>
              <a:rPr lang="en-IN" sz="2400" dirty="0">
                <a:latin typeface="Trebuchet MS" panose="020B0603020202020204" pitchFamily="34" charset="0"/>
              </a:rPr>
              <a:t>Software complexity can be easily managed.</a:t>
            </a:r>
          </a:p>
        </p:txBody>
      </p:sp>
    </p:spTree>
    <p:extLst>
      <p:ext uri="{BB962C8B-B14F-4D97-AF65-F5344CB8AC3E}">
        <p14:creationId xmlns:p14="http://schemas.microsoft.com/office/powerpoint/2010/main" val="669500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7"/>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kern="0" dirty="0">
                <a:solidFill>
                  <a:srgbClr val="FFFFFF"/>
                </a:solidFill>
                <a:latin typeface="Trebuchet MS" panose="020B0603020202020204" pitchFamily="34" charset="0"/>
                <a:cs typeface="Arial"/>
                <a:sym typeface="Arial"/>
              </a:rPr>
              <a:t>Procedural Vs. Object Oriented Programming</a:t>
            </a:r>
            <a:br>
              <a:rPr lang="en-IN" sz="2800" b="1" kern="0" dirty="0">
                <a:solidFill>
                  <a:srgbClr val="FFFFFF"/>
                </a:solidFill>
                <a:latin typeface="Trebuchet MS" panose="020B0603020202020204" pitchFamily="34" charset="0"/>
                <a:cs typeface="Arial"/>
                <a:sym typeface="Arial"/>
              </a:rPr>
            </a:br>
            <a:br>
              <a:rPr lang="en-IN" sz="2400" b="1" dirty="0">
                <a:solidFill>
                  <a:schemeClr val="bg1"/>
                </a:solidFill>
                <a:latin typeface="Cambria" panose="02040503050406030204" pitchFamily="18" charset="0"/>
              </a:rPr>
            </a:br>
            <a:endParaRPr sz="2400" dirty="0"/>
          </a:p>
        </p:txBody>
      </p:sp>
      <p:pic>
        <p:nvPicPr>
          <p:cNvPr id="3" name="Picture 1">
            <a:extLst>
              <a:ext uri="{FF2B5EF4-FFF2-40B4-BE49-F238E27FC236}">
                <a16:creationId xmlns:a16="http://schemas.microsoft.com/office/drawing/2014/main" id="{9BF33154-BF8E-4AFB-A157-17ED0DF790D9}"/>
              </a:ext>
            </a:extLst>
          </p:cNvPr>
          <p:cNvPicPr>
            <a:picLocks noChangeAspect="1"/>
          </p:cNvPicPr>
          <p:nvPr/>
        </p:nvPicPr>
        <p:blipFill>
          <a:blip r:embed="rId3"/>
          <a:stretch>
            <a:fillRect/>
          </a:stretch>
        </p:blipFill>
        <p:spPr>
          <a:xfrm>
            <a:off x="1708728" y="2562898"/>
            <a:ext cx="8866908" cy="3431501"/>
          </a:xfrm>
          <a:prstGeom prst="rect">
            <a:avLst/>
          </a:prstGeom>
        </p:spPr>
      </p:pic>
    </p:spTree>
    <p:extLst>
      <p:ext uri="{BB962C8B-B14F-4D97-AF65-F5344CB8AC3E}">
        <p14:creationId xmlns:p14="http://schemas.microsoft.com/office/powerpoint/2010/main" val="1273204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7"/>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kern="0" dirty="0">
                <a:solidFill>
                  <a:srgbClr val="FFFFFF"/>
                </a:solidFill>
                <a:latin typeface="Trebuchet MS" panose="020B0603020202020204" pitchFamily="34" charset="0"/>
                <a:cs typeface="Arial"/>
                <a:sym typeface="Arial"/>
              </a:rPr>
              <a:t>Procedural Vs. Object Oriented Programming</a:t>
            </a:r>
            <a:br>
              <a:rPr lang="en-IN" sz="2800" b="1" kern="0" dirty="0">
                <a:solidFill>
                  <a:srgbClr val="FFFFFF"/>
                </a:solidFill>
                <a:latin typeface="Trebuchet MS" panose="020B0603020202020204" pitchFamily="34" charset="0"/>
                <a:cs typeface="Arial"/>
                <a:sym typeface="Arial"/>
              </a:rPr>
            </a:br>
            <a:br>
              <a:rPr lang="en-IN" sz="2400" b="1" dirty="0">
                <a:solidFill>
                  <a:schemeClr val="bg1"/>
                </a:solidFill>
                <a:latin typeface="Cambria" panose="02040503050406030204" pitchFamily="18" charset="0"/>
              </a:rPr>
            </a:br>
            <a:endParaRPr sz="2400" dirty="0"/>
          </a:p>
        </p:txBody>
      </p:sp>
      <p:graphicFrame>
        <p:nvGraphicFramePr>
          <p:cNvPr id="3" name="Table 2">
            <a:extLst>
              <a:ext uri="{FF2B5EF4-FFF2-40B4-BE49-F238E27FC236}">
                <a16:creationId xmlns:a16="http://schemas.microsoft.com/office/drawing/2014/main" id="{D8F7DF9F-2A63-47EB-B0CB-CBA862013867}"/>
              </a:ext>
            </a:extLst>
          </p:cNvPr>
          <p:cNvGraphicFramePr>
            <a:graphicFrameLocks noGrp="1"/>
          </p:cNvGraphicFramePr>
          <p:nvPr>
            <p:extLst>
              <p:ext uri="{D42A27DB-BD31-4B8C-83A1-F6EECF244321}">
                <p14:modId xmlns:p14="http://schemas.microsoft.com/office/powerpoint/2010/main" val="1400291943"/>
              </p:ext>
            </p:extLst>
          </p:nvPr>
        </p:nvGraphicFramePr>
        <p:xfrm>
          <a:off x="1025237" y="1854267"/>
          <a:ext cx="9097817" cy="4611187"/>
        </p:xfrm>
        <a:graphic>
          <a:graphicData uri="http://schemas.openxmlformats.org/drawingml/2006/table">
            <a:tbl>
              <a:tblPr firstRow="1" firstCol="1" bandRow="1">
                <a:tableStyleId>{BC89EF96-8CEA-46FF-86C4-4CE0E7609802}</a:tableStyleId>
              </a:tblPr>
              <a:tblGrid>
                <a:gridCol w="1806557">
                  <a:extLst>
                    <a:ext uri="{9D8B030D-6E8A-4147-A177-3AD203B41FA5}">
                      <a16:colId xmlns:a16="http://schemas.microsoft.com/office/drawing/2014/main" val="2142163230"/>
                    </a:ext>
                  </a:extLst>
                </a:gridCol>
                <a:gridCol w="3750300">
                  <a:extLst>
                    <a:ext uri="{9D8B030D-6E8A-4147-A177-3AD203B41FA5}">
                      <a16:colId xmlns:a16="http://schemas.microsoft.com/office/drawing/2014/main" val="1363010338"/>
                    </a:ext>
                  </a:extLst>
                </a:gridCol>
                <a:gridCol w="3540960">
                  <a:extLst>
                    <a:ext uri="{9D8B030D-6E8A-4147-A177-3AD203B41FA5}">
                      <a16:colId xmlns:a16="http://schemas.microsoft.com/office/drawing/2014/main" val="1500186730"/>
                    </a:ext>
                  </a:extLst>
                </a:gridCol>
              </a:tblGrid>
              <a:tr h="389944">
                <a:tc>
                  <a:txBody>
                    <a:bodyPr/>
                    <a:lstStyle/>
                    <a:p>
                      <a:pPr algn="l">
                        <a:lnSpc>
                          <a:spcPct val="107000"/>
                        </a:lnSpc>
                        <a:spcAft>
                          <a:spcPts val="800"/>
                        </a:spcAft>
                      </a:pPr>
                      <a:r>
                        <a:rPr lang="en-IN" sz="1400" b="1" dirty="0">
                          <a:solidFill>
                            <a:srgbClr val="303133"/>
                          </a:solidFill>
                          <a:effectLst/>
                        </a:rPr>
                        <a:t>Parameters</a:t>
                      </a:r>
                      <a:endParaRPr lang="en-IN" sz="12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gn="ctr">
                        <a:lnSpc>
                          <a:spcPct val="107000"/>
                        </a:lnSpc>
                        <a:spcAft>
                          <a:spcPts val="800"/>
                        </a:spcAft>
                      </a:pPr>
                      <a:r>
                        <a:rPr lang="en-IN" sz="1400" b="1" dirty="0">
                          <a:solidFill>
                            <a:srgbClr val="303133"/>
                          </a:solidFill>
                          <a:effectLst/>
                        </a:rPr>
                        <a:t>POP</a:t>
                      </a:r>
                      <a:endParaRPr lang="en-IN" sz="12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ct val="107000"/>
                        </a:lnSpc>
                        <a:spcAft>
                          <a:spcPts val="800"/>
                        </a:spcAft>
                      </a:pPr>
                      <a:r>
                        <a:rPr lang="en-IN" sz="1400" b="1" dirty="0">
                          <a:solidFill>
                            <a:srgbClr val="303133"/>
                          </a:solidFill>
                          <a:effectLst/>
                        </a:rPr>
                        <a:t>OOP</a:t>
                      </a:r>
                      <a:endParaRPr lang="en-IN" sz="12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759898712"/>
                  </a:ext>
                </a:extLst>
              </a:tr>
              <a:tr h="595641">
                <a:tc>
                  <a:txBody>
                    <a:bodyPr/>
                    <a:lstStyle/>
                    <a:p>
                      <a:pPr>
                        <a:lnSpc>
                          <a:spcPct val="107000"/>
                        </a:lnSpc>
                        <a:spcAft>
                          <a:spcPts val="800"/>
                        </a:spcAft>
                      </a:pPr>
                      <a:r>
                        <a:rPr lang="en-IN" sz="1100" b="1" dirty="0">
                          <a:solidFill>
                            <a:srgbClr val="0070C0"/>
                          </a:solidFill>
                          <a:effectLst/>
                        </a:rPr>
                        <a:t>Basic Definition</a:t>
                      </a:r>
                      <a:endParaRPr lang="en-IN" sz="1050" b="1" i="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POP is structure or procedure-oriented.</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a:solidFill>
                            <a:srgbClr val="303133"/>
                          </a:solidFill>
                          <a:effectLst/>
                        </a:rPr>
                        <a:t>OOP is object-oriented.</a:t>
                      </a:r>
                      <a:endParaRPr lang="en-IN" sz="105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332401569"/>
                  </a:ext>
                </a:extLst>
              </a:tr>
              <a:tr h="595641">
                <a:tc>
                  <a:txBody>
                    <a:bodyPr/>
                    <a:lstStyle/>
                    <a:p>
                      <a:pPr>
                        <a:lnSpc>
                          <a:spcPct val="107000"/>
                        </a:lnSpc>
                        <a:spcAft>
                          <a:spcPts val="800"/>
                        </a:spcAft>
                      </a:pPr>
                      <a:r>
                        <a:rPr lang="en-IN" sz="1100" b="1" dirty="0">
                          <a:solidFill>
                            <a:srgbClr val="0070C0"/>
                          </a:solidFill>
                          <a:effectLst/>
                        </a:rPr>
                        <a:t>Program Division</a:t>
                      </a:r>
                      <a:endParaRPr lang="en-IN" sz="1050" b="1" i="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The program is divided into functions.</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The program is divided into objects.</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03420874"/>
                  </a:ext>
                </a:extLst>
              </a:tr>
              <a:tr h="377162">
                <a:tc>
                  <a:txBody>
                    <a:bodyPr/>
                    <a:lstStyle/>
                    <a:p>
                      <a:pPr>
                        <a:lnSpc>
                          <a:spcPct val="107000"/>
                        </a:lnSpc>
                        <a:spcAft>
                          <a:spcPts val="800"/>
                        </a:spcAft>
                      </a:pPr>
                      <a:r>
                        <a:rPr lang="en-IN" sz="1100" b="1" dirty="0">
                          <a:solidFill>
                            <a:srgbClr val="0070C0"/>
                          </a:solidFill>
                          <a:effectLst/>
                        </a:rPr>
                        <a:t>Approach</a:t>
                      </a:r>
                      <a:endParaRPr lang="en-IN" sz="1050" b="1" i="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Top-down approach</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Bottom-Up approach</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138086193"/>
                  </a:ext>
                </a:extLst>
              </a:tr>
              <a:tr h="595641">
                <a:tc>
                  <a:txBody>
                    <a:bodyPr/>
                    <a:lstStyle/>
                    <a:p>
                      <a:pPr>
                        <a:lnSpc>
                          <a:spcPct val="107000"/>
                        </a:lnSpc>
                        <a:spcAft>
                          <a:spcPts val="800"/>
                        </a:spcAft>
                      </a:pPr>
                      <a:r>
                        <a:rPr lang="en-IN" sz="1100" b="1" dirty="0">
                          <a:solidFill>
                            <a:srgbClr val="0070C0"/>
                          </a:solidFill>
                          <a:effectLst/>
                        </a:rPr>
                        <a:t>Data Control</a:t>
                      </a:r>
                      <a:endParaRPr lang="en-IN" sz="1050" b="1" i="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Every function has different data, so there’s no control over it.</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Data in each object is controlled on its own.</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223349533"/>
                  </a:ext>
                </a:extLst>
              </a:tr>
              <a:tr h="595641">
                <a:tc>
                  <a:txBody>
                    <a:bodyPr/>
                    <a:lstStyle/>
                    <a:p>
                      <a:pPr>
                        <a:lnSpc>
                          <a:spcPct val="107000"/>
                        </a:lnSpc>
                        <a:spcAft>
                          <a:spcPts val="800"/>
                        </a:spcAft>
                      </a:pPr>
                      <a:r>
                        <a:rPr lang="en-IN" sz="1100" b="1" dirty="0">
                          <a:solidFill>
                            <a:srgbClr val="0070C0"/>
                          </a:solidFill>
                          <a:effectLst/>
                        </a:rPr>
                        <a:t>Entity Linkage</a:t>
                      </a:r>
                      <a:endParaRPr lang="en-IN" sz="1050" b="1" i="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Parts of a program are linked through parameter passing.</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Object functions are linked through message passing.</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646733631"/>
                  </a:ext>
                </a:extLst>
              </a:tr>
              <a:tr h="595641">
                <a:tc>
                  <a:txBody>
                    <a:bodyPr/>
                    <a:lstStyle/>
                    <a:p>
                      <a:pPr>
                        <a:lnSpc>
                          <a:spcPct val="107000"/>
                        </a:lnSpc>
                        <a:spcAft>
                          <a:spcPts val="800"/>
                        </a:spcAft>
                      </a:pPr>
                      <a:r>
                        <a:rPr lang="en-IN" sz="1100" b="1" dirty="0">
                          <a:solidFill>
                            <a:srgbClr val="0070C0"/>
                          </a:solidFill>
                          <a:effectLst/>
                        </a:rPr>
                        <a:t>Expansion</a:t>
                      </a:r>
                      <a:endParaRPr lang="en-IN" sz="1050" b="1" i="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a:solidFill>
                            <a:srgbClr val="303133"/>
                          </a:solidFill>
                          <a:effectLst/>
                        </a:rPr>
                        <a:t>Expanding data and function is not easy.</a:t>
                      </a:r>
                      <a:endParaRPr lang="en-IN" sz="105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Adding new data and functions is easy.</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53222746"/>
                  </a:ext>
                </a:extLst>
              </a:tr>
              <a:tr h="432938">
                <a:tc>
                  <a:txBody>
                    <a:bodyPr/>
                    <a:lstStyle/>
                    <a:p>
                      <a:pPr>
                        <a:lnSpc>
                          <a:spcPct val="107000"/>
                        </a:lnSpc>
                        <a:spcAft>
                          <a:spcPts val="800"/>
                        </a:spcAft>
                      </a:pPr>
                      <a:r>
                        <a:rPr lang="en-IN" sz="1100" b="1" dirty="0">
                          <a:solidFill>
                            <a:srgbClr val="0070C0"/>
                          </a:solidFill>
                          <a:effectLst/>
                        </a:rPr>
                        <a:t>Inheritance</a:t>
                      </a:r>
                      <a:endParaRPr lang="en-IN" sz="1050" b="1" i="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a:solidFill>
                            <a:srgbClr val="303133"/>
                          </a:solidFill>
                          <a:effectLst/>
                        </a:rPr>
                        <a:t>Inheritance is not supported.</a:t>
                      </a:r>
                      <a:endParaRPr lang="en-IN" sz="105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Inheritance is supported in three modes: public, private &amp; protected.</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573987436"/>
                  </a:ext>
                </a:extLst>
              </a:tr>
              <a:tr h="432938">
                <a:tc>
                  <a:txBody>
                    <a:bodyPr/>
                    <a:lstStyle/>
                    <a:p>
                      <a:pPr>
                        <a:lnSpc>
                          <a:spcPct val="107000"/>
                        </a:lnSpc>
                        <a:spcAft>
                          <a:spcPts val="800"/>
                        </a:spcAft>
                      </a:pPr>
                      <a:r>
                        <a:rPr lang="en-IN" sz="1100" b="1" dirty="0">
                          <a:solidFill>
                            <a:srgbClr val="0070C0"/>
                          </a:solidFill>
                          <a:effectLst/>
                        </a:rPr>
                        <a:t>Access control</a:t>
                      </a:r>
                      <a:endParaRPr lang="en-IN" sz="1050" b="1" i="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No access modifiers supported.</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Access control is done with access modifiers.</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156903733"/>
                  </a:ext>
                </a:extLst>
              </a:tr>
            </a:tbl>
          </a:graphicData>
        </a:graphic>
      </p:graphicFrame>
    </p:spTree>
    <p:extLst>
      <p:ext uri="{BB962C8B-B14F-4D97-AF65-F5344CB8AC3E}">
        <p14:creationId xmlns:p14="http://schemas.microsoft.com/office/powerpoint/2010/main" val="4201942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788371"/>
            <a:ext cx="8407107" cy="2351926"/>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US" sz="2800" b="1" dirty="0">
                <a:solidFill>
                  <a:srgbClr val="FFFFFF"/>
                </a:solidFill>
                <a:latin typeface="Trebuchet MS" panose="020B0603020202020204" pitchFamily="34" charset="0"/>
              </a:rPr>
              <a:t>Difference  between POP and OOP </a:t>
            </a:r>
            <a:br>
              <a:rPr lang="en-IN" sz="2800" b="1" dirty="0">
                <a:solidFill>
                  <a:srgbClr val="FFFFFF"/>
                </a:solidFill>
                <a:latin typeface="Trebuchet MS" panose="020B0603020202020204" pitchFamily="34" charset="0"/>
              </a:rPr>
            </a:br>
            <a:r>
              <a:rPr lang="en-IN" sz="2800" b="1" dirty="0">
                <a:solidFill>
                  <a:schemeClr val="bg1"/>
                </a:solidFill>
                <a:latin typeface="Cambria" panose="02040503050406030204" pitchFamily="18" charset="0"/>
              </a:rPr>
              <a:t> </a:t>
            </a:r>
            <a:br>
              <a:rPr lang="en-IN" sz="2400" b="1" dirty="0">
                <a:solidFill>
                  <a:schemeClr val="bg1"/>
                </a:solidFill>
                <a:latin typeface="Cambria" panose="02040503050406030204" pitchFamily="18" charset="0"/>
              </a:rPr>
            </a:br>
            <a:endParaRPr sz="2400" dirty="0"/>
          </a:p>
        </p:txBody>
      </p:sp>
      <p:graphicFrame>
        <p:nvGraphicFramePr>
          <p:cNvPr id="3" name="Table 7">
            <a:extLst>
              <a:ext uri="{FF2B5EF4-FFF2-40B4-BE49-F238E27FC236}">
                <a16:creationId xmlns:a16="http://schemas.microsoft.com/office/drawing/2014/main" id="{4182A222-7F16-4DCD-928D-07C9ACD3F745}"/>
              </a:ext>
            </a:extLst>
          </p:cNvPr>
          <p:cNvGraphicFramePr>
            <a:graphicFrameLocks noGrp="1"/>
          </p:cNvGraphicFramePr>
          <p:nvPr>
            <p:extLst>
              <p:ext uri="{D42A27DB-BD31-4B8C-83A1-F6EECF244321}">
                <p14:modId xmlns:p14="http://schemas.microsoft.com/office/powerpoint/2010/main" val="1673016703"/>
              </p:ext>
            </p:extLst>
          </p:nvPr>
        </p:nvGraphicFramePr>
        <p:xfrm>
          <a:off x="840509" y="1673781"/>
          <a:ext cx="9827490" cy="4662366"/>
        </p:xfrm>
        <a:graphic>
          <a:graphicData uri="http://schemas.openxmlformats.org/drawingml/2006/table">
            <a:tbl>
              <a:tblPr firstRow="1" firstCol="1" bandRow="1">
                <a:tableStyleId>{BC89EF96-8CEA-46FF-86C4-4CE0E7609802}</a:tableStyleId>
              </a:tblPr>
              <a:tblGrid>
                <a:gridCol w="1951449">
                  <a:extLst>
                    <a:ext uri="{9D8B030D-6E8A-4147-A177-3AD203B41FA5}">
                      <a16:colId xmlns:a16="http://schemas.microsoft.com/office/drawing/2014/main" val="2142163230"/>
                    </a:ext>
                  </a:extLst>
                </a:gridCol>
                <a:gridCol w="4051086">
                  <a:extLst>
                    <a:ext uri="{9D8B030D-6E8A-4147-A177-3AD203B41FA5}">
                      <a16:colId xmlns:a16="http://schemas.microsoft.com/office/drawing/2014/main" val="1363010338"/>
                    </a:ext>
                  </a:extLst>
                </a:gridCol>
                <a:gridCol w="3824955">
                  <a:extLst>
                    <a:ext uri="{9D8B030D-6E8A-4147-A177-3AD203B41FA5}">
                      <a16:colId xmlns:a16="http://schemas.microsoft.com/office/drawing/2014/main" val="1500186730"/>
                    </a:ext>
                  </a:extLst>
                </a:gridCol>
              </a:tblGrid>
              <a:tr h="384619">
                <a:tc>
                  <a:txBody>
                    <a:bodyPr/>
                    <a:lstStyle/>
                    <a:p>
                      <a:pPr>
                        <a:lnSpc>
                          <a:spcPct val="107000"/>
                        </a:lnSpc>
                        <a:spcAft>
                          <a:spcPts val="800"/>
                        </a:spcAft>
                      </a:pPr>
                      <a:r>
                        <a:rPr lang="en-IN" sz="1400" b="1" dirty="0">
                          <a:solidFill>
                            <a:srgbClr val="303133"/>
                          </a:solidFill>
                          <a:effectLst/>
                        </a:rPr>
                        <a:t>Parameters</a:t>
                      </a:r>
                      <a:endParaRPr lang="en-IN" sz="12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gn="ctr">
                        <a:lnSpc>
                          <a:spcPct val="107000"/>
                        </a:lnSpc>
                        <a:spcAft>
                          <a:spcPts val="800"/>
                        </a:spcAft>
                      </a:pPr>
                      <a:r>
                        <a:rPr lang="en-IN" sz="1400" b="1" dirty="0">
                          <a:solidFill>
                            <a:srgbClr val="303133"/>
                          </a:solidFill>
                          <a:effectLst/>
                        </a:rPr>
                        <a:t>POP</a:t>
                      </a:r>
                      <a:endParaRPr lang="en-IN" sz="12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tc>
                  <a:txBody>
                    <a:bodyPr/>
                    <a:lstStyle/>
                    <a:p>
                      <a:pPr algn="ctr">
                        <a:lnSpc>
                          <a:spcPct val="107000"/>
                        </a:lnSpc>
                        <a:spcAft>
                          <a:spcPts val="800"/>
                        </a:spcAft>
                      </a:pPr>
                      <a:r>
                        <a:rPr lang="en-IN" sz="1400" b="1" dirty="0">
                          <a:solidFill>
                            <a:srgbClr val="303133"/>
                          </a:solidFill>
                          <a:effectLst/>
                        </a:rPr>
                        <a:t>OOP</a:t>
                      </a:r>
                      <a:endParaRPr lang="en-IN" sz="120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759898712"/>
                  </a:ext>
                </a:extLst>
              </a:tr>
              <a:tr h="603637">
                <a:tc>
                  <a:txBody>
                    <a:bodyPr/>
                    <a:lstStyle/>
                    <a:p>
                      <a:pPr>
                        <a:lnSpc>
                          <a:spcPct val="107000"/>
                        </a:lnSpc>
                        <a:spcAft>
                          <a:spcPts val="800"/>
                        </a:spcAft>
                      </a:pPr>
                      <a:r>
                        <a:rPr lang="en-IN" sz="1100" b="1" dirty="0">
                          <a:solidFill>
                            <a:srgbClr val="0070C0"/>
                          </a:solidFill>
                          <a:effectLst/>
                        </a:rPr>
                        <a:t>Basic Definition</a:t>
                      </a:r>
                      <a:endParaRPr lang="en-IN" sz="105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POP is structure or procedure-oriented.</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OOP is object-oriented.</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332401569"/>
                  </a:ext>
                </a:extLst>
              </a:tr>
              <a:tr h="603637">
                <a:tc>
                  <a:txBody>
                    <a:bodyPr/>
                    <a:lstStyle/>
                    <a:p>
                      <a:pPr>
                        <a:lnSpc>
                          <a:spcPct val="107000"/>
                        </a:lnSpc>
                        <a:spcAft>
                          <a:spcPts val="800"/>
                        </a:spcAft>
                      </a:pPr>
                      <a:r>
                        <a:rPr lang="en-IN" sz="1100" b="1" dirty="0">
                          <a:solidFill>
                            <a:srgbClr val="0070C0"/>
                          </a:solidFill>
                          <a:effectLst/>
                        </a:rPr>
                        <a:t>Program Division</a:t>
                      </a:r>
                      <a:endParaRPr lang="en-IN" sz="105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The program is divided into functions.</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The program is divided into objects.</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03420874"/>
                  </a:ext>
                </a:extLst>
              </a:tr>
              <a:tr h="382224">
                <a:tc>
                  <a:txBody>
                    <a:bodyPr/>
                    <a:lstStyle/>
                    <a:p>
                      <a:pPr>
                        <a:lnSpc>
                          <a:spcPct val="107000"/>
                        </a:lnSpc>
                        <a:spcAft>
                          <a:spcPts val="800"/>
                        </a:spcAft>
                      </a:pPr>
                      <a:r>
                        <a:rPr lang="en-IN" sz="1100" b="1" dirty="0">
                          <a:solidFill>
                            <a:srgbClr val="0070C0"/>
                          </a:solidFill>
                          <a:effectLst/>
                        </a:rPr>
                        <a:t>Approach</a:t>
                      </a:r>
                      <a:endParaRPr lang="en-IN" sz="105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Top-down approach</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Bottom-Up approach</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138086193"/>
                  </a:ext>
                </a:extLst>
              </a:tr>
              <a:tr h="603637">
                <a:tc>
                  <a:txBody>
                    <a:bodyPr/>
                    <a:lstStyle/>
                    <a:p>
                      <a:pPr>
                        <a:lnSpc>
                          <a:spcPct val="107000"/>
                        </a:lnSpc>
                        <a:spcAft>
                          <a:spcPts val="800"/>
                        </a:spcAft>
                      </a:pPr>
                      <a:r>
                        <a:rPr lang="en-IN" sz="1100" b="1" dirty="0">
                          <a:solidFill>
                            <a:srgbClr val="0070C0"/>
                          </a:solidFill>
                          <a:effectLst/>
                        </a:rPr>
                        <a:t>Data Control</a:t>
                      </a:r>
                      <a:endParaRPr lang="en-IN" sz="105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Every function has different data, so there’s no control over it.</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Data in each object is controlled on its own.</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223349533"/>
                  </a:ext>
                </a:extLst>
              </a:tr>
              <a:tr h="603637">
                <a:tc>
                  <a:txBody>
                    <a:bodyPr/>
                    <a:lstStyle/>
                    <a:p>
                      <a:pPr>
                        <a:lnSpc>
                          <a:spcPct val="107000"/>
                        </a:lnSpc>
                        <a:spcAft>
                          <a:spcPts val="800"/>
                        </a:spcAft>
                      </a:pPr>
                      <a:r>
                        <a:rPr lang="en-IN" sz="1100" b="1" dirty="0">
                          <a:solidFill>
                            <a:srgbClr val="0070C0"/>
                          </a:solidFill>
                          <a:effectLst/>
                        </a:rPr>
                        <a:t>Entity Linkage</a:t>
                      </a:r>
                      <a:endParaRPr lang="en-IN" sz="105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Parts of a program are linked through parameter passing.</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Object functions are linked through message passing.</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646733631"/>
                  </a:ext>
                </a:extLst>
              </a:tr>
              <a:tr h="603637">
                <a:tc>
                  <a:txBody>
                    <a:bodyPr/>
                    <a:lstStyle/>
                    <a:p>
                      <a:pPr>
                        <a:lnSpc>
                          <a:spcPct val="107000"/>
                        </a:lnSpc>
                        <a:spcAft>
                          <a:spcPts val="800"/>
                        </a:spcAft>
                      </a:pPr>
                      <a:r>
                        <a:rPr lang="en-IN" sz="1100" b="1" dirty="0">
                          <a:solidFill>
                            <a:srgbClr val="0070C0"/>
                          </a:solidFill>
                          <a:effectLst/>
                        </a:rPr>
                        <a:t>Expansion</a:t>
                      </a:r>
                      <a:endParaRPr lang="en-IN" sz="105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a:solidFill>
                            <a:srgbClr val="303133"/>
                          </a:solidFill>
                          <a:effectLst/>
                        </a:rPr>
                        <a:t>Expanding data and function is not easy.</a:t>
                      </a:r>
                      <a:endParaRPr lang="en-IN" sz="105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Adding new data and functions is easy.</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53222746"/>
                  </a:ext>
                </a:extLst>
              </a:tr>
              <a:tr h="438669">
                <a:tc>
                  <a:txBody>
                    <a:bodyPr/>
                    <a:lstStyle/>
                    <a:p>
                      <a:pPr>
                        <a:lnSpc>
                          <a:spcPct val="107000"/>
                        </a:lnSpc>
                        <a:spcAft>
                          <a:spcPts val="800"/>
                        </a:spcAft>
                      </a:pPr>
                      <a:r>
                        <a:rPr lang="en-IN" sz="1100" b="1" dirty="0">
                          <a:solidFill>
                            <a:srgbClr val="0070C0"/>
                          </a:solidFill>
                          <a:effectLst/>
                        </a:rPr>
                        <a:t>Inheritance</a:t>
                      </a:r>
                      <a:endParaRPr lang="en-IN" sz="105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a:solidFill>
                            <a:srgbClr val="303133"/>
                          </a:solidFill>
                          <a:effectLst/>
                        </a:rPr>
                        <a:t>Inheritance is not supported.</a:t>
                      </a:r>
                      <a:endParaRPr lang="en-IN" sz="105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Inheritance is supported in three modes: public, private &amp; protected.</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3573987436"/>
                  </a:ext>
                </a:extLst>
              </a:tr>
              <a:tr h="438669">
                <a:tc>
                  <a:txBody>
                    <a:bodyPr/>
                    <a:lstStyle/>
                    <a:p>
                      <a:pPr>
                        <a:lnSpc>
                          <a:spcPct val="107000"/>
                        </a:lnSpc>
                        <a:spcAft>
                          <a:spcPts val="800"/>
                        </a:spcAft>
                      </a:pPr>
                      <a:r>
                        <a:rPr lang="en-IN" sz="1100" b="1" dirty="0">
                          <a:solidFill>
                            <a:srgbClr val="0070C0"/>
                          </a:solidFill>
                          <a:effectLst/>
                        </a:rPr>
                        <a:t>Access control</a:t>
                      </a:r>
                      <a:endParaRPr lang="en-IN" sz="1050" dirty="0">
                        <a:solidFill>
                          <a:srgbClr val="0070C0"/>
                        </a:solidFill>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a:solidFill>
                            <a:srgbClr val="303133"/>
                          </a:solidFill>
                          <a:effectLst/>
                        </a:rPr>
                        <a:t>No access modifiers supported.</a:t>
                      </a:r>
                      <a:endParaRPr lang="en-IN" sz="1050">
                        <a:effectLst/>
                        <a:latin typeface="Trebuchet MS" panose="020B0603020202020204" pitchFamily="34" charset="0"/>
                        <a:ea typeface="Calibri" panose="020F0502020204030204" pitchFamily="34" charset="0"/>
                        <a:cs typeface="Times New Roman" panose="02020603050405020304" pitchFamily="18" charset="0"/>
                      </a:endParaRPr>
                    </a:p>
                  </a:txBody>
                  <a:tcPr marL="63346" marR="63346" marT="63346" marB="63346" anchor="ctr"/>
                </a:tc>
                <a:tc>
                  <a:txBody>
                    <a:bodyPr/>
                    <a:lstStyle/>
                    <a:p>
                      <a:pPr>
                        <a:lnSpc>
                          <a:spcPct val="107000"/>
                        </a:lnSpc>
                        <a:spcAft>
                          <a:spcPts val="800"/>
                        </a:spcAft>
                      </a:pPr>
                      <a:r>
                        <a:rPr lang="en-IN" sz="1100" dirty="0">
                          <a:solidFill>
                            <a:srgbClr val="303133"/>
                          </a:solidFill>
                          <a:effectLst/>
                        </a:rPr>
                        <a:t>Access control is done with access modifiers.</a:t>
                      </a:r>
                      <a:endParaRPr lang="en-IN" sz="1050" dirty="0">
                        <a:effectLst/>
                        <a:latin typeface="Trebuchet MS" panose="020B060302020202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156903733"/>
                  </a:ext>
                </a:extLst>
              </a:tr>
            </a:tbl>
          </a:graphicData>
        </a:graphic>
      </p:graphicFrame>
    </p:spTree>
    <p:extLst>
      <p:ext uri="{BB962C8B-B14F-4D97-AF65-F5344CB8AC3E}">
        <p14:creationId xmlns:p14="http://schemas.microsoft.com/office/powerpoint/2010/main" val="3772835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7"/>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US" sz="2800" b="1" dirty="0">
                <a:solidFill>
                  <a:srgbClr val="FFFFFF"/>
                </a:solidFill>
                <a:latin typeface="Trebuchet MS" panose="020B0603020202020204" pitchFamily="34" charset="0"/>
              </a:rPr>
              <a:t>Difference  between POP and OOP </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object 2">
            <a:extLst>
              <a:ext uri="{FF2B5EF4-FFF2-40B4-BE49-F238E27FC236}">
                <a16:creationId xmlns:a16="http://schemas.microsoft.com/office/drawing/2014/main" id="{52505B3E-7D6E-453D-A1E3-92A163663417}"/>
              </a:ext>
            </a:extLst>
          </p:cNvPr>
          <p:cNvSpPr txBox="1"/>
          <p:nvPr/>
        </p:nvSpPr>
        <p:spPr>
          <a:xfrm>
            <a:off x="478275" y="1247137"/>
            <a:ext cx="1609090" cy="443711"/>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2800" b="0" i="0" u="none" strike="noStrike" kern="1200" cap="none" spc="-225" normalizeH="0" baseline="0" noProof="0" dirty="0">
                <a:ln>
                  <a:noFill/>
                </a:ln>
                <a:solidFill>
                  <a:schemeClr val="tx1"/>
                </a:solidFill>
                <a:effectLst/>
                <a:uLnTx/>
                <a:uFillTx/>
                <a:latin typeface="Trebuchet MS" panose="020B0603020202020204" pitchFamily="34" charset="0"/>
                <a:ea typeface="+mn-ea"/>
              </a:rPr>
              <a:t>Example</a:t>
            </a:r>
            <a:endParaRPr kumimoji="0" sz="2800" b="0" i="0" u="none" strike="noStrike" kern="1200" cap="none" spc="0" normalizeH="0" baseline="0" noProof="0" dirty="0">
              <a:ln>
                <a:noFill/>
              </a:ln>
              <a:solidFill>
                <a:schemeClr val="tx1"/>
              </a:solidFill>
              <a:effectLst/>
              <a:uLnTx/>
              <a:uFillTx/>
              <a:latin typeface="Trebuchet MS" panose="020B0603020202020204" pitchFamily="34" charset="0"/>
              <a:ea typeface="+mn-ea"/>
            </a:endParaRPr>
          </a:p>
        </p:txBody>
      </p:sp>
      <p:sp>
        <p:nvSpPr>
          <p:cNvPr id="4" name="object 4">
            <a:extLst>
              <a:ext uri="{FF2B5EF4-FFF2-40B4-BE49-F238E27FC236}">
                <a16:creationId xmlns:a16="http://schemas.microsoft.com/office/drawing/2014/main" id="{6AE14CDA-0FA1-4B3F-9D98-CCB331F6C9C7}"/>
              </a:ext>
            </a:extLst>
          </p:cNvPr>
          <p:cNvSpPr/>
          <p:nvPr/>
        </p:nvSpPr>
        <p:spPr>
          <a:xfrm>
            <a:off x="634712" y="1919561"/>
            <a:ext cx="2279677" cy="1591351"/>
          </a:xfrm>
          <a:prstGeom prst="rect">
            <a:avLst/>
          </a:prstGeom>
          <a:blipFill>
            <a:blip r:embed="rId3" cstate="print"/>
            <a:stretch>
              <a:fillRect/>
            </a:stretch>
          </a:blipFill>
        </p:spPr>
        <p:txBody>
          <a:bodyPr wrap="square" lIns="0" tIns="0" rIns="0" bIns="0" rtlCol="0"/>
          <a:lstStyle/>
          <a:p>
            <a:pPr>
              <a:buClrTx/>
              <a:buFontTx/>
              <a:buNone/>
            </a:pPr>
            <a:endParaRPr sz="1800" kern="1200">
              <a:solidFill>
                <a:prstClr val="black"/>
              </a:solidFill>
              <a:latin typeface="Calibri"/>
              <a:ea typeface="+mn-ea"/>
              <a:cs typeface="+mn-cs"/>
            </a:endParaRPr>
          </a:p>
        </p:txBody>
      </p:sp>
      <p:sp>
        <p:nvSpPr>
          <p:cNvPr id="6" name="object 3">
            <a:extLst>
              <a:ext uri="{FF2B5EF4-FFF2-40B4-BE49-F238E27FC236}">
                <a16:creationId xmlns:a16="http://schemas.microsoft.com/office/drawing/2014/main" id="{B3757E0F-5C8C-47F5-B252-C34C501E9D63}"/>
              </a:ext>
            </a:extLst>
          </p:cNvPr>
          <p:cNvSpPr txBox="1"/>
          <p:nvPr/>
        </p:nvSpPr>
        <p:spPr>
          <a:xfrm>
            <a:off x="634712" y="3767437"/>
            <a:ext cx="3087543" cy="2429318"/>
          </a:xfrm>
          <a:prstGeom prst="rect">
            <a:avLst/>
          </a:prstGeom>
          <a:solidFill>
            <a:srgbClr val="40B9D2"/>
          </a:solidFill>
        </p:spPr>
        <p:txBody>
          <a:bodyPr vert="horz" wrap="square" lIns="0" tIns="33019" rIns="0" bIns="0" rtlCol="0">
            <a:spAutoFit/>
          </a:bodyPr>
          <a:lstStyle/>
          <a:p>
            <a:pPr marL="92710" marR="251460" lvl="0" indent="0" defTabSz="914400" eaLnBrk="1" fontAlgn="auto" latinLnBrk="0" hangingPunct="1">
              <a:lnSpc>
                <a:spcPct val="150000"/>
              </a:lnSpc>
              <a:spcBef>
                <a:spcPts val="259"/>
              </a:spcBef>
              <a:spcAft>
                <a:spcPts val="0"/>
              </a:spcAft>
              <a:buClrTx/>
              <a:buSzTx/>
              <a:buFontTx/>
              <a:buNone/>
              <a:tabLst/>
              <a:defRPr/>
            </a:pPr>
            <a:r>
              <a:rPr kumimoji="0" sz="1600" b="0" i="0" u="none" strike="noStrike" kern="1200" cap="none" spc="-65" normalizeH="0" baseline="0" noProof="0" dirty="0">
                <a:ln>
                  <a:noFill/>
                </a:ln>
                <a:solidFill>
                  <a:prstClr val="black"/>
                </a:solidFill>
                <a:effectLst/>
                <a:highlight>
                  <a:srgbClr val="C0C0C0"/>
                </a:highlight>
                <a:uLnTx/>
                <a:uFillTx/>
                <a:latin typeface="Trebuchet MS" panose="020B0603020202020204" pitchFamily="34" charset="0"/>
                <a:ea typeface="+mn-ea"/>
              </a:rPr>
              <a:t>Company </a:t>
            </a:r>
            <a:r>
              <a:rPr kumimoji="0" sz="1600" b="0" i="0" u="none" strike="noStrike" kern="1200" cap="none" spc="-50" normalizeH="0" baseline="0" noProof="0" dirty="0">
                <a:ln>
                  <a:noFill/>
                </a:ln>
                <a:solidFill>
                  <a:prstClr val="black"/>
                </a:solidFill>
                <a:effectLst/>
                <a:highlight>
                  <a:srgbClr val="C0C0C0"/>
                </a:highlight>
                <a:uLnTx/>
                <a:uFillTx/>
                <a:latin typeface="Trebuchet MS" panose="020B0603020202020204" pitchFamily="34" charset="0"/>
                <a:ea typeface="+mn-ea"/>
              </a:rPr>
              <a:t>Name: </a:t>
            </a:r>
            <a:r>
              <a:rPr kumimoji="0" sz="1600" b="0" i="0" u="none" strike="noStrike" kern="1200" cap="none" spc="-45" normalizeH="0" baseline="0" noProof="0" dirty="0">
                <a:ln>
                  <a:noFill/>
                </a:ln>
                <a:solidFill>
                  <a:prstClr val="black"/>
                </a:solidFill>
                <a:effectLst/>
                <a:highlight>
                  <a:srgbClr val="C0C0C0"/>
                </a:highlight>
                <a:uLnTx/>
                <a:uFillTx/>
                <a:latin typeface="Trebuchet MS" panose="020B0603020202020204" pitchFamily="34" charset="0"/>
                <a:ea typeface="+mn-ea"/>
              </a:rPr>
              <a:t>Hyundai  </a:t>
            </a:r>
            <a:r>
              <a:rPr kumimoji="0" sz="1600" b="0" i="0" u="none" strike="noStrike" kern="1200" cap="none" spc="-30" normalizeH="0" baseline="0" noProof="0" dirty="0">
                <a:ln>
                  <a:noFill/>
                </a:ln>
                <a:solidFill>
                  <a:prstClr val="black"/>
                </a:solidFill>
                <a:effectLst/>
                <a:highlight>
                  <a:srgbClr val="C0C0C0"/>
                </a:highlight>
                <a:uLnTx/>
                <a:uFillTx/>
                <a:latin typeface="Trebuchet MS" panose="020B0603020202020204" pitchFamily="34" charset="0"/>
                <a:ea typeface="+mn-ea"/>
              </a:rPr>
              <a:t>Model </a:t>
            </a:r>
            <a:r>
              <a:rPr kumimoji="0" sz="1600" b="0" i="0" u="none" strike="noStrike" kern="1200" cap="none" spc="-50" normalizeH="0" baseline="0" noProof="0" dirty="0">
                <a:ln>
                  <a:noFill/>
                </a:ln>
                <a:solidFill>
                  <a:prstClr val="black"/>
                </a:solidFill>
                <a:effectLst/>
                <a:highlight>
                  <a:srgbClr val="C0C0C0"/>
                </a:highlight>
                <a:uLnTx/>
                <a:uFillTx/>
                <a:latin typeface="Trebuchet MS" panose="020B0603020202020204" pitchFamily="34" charset="0"/>
                <a:ea typeface="+mn-ea"/>
              </a:rPr>
              <a:t>Name: </a:t>
            </a:r>
            <a:r>
              <a:rPr kumimoji="0" sz="1800" b="0" i="0" u="none" strike="noStrike" kern="1200" cap="none" spc="-40" normalizeH="0" baseline="0" noProof="0" dirty="0">
                <a:ln>
                  <a:noFill/>
                </a:ln>
                <a:solidFill>
                  <a:prstClr val="black"/>
                </a:solidFill>
                <a:effectLst/>
                <a:highlight>
                  <a:srgbClr val="C0C0C0"/>
                </a:highlight>
                <a:uLnTx/>
                <a:uFillTx/>
                <a:latin typeface="Trebuchet MS" panose="020B0603020202020204" pitchFamily="34" charset="0"/>
                <a:ea typeface="+mn-ea"/>
              </a:rPr>
              <a:t>Elite </a:t>
            </a:r>
            <a:r>
              <a:rPr kumimoji="0" sz="1800" b="0" i="0" u="none" strike="noStrike" kern="1200" cap="none" spc="-75" normalizeH="0" baseline="0" noProof="0" dirty="0">
                <a:ln>
                  <a:noFill/>
                </a:ln>
                <a:solidFill>
                  <a:prstClr val="black"/>
                </a:solidFill>
                <a:effectLst/>
                <a:highlight>
                  <a:srgbClr val="C0C0C0"/>
                </a:highlight>
                <a:uLnTx/>
                <a:uFillTx/>
                <a:latin typeface="Trebuchet MS" panose="020B0603020202020204" pitchFamily="34" charset="0"/>
                <a:ea typeface="+mn-ea"/>
              </a:rPr>
              <a:t>i20  </a:t>
            </a:r>
            <a:r>
              <a:rPr kumimoji="0" sz="1800" b="0" i="0" u="none" strike="noStrike" kern="1200" cap="none" spc="-90" normalizeH="0" baseline="0" noProof="0" dirty="0">
                <a:ln>
                  <a:noFill/>
                </a:ln>
                <a:solidFill>
                  <a:prstClr val="black"/>
                </a:solidFill>
                <a:effectLst/>
                <a:highlight>
                  <a:srgbClr val="C0C0C0"/>
                </a:highlight>
                <a:uLnTx/>
                <a:uFillTx/>
                <a:latin typeface="Trebuchet MS" panose="020B0603020202020204" pitchFamily="34" charset="0"/>
                <a:ea typeface="+mn-ea"/>
              </a:rPr>
              <a:t>Fuel</a:t>
            </a:r>
            <a:r>
              <a:rPr kumimoji="0" sz="1800" b="0" i="0" u="none" strike="noStrike" kern="1200" cap="none" spc="-254"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800" b="0" i="0" u="none" strike="noStrike" kern="1200" cap="none" spc="-85" normalizeH="0" baseline="0" noProof="0" dirty="0">
                <a:ln>
                  <a:noFill/>
                </a:ln>
                <a:solidFill>
                  <a:prstClr val="black"/>
                </a:solidFill>
                <a:effectLst/>
                <a:highlight>
                  <a:srgbClr val="C0C0C0"/>
                </a:highlight>
                <a:uLnTx/>
                <a:uFillTx/>
                <a:latin typeface="Trebuchet MS" panose="020B0603020202020204" pitchFamily="34" charset="0"/>
                <a:ea typeface="+mn-ea"/>
              </a:rPr>
              <a:t>Type:</a:t>
            </a:r>
            <a:r>
              <a:rPr kumimoji="0" sz="1800" b="0" i="0" u="none" strike="noStrike" kern="1200" cap="none" spc="-150"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800" b="0" i="0" u="none" strike="noStrike" kern="1200" cap="none" spc="-45" normalizeH="0" baseline="0" noProof="0" dirty="0">
                <a:ln>
                  <a:noFill/>
                </a:ln>
                <a:solidFill>
                  <a:prstClr val="black"/>
                </a:solidFill>
                <a:effectLst/>
                <a:highlight>
                  <a:srgbClr val="C0C0C0"/>
                </a:highlight>
                <a:uLnTx/>
                <a:uFillTx/>
                <a:latin typeface="Trebuchet MS" panose="020B0603020202020204" pitchFamily="34" charset="0"/>
                <a:ea typeface="+mn-ea"/>
              </a:rPr>
              <a:t>Petrol</a:t>
            </a:r>
            <a:r>
              <a:rPr kumimoji="0" sz="1800" b="0" i="0" u="none" strike="noStrike" kern="1200" cap="none" spc="-155"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800" b="0" i="0" u="none" strike="noStrike" kern="1200" cap="none" spc="-10" normalizeH="0" baseline="0" noProof="0" dirty="0">
                <a:ln>
                  <a:noFill/>
                </a:ln>
                <a:solidFill>
                  <a:prstClr val="black"/>
                </a:solidFill>
                <a:effectLst/>
                <a:highlight>
                  <a:srgbClr val="C0C0C0"/>
                </a:highlight>
                <a:uLnTx/>
                <a:uFillTx/>
                <a:latin typeface="Trebuchet MS" panose="020B0603020202020204" pitchFamily="34" charset="0"/>
                <a:ea typeface="+mn-ea"/>
              </a:rPr>
              <a:t>/</a:t>
            </a:r>
            <a:r>
              <a:rPr kumimoji="0" sz="1800" b="0" i="0" u="none" strike="noStrike" kern="1200" cap="none" spc="-145"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800" b="0" i="0" u="none" strike="noStrike" kern="1200" cap="none" spc="-85" normalizeH="0" baseline="0" noProof="0" dirty="0">
                <a:ln>
                  <a:noFill/>
                </a:ln>
                <a:solidFill>
                  <a:prstClr val="black"/>
                </a:solidFill>
                <a:effectLst/>
                <a:highlight>
                  <a:srgbClr val="C0C0C0"/>
                </a:highlight>
                <a:uLnTx/>
                <a:uFillTx/>
                <a:latin typeface="Trebuchet MS" panose="020B0603020202020204" pitchFamily="34" charset="0"/>
                <a:ea typeface="+mn-ea"/>
              </a:rPr>
              <a:t>Diesel  </a:t>
            </a:r>
            <a:r>
              <a:rPr kumimoji="0" sz="1800" b="0" i="0" u="none" strike="noStrike" kern="1200" cap="none" spc="-50" normalizeH="0" baseline="0" noProof="0" dirty="0">
                <a:ln>
                  <a:noFill/>
                </a:ln>
                <a:solidFill>
                  <a:prstClr val="black"/>
                </a:solidFill>
                <a:effectLst/>
                <a:highlight>
                  <a:srgbClr val="C0C0C0"/>
                </a:highlight>
                <a:uLnTx/>
                <a:uFillTx/>
                <a:latin typeface="Trebuchet MS" panose="020B0603020202020204" pitchFamily="34" charset="0"/>
                <a:ea typeface="+mn-ea"/>
              </a:rPr>
              <a:t>Mileage: </a:t>
            </a:r>
            <a:r>
              <a:rPr kumimoji="0" sz="1800" b="0" i="0" u="none" strike="noStrike" kern="1200" cap="none" spc="-135" normalizeH="0" baseline="0" noProof="0" dirty="0">
                <a:ln>
                  <a:noFill/>
                </a:ln>
                <a:solidFill>
                  <a:prstClr val="black"/>
                </a:solidFill>
                <a:effectLst/>
                <a:highlight>
                  <a:srgbClr val="C0C0C0"/>
                </a:highlight>
                <a:uLnTx/>
                <a:uFillTx/>
                <a:latin typeface="Trebuchet MS" panose="020B0603020202020204" pitchFamily="34" charset="0"/>
                <a:ea typeface="+mn-ea"/>
              </a:rPr>
              <a:t>12</a:t>
            </a:r>
            <a:r>
              <a:rPr kumimoji="0" sz="1800" b="0" i="0" u="none" strike="noStrike" kern="1200" cap="none" spc="-245"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800" b="0" i="0" u="none" strike="noStrike" kern="1200" cap="none" spc="15" normalizeH="0" baseline="0" noProof="0" dirty="0">
                <a:ln>
                  <a:noFill/>
                </a:ln>
                <a:solidFill>
                  <a:prstClr val="black"/>
                </a:solidFill>
                <a:effectLst/>
                <a:highlight>
                  <a:srgbClr val="C0C0C0"/>
                </a:highlight>
                <a:uLnTx/>
                <a:uFillTx/>
                <a:latin typeface="Trebuchet MS" panose="020B0603020202020204" pitchFamily="34" charset="0"/>
                <a:ea typeface="+mn-ea"/>
              </a:rPr>
              <a:t>km/ltr</a:t>
            </a:r>
            <a:endParaRPr kumimoji="0" sz="1800" b="0" i="0" u="none" strike="noStrike" kern="1200" cap="none" spc="0"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2710" marR="0" lvl="0" indent="0" defTabSz="914400" eaLnBrk="1" fontAlgn="auto" latinLnBrk="0" hangingPunct="1">
              <a:lnSpc>
                <a:spcPct val="150000"/>
              </a:lnSpc>
              <a:spcBef>
                <a:spcPts val="0"/>
              </a:spcBef>
              <a:spcAft>
                <a:spcPts val="0"/>
              </a:spcAft>
              <a:buClrTx/>
              <a:buSzTx/>
              <a:buFontTx/>
              <a:buNone/>
              <a:tabLst/>
              <a:defRPr/>
            </a:pPr>
            <a:r>
              <a:rPr kumimoji="0" sz="1800" b="0" i="0" u="none" strike="noStrike" kern="1200" cap="none" spc="-70" normalizeH="0" baseline="0" noProof="0" dirty="0">
                <a:ln>
                  <a:noFill/>
                </a:ln>
                <a:solidFill>
                  <a:prstClr val="black"/>
                </a:solidFill>
                <a:effectLst/>
                <a:highlight>
                  <a:srgbClr val="C0C0C0"/>
                </a:highlight>
                <a:uLnTx/>
                <a:uFillTx/>
                <a:latin typeface="Trebuchet MS" panose="020B0603020202020204" pitchFamily="34" charset="0"/>
                <a:ea typeface="+mn-ea"/>
              </a:rPr>
              <a:t>Price: </a:t>
            </a:r>
            <a:r>
              <a:rPr kumimoji="0" sz="1800" b="0" i="0" u="none" strike="noStrike" kern="1200" cap="none" spc="-75" normalizeH="0" baseline="0" noProof="0" dirty="0">
                <a:ln>
                  <a:noFill/>
                </a:ln>
                <a:solidFill>
                  <a:prstClr val="black"/>
                </a:solidFill>
                <a:effectLst/>
                <a:highlight>
                  <a:srgbClr val="C0C0C0"/>
                </a:highlight>
                <a:uLnTx/>
                <a:uFillTx/>
                <a:latin typeface="Trebuchet MS" panose="020B0603020202020204" pitchFamily="34" charset="0"/>
                <a:ea typeface="+mn-ea"/>
              </a:rPr>
              <a:t>8</a:t>
            </a:r>
            <a:r>
              <a:rPr kumimoji="0" sz="1800" b="0" i="0" u="none" strike="noStrike" kern="1200" cap="none" spc="-215"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800" b="0" i="0" u="none" strike="noStrike" kern="1200" cap="none" spc="-75" normalizeH="0" baseline="0" noProof="0" dirty="0">
                <a:ln>
                  <a:noFill/>
                </a:ln>
                <a:solidFill>
                  <a:prstClr val="black"/>
                </a:solidFill>
                <a:effectLst/>
                <a:highlight>
                  <a:srgbClr val="C0C0C0"/>
                </a:highlight>
                <a:uLnTx/>
                <a:uFillTx/>
                <a:latin typeface="Trebuchet MS" panose="020B0603020202020204" pitchFamily="34" charset="0"/>
                <a:ea typeface="+mn-ea"/>
              </a:rPr>
              <a:t>lac</a:t>
            </a:r>
            <a:endParaRPr lang="en-IN" sz="1800" kern="1200" spc="-75" dirty="0">
              <a:solidFill>
                <a:prstClr val="black"/>
              </a:solidFill>
              <a:highlight>
                <a:srgbClr val="C0C0C0"/>
              </a:highlight>
              <a:latin typeface="Trebuchet MS" panose="020B0603020202020204" pitchFamily="34" charset="0"/>
              <a:ea typeface="+mn-ea"/>
            </a:endParaRPr>
          </a:p>
          <a:p>
            <a:pPr marL="92710" marR="0" lvl="0" indent="0" defTabSz="914400" eaLnBrk="1" fontAlgn="auto" latinLnBrk="0" hangingPunct="1">
              <a:lnSpc>
                <a:spcPct val="15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highlight>
                <a:srgbClr val="C0C0C0"/>
              </a:highlight>
              <a:uLnTx/>
              <a:uFillTx/>
              <a:latin typeface="Trebuchet MS" panose="020B0603020202020204" pitchFamily="34" charset="0"/>
              <a:ea typeface="+mn-ea"/>
            </a:endParaRPr>
          </a:p>
        </p:txBody>
      </p:sp>
      <p:sp>
        <p:nvSpPr>
          <p:cNvPr id="7" name="object 6">
            <a:extLst>
              <a:ext uri="{FF2B5EF4-FFF2-40B4-BE49-F238E27FC236}">
                <a16:creationId xmlns:a16="http://schemas.microsoft.com/office/drawing/2014/main" id="{0EF91777-7F23-4768-A7F5-29E84413C8B1}"/>
              </a:ext>
            </a:extLst>
          </p:cNvPr>
          <p:cNvSpPr txBox="1"/>
          <p:nvPr/>
        </p:nvSpPr>
        <p:spPr>
          <a:xfrm>
            <a:off x="5866476" y="1369302"/>
            <a:ext cx="617452" cy="300355"/>
          </a:xfrm>
          <a:prstGeom prst="rect">
            <a:avLst/>
          </a:prstGeom>
        </p:spPr>
        <p:txBody>
          <a:bodyPr vert="horz" wrap="square" lIns="0" tIns="12700" rIns="0" bIns="0" rtlCol="0">
            <a:spAutoFit/>
          </a:bodyPr>
          <a:lstStyle/>
          <a:p>
            <a:pPr marL="12700">
              <a:spcBef>
                <a:spcPts val="100"/>
              </a:spcBef>
              <a:buClrTx/>
              <a:buFontTx/>
              <a:buNone/>
            </a:pPr>
            <a:r>
              <a:rPr sz="1800" b="1" kern="1200" spc="30" dirty="0">
                <a:solidFill>
                  <a:prstClr val="black"/>
                </a:solidFill>
                <a:latin typeface="Trebuchet MS"/>
                <a:ea typeface="+mn-ea"/>
                <a:cs typeface="Trebuchet MS"/>
              </a:rPr>
              <a:t>POP</a:t>
            </a:r>
            <a:endParaRPr sz="1800" kern="1200" dirty="0">
              <a:solidFill>
                <a:prstClr val="black"/>
              </a:solidFill>
              <a:latin typeface="Trebuchet MS"/>
              <a:ea typeface="+mn-ea"/>
              <a:cs typeface="Trebuchet MS"/>
            </a:endParaRPr>
          </a:p>
        </p:txBody>
      </p:sp>
      <p:sp>
        <p:nvSpPr>
          <p:cNvPr id="8" name="object 5">
            <a:extLst>
              <a:ext uri="{FF2B5EF4-FFF2-40B4-BE49-F238E27FC236}">
                <a16:creationId xmlns:a16="http://schemas.microsoft.com/office/drawing/2014/main" id="{40E53809-E1FE-4DE1-837B-C3D55E82F1BE}"/>
              </a:ext>
            </a:extLst>
          </p:cNvPr>
          <p:cNvSpPr txBox="1"/>
          <p:nvPr/>
        </p:nvSpPr>
        <p:spPr>
          <a:xfrm>
            <a:off x="4743565" y="2875012"/>
            <a:ext cx="2863273" cy="3321743"/>
          </a:xfrm>
          <a:prstGeom prst="rect">
            <a:avLst/>
          </a:prstGeom>
          <a:solidFill>
            <a:srgbClr val="8BD5E3"/>
          </a:solidFill>
          <a:ln>
            <a:solidFill>
              <a:schemeClr val="bg1"/>
            </a:solidFill>
          </a:ln>
        </p:spPr>
        <p:txBody>
          <a:bodyPr vert="horz" wrap="square" lIns="0" tIns="31115" rIns="0" bIns="0" rtlCol="0">
            <a:spAutoFit/>
          </a:bodyPr>
          <a:lstStyle/>
          <a:p>
            <a:pPr marL="92710" marR="0" lvl="0" indent="0" defTabSz="914400" eaLnBrk="1" fontAlgn="auto" latinLnBrk="0" hangingPunct="1">
              <a:lnSpc>
                <a:spcPct val="150000"/>
              </a:lnSpc>
              <a:spcBef>
                <a:spcPts val="245"/>
              </a:spcBef>
              <a:spcAft>
                <a:spcPts val="0"/>
              </a:spcAft>
              <a:buClrTx/>
              <a:buSzTx/>
              <a:buFontTx/>
              <a:buNone/>
              <a:tabLst/>
              <a:defRPr/>
            </a:pPr>
            <a:r>
              <a:rPr kumimoji="0" sz="1600" b="0" i="0" u="none" strike="noStrike" kern="1200" cap="none" spc="-50" normalizeH="0" baseline="0" noProof="0" dirty="0">
                <a:ln>
                  <a:noFill/>
                </a:ln>
                <a:solidFill>
                  <a:prstClr val="black"/>
                </a:solidFill>
                <a:effectLst/>
                <a:highlight>
                  <a:srgbClr val="C0C0C0"/>
                </a:highlight>
                <a:uLnTx/>
                <a:uFillTx/>
                <a:latin typeface="Trebuchet MS" panose="020B0603020202020204" pitchFamily="34" charset="0"/>
                <a:ea typeface="+mn-ea"/>
              </a:rPr>
              <a:t>Void </a:t>
            </a:r>
            <a:r>
              <a:rPr kumimoji="0" sz="1600" b="0" i="0" u="none" strike="noStrike" kern="1200" cap="none" spc="-35" normalizeH="0" baseline="0" noProof="0" dirty="0">
                <a:ln>
                  <a:noFill/>
                </a:ln>
                <a:solidFill>
                  <a:prstClr val="black"/>
                </a:solidFill>
                <a:effectLst/>
                <a:highlight>
                  <a:srgbClr val="C0C0C0"/>
                </a:highlight>
                <a:uLnTx/>
                <a:uFillTx/>
                <a:latin typeface="Trebuchet MS" panose="020B0603020202020204" pitchFamily="34" charset="0"/>
                <a:ea typeface="+mn-ea"/>
              </a:rPr>
              <a:t>main(</a:t>
            </a:r>
            <a:r>
              <a:rPr kumimoji="0" sz="1600" b="0" i="0" u="none" strike="noStrike" kern="1200" cap="none" spc="-250"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600" b="0" i="0" u="none" strike="noStrike" kern="1200" cap="none" spc="-55" normalizeH="0" baseline="0" noProof="0" dirty="0">
                <a:ln>
                  <a:noFill/>
                </a:ln>
                <a:solidFill>
                  <a:prstClr val="black"/>
                </a:solidFill>
                <a:effectLst/>
                <a:highlight>
                  <a:srgbClr val="C0C0C0"/>
                </a:highlight>
                <a:uLnTx/>
                <a:uFillTx/>
                <a:latin typeface="Trebuchet MS" panose="020B0603020202020204" pitchFamily="34" charset="0"/>
                <a:ea typeface="+mn-ea"/>
              </a:rPr>
              <a:t>)</a:t>
            </a:r>
            <a:endParaRPr kumimoji="0" sz="1600" b="0" i="0" u="none" strike="noStrike" kern="1200" cap="none" spc="0"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2710" marR="0" lvl="0" indent="0" defTabSz="914400" eaLnBrk="1" fontAlgn="auto" latinLnBrk="0" hangingPunct="1">
              <a:lnSpc>
                <a:spcPct val="150000"/>
              </a:lnSpc>
              <a:spcBef>
                <a:spcPts val="0"/>
              </a:spcBef>
              <a:spcAft>
                <a:spcPts val="0"/>
              </a:spcAft>
              <a:buClrTx/>
              <a:buSzTx/>
              <a:buFontTx/>
              <a:buNone/>
              <a:tabLst/>
              <a:defRPr/>
            </a:pPr>
            <a:r>
              <a:rPr kumimoji="0" sz="1600" b="0" i="0" u="none" strike="noStrike" kern="1200" cap="none" spc="-55" normalizeH="0" baseline="0" noProof="0" dirty="0">
                <a:ln>
                  <a:noFill/>
                </a:ln>
                <a:solidFill>
                  <a:prstClr val="black"/>
                </a:solidFill>
                <a:effectLst/>
                <a:highlight>
                  <a:srgbClr val="C0C0C0"/>
                </a:highlight>
                <a:uLnTx/>
                <a:uFillTx/>
                <a:latin typeface="Trebuchet MS" panose="020B0603020202020204" pitchFamily="34" charset="0"/>
                <a:ea typeface="+mn-ea"/>
              </a:rPr>
              <a:t>{</a:t>
            </a:r>
            <a:endParaRPr kumimoji="0" sz="1600" b="0" i="0" u="none" strike="noStrike" kern="1200" cap="none" spc="0"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2710" marR="110489" lvl="0" indent="0" defTabSz="914400" eaLnBrk="1" fontAlgn="auto" latinLnBrk="0" hangingPunct="1">
              <a:lnSpc>
                <a:spcPct val="150000"/>
              </a:lnSpc>
              <a:spcBef>
                <a:spcPts val="0"/>
              </a:spcBef>
              <a:spcAft>
                <a:spcPts val="0"/>
              </a:spcAft>
              <a:buClrTx/>
              <a:buSzTx/>
              <a:buFontTx/>
              <a:buNone/>
              <a:tabLst/>
              <a:defRPr/>
            </a:pPr>
            <a:r>
              <a:rPr kumimoji="0" sz="1600" b="0" i="0" u="none" strike="noStrike" kern="1200" cap="none" spc="-60" normalizeH="0" baseline="0" noProof="0" dirty="0">
                <a:ln>
                  <a:noFill/>
                </a:ln>
                <a:solidFill>
                  <a:prstClr val="black"/>
                </a:solidFill>
                <a:effectLst/>
                <a:highlight>
                  <a:srgbClr val="C0C0C0"/>
                </a:highlight>
                <a:uLnTx/>
                <a:uFillTx/>
                <a:latin typeface="Trebuchet MS" panose="020B0603020202020204" pitchFamily="34" charset="0"/>
                <a:ea typeface="+mn-ea"/>
              </a:rPr>
              <a:t>char</a:t>
            </a:r>
            <a:r>
              <a:rPr kumimoji="0" sz="1600" b="0" i="0" u="none" strike="noStrike" kern="1200" cap="none" spc="-195"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600" b="0" i="0" u="none" strike="noStrike" kern="1200" cap="none" spc="-40" normalizeH="0" baseline="0" noProof="0" dirty="0">
                <a:ln>
                  <a:noFill/>
                </a:ln>
                <a:solidFill>
                  <a:prstClr val="black"/>
                </a:solidFill>
                <a:effectLst/>
                <a:highlight>
                  <a:srgbClr val="C0C0C0"/>
                </a:highlight>
                <a:uLnTx/>
                <a:uFillTx/>
                <a:latin typeface="Trebuchet MS" panose="020B0603020202020204" pitchFamily="34" charset="0"/>
                <a:ea typeface="+mn-ea"/>
              </a:rPr>
              <a:t>company_nm[20];  </a:t>
            </a:r>
            <a:r>
              <a:rPr kumimoji="0" sz="1600" b="0" i="0" u="none" strike="noStrike" kern="1200" cap="none" spc="-60" normalizeH="0" baseline="0" noProof="0" dirty="0">
                <a:ln>
                  <a:noFill/>
                </a:ln>
                <a:solidFill>
                  <a:prstClr val="black"/>
                </a:solidFill>
                <a:effectLst/>
                <a:highlight>
                  <a:srgbClr val="C0C0C0"/>
                </a:highlight>
                <a:uLnTx/>
                <a:uFillTx/>
                <a:latin typeface="Trebuchet MS" panose="020B0603020202020204" pitchFamily="34" charset="0"/>
                <a:ea typeface="+mn-ea"/>
              </a:rPr>
              <a:t>char </a:t>
            </a:r>
            <a:r>
              <a:rPr kumimoji="0" sz="1600" b="0" i="0" u="none" strike="noStrike" kern="1200" cap="none" spc="-30" normalizeH="0" baseline="0" noProof="0" dirty="0">
                <a:ln>
                  <a:noFill/>
                </a:ln>
                <a:solidFill>
                  <a:prstClr val="black"/>
                </a:solidFill>
                <a:effectLst/>
                <a:highlight>
                  <a:srgbClr val="C0C0C0"/>
                </a:highlight>
                <a:uLnTx/>
                <a:uFillTx/>
                <a:latin typeface="Trebuchet MS" panose="020B0603020202020204" pitchFamily="34" charset="0"/>
                <a:ea typeface="+mn-ea"/>
              </a:rPr>
              <a:t>model_nm[20];  </a:t>
            </a:r>
            <a:r>
              <a:rPr kumimoji="0" sz="1600" b="0" i="0" u="none" strike="noStrike" kern="1200" cap="none" spc="-60" normalizeH="0" baseline="0" noProof="0" dirty="0">
                <a:ln>
                  <a:noFill/>
                </a:ln>
                <a:solidFill>
                  <a:prstClr val="black"/>
                </a:solidFill>
                <a:effectLst/>
                <a:highlight>
                  <a:srgbClr val="C0C0C0"/>
                </a:highlight>
                <a:uLnTx/>
                <a:uFillTx/>
                <a:latin typeface="Trebuchet MS" panose="020B0603020202020204" pitchFamily="34" charset="0"/>
                <a:ea typeface="+mn-ea"/>
              </a:rPr>
              <a:t>char </a:t>
            </a:r>
            <a:r>
              <a:rPr kumimoji="0" sz="1600" b="0" i="0" u="none" strike="noStrike" kern="1200" cap="none" spc="-30" normalizeH="0" baseline="0" noProof="0" dirty="0">
                <a:ln>
                  <a:noFill/>
                </a:ln>
                <a:solidFill>
                  <a:prstClr val="black"/>
                </a:solidFill>
                <a:effectLst/>
                <a:highlight>
                  <a:srgbClr val="C0C0C0"/>
                </a:highlight>
                <a:uLnTx/>
                <a:uFillTx/>
                <a:latin typeface="Trebuchet MS" panose="020B0603020202020204" pitchFamily="34" charset="0"/>
                <a:ea typeface="+mn-ea"/>
              </a:rPr>
              <a:t>fuel_type[10];  </a:t>
            </a:r>
            <a:r>
              <a:rPr kumimoji="0" sz="1600" b="0" i="0" u="none" strike="noStrike" kern="1200" cap="none" spc="10" normalizeH="0" baseline="0" noProof="0" dirty="0">
                <a:ln>
                  <a:noFill/>
                </a:ln>
                <a:solidFill>
                  <a:prstClr val="black"/>
                </a:solidFill>
                <a:effectLst/>
                <a:highlight>
                  <a:srgbClr val="C0C0C0"/>
                </a:highlight>
                <a:uLnTx/>
                <a:uFillTx/>
                <a:latin typeface="Trebuchet MS" panose="020B0603020202020204" pitchFamily="34" charset="0"/>
                <a:ea typeface="+mn-ea"/>
              </a:rPr>
              <a:t>float</a:t>
            </a:r>
            <a:r>
              <a:rPr kumimoji="0" sz="1600" b="0" i="0" u="none" strike="noStrike" kern="1200" cap="none" spc="-145"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600" b="0" i="0" u="none" strike="noStrike" kern="1200" cap="none" spc="-40" normalizeH="0" baseline="0" noProof="0" dirty="0">
                <a:ln>
                  <a:noFill/>
                </a:ln>
                <a:solidFill>
                  <a:prstClr val="black"/>
                </a:solidFill>
                <a:effectLst/>
                <a:highlight>
                  <a:srgbClr val="C0C0C0"/>
                </a:highlight>
                <a:uLnTx/>
                <a:uFillTx/>
                <a:latin typeface="Trebuchet MS" panose="020B0603020202020204" pitchFamily="34" charset="0"/>
                <a:ea typeface="+mn-ea"/>
              </a:rPr>
              <a:t>mileage;</a:t>
            </a:r>
            <a:endParaRPr kumimoji="0" sz="1600" b="0" i="0" u="none" strike="noStrike" kern="1200" cap="none" spc="0"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2710" marR="0" lvl="0" indent="0" defTabSz="914400" eaLnBrk="1" fontAlgn="auto" latinLnBrk="0" hangingPunct="1">
              <a:lnSpc>
                <a:spcPct val="150000"/>
              </a:lnSpc>
              <a:spcBef>
                <a:spcPts val="5"/>
              </a:spcBef>
              <a:spcAft>
                <a:spcPts val="0"/>
              </a:spcAft>
              <a:buClrTx/>
              <a:buSzTx/>
              <a:buFontTx/>
              <a:buNone/>
              <a:tabLst/>
              <a:defRPr/>
            </a:pPr>
            <a:r>
              <a:rPr kumimoji="0" sz="1600" b="0" i="0" u="none" strike="noStrike" kern="1200" cap="none" spc="-35" normalizeH="0" baseline="0" noProof="0" dirty="0">
                <a:ln>
                  <a:noFill/>
                </a:ln>
                <a:solidFill>
                  <a:prstClr val="black"/>
                </a:solidFill>
                <a:effectLst/>
                <a:highlight>
                  <a:srgbClr val="C0C0C0"/>
                </a:highlight>
                <a:uLnTx/>
                <a:uFillTx/>
                <a:latin typeface="Trebuchet MS" panose="020B0603020202020204" pitchFamily="34" charset="0"/>
                <a:ea typeface="+mn-ea"/>
              </a:rPr>
              <a:t>double</a:t>
            </a:r>
            <a:r>
              <a:rPr kumimoji="0" sz="1600" b="0" i="0" u="none" strike="noStrike" kern="1200" cap="none" spc="-170"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600" b="0" i="0" u="none" strike="noStrike" kern="1200" cap="none" spc="-40" normalizeH="0" baseline="0" noProof="0" dirty="0">
                <a:ln>
                  <a:noFill/>
                </a:ln>
                <a:solidFill>
                  <a:prstClr val="black"/>
                </a:solidFill>
                <a:effectLst/>
                <a:highlight>
                  <a:srgbClr val="C0C0C0"/>
                </a:highlight>
                <a:uLnTx/>
                <a:uFillTx/>
                <a:latin typeface="Trebuchet MS" panose="020B0603020202020204" pitchFamily="34" charset="0"/>
                <a:ea typeface="+mn-ea"/>
              </a:rPr>
              <a:t>price;</a:t>
            </a:r>
            <a:endParaRPr kumimoji="0" sz="1600" b="0" i="0" u="none" strike="noStrike" kern="1200" cap="none" spc="0"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0" marR="0" lvl="0" indent="0" defTabSz="914400" eaLnBrk="1" fontAlgn="auto" latinLnBrk="0" hangingPunct="1">
              <a:lnSpc>
                <a:spcPct val="150000"/>
              </a:lnSpc>
              <a:spcBef>
                <a:spcPts val="25"/>
              </a:spcBef>
              <a:spcAft>
                <a:spcPts val="0"/>
              </a:spcAft>
              <a:buClrTx/>
              <a:buSzTx/>
              <a:buFontTx/>
              <a:buNone/>
              <a:tabLst/>
              <a:defRPr/>
            </a:pPr>
            <a:endParaRPr kumimoji="0" sz="1650" b="0" i="0" u="none" strike="noStrike" kern="1200" cap="none" spc="0"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2710" marR="0" lvl="0" indent="0" defTabSz="914400" eaLnBrk="1" fontAlgn="auto" latinLnBrk="0" hangingPunct="1">
              <a:lnSpc>
                <a:spcPct val="150000"/>
              </a:lnSpc>
              <a:spcBef>
                <a:spcPts val="0"/>
              </a:spcBef>
              <a:spcAft>
                <a:spcPts val="0"/>
              </a:spcAft>
              <a:buClrTx/>
              <a:buSzTx/>
              <a:buFontTx/>
              <a:buNone/>
              <a:tabLst/>
              <a:defRPr/>
            </a:pPr>
            <a:r>
              <a:rPr kumimoji="0" sz="1600" b="0" i="0" u="none" strike="noStrike" kern="1200" cap="none" spc="-15" normalizeH="0" baseline="0" noProof="0" dirty="0">
                <a:ln>
                  <a:noFill/>
                </a:ln>
                <a:solidFill>
                  <a:prstClr val="black"/>
                </a:solidFill>
                <a:effectLst/>
                <a:highlight>
                  <a:srgbClr val="C0C0C0"/>
                </a:highlight>
                <a:uLnTx/>
                <a:uFillTx/>
                <a:latin typeface="Trebuchet MS" panose="020B0603020202020204" pitchFamily="34" charset="0"/>
                <a:ea typeface="+mn-ea"/>
              </a:rPr>
              <a:t>//other </a:t>
            </a:r>
            <a:r>
              <a:rPr kumimoji="0" sz="1600" b="0" i="0" u="none" strike="noStrike" kern="1200" cap="none" spc="-65" normalizeH="0" baseline="0" noProof="0" dirty="0">
                <a:ln>
                  <a:noFill/>
                </a:ln>
                <a:solidFill>
                  <a:prstClr val="black"/>
                </a:solidFill>
                <a:effectLst/>
                <a:highlight>
                  <a:srgbClr val="C0C0C0"/>
                </a:highlight>
                <a:uLnTx/>
                <a:uFillTx/>
                <a:latin typeface="Trebuchet MS" panose="020B0603020202020204" pitchFamily="34" charset="0"/>
                <a:ea typeface="+mn-ea"/>
              </a:rPr>
              <a:t>code</a:t>
            </a:r>
            <a:r>
              <a:rPr kumimoji="0" sz="1600" b="0" i="0" u="none" strike="noStrike" kern="1200" cap="none" spc="-270"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600" b="0" i="0" u="none" strike="noStrike" kern="1200" cap="none" spc="-25" normalizeH="0" baseline="0" noProof="0" dirty="0">
                <a:ln>
                  <a:noFill/>
                </a:ln>
                <a:solidFill>
                  <a:prstClr val="black"/>
                </a:solidFill>
                <a:effectLst/>
                <a:highlight>
                  <a:srgbClr val="C0C0C0"/>
                </a:highlight>
                <a:uLnTx/>
                <a:uFillTx/>
                <a:latin typeface="Trebuchet MS" panose="020B0603020202020204" pitchFamily="34" charset="0"/>
                <a:ea typeface="+mn-ea"/>
              </a:rPr>
              <a:t>operation</a:t>
            </a:r>
            <a:endParaRPr kumimoji="0" sz="1600" b="0" i="0" u="none" strike="noStrike" kern="1200" cap="none" spc="0"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2710" marR="0" lvl="0" indent="0" defTabSz="914400" eaLnBrk="1" fontAlgn="auto" latinLnBrk="0" hangingPunct="1">
              <a:lnSpc>
                <a:spcPct val="150000"/>
              </a:lnSpc>
              <a:spcBef>
                <a:spcPts val="0"/>
              </a:spcBef>
              <a:spcAft>
                <a:spcPts val="0"/>
              </a:spcAft>
              <a:buClrTx/>
              <a:buSzTx/>
              <a:buFontTx/>
              <a:buNone/>
              <a:tabLst/>
              <a:defRPr/>
            </a:pPr>
            <a:r>
              <a:rPr kumimoji="0" sz="1600" b="0" i="0" u="none" strike="noStrike" kern="1200" cap="none" spc="-55" normalizeH="0" baseline="0" noProof="0" dirty="0">
                <a:ln>
                  <a:noFill/>
                </a:ln>
                <a:solidFill>
                  <a:prstClr val="black"/>
                </a:solidFill>
                <a:effectLst/>
                <a:highlight>
                  <a:srgbClr val="C0C0C0"/>
                </a:highlight>
                <a:uLnTx/>
                <a:uFillTx/>
                <a:latin typeface="Trebuchet MS" panose="020B0603020202020204" pitchFamily="34" charset="0"/>
                <a:ea typeface="+mn-ea"/>
              </a:rPr>
              <a:t>}</a:t>
            </a:r>
            <a:endParaRPr kumimoji="0" sz="1600" b="0" i="0" u="none" strike="noStrike" kern="1200" cap="none" spc="0" normalizeH="0" baseline="0" noProof="0" dirty="0">
              <a:ln>
                <a:noFill/>
              </a:ln>
              <a:solidFill>
                <a:prstClr val="black"/>
              </a:solidFill>
              <a:effectLst/>
              <a:highlight>
                <a:srgbClr val="C0C0C0"/>
              </a:highlight>
              <a:uLnTx/>
              <a:uFillTx/>
              <a:latin typeface="Trebuchet MS" panose="020B0603020202020204" pitchFamily="34" charset="0"/>
              <a:ea typeface="+mn-ea"/>
            </a:endParaRPr>
          </a:p>
        </p:txBody>
      </p:sp>
      <p:sp>
        <p:nvSpPr>
          <p:cNvPr id="9" name="object 10">
            <a:extLst>
              <a:ext uri="{FF2B5EF4-FFF2-40B4-BE49-F238E27FC236}">
                <a16:creationId xmlns:a16="http://schemas.microsoft.com/office/drawing/2014/main" id="{F9887A1C-C614-46E8-973D-5EE1BCC0E204}"/>
              </a:ext>
            </a:extLst>
          </p:cNvPr>
          <p:cNvSpPr txBox="1"/>
          <p:nvPr/>
        </p:nvSpPr>
        <p:spPr>
          <a:xfrm>
            <a:off x="10277096" y="1318814"/>
            <a:ext cx="695703" cy="300355"/>
          </a:xfrm>
          <a:prstGeom prst="rect">
            <a:avLst/>
          </a:prstGeom>
        </p:spPr>
        <p:txBody>
          <a:bodyPr vert="horz" wrap="square" lIns="0" tIns="12700" rIns="0" bIns="0" rtlCol="0">
            <a:spAutoFit/>
          </a:bodyPr>
          <a:lstStyle/>
          <a:p>
            <a:pPr marL="12700">
              <a:spcBef>
                <a:spcPts val="100"/>
              </a:spcBef>
              <a:buClrTx/>
              <a:buFontTx/>
              <a:buNone/>
            </a:pPr>
            <a:r>
              <a:rPr sz="1800" b="1" kern="1200" spc="40" dirty="0">
                <a:solidFill>
                  <a:prstClr val="black"/>
                </a:solidFill>
                <a:latin typeface="Trebuchet MS"/>
                <a:ea typeface="+mn-ea"/>
                <a:cs typeface="Trebuchet MS"/>
              </a:rPr>
              <a:t>OOP</a:t>
            </a:r>
            <a:endParaRPr sz="1800" kern="1200" dirty="0">
              <a:solidFill>
                <a:prstClr val="black"/>
              </a:solidFill>
              <a:latin typeface="Trebuchet MS"/>
              <a:ea typeface="+mn-ea"/>
              <a:cs typeface="Trebuchet MS"/>
            </a:endParaRPr>
          </a:p>
        </p:txBody>
      </p:sp>
      <p:sp>
        <p:nvSpPr>
          <p:cNvPr id="10" name="object 8">
            <a:extLst>
              <a:ext uri="{FF2B5EF4-FFF2-40B4-BE49-F238E27FC236}">
                <a16:creationId xmlns:a16="http://schemas.microsoft.com/office/drawing/2014/main" id="{EB139E72-690B-41CD-959A-BD4D7D6AC86E}"/>
              </a:ext>
            </a:extLst>
          </p:cNvPr>
          <p:cNvSpPr txBox="1"/>
          <p:nvPr/>
        </p:nvSpPr>
        <p:spPr>
          <a:xfrm>
            <a:off x="8321964" y="2277092"/>
            <a:ext cx="3325091" cy="3919663"/>
          </a:xfrm>
          <a:prstGeom prst="rect">
            <a:avLst/>
          </a:prstGeom>
          <a:solidFill>
            <a:srgbClr val="006FC0"/>
          </a:solidFill>
        </p:spPr>
        <p:txBody>
          <a:bodyPr vert="horz" wrap="square" lIns="0" tIns="33655" rIns="0" bIns="0" rtlCol="0">
            <a:spAutoFit/>
          </a:bodyPr>
          <a:lstStyle/>
          <a:p>
            <a:pPr marL="92710">
              <a:spcBef>
                <a:spcPts val="245"/>
              </a:spcBef>
              <a:buClrTx/>
              <a:defRPr/>
            </a:pPr>
            <a:r>
              <a:rPr lang="en-IN" sz="1600" kern="1200" spc="-35" dirty="0">
                <a:solidFill>
                  <a:prstClr val="black"/>
                </a:solidFill>
                <a:highlight>
                  <a:srgbClr val="C0C0C0"/>
                </a:highlight>
                <a:latin typeface="Trebuchet MS" panose="020B0603020202020204" pitchFamily="34" charset="0"/>
                <a:ea typeface="+mn-ea"/>
              </a:rPr>
              <a:t>Class Car</a:t>
            </a:r>
          </a:p>
          <a:p>
            <a:pPr marL="92710" marR="0" lvl="0" indent="0" defTabSz="914400" eaLnBrk="1" fontAlgn="auto" latinLnBrk="0" hangingPunct="1">
              <a:spcBef>
                <a:spcPts val="0"/>
              </a:spcBef>
              <a:spcAft>
                <a:spcPts val="0"/>
              </a:spcAft>
              <a:buClrTx/>
              <a:buSzTx/>
              <a:buFontTx/>
              <a:buNone/>
              <a:tabLst/>
              <a:defRPr/>
            </a:pPr>
            <a:r>
              <a:rPr kumimoji="0" lang="en-IN" sz="1600" b="0" i="0" u="none" strike="noStrike" kern="1200" cap="none" spc="-55" normalizeH="0" baseline="0" noProof="0" dirty="0">
                <a:ln>
                  <a:noFill/>
                </a:ln>
                <a:solidFill>
                  <a:prstClr val="black"/>
                </a:solidFill>
                <a:effectLst/>
                <a:highlight>
                  <a:srgbClr val="C0C0C0"/>
                </a:highlight>
                <a:uLnTx/>
                <a:uFillTx/>
                <a:latin typeface="Trebuchet MS" panose="020B0603020202020204" pitchFamily="34" charset="0"/>
                <a:ea typeface="+mn-ea"/>
              </a:rPr>
              <a:t>{</a:t>
            </a:r>
            <a:endParaRPr kumimoji="0" lang="en-IN" sz="1600" b="0" i="0" u="none" strike="noStrike" kern="1200" cap="none" spc="0"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3345" marR="286385" lvl="0" indent="0" defTabSz="914400" eaLnBrk="1" fontAlgn="auto" latinLnBrk="0" hangingPunct="1">
              <a:spcBef>
                <a:spcPts val="265"/>
              </a:spcBef>
              <a:spcAft>
                <a:spcPts val="0"/>
              </a:spcAft>
              <a:buClrTx/>
              <a:buSzTx/>
              <a:buFontTx/>
              <a:buNone/>
              <a:tabLst/>
              <a:defRPr/>
            </a:pPr>
            <a:r>
              <a:rPr kumimoji="0" sz="1600" b="0" i="0" u="none" strike="noStrike" kern="1200" cap="none" spc="-65" normalizeH="0" baseline="0" noProof="0" dirty="0">
                <a:ln>
                  <a:noFill/>
                </a:ln>
                <a:solidFill>
                  <a:prstClr val="black"/>
                </a:solidFill>
                <a:effectLst/>
                <a:highlight>
                  <a:srgbClr val="C0C0C0"/>
                </a:highlight>
                <a:uLnTx/>
                <a:uFillTx/>
                <a:latin typeface="Trebuchet MS" panose="020B0603020202020204" pitchFamily="34" charset="0"/>
                <a:ea typeface="+mn-ea"/>
              </a:rPr>
              <a:t>char</a:t>
            </a:r>
            <a:r>
              <a:rPr kumimoji="0" sz="1600" b="0" i="0" u="none" strike="noStrike" kern="1200" cap="none" spc="-200"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600" b="0" i="0" u="none" strike="noStrike" kern="1200" cap="none" spc="-45" normalizeH="0" baseline="0" noProof="0" dirty="0">
                <a:ln>
                  <a:noFill/>
                </a:ln>
                <a:solidFill>
                  <a:prstClr val="black"/>
                </a:solidFill>
                <a:effectLst/>
                <a:highlight>
                  <a:srgbClr val="C0C0C0"/>
                </a:highlight>
                <a:uLnTx/>
                <a:uFillTx/>
                <a:latin typeface="Trebuchet MS" panose="020B0603020202020204" pitchFamily="34" charset="0"/>
                <a:ea typeface="+mn-ea"/>
              </a:rPr>
              <a:t>company_nm[20];  </a:t>
            </a:r>
            <a:endParaRPr kumimoji="0" lang="en-US" sz="1600" b="0" i="0" u="none" strike="noStrike" kern="1200" cap="none" spc="-45"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3345" marR="286385" lvl="0" indent="0" defTabSz="914400" eaLnBrk="1" fontAlgn="auto" latinLnBrk="0" hangingPunct="1">
              <a:spcBef>
                <a:spcPts val="265"/>
              </a:spcBef>
              <a:spcAft>
                <a:spcPts val="0"/>
              </a:spcAft>
              <a:buClrTx/>
              <a:buSzTx/>
              <a:buFontTx/>
              <a:buNone/>
              <a:tabLst/>
              <a:defRPr/>
            </a:pPr>
            <a:r>
              <a:rPr kumimoji="0" sz="1600" b="0" i="0" u="none" strike="noStrike" kern="1200" cap="none" spc="-65" normalizeH="0" baseline="0" noProof="0" dirty="0">
                <a:ln>
                  <a:noFill/>
                </a:ln>
                <a:solidFill>
                  <a:prstClr val="black"/>
                </a:solidFill>
                <a:effectLst/>
                <a:highlight>
                  <a:srgbClr val="C0C0C0"/>
                </a:highlight>
                <a:uLnTx/>
                <a:uFillTx/>
                <a:latin typeface="Trebuchet MS" panose="020B0603020202020204" pitchFamily="34" charset="0"/>
                <a:ea typeface="+mn-ea"/>
              </a:rPr>
              <a:t>char </a:t>
            </a:r>
            <a:r>
              <a:rPr kumimoji="0" sz="1600" b="0" i="0" u="none" strike="noStrike" kern="1200" cap="none" spc="-40" normalizeH="0" baseline="0" noProof="0" dirty="0">
                <a:ln>
                  <a:noFill/>
                </a:ln>
                <a:solidFill>
                  <a:prstClr val="black"/>
                </a:solidFill>
                <a:effectLst/>
                <a:highlight>
                  <a:srgbClr val="C0C0C0"/>
                </a:highlight>
                <a:uLnTx/>
                <a:uFillTx/>
                <a:latin typeface="Trebuchet MS" panose="020B0603020202020204" pitchFamily="34" charset="0"/>
                <a:ea typeface="+mn-ea"/>
              </a:rPr>
              <a:t>model_nm[20]; </a:t>
            </a:r>
            <a:endParaRPr kumimoji="0" lang="en-US" sz="1600" b="0" i="0" u="none" strike="noStrike" kern="1200" cap="none" spc="-40"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3345" marR="286385" lvl="0" indent="0" defTabSz="914400" eaLnBrk="1" fontAlgn="auto" latinLnBrk="0" hangingPunct="1">
              <a:spcBef>
                <a:spcPts val="265"/>
              </a:spcBef>
              <a:spcAft>
                <a:spcPts val="0"/>
              </a:spcAft>
              <a:buClrTx/>
              <a:buSzTx/>
              <a:buFontTx/>
              <a:buNone/>
              <a:tabLst/>
              <a:defRPr/>
            </a:pPr>
            <a:r>
              <a:rPr kumimoji="0" sz="1600" b="0" i="0" u="none" strike="noStrike" kern="1200" cap="none" spc="-40"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600" b="0" i="0" u="none" strike="noStrike" kern="1200" cap="none" spc="-65" normalizeH="0" baseline="0" noProof="0" dirty="0">
                <a:ln>
                  <a:noFill/>
                </a:ln>
                <a:solidFill>
                  <a:prstClr val="black"/>
                </a:solidFill>
                <a:effectLst/>
                <a:highlight>
                  <a:srgbClr val="C0C0C0"/>
                </a:highlight>
                <a:uLnTx/>
                <a:uFillTx/>
                <a:latin typeface="Trebuchet MS" panose="020B0603020202020204" pitchFamily="34" charset="0"/>
                <a:ea typeface="+mn-ea"/>
              </a:rPr>
              <a:t>char </a:t>
            </a:r>
            <a:r>
              <a:rPr kumimoji="0" sz="1600" b="0" i="0" u="none" strike="noStrike" kern="1200" cap="none" spc="-35" normalizeH="0" baseline="0" noProof="0" dirty="0">
                <a:ln>
                  <a:noFill/>
                </a:ln>
                <a:solidFill>
                  <a:prstClr val="black"/>
                </a:solidFill>
                <a:effectLst/>
                <a:highlight>
                  <a:srgbClr val="C0C0C0"/>
                </a:highlight>
                <a:uLnTx/>
                <a:uFillTx/>
                <a:latin typeface="Trebuchet MS" panose="020B0603020202020204" pitchFamily="34" charset="0"/>
                <a:ea typeface="+mn-ea"/>
              </a:rPr>
              <a:t>fuel_type[10];  </a:t>
            </a:r>
            <a:endParaRPr kumimoji="0" lang="en-US" sz="1600" b="0" i="0" u="none" strike="noStrike" kern="1200" cap="none" spc="-35"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3345" marR="286385" lvl="0" indent="0" defTabSz="914400" eaLnBrk="1" fontAlgn="auto" latinLnBrk="0" hangingPunct="1">
              <a:spcBef>
                <a:spcPts val="265"/>
              </a:spcBef>
              <a:spcAft>
                <a:spcPts val="0"/>
              </a:spcAft>
              <a:buClrTx/>
              <a:buSzTx/>
              <a:buFontTx/>
              <a:buNone/>
              <a:tabLst/>
              <a:defRPr/>
            </a:pPr>
            <a:r>
              <a:rPr kumimoji="0" sz="1600" b="0" i="0" u="none" strike="noStrike" kern="1200" cap="none" spc="5" normalizeH="0" baseline="0" noProof="0" dirty="0">
                <a:ln>
                  <a:noFill/>
                </a:ln>
                <a:solidFill>
                  <a:prstClr val="black"/>
                </a:solidFill>
                <a:effectLst/>
                <a:highlight>
                  <a:srgbClr val="C0C0C0"/>
                </a:highlight>
                <a:uLnTx/>
                <a:uFillTx/>
                <a:latin typeface="Trebuchet MS" panose="020B0603020202020204" pitchFamily="34" charset="0"/>
                <a:ea typeface="+mn-ea"/>
              </a:rPr>
              <a:t>float</a:t>
            </a:r>
            <a:r>
              <a:rPr kumimoji="0" sz="1600" b="0" i="0" u="none" strike="noStrike" kern="1200" cap="none" spc="-130"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600" b="0" i="0" u="none" strike="noStrike" kern="1200" cap="none" spc="-50" normalizeH="0" baseline="0" noProof="0" dirty="0">
                <a:ln>
                  <a:noFill/>
                </a:ln>
                <a:solidFill>
                  <a:prstClr val="black"/>
                </a:solidFill>
                <a:effectLst/>
                <a:highlight>
                  <a:srgbClr val="C0C0C0"/>
                </a:highlight>
                <a:uLnTx/>
                <a:uFillTx/>
                <a:latin typeface="Trebuchet MS" panose="020B0603020202020204" pitchFamily="34" charset="0"/>
                <a:ea typeface="+mn-ea"/>
              </a:rPr>
              <a:t>mileage;</a:t>
            </a:r>
            <a:endParaRPr kumimoji="0" sz="1600" b="0" i="0" u="none" strike="noStrike" kern="1200" cap="none" spc="0"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3345" marR="0" lvl="0" indent="0" defTabSz="914400" eaLnBrk="1" fontAlgn="auto" latinLnBrk="0" hangingPunct="1">
              <a:spcBef>
                <a:spcPts val="0"/>
              </a:spcBef>
              <a:spcAft>
                <a:spcPts val="0"/>
              </a:spcAft>
              <a:buClrTx/>
              <a:buSzTx/>
              <a:buFontTx/>
              <a:buNone/>
              <a:tabLst/>
              <a:defRPr/>
            </a:pPr>
            <a:r>
              <a:rPr kumimoji="0" sz="1600" b="0" i="0" u="none" strike="noStrike" kern="1200" cap="none" spc="-45" normalizeH="0" baseline="0" noProof="0" dirty="0">
                <a:ln>
                  <a:noFill/>
                </a:ln>
                <a:solidFill>
                  <a:prstClr val="black"/>
                </a:solidFill>
                <a:effectLst/>
                <a:highlight>
                  <a:srgbClr val="C0C0C0"/>
                </a:highlight>
                <a:uLnTx/>
                <a:uFillTx/>
                <a:latin typeface="Trebuchet MS" panose="020B0603020202020204" pitchFamily="34" charset="0"/>
                <a:ea typeface="+mn-ea"/>
              </a:rPr>
              <a:t>double</a:t>
            </a:r>
            <a:r>
              <a:rPr kumimoji="0" sz="1600" b="0" i="0" u="none" strike="noStrike" kern="1200" cap="none" spc="-130"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600" b="0" i="0" u="none" strike="noStrike" kern="1200" cap="none" spc="-45" normalizeH="0" baseline="0" noProof="0" dirty="0">
                <a:ln>
                  <a:noFill/>
                </a:ln>
                <a:solidFill>
                  <a:prstClr val="black"/>
                </a:solidFill>
                <a:effectLst/>
                <a:highlight>
                  <a:srgbClr val="C0C0C0"/>
                </a:highlight>
                <a:uLnTx/>
                <a:uFillTx/>
                <a:latin typeface="Trebuchet MS" panose="020B0603020202020204" pitchFamily="34" charset="0"/>
                <a:ea typeface="+mn-ea"/>
              </a:rPr>
              <a:t>price;</a:t>
            </a:r>
            <a:endParaRPr kumimoji="0" sz="1600" b="0" i="0" u="none" strike="noStrike" kern="1200" cap="none" spc="0"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3345" marR="0" lvl="0" indent="0" defTabSz="914400" eaLnBrk="1" fontAlgn="auto" latinLnBrk="0" hangingPunct="1">
              <a:spcBef>
                <a:spcPts val="5"/>
              </a:spcBef>
              <a:spcAft>
                <a:spcPts val="0"/>
              </a:spcAft>
              <a:buClrTx/>
              <a:buSzTx/>
              <a:buFontTx/>
              <a:buNone/>
              <a:tabLst/>
              <a:defRPr/>
            </a:pPr>
            <a:r>
              <a:rPr kumimoji="0" sz="1600" b="0" i="0" u="none" strike="noStrike" kern="1200" cap="none" spc="-10" normalizeH="0" baseline="0" noProof="0" dirty="0">
                <a:ln>
                  <a:noFill/>
                </a:ln>
                <a:solidFill>
                  <a:prstClr val="black"/>
                </a:solidFill>
                <a:effectLst/>
                <a:highlight>
                  <a:srgbClr val="C0C0C0"/>
                </a:highlight>
                <a:uLnTx/>
                <a:uFillTx/>
                <a:latin typeface="Trebuchet MS" panose="020B0603020202020204" pitchFamily="34" charset="0"/>
                <a:ea typeface="+mn-ea"/>
              </a:rPr>
              <a:t>//other </a:t>
            </a:r>
            <a:r>
              <a:rPr kumimoji="0" sz="1600" b="0" i="0" u="none" strike="noStrike" kern="1200" cap="none" spc="-75" normalizeH="0" baseline="0" noProof="0" dirty="0">
                <a:ln>
                  <a:noFill/>
                </a:ln>
                <a:solidFill>
                  <a:prstClr val="black"/>
                </a:solidFill>
                <a:effectLst/>
                <a:highlight>
                  <a:srgbClr val="C0C0C0"/>
                </a:highlight>
                <a:uLnTx/>
                <a:uFillTx/>
                <a:latin typeface="Trebuchet MS" panose="020B0603020202020204" pitchFamily="34" charset="0"/>
                <a:ea typeface="+mn-ea"/>
              </a:rPr>
              <a:t>code</a:t>
            </a:r>
            <a:r>
              <a:rPr kumimoji="0" sz="1600" b="0" i="0" u="none" strike="noStrike" kern="1200" cap="none" spc="-310" normalizeH="0" baseline="0" noProof="0" dirty="0">
                <a:ln>
                  <a:noFill/>
                </a:ln>
                <a:solidFill>
                  <a:prstClr val="black"/>
                </a:solidFill>
                <a:effectLst/>
                <a:highlight>
                  <a:srgbClr val="C0C0C0"/>
                </a:highlight>
                <a:uLnTx/>
                <a:uFillTx/>
                <a:latin typeface="Trebuchet MS" panose="020B0603020202020204" pitchFamily="34" charset="0"/>
                <a:ea typeface="+mn-ea"/>
              </a:rPr>
              <a:t> </a:t>
            </a:r>
            <a:r>
              <a:rPr kumimoji="0" sz="1600" b="0" i="0" u="none" strike="noStrike" kern="1200" cap="none" spc="-30" normalizeH="0" baseline="0" noProof="0" dirty="0">
                <a:ln>
                  <a:noFill/>
                </a:ln>
                <a:solidFill>
                  <a:prstClr val="black"/>
                </a:solidFill>
                <a:effectLst/>
                <a:highlight>
                  <a:srgbClr val="C0C0C0"/>
                </a:highlight>
                <a:uLnTx/>
                <a:uFillTx/>
                <a:latin typeface="Trebuchet MS" panose="020B0603020202020204" pitchFamily="34" charset="0"/>
                <a:ea typeface="+mn-ea"/>
              </a:rPr>
              <a:t>operation</a:t>
            </a:r>
            <a:endParaRPr kumimoji="0" lang="en-US" sz="1600" b="0" i="0" u="none" strike="noStrike" kern="1200" cap="none" spc="-30"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3345">
              <a:spcBef>
                <a:spcPts val="5"/>
              </a:spcBef>
              <a:buClrTx/>
            </a:pPr>
            <a:r>
              <a:rPr kumimoji="0" lang="en-IN" sz="1600" b="0" i="0" u="none" strike="noStrike" kern="1200" cap="none" spc="-55" normalizeH="0" baseline="0" noProof="0" dirty="0">
                <a:ln>
                  <a:noFill/>
                </a:ln>
                <a:solidFill>
                  <a:prstClr val="black"/>
                </a:solidFill>
                <a:effectLst/>
                <a:highlight>
                  <a:srgbClr val="C0C0C0"/>
                </a:highlight>
                <a:uLnTx/>
                <a:uFillTx/>
                <a:latin typeface="Trebuchet MS" panose="020B0603020202020204" pitchFamily="34" charset="0"/>
                <a:ea typeface="+mn-ea"/>
              </a:rPr>
              <a:t>}</a:t>
            </a:r>
          </a:p>
          <a:p>
            <a:pPr marL="93345">
              <a:spcBef>
                <a:spcPts val="5"/>
              </a:spcBef>
              <a:buClrTx/>
            </a:pPr>
            <a:endParaRPr kumimoji="0" lang="en-IN" sz="1600" b="0" i="0" u="none" strike="noStrike" kern="1200" cap="none" spc="-55" normalizeH="0" baseline="0" noProof="0" dirty="0">
              <a:ln>
                <a:noFill/>
              </a:ln>
              <a:solidFill>
                <a:prstClr val="black"/>
              </a:solidFill>
              <a:effectLst/>
              <a:highlight>
                <a:srgbClr val="C0C0C0"/>
              </a:highlight>
              <a:uLnTx/>
              <a:uFillTx/>
              <a:latin typeface="Trebuchet MS" panose="020B0603020202020204" pitchFamily="34" charset="0"/>
              <a:ea typeface="+mn-ea"/>
            </a:endParaRPr>
          </a:p>
          <a:p>
            <a:pPr marL="93345">
              <a:spcBef>
                <a:spcPts val="254"/>
              </a:spcBef>
            </a:pPr>
            <a:r>
              <a:rPr lang="en-IN" sz="1600" spc="-65" dirty="0">
                <a:highlight>
                  <a:srgbClr val="C0C0C0"/>
                </a:highlight>
                <a:latin typeface="Arial"/>
                <a:cs typeface="Arial"/>
              </a:rPr>
              <a:t>Void </a:t>
            </a:r>
            <a:r>
              <a:rPr lang="en-IN" sz="1600" spc="-45" dirty="0">
                <a:highlight>
                  <a:srgbClr val="C0C0C0"/>
                </a:highlight>
                <a:latin typeface="Arial"/>
                <a:cs typeface="Arial"/>
              </a:rPr>
              <a:t>main(</a:t>
            </a:r>
            <a:r>
              <a:rPr lang="en-IN" sz="1600" spc="-165" dirty="0">
                <a:highlight>
                  <a:srgbClr val="C0C0C0"/>
                </a:highlight>
                <a:latin typeface="Arial"/>
                <a:cs typeface="Arial"/>
              </a:rPr>
              <a:t> </a:t>
            </a:r>
            <a:r>
              <a:rPr lang="en-IN" sz="1600" spc="-55" dirty="0">
                <a:highlight>
                  <a:srgbClr val="C0C0C0"/>
                </a:highlight>
                <a:latin typeface="Arial"/>
                <a:cs typeface="Arial"/>
              </a:rPr>
              <a:t>)</a:t>
            </a:r>
            <a:endParaRPr lang="en-IN" sz="1600" dirty="0">
              <a:highlight>
                <a:srgbClr val="C0C0C0"/>
              </a:highlight>
              <a:latin typeface="Arial"/>
              <a:cs typeface="Arial"/>
            </a:endParaRPr>
          </a:p>
          <a:p>
            <a:pPr marL="93345"/>
            <a:r>
              <a:rPr lang="en-IN" sz="1600" spc="-60" dirty="0">
                <a:highlight>
                  <a:srgbClr val="C0C0C0"/>
                </a:highlight>
                <a:latin typeface="Arial"/>
                <a:cs typeface="Arial"/>
              </a:rPr>
              <a:t>{</a:t>
            </a:r>
            <a:endParaRPr lang="en-IN" sz="1600" dirty="0">
              <a:highlight>
                <a:srgbClr val="C0C0C0"/>
              </a:highlight>
              <a:latin typeface="Arial"/>
              <a:cs typeface="Arial"/>
            </a:endParaRPr>
          </a:p>
          <a:p>
            <a:pPr marL="386080" marR="953135"/>
            <a:r>
              <a:rPr lang="en-IN" sz="1600" spc="-110" dirty="0">
                <a:highlight>
                  <a:srgbClr val="C0C0C0"/>
                </a:highlight>
                <a:latin typeface="Arial"/>
                <a:cs typeface="Arial"/>
              </a:rPr>
              <a:t>Car</a:t>
            </a:r>
            <a:r>
              <a:rPr lang="en-IN" sz="1600" spc="-280" dirty="0">
                <a:highlight>
                  <a:srgbClr val="C0C0C0"/>
                </a:highlight>
                <a:latin typeface="Arial"/>
                <a:cs typeface="Arial"/>
              </a:rPr>
              <a:t>   </a:t>
            </a:r>
            <a:r>
              <a:rPr lang="en-IN" sz="1600" spc="-50" dirty="0">
                <a:highlight>
                  <a:srgbClr val="C0C0C0"/>
                </a:highlight>
                <a:latin typeface="Arial"/>
                <a:cs typeface="Arial"/>
              </a:rPr>
              <a:t>Object1;  </a:t>
            </a:r>
            <a:r>
              <a:rPr lang="en-IN" sz="1600" spc="-110" dirty="0">
                <a:highlight>
                  <a:srgbClr val="C0C0C0"/>
                </a:highlight>
                <a:latin typeface="Arial"/>
                <a:cs typeface="Arial"/>
              </a:rPr>
              <a:t>Car</a:t>
            </a:r>
            <a:r>
              <a:rPr lang="en-IN" sz="1600" spc="-285" dirty="0">
                <a:highlight>
                  <a:srgbClr val="C0C0C0"/>
                </a:highlight>
                <a:latin typeface="Arial"/>
                <a:cs typeface="Arial"/>
              </a:rPr>
              <a:t>    </a:t>
            </a:r>
            <a:r>
              <a:rPr lang="en-IN" sz="1600" spc="-40" dirty="0">
                <a:highlight>
                  <a:srgbClr val="C0C0C0"/>
                </a:highlight>
                <a:latin typeface="Arial"/>
                <a:cs typeface="Arial"/>
              </a:rPr>
              <a:t>Object2;</a:t>
            </a:r>
            <a:endParaRPr lang="en-IN" sz="1600" dirty="0">
              <a:highlight>
                <a:srgbClr val="C0C0C0"/>
              </a:highlight>
              <a:latin typeface="Arial"/>
              <a:cs typeface="Arial"/>
            </a:endParaRPr>
          </a:p>
          <a:p>
            <a:pPr marL="93345"/>
            <a:r>
              <a:rPr lang="en-IN" sz="1600" spc="-60" dirty="0">
                <a:highlight>
                  <a:srgbClr val="C0C0C0"/>
                </a:highlight>
                <a:latin typeface="Arial"/>
                <a:cs typeface="Arial"/>
              </a:rPr>
              <a:t>}</a:t>
            </a:r>
            <a:endParaRPr kumimoji="0" b="0" i="0" u="none" strike="noStrike" kern="1200" cap="none" spc="0" normalizeH="0" baseline="0" noProof="0" dirty="0">
              <a:ln>
                <a:noFill/>
              </a:ln>
              <a:solidFill>
                <a:prstClr val="black"/>
              </a:solidFill>
              <a:effectLst/>
              <a:highlight>
                <a:srgbClr val="C0C0C0"/>
              </a:highlight>
              <a:uLnTx/>
              <a:uFillTx/>
              <a:latin typeface="Trebuchet MS" panose="020B0603020202020204" pitchFamily="34" charset="0"/>
              <a:ea typeface="+mn-ea"/>
            </a:endParaRPr>
          </a:p>
        </p:txBody>
      </p:sp>
    </p:spTree>
    <p:extLst>
      <p:ext uri="{BB962C8B-B14F-4D97-AF65-F5344CB8AC3E}">
        <p14:creationId xmlns:p14="http://schemas.microsoft.com/office/powerpoint/2010/main" val="3833659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7"/>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Object Oriented Programming Concepts</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5">
            <a:extLst>
              <a:ext uri="{FF2B5EF4-FFF2-40B4-BE49-F238E27FC236}">
                <a16:creationId xmlns:a16="http://schemas.microsoft.com/office/drawing/2014/main" id="{3499D4EF-3D47-426A-A585-F05FF7481148}"/>
              </a:ext>
            </a:extLst>
          </p:cNvPr>
          <p:cNvSpPr txBox="1"/>
          <p:nvPr/>
        </p:nvSpPr>
        <p:spPr>
          <a:xfrm>
            <a:off x="1233211" y="1771658"/>
            <a:ext cx="9009915" cy="4147289"/>
          </a:xfrm>
          <a:prstGeom prst="rect">
            <a:avLst/>
          </a:prstGeom>
          <a:noFill/>
        </p:spPr>
        <p:txBody>
          <a:bodyPr wrap="square">
            <a:spAutoFit/>
          </a:bodyPr>
          <a:lstStyle/>
          <a:p>
            <a:pPr marL="12700" marR="0" lvl="0" algn="l" defTabSz="914400" rtl="0" eaLnBrk="1" fontAlgn="auto" latinLnBrk="0" hangingPunct="1">
              <a:spcBef>
                <a:spcPts val="800"/>
              </a:spcBef>
              <a:spcAft>
                <a:spcPts val="0"/>
              </a:spcAft>
              <a:buClr>
                <a:srgbClr val="40B9D2"/>
              </a:buClr>
              <a:buSzTx/>
              <a:tabLst>
                <a:tab pos="240665" algn="l"/>
                <a:tab pos="241300" algn="l"/>
              </a:tabLst>
              <a:defRPr/>
            </a:pPr>
            <a:r>
              <a:rPr lang="en-IN" sz="2400" kern="1200" spc="-160" dirty="0">
                <a:solidFill>
                  <a:schemeClr val="tx1"/>
                </a:solidFill>
                <a:latin typeface="Trebuchet MS" panose="020B0603020202020204" pitchFamily="34" charset="0"/>
                <a:ea typeface="+mn-ea"/>
              </a:rPr>
              <a:t>There are some basic concepts that act as the building blocks of OOPs.</a:t>
            </a:r>
          </a:p>
          <a:p>
            <a:pPr marL="809625" marR="0" lvl="0" indent="-357188" algn="l" defTabSz="914400" rtl="0" eaLnBrk="1" fontAlgn="auto" latinLnBrk="0" hangingPunct="1">
              <a:spcBef>
                <a:spcPts val="800"/>
              </a:spcBef>
              <a:spcAft>
                <a:spcPts val="0"/>
              </a:spcAft>
              <a:buClr>
                <a:srgbClr val="40B9D2"/>
              </a:buClr>
              <a:buSzTx/>
              <a:buFont typeface="Arial" panose="020B0604020202020204" pitchFamily="34" charset="0"/>
              <a:buChar char="•"/>
              <a:tabLst>
                <a:tab pos="240665" algn="l"/>
                <a:tab pos="241300" algn="l"/>
              </a:tabLst>
              <a:defRPr/>
            </a:pPr>
            <a:r>
              <a:rPr lang="en-IN" sz="2400" kern="1200" spc="-160" dirty="0">
                <a:solidFill>
                  <a:schemeClr val="tx1"/>
                </a:solidFill>
                <a:latin typeface="Trebuchet MS" panose="020B0603020202020204" pitchFamily="34" charset="0"/>
                <a:ea typeface="+mn-ea"/>
              </a:rPr>
              <a:t>Class</a:t>
            </a:r>
          </a:p>
          <a:p>
            <a:pPr marL="809625" marR="0" lvl="0" indent="-357188" algn="l" defTabSz="914400" rtl="0" eaLnBrk="1" fontAlgn="auto" latinLnBrk="0" hangingPunct="1">
              <a:spcBef>
                <a:spcPts val="700"/>
              </a:spcBef>
              <a:spcAft>
                <a:spcPts val="0"/>
              </a:spcAft>
              <a:buClr>
                <a:srgbClr val="40B9D2"/>
              </a:buClr>
              <a:buSzTx/>
              <a:buFont typeface="Arial" panose="020B0604020202020204" pitchFamily="34" charset="0"/>
              <a:buChar char="•"/>
              <a:tabLst>
                <a:tab pos="240665" algn="l"/>
                <a:tab pos="241300" algn="l"/>
              </a:tabLst>
              <a:defRPr/>
            </a:pPr>
            <a:r>
              <a:rPr kumimoji="0" lang="en-IN" sz="2400" b="0" i="0" u="none" strike="noStrike" kern="1200" cap="none" spc="-45" normalizeH="0" baseline="0" noProof="0" dirty="0">
                <a:ln>
                  <a:noFill/>
                </a:ln>
                <a:solidFill>
                  <a:schemeClr val="tx1"/>
                </a:solidFill>
                <a:effectLst/>
                <a:uLnTx/>
                <a:uFillTx/>
                <a:latin typeface="Trebuchet MS" panose="020B0603020202020204" pitchFamily="34" charset="0"/>
                <a:ea typeface="+mn-ea"/>
              </a:rPr>
              <a:t>Object</a:t>
            </a:r>
            <a:endParaRPr kumimoji="0" lang="en-IN" sz="2400" b="0" i="0" u="none" strike="noStrike" kern="1200" cap="none" spc="0" normalizeH="0" baseline="0" noProof="0" dirty="0">
              <a:ln>
                <a:noFill/>
              </a:ln>
              <a:solidFill>
                <a:schemeClr val="tx1"/>
              </a:solidFill>
              <a:effectLst/>
              <a:uLnTx/>
              <a:uFillTx/>
              <a:latin typeface="Trebuchet MS" panose="020B0603020202020204" pitchFamily="34" charset="0"/>
              <a:ea typeface="+mn-ea"/>
            </a:endParaRPr>
          </a:p>
          <a:p>
            <a:pPr marL="809625" marR="0" lvl="0" indent="-357188" algn="l" defTabSz="914400" rtl="0" eaLnBrk="1" fontAlgn="auto" latinLnBrk="0" hangingPunct="1">
              <a:spcBef>
                <a:spcPts val="700"/>
              </a:spcBef>
              <a:spcAft>
                <a:spcPts val="0"/>
              </a:spcAft>
              <a:buClr>
                <a:srgbClr val="40B9D2"/>
              </a:buClr>
              <a:buSzTx/>
              <a:buFont typeface="Arial" panose="020B0604020202020204" pitchFamily="34" charset="0"/>
              <a:buChar char="•"/>
              <a:tabLst>
                <a:tab pos="240665" algn="l"/>
                <a:tab pos="241300" algn="l"/>
              </a:tabLst>
              <a:defRPr/>
            </a:pPr>
            <a:r>
              <a:rPr kumimoji="0" lang="en-IN" sz="2400" b="0" i="0" u="none" strike="noStrike" kern="1200" cap="none" spc="-60" normalizeH="0" baseline="0" noProof="0" dirty="0">
                <a:ln>
                  <a:noFill/>
                </a:ln>
                <a:solidFill>
                  <a:schemeClr val="tx1"/>
                </a:solidFill>
                <a:effectLst/>
                <a:uLnTx/>
                <a:uFillTx/>
                <a:latin typeface="Trebuchet MS" panose="020B0603020202020204" pitchFamily="34" charset="0"/>
                <a:ea typeface="+mn-ea"/>
              </a:rPr>
              <a:t>Abstraction</a:t>
            </a:r>
            <a:endParaRPr kumimoji="0" lang="en-IN" sz="2400" b="0" i="0" u="none" strike="noStrike" kern="1200" cap="none" spc="0" normalizeH="0" baseline="0" noProof="0" dirty="0">
              <a:ln>
                <a:noFill/>
              </a:ln>
              <a:solidFill>
                <a:schemeClr val="tx1"/>
              </a:solidFill>
              <a:effectLst/>
              <a:uLnTx/>
              <a:uFillTx/>
              <a:latin typeface="Trebuchet MS" panose="020B0603020202020204" pitchFamily="34" charset="0"/>
              <a:ea typeface="+mn-ea"/>
            </a:endParaRPr>
          </a:p>
          <a:p>
            <a:pPr marL="809625" marR="0" lvl="0" indent="-357188" algn="l" defTabSz="914400" rtl="0" eaLnBrk="1" fontAlgn="auto" latinLnBrk="0" hangingPunct="1">
              <a:spcBef>
                <a:spcPts val="720"/>
              </a:spcBef>
              <a:spcAft>
                <a:spcPts val="0"/>
              </a:spcAft>
              <a:buClr>
                <a:srgbClr val="40B9D2"/>
              </a:buClr>
              <a:buSzTx/>
              <a:buFont typeface="Arial" panose="020B0604020202020204" pitchFamily="34" charset="0"/>
              <a:buChar char="•"/>
              <a:tabLst>
                <a:tab pos="240665" algn="l"/>
                <a:tab pos="241300" algn="l"/>
              </a:tabLst>
              <a:defRPr/>
            </a:pPr>
            <a:r>
              <a:rPr kumimoji="0" lang="en-IN" sz="2400" b="0" i="0" u="none" strike="noStrike" kern="1200" cap="none" spc="-80" normalizeH="0" baseline="0" noProof="0" dirty="0">
                <a:ln>
                  <a:noFill/>
                </a:ln>
                <a:solidFill>
                  <a:schemeClr val="tx1"/>
                </a:solidFill>
                <a:effectLst/>
                <a:uLnTx/>
                <a:uFillTx/>
                <a:latin typeface="Trebuchet MS" panose="020B0603020202020204" pitchFamily="34" charset="0"/>
                <a:ea typeface="+mn-ea"/>
              </a:rPr>
              <a:t>Encapsulation</a:t>
            </a:r>
            <a:endParaRPr kumimoji="0" lang="en-IN" sz="2400" b="0" i="0" u="none" strike="noStrike" kern="1200" cap="none" spc="0" normalizeH="0" baseline="0" noProof="0" dirty="0">
              <a:ln>
                <a:noFill/>
              </a:ln>
              <a:solidFill>
                <a:schemeClr val="tx1"/>
              </a:solidFill>
              <a:effectLst/>
              <a:uLnTx/>
              <a:uFillTx/>
              <a:latin typeface="Trebuchet MS" panose="020B0603020202020204" pitchFamily="34" charset="0"/>
              <a:ea typeface="+mn-ea"/>
            </a:endParaRPr>
          </a:p>
          <a:p>
            <a:pPr marL="809625" marR="0" lvl="0" indent="-357188" algn="l" defTabSz="914400" rtl="0" eaLnBrk="1" fontAlgn="auto" latinLnBrk="0" hangingPunct="1">
              <a:spcBef>
                <a:spcPts val="695"/>
              </a:spcBef>
              <a:spcAft>
                <a:spcPts val="0"/>
              </a:spcAft>
              <a:buClr>
                <a:srgbClr val="40B9D2"/>
              </a:buClr>
              <a:buSzTx/>
              <a:buFont typeface="Arial" panose="020B0604020202020204" pitchFamily="34" charset="0"/>
              <a:buChar char="•"/>
              <a:tabLst>
                <a:tab pos="240665" algn="l"/>
                <a:tab pos="241300" algn="l"/>
              </a:tabLst>
              <a:defRPr/>
            </a:pPr>
            <a:r>
              <a:rPr kumimoji="0" lang="en-IN" sz="2400" b="0" i="0" u="none" strike="noStrike" kern="1200" cap="none" spc="-60" normalizeH="0" baseline="0" noProof="0" dirty="0">
                <a:ln>
                  <a:noFill/>
                </a:ln>
                <a:solidFill>
                  <a:schemeClr val="tx1"/>
                </a:solidFill>
                <a:effectLst/>
                <a:uLnTx/>
                <a:uFillTx/>
                <a:latin typeface="Trebuchet MS" panose="020B0603020202020204" pitchFamily="34" charset="0"/>
                <a:ea typeface="+mn-ea"/>
              </a:rPr>
              <a:t>Inheritance</a:t>
            </a:r>
            <a:endParaRPr kumimoji="0" lang="en-IN" sz="2400" b="0" i="0" u="none" strike="noStrike" kern="1200" cap="none" spc="0" normalizeH="0" baseline="0" noProof="0" dirty="0">
              <a:ln>
                <a:noFill/>
              </a:ln>
              <a:solidFill>
                <a:schemeClr val="tx1"/>
              </a:solidFill>
              <a:effectLst/>
              <a:uLnTx/>
              <a:uFillTx/>
              <a:latin typeface="Trebuchet MS" panose="020B0603020202020204" pitchFamily="34" charset="0"/>
              <a:ea typeface="+mn-ea"/>
            </a:endParaRPr>
          </a:p>
          <a:p>
            <a:pPr marL="809625" marR="0" lvl="0" indent="-357188" algn="l" defTabSz="914400" rtl="0" eaLnBrk="1" fontAlgn="auto" latinLnBrk="0" hangingPunct="1">
              <a:spcBef>
                <a:spcPts val="695"/>
              </a:spcBef>
              <a:spcAft>
                <a:spcPts val="0"/>
              </a:spcAft>
              <a:buClr>
                <a:srgbClr val="40B9D2"/>
              </a:buClr>
              <a:buSzTx/>
              <a:buFont typeface="Arial" panose="020B0604020202020204" pitchFamily="34" charset="0"/>
              <a:buChar char="•"/>
              <a:tabLst>
                <a:tab pos="240665" algn="l"/>
                <a:tab pos="241300" algn="l"/>
              </a:tabLst>
              <a:defRPr/>
            </a:pPr>
            <a:r>
              <a:rPr kumimoji="0" lang="en-IN" sz="2400" b="0" i="0" u="none" strike="noStrike" kern="1200" cap="none" spc="-85" normalizeH="0" baseline="0" noProof="0" dirty="0">
                <a:ln>
                  <a:noFill/>
                </a:ln>
                <a:solidFill>
                  <a:schemeClr val="tx1"/>
                </a:solidFill>
                <a:effectLst/>
                <a:uLnTx/>
                <a:uFillTx/>
                <a:latin typeface="Trebuchet MS" panose="020B0603020202020204" pitchFamily="34" charset="0"/>
                <a:ea typeface="+mn-ea"/>
              </a:rPr>
              <a:t>Polymorphism</a:t>
            </a:r>
            <a:endParaRPr kumimoji="0" lang="en-IN" sz="2400" b="0" i="0" u="none" strike="noStrike" kern="1200" cap="none" spc="0" normalizeH="0" baseline="0" noProof="0" dirty="0">
              <a:ln>
                <a:noFill/>
              </a:ln>
              <a:solidFill>
                <a:schemeClr val="tx1"/>
              </a:solidFill>
              <a:effectLst/>
              <a:uLnTx/>
              <a:uFillTx/>
              <a:latin typeface="Trebuchet MS" panose="020B0603020202020204" pitchFamily="34" charset="0"/>
              <a:ea typeface="+mn-ea"/>
            </a:endParaRPr>
          </a:p>
          <a:p>
            <a:pPr marL="809625" marR="0" lvl="0" indent="-357188" algn="l" defTabSz="914400" rtl="0" eaLnBrk="1" fontAlgn="auto" latinLnBrk="0" hangingPunct="1">
              <a:spcBef>
                <a:spcPts val="700"/>
              </a:spcBef>
              <a:spcAft>
                <a:spcPts val="0"/>
              </a:spcAft>
              <a:buClr>
                <a:srgbClr val="40B9D2"/>
              </a:buClr>
              <a:buSzTx/>
              <a:buFont typeface="Arial" panose="020B0604020202020204" pitchFamily="34" charset="0"/>
              <a:buChar char="•"/>
              <a:tabLst>
                <a:tab pos="240665" algn="l"/>
                <a:tab pos="241300" algn="l"/>
              </a:tabLst>
              <a:defRPr/>
            </a:pPr>
            <a:r>
              <a:rPr kumimoji="0" lang="en-IN" sz="2400" b="0" i="0" u="none" strike="noStrike" kern="1200" cap="none" spc="-90" normalizeH="0" baseline="0" noProof="0" dirty="0">
                <a:ln>
                  <a:noFill/>
                </a:ln>
                <a:solidFill>
                  <a:schemeClr val="tx1"/>
                </a:solidFill>
                <a:effectLst/>
                <a:uLnTx/>
                <a:uFillTx/>
                <a:latin typeface="Trebuchet MS" panose="020B0603020202020204" pitchFamily="34" charset="0"/>
                <a:ea typeface="+mn-ea"/>
              </a:rPr>
              <a:t>Dynamic</a:t>
            </a:r>
            <a:r>
              <a:rPr kumimoji="0" lang="en-IN" sz="2400" b="0" i="0" u="none" strike="noStrike" kern="1200" cap="none" spc="-204" normalizeH="0" baseline="0" noProof="0" dirty="0">
                <a:ln>
                  <a:noFill/>
                </a:ln>
                <a:solidFill>
                  <a:schemeClr val="tx1"/>
                </a:solidFill>
                <a:effectLst/>
                <a:uLnTx/>
                <a:uFillTx/>
                <a:latin typeface="Trebuchet MS" panose="020B0603020202020204" pitchFamily="34" charset="0"/>
                <a:ea typeface="+mn-ea"/>
              </a:rPr>
              <a:t> </a:t>
            </a:r>
            <a:r>
              <a:rPr kumimoji="0" lang="en-IN" sz="2400" b="0" i="0" u="none" strike="noStrike" kern="1200" cap="none" spc="-60" normalizeH="0" baseline="0" noProof="0" dirty="0">
                <a:ln>
                  <a:noFill/>
                </a:ln>
                <a:solidFill>
                  <a:schemeClr val="tx1"/>
                </a:solidFill>
                <a:effectLst/>
                <a:uLnTx/>
                <a:uFillTx/>
                <a:latin typeface="Trebuchet MS" panose="020B0603020202020204" pitchFamily="34" charset="0"/>
                <a:ea typeface="+mn-ea"/>
              </a:rPr>
              <a:t>binding</a:t>
            </a:r>
            <a:endParaRPr kumimoji="0" lang="en-IN" sz="2400" b="0" i="0" u="none" strike="noStrike" kern="1200" cap="none" spc="0" normalizeH="0" baseline="0" noProof="0" dirty="0">
              <a:ln>
                <a:noFill/>
              </a:ln>
              <a:solidFill>
                <a:schemeClr val="tx1"/>
              </a:solidFill>
              <a:effectLst/>
              <a:uLnTx/>
              <a:uFillTx/>
              <a:latin typeface="Trebuchet MS" panose="020B0603020202020204" pitchFamily="34" charset="0"/>
              <a:ea typeface="+mn-ea"/>
            </a:endParaRPr>
          </a:p>
          <a:p>
            <a:pPr marL="809625" marR="0" lvl="0" indent="-357188" algn="l" defTabSz="914400" rtl="0" eaLnBrk="1" fontAlgn="auto" latinLnBrk="0" hangingPunct="1">
              <a:spcBef>
                <a:spcPts val="700"/>
              </a:spcBef>
              <a:spcAft>
                <a:spcPts val="0"/>
              </a:spcAft>
              <a:buClr>
                <a:srgbClr val="40B9D2"/>
              </a:buClr>
              <a:buSzTx/>
              <a:buFont typeface="Arial" panose="020B0604020202020204" pitchFamily="34" charset="0"/>
              <a:buChar char="•"/>
              <a:tabLst>
                <a:tab pos="240665" algn="l"/>
                <a:tab pos="241300" algn="l"/>
              </a:tabLst>
              <a:defRPr/>
            </a:pPr>
            <a:r>
              <a:rPr kumimoji="0" lang="en-IN" sz="2400" b="0" i="0" u="none" strike="noStrike" kern="1200" cap="none" spc="-145" normalizeH="0" baseline="0" noProof="0" dirty="0">
                <a:ln>
                  <a:noFill/>
                </a:ln>
                <a:solidFill>
                  <a:schemeClr val="tx1"/>
                </a:solidFill>
                <a:effectLst/>
                <a:uLnTx/>
                <a:uFillTx/>
                <a:latin typeface="Trebuchet MS" panose="020B0603020202020204" pitchFamily="34" charset="0"/>
                <a:ea typeface="+mn-ea"/>
              </a:rPr>
              <a:t>Message</a:t>
            </a:r>
            <a:r>
              <a:rPr kumimoji="0" lang="en-IN" sz="2400" b="0" i="0" u="none" strike="noStrike" kern="1200" cap="none" spc="-175" normalizeH="0" baseline="0" noProof="0" dirty="0">
                <a:ln>
                  <a:noFill/>
                </a:ln>
                <a:solidFill>
                  <a:schemeClr val="tx1"/>
                </a:solidFill>
                <a:effectLst/>
                <a:uLnTx/>
                <a:uFillTx/>
                <a:latin typeface="Trebuchet MS" panose="020B0603020202020204" pitchFamily="34" charset="0"/>
                <a:ea typeface="+mn-ea"/>
              </a:rPr>
              <a:t> </a:t>
            </a:r>
            <a:r>
              <a:rPr kumimoji="0" lang="en-IN" sz="2400" b="0" i="0" u="none" strike="noStrike" kern="1200" cap="none" spc="-140" normalizeH="0" baseline="0" noProof="0" dirty="0">
                <a:ln>
                  <a:noFill/>
                </a:ln>
                <a:solidFill>
                  <a:schemeClr val="tx1"/>
                </a:solidFill>
                <a:effectLst/>
                <a:uLnTx/>
                <a:uFillTx/>
                <a:latin typeface="Trebuchet MS" panose="020B0603020202020204" pitchFamily="34" charset="0"/>
                <a:ea typeface="+mn-ea"/>
              </a:rPr>
              <a:t>Passing</a:t>
            </a:r>
            <a:endParaRPr lang="en-IN" sz="2400"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1369145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Class and objects </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81403275-FB35-42A6-B84B-1969F454B719}"/>
              </a:ext>
            </a:extLst>
          </p:cNvPr>
          <p:cNvSpPr txBox="1"/>
          <p:nvPr/>
        </p:nvSpPr>
        <p:spPr>
          <a:xfrm>
            <a:off x="927169" y="1413626"/>
            <a:ext cx="8499335" cy="3585597"/>
          </a:xfrm>
          <a:prstGeom prst="rect">
            <a:avLst/>
          </a:prstGeom>
          <a:noFill/>
        </p:spPr>
        <p:txBody>
          <a:bodyPr wrap="square">
            <a:spAutoFit/>
          </a:bodyPr>
          <a:lstStyle/>
          <a:p>
            <a:r>
              <a:rPr lang="en-IN" sz="2400" b="1" dirty="0">
                <a:solidFill>
                  <a:srgbClr val="0070C0"/>
                </a:solidFill>
                <a:latin typeface="Trebuchet MS" panose="020B0603020202020204" pitchFamily="34" charset="0"/>
              </a:rPr>
              <a:t>Class:</a:t>
            </a:r>
          </a:p>
          <a:p>
            <a:pPr marL="285750" indent="-285750">
              <a:spcBef>
                <a:spcPts val="600"/>
              </a:spcBef>
              <a:spcAft>
                <a:spcPts val="600"/>
              </a:spcAft>
              <a:buFont typeface="Arial" panose="020B0604020202020204" pitchFamily="34" charset="0"/>
              <a:buChar char="•"/>
            </a:pPr>
            <a:r>
              <a:rPr lang="en-IN" sz="2400" dirty="0">
                <a:latin typeface="Trebuchet MS" panose="020B0603020202020204" pitchFamily="34" charset="0"/>
              </a:rPr>
              <a:t>Class is Blueprint for any entity which defines properties and  function.</a:t>
            </a:r>
          </a:p>
          <a:p>
            <a:pPr marL="285750" indent="-285750">
              <a:spcBef>
                <a:spcPts val="600"/>
              </a:spcBef>
              <a:spcAft>
                <a:spcPts val="600"/>
              </a:spcAft>
              <a:buFont typeface="Arial" panose="020B0604020202020204" pitchFamily="34" charset="0"/>
              <a:buChar char="•"/>
            </a:pPr>
            <a:r>
              <a:rPr lang="en-IN" sz="2400" dirty="0">
                <a:latin typeface="Trebuchet MS" panose="020B0603020202020204" pitchFamily="34" charset="0"/>
              </a:rPr>
              <a:t>It is a user-defined data type, which holds its own data members and member functions, which can be accessed and used by  creating an instance of that class.</a:t>
            </a:r>
          </a:p>
          <a:p>
            <a:pPr marL="285750" indent="-285750">
              <a:spcBef>
                <a:spcPts val="600"/>
              </a:spcBef>
              <a:spcAft>
                <a:spcPts val="600"/>
              </a:spcAft>
              <a:buFont typeface="Arial" panose="020B0604020202020204" pitchFamily="34" charset="0"/>
              <a:buChar char="•"/>
            </a:pPr>
            <a:r>
              <a:rPr lang="en-IN" sz="2400" dirty="0">
                <a:latin typeface="Trebuchet MS" panose="020B0603020202020204" pitchFamily="34" charset="0"/>
              </a:rPr>
              <a:t>Example:</a:t>
            </a:r>
          </a:p>
          <a:p>
            <a:pPr>
              <a:spcBef>
                <a:spcPts val="600"/>
              </a:spcBef>
              <a:spcAft>
                <a:spcPts val="600"/>
              </a:spcAft>
            </a:pPr>
            <a:r>
              <a:rPr lang="en-IN" sz="2400" dirty="0">
                <a:latin typeface="Trebuchet MS" panose="020B0603020202020204" pitchFamily="34" charset="0"/>
              </a:rPr>
              <a:t>	Class Name – CAR</a:t>
            </a:r>
          </a:p>
        </p:txBody>
      </p:sp>
      <p:pic>
        <p:nvPicPr>
          <p:cNvPr id="4" name="Picture 3">
            <a:extLst>
              <a:ext uri="{FF2B5EF4-FFF2-40B4-BE49-F238E27FC236}">
                <a16:creationId xmlns:a16="http://schemas.microsoft.com/office/drawing/2014/main" id="{5D44B369-B67F-4AF6-95D5-7299F2546A1D}"/>
              </a:ext>
            </a:extLst>
          </p:cNvPr>
          <p:cNvPicPr>
            <a:picLocks noChangeAspect="1"/>
          </p:cNvPicPr>
          <p:nvPr/>
        </p:nvPicPr>
        <p:blipFill>
          <a:blip r:embed="rId3"/>
          <a:stretch>
            <a:fillRect/>
          </a:stretch>
        </p:blipFill>
        <p:spPr>
          <a:xfrm>
            <a:off x="4836349" y="4194902"/>
            <a:ext cx="5258995" cy="2306223"/>
          </a:xfrm>
          <a:prstGeom prst="rect">
            <a:avLst/>
          </a:prstGeom>
        </p:spPr>
      </p:pic>
    </p:spTree>
    <p:extLst>
      <p:ext uri="{BB962C8B-B14F-4D97-AF65-F5344CB8AC3E}">
        <p14:creationId xmlns:p14="http://schemas.microsoft.com/office/powerpoint/2010/main" val="10869819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42150"/>
            <a:ext cx="8407107" cy="1859483"/>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rgbClr val="FFFFFF"/>
                </a:solidFill>
                <a:latin typeface="Trebuchet MS" panose="020B0603020202020204" pitchFamily="34" charset="0"/>
              </a:rPr>
            </a:br>
            <a:br>
              <a:rPr lang="en-IN" sz="2400" b="1" dirty="0">
                <a:solidFill>
                  <a:srgbClr val="FFFFFF"/>
                </a:solidFill>
                <a:latin typeface="Trebuchet MS" panose="020B0603020202020204" pitchFamily="34" charset="0"/>
              </a:rPr>
            </a:br>
            <a:r>
              <a:rPr lang="en-IN" sz="2400" b="1" dirty="0">
                <a:solidFill>
                  <a:srgbClr val="FFFFFF"/>
                </a:solidFill>
                <a:latin typeface="Trebuchet MS" panose="020B0603020202020204" pitchFamily="34" charset="0"/>
              </a:rPr>
              <a:t>Class and objects </a:t>
            </a:r>
            <a:br>
              <a:rPr lang="en-IN" sz="24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6">
            <a:extLst>
              <a:ext uri="{FF2B5EF4-FFF2-40B4-BE49-F238E27FC236}">
                <a16:creationId xmlns:a16="http://schemas.microsoft.com/office/drawing/2014/main" id="{2CEC64B0-7753-4E0B-8292-577E92A4A5C0}"/>
              </a:ext>
            </a:extLst>
          </p:cNvPr>
          <p:cNvSpPr txBox="1"/>
          <p:nvPr/>
        </p:nvSpPr>
        <p:spPr>
          <a:xfrm>
            <a:off x="330545" y="1317333"/>
            <a:ext cx="9136727" cy="646331"/>
          </a:xfrm>
          <a:prstGeom prst="rect">
            <a:avLst/>
          </a:prstGeom>
          <a:noFill/>
        </p:spPr>
        <p:txBody>
          <a:bodyPr wrap="square">
            <a:spAutoFit/>
          </a:bodyPr>
          <a:lstStyle/>
          <a:p>
            <a:pPr marL="285750" indent="-285750">
              <a:buFont typeface="Arial" panose="020B0604020202020204" pitchFamily="34" charset="0"/>
              <a:buChar char="•"/>
            </a:pPr>
            <a:r>
              <a:rPr lang="en-IN" sz="1800" dirty="0">
                <a:latin typeface="Trebuchet MS" panose="020B0603020202020204" pitchFamily="34" charset="0"/>
              </a:rPr>
              <a:t>A class contains data members (variables) and member functions(methods). These member functions are used to manipulate the data members inside the class.</a:t>
            </a:r>
          </a:p>
        </p:txBody>
      </p:sp>
      <p:pic>
        <p:nvPicPr>
          <p:cNvPr id="4" name="Picture 8">
            <a:extLst>
              <a:ext uri="{FF2B5EF4-FFF2-40B4-BE49-F238E27FC236}">
                <a16:creationId xmlns:a16="http://schemas.microsoft.com/office/drawing/2014/main" id="{0D888C5F-DDC3-41C4-BD2E-F66867CED64A}"/>
              </a:ext>
            </a:extLst>
          </p:cNvPr>
          <p:cNvPicPr>
            <a:picLocks noChangeAspect="1"/>
          </p:cNvPicPr>
          <p:nvPr/>
        </p:nvPicPr>
        <p:blipFill rotWithShape="1">
          <a:blip r:embed="rId3"/>
          <a:srcRect l="7366" t="1922" r="4243" b="7852"/>
          <a:stretch/>
        </p:blipFill>
        <p:spPr>
          <a:xfrm>
            <a:off x="3603305" y="2818541"/>
            <a:ext cx="5577640" cy="3489895"/>
          </a:xfrm>
          <a:prstGeom prst="rect">
            <a:avLst/>
          </a:prstGeom>
        </p:spPr>
      </p:pic>
    </p:spTree>
    <p:extLst>
      <p:ext uri="{BB962C8B-B14F-4D97-AF65-F5344CB8AC3E}">
        <p14:creationId xmlns:p14="http://schemas.microsoft.com/office/powerpoint/2010/main" val="2219307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Class and objects </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6">
            <a:extLst>
              <a:ext uri="{FF2B5EF4-FFF2-40B4-BE49-F238E27FC236}">
                <a16:creationId xmlns:a16="http://schemas.microsoft.com/office/drawing/2014/main" id="{8601C868-F23E-4349-A3F8-DF311FBB6189}"/>
              </a:ext>
            </a:extLst>
          </p:cNvPr>
          <p:cNvSpPr txBox="1"/>
          <p:nvPr/>
        </p:nvSpPr>
        <p:spPr>
          <a:xfrm>
            <a:off x="999150" y="1546704"/>
            <a:ext cx="9050014" cy="445647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400" b="1" i="0" dirty="0">
                <a:solidFill>
                  <a:srgbClr val="0070C0"/>
                </a:solidFill>
                <a:effectLst/>
                <a:latin typeface="Trebuchet MS" panose="020B0603020202020204" pitchFamily="34" charset="0"/>
              </a:rPr>
              <a:t>Object</a:t>
            </a:r>
            <a:r>
              <a:rPr lang="en-IN" sz="2400" b="0" i="0" dirty="0">
                <a:solidFill>
                  <a:schemeClr val="tx1"/>
                </a:solidFill>
                <a:effectLst/>
                <a:latin typeface="Trebuchet MS" panose="020B0603020202020204" pitchFamily="34" charset="0"/>
              </a:rPr>
              <a:t> is real world entity or it is instance of Class.</a:t>
            </a:r>
            <a:endParaRPr lang="en-IN" sz="2400" dirty="0">
              <a:solidFill>
                <a:schemeClr val="tx1"/>
              </a:solidFill>
              <a:latin typeface="Trebuchet MS" panose="020B0603020202020204" pitchFamily="34" charset="0"/>
            </a:endParaRPr>
          </a:p>
          <a:p>
            <a:pPr marL="285750" indent="-285750" algn="l">
              <a:lnSpc>
                <a:spcPct val="150000"/>
              </a:lnSpc>
              <a:buFont typeface="Arial" panose="020B0604020202020204" pitchFamily="34" charset="0"/>
              <a:buChar char="•"/>
            </a:pPr>
            <a:r>
              <a:rPr lang="en-IN" sz="2400" dirty="0">
                <a:solidFill>
                  <a:schemeClr val="tx1"/>
                </a:solidFill>
                <a:latin typeface="Trebuchet MS" panose="020B0603020202020204" pitchFamily="34" charset="0"/>
              </a:rPr>
              <a:t>It</a:t>
            </a:r>
            <a:r>
              <a:rPr lang="en-IN" sz="2400" b="0" i="0" u="none" strike="noStrike" baseline="0" dirty="0">
                <a:solidFill>
                  <a:schemeClr val="tx1"/>
                </a:solidFill>
                <a:latin typeface="Trebuchet MS" panose="020B0603020202020204" pitchFamily="34" charset="0"/>
              </a:rPr>
              <a:t> may be represent a person, a place, a bank account, any things, a table of data or any item that the program must handle. </a:t>
            </a:r>
            <a:endParaRPr lang="en-IN" sz="2400" b="0" i="0" dirty="0">
              <a:solidFill>
                <a:schemeClr val="tx1"/>
              </a:solidFill>
              <a:effectLst/>
              <a:latin typeface="Trebuchet MS" panose="020B0603020202020204" pitchFamily="34" charset="0"/>
            </a:endParaRPr>
          </a:p>
          <a:p>
            <a:pPr marL="285750" indent="-285750" algn="l">
              <a:lnSpc>
                <a:spcPct val="150000"/>
              </a:lnSpc>
              <a:buFont typeface="Arial" panose="020B0604020202020204" pitchFamily="34" charset="0"/>
              <a:buChar char="•"/>
            </a:pPr>
            <a:r>
              <a:rPr lang="en-IN" sz="2400" dirty="0">
                <a:solidFill>
                  <a:schemeClr val="tx1"/>
                </a:solidFill>
                <a:latin typeface="Trebuchet MS" panose="020B0603020202020204" pitchFamily="34" charset="0"/>
              </a:rPr>
              <a:t>When a class is defined, only the specification for the object is defined, </a:t>
            </a:r>
            <a:r>
              <a:rPr lang="en-IN" sz="2400" dirty="0">
                <a:solidFill>
                  <a:srgbClr val="FF0000"/>
                </a:solidFill>
                <a:latin typeface="Trebuchet MS" panose="020B0603020202020204" pitchFamily="34" charset="0"/>
              </a:rPr>
              <a:t>no memory or storage is allocated</a:t>
            </a:r>
            <a:r>
              <a:rPr lang="en-IN" sz="2400" dirty="0">
                <a:solidFill>
                  <a:schemeClr val="tx1"/>
                </a:solidFill>
                <a:latin typeface="Trebuchet MS" panose="020B0603020202020204" pitchFamily="34" charset="0"/>
              </a:rPr>
              <a:t>.</a:t>
            </a:r>
          </a:p>
          <a:p>
            <a:pPr marL="285750" indent="-285750" algn="l">
              <a:lnSpc>
                <a:spcPct val="150000"/>
              </a:lnSpc>
              <a:buFont typeface="Arial" panose="020B0604020202020204" pitchFamily="34" charset="0"/>
              <a:buChar char="•"/>
            </a:pPr>
            <a:r>
              <a:rPr lang="en-IN" sz="2400" dirty="0">
                <a:solidFill>
                  <a:schemeClr val="tx1"/>
                </a:solidFill>
                <a:latin typeface="Trebuchet MS" panose="020B0603020202020204" pitchFamily="34" charset="0"/>
              </a:rPr>
              <a:t>To use the data and access functions defined in the class, we need to create objects.</a:t>
            </a:r>
          </a:p>
        </p:txBody>
      </p:sp>
    </p:spTree>
    <p:extLst>
      <p:ext uri="{BB962C8B-B14F-4D97-AF65-F5344CB8AC3E}">
        <p14:creationId xmlns:p14="http://schemas.microsoft.com/office/powerpoint/2010/main" val="995141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Class and objects – Example  </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pic>
        <p:nvPicPr>
          <p:cNvPr id="3" name="Picture 2">
            <a:extLst>
              <a:ext uri="{FF2B5EF4-FFF2-40B4-BE49-F238E27FC236}">
                <a16:creationId xmlns:a16="http://schemas.microsoft.com/office/drawing/2014/main" id="{62B8BED8-32BD-4227-BCFC-70659F0AC8E0}"/>
              </a:ext>
            </a:extLst>
          </p:cNvPr>
          <p:cNvPicPr>
            <a:picLocks noChangeAspect="1"/>
          </p:cNvPicPr>
          <p:nvPr/>
        </p:nvPicPr>
        <p:blipFill rotWithShape="1">
          <a:blip r:embed="rId3"/>
          <a:srcRect t="5318" b="17001"/>
          <a:stretch/>
        </p:blipFill>
        <p:spPr>
          <a:xfrm>
            <a:off x="951346" y="2048124"/>
            <a:ext cx="10076872" cy="4149475"/>
          </a:xfrm>
          <a:prstGeom prst="rect">
            <a:avLst/>
          </a:prstGeom>
        </p:spPr>
      </p:pic>
    </p:spTree>
    <p:extLst>
      <p:ext uri="{BB962C8B-B14F-4D97-AF65-F5344CB8AC3E}">
        <p14:creationId xmlns:p14="http://schemas.microsoft.com/office/powerpoint/2010/main" val="29604935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Class and objects – Example  </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pic>
        <p:nvPicPr>
          <p:cNvPr id="3" name="Picture 1">
            <a:extLst>
              <a:ext uri="{FF2B5EF4-FFF2-40B4-BE49-F238E27FC236}">
                <a16:creationId xmlns:a16="http://schemas.microsoft.com/office/drawing/2014/main" id="{E437F863-A264-4664-9946-713F34B144D1}"/>
              </a:ext>
            </a:extLst>
          </p:cNvPr>
          <p:cNvPicPr>
            <a:picLocks noChangeAspect="1"/>
          </p:cNvPicPr>
          <p:nvPr/>
        </p:nvPicPr>
        <p:blipFill rotWithShape="1">
          <a:blip r:embed="rId3"/>
          <a:srcRect l="4267" t="3601" r="4027" b="3618"/>
          <a:stretch/>
        </p:blipFill>
        <p:spPr>
          <a:xfrm>
            <a:off x="1958109" y="1732685"/>
            <a:ext cx="7924800" cy="4686587"/>
          </a:xfrm>
          <a:prstGeom prst="rect">
            <a:avLst/>
          </a:prstGeom>
        </p:spPr>
      </p:pic>
    </p:spTree>
    <p:extLst>
      <p:ext uri="{BB962C8B-B14F-4D97-AF65-F5344CB8AC3E}">
        <p14:creationId xmlns:p14="http://schemas.microsoft.com/office/powerpoint/2010/main" val="41145355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Abstraction</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05A52110-B8DC-4588-AD0B-723FAEC38830}"/>
              </a:ext>
            </a:extLst>
          </p:cNvPr>
          <p:cNvSpPr txBox="1"/>
          <p:nvPr/>
        </p:nvSpPr>
        <p:spPr>
          <a:xfrm>
            <a:off x="585039" y="1187205"/>
            <a:ext cx="8412382" cy="271914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000" dirty="0">
                <a:latin typeface="Trebuchet MS" panose="020B0603020202020204" pitchFamily="34" charset="0"/>
              </a:rPr>
              <a:t>It is a process of hiding irrelevant details from the user.  </a:t>
            </a:r>
          </a:p>
          <a:p>
            <a:pPr marL="285750" indent="-285750">
              <a:lnSpc>
                <a:spcPct val="150000"/>
              </a:lnSpc>
              <a:buFont typeface="Arial" panose="020B0604020202020204" pitchFamily="34" charset="0"/>
              <a:buChar char="•"/>
            </a:pPr>
            <a:r>
              <a:rPr lang="en-IN" sz="2000" dirty="0">
                <a:latin typeface="Trebuchet MS" panose="020B0603020202020204" pitchFamily="34" charset="0"/>
              </a:rPr>
              <a:t>Abstraction/Data abstraction refers to providing only essential information about the data to the outside world, hiding the background details or implementation.</a:t>
            </a:r>
          </a:p>
          <a:p>
            <a:pPr marL="285750" indent="-285750">
              <a:lnSpc>
                <a:spcPct val="150000"/>
              </a:lnSpc>
              <a:buFont typeface="Arial" panose="020B0604020202020204" pitchFamily="34" charset="0"/>
              <a:buChar char="•"/>
            </a:pPr>
            <a:endParaRPr lang="en-IN" sz="1800" dirty="0">
              <a:latin typeface="Trebuchet MS" panose="020B0603020202020204" pitchFamily="34" charset="0"/>
            </a:endParaRPr>
          </a:p>
          <a:p>
            <a:pPr marL="285750" indent="-285750">
              <a:lnSpc>
                <a:spcPct val="150000"/>
              </a:lnSpc>
              <a:buFont typeface="Arial" panose="020B0604020202020204" pitchFamily="34" charset="0"/>
              <a:buChar char="•"/>
            </a:pPr>
            <a:endParaRPr lang="en-IN" sz="1800" dirty="0">
              <a:latin typeface="Trebuchet MS" panose="020B0603020202020204" pitchFamily="34" charset="0"/>
            </a:endParaRPr>
          </a:p>
        </p:txBody>
      </p:sp>
      <p:pic>
        <p:nvPicPr>
          <p:cNvPr id="4" name="Picture 3">
            <a:extLst>
              <a:ext uri="{FF2B5EF4-FFF2-40B4-BE49-F238E27FC236}">
                <a16:creationId xmlns:a16="http://schemas.microsoft.com/office/drawing/2014/main" id="{E9DC4FAC-C752-416C-8138-8F232598CCF0}"/>
              </a:ext>
            </a:extLst>
          </p:cNvPr>
          <p:cNvPicPr>
            <a:picLocks noChangeAspect="1"/>
          </p:cNvPicPr>
          <p:nvPr/>
        </p:nvPicPr>
        <p:blipFill>
          <a:blip r:embed="rId3"/>
          <a:stretch>
            <a:fillRect/>
          </a:stretch>
        </p:blipFill>
        <p:spPr>
          <a:xfrm>
            <a:off x="2020691" y="3306618"/>
            <a:ext cx="8573418" cy="2904217"/>
          </a:xfrm>
          <a:prstGeom prst="rect">
            <a:avLst/>
          </a:prstGeom>
        </p:spPr>
      </p:pic>
    </p:spTree>
    <p:extLst>
      <p:ext uri="{BB962C8B-B14F-4D97-AF65-F5344CB8AC3E}">
        <p14:creationId xmlns:p14="http://schemas.microsoft.com/office/powerpoint/2010/main" val="18757830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Abstraction – Example </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4">
            <a:extLst>
              <a:ext uri="{FF2B5EF4-FFF2-40B4-BE49-F238E27FC236}">
                <a16:creationId xmlns:a16="http://schemas.microsoft.com/office/drawing/2014/main" id="{21558AF6-9C28-41AE-B477-ACB444ADD237}"/>
              </a:ext>
            </a:extLst>
          </p:cNvPr>
          <p:cNvSpPr txBox="1"/>
          <p:nvPr/>
        </p:nvSpPr>
        <p:spPr>
          <a:xfrm>
            <a:off x="694652" y="1348111"/>
            <a:ext cx="10481348" cy="4616648"/>
          </a:xfrm>
          <a:prstGeom prst="rect">
            <a:avLst/>
          </a:prstGeom>
          <a:noFill/>
        </p:spPr>
        <p:txBody>
          <a:bodyPr wrap="square">
            <a:spAutoFit/>
          </a:bodyPr>
          <a:lstStyle/>
          <a:p>
            <a:pPr>
              <a:spcBef>
                <a:spcPts val="600"/>
              </a:spcBef>
              <a:spcAft>
                <a:spcPts val="600"/>
              </a:spcAft>
            </a:pPr>
            <a:r>
              <a:rPr lang="en-IN" sz="2400" b="1" dirty="0">
                <a:solidFill>
                  <a:srgbClr val="0070C0"/>
                </a:solidFill>
                <a:latin typeface="Trebuchet MS" panose="020B0603020202020204" pitchFamily="34" charset="0"/>
              </a:rPr>
              <a:t>Example – 1</a:t>
            </a:r>
          </a:p>
          <a:p>
            <a:pPr>
              <a:spcBef>
                <a:spcPts val="600"/>
              </a:spcBef>
              <a:spcAft>
                <a:spcPts val="600"/>
              </a:spcAft>
            </a:pPr>
            <a:r>
              <a:rPr lang="en-IN" sz="2400" dirty="0">
                <a:solidFill>
                  <a:schemeClr val="tx1"/>
                </a:solidFill>
                <a:latin typeface="Trebuchet MS" panose="020B0603020202020204" pitchFamily="34" charset="0"/>
              </a:rPr>
              <a:t>Consider a real life example of a man driving a car. The man only  knows that pressing the accelerators will increase the speed of car  or applying brakes will stop the car but he does not know about  how on pressing accelerator the speed is actually increasing, he  does not know about the inner mechanism of the car or the  implementation of accelerator, brakes etc in the car. This is what  abstraction is.</a:t>
            </a:r>
          </a:p>
          <a:p>
            <a:pPr>
              <a:spcBef>
                <a:spcPts val="600"/>
              </a:spcBef>
              <a:spcAft>
                <a:spcPts val="600"/>
              </a:spcAft>
            </a:pPr>
            <a:r>
              <a:rPr lang="en-IN" sz="2400" b="1" dirty="0">
                <a:solidFill>
                  <a:srgbClr val="0070C0"/>
                </a:solidFill>
                <a:latin typeface="Trebuchet MS" panose="020B0603020202020204" pitchFamily="34" charset="0"/>
              </a:rPr>
              <a:t>Example – 2</a:t>
            </a:r>
          </a:p>
          <a:p>
            <a:pPr>
              <a:spcBef>
                <a:spcPts val="600"/>
              </a:spcBef>
              <a:spcAft>
                <a:spcPts val="600"/>
              </a:spcAft>
            </a:pPr>
            <a:r>
              <a:rPr lang="en-IN" sz="2400" spc="-100" dirty="0">
                <a:solidFill>
                  <a:schemeClr val="tx1"/>
                </a:solidFill>
                <a:latin typeface="Trebuchet MS" panose="020B0603020202020204" pitchFamily="34" charset="0"/>
              </a:rPr>
              <a:t>The</a:t>
            </a:r>
            <a:r>
              <a:rPr lang="en-IN" sz="2400" spc="-140" dirty="0">
                <a:solidFill>
                  <a:schemeClr val="tx1"/>
                </a:solidFill>
                <a:latin typeface="Trebuchet MS" panose="020B0603020202020204" pitchFamily="34" charset="0"/>
              </a:rPr>
              <a:t> </a:t>
            </a:r>
            <a:r>
              <a:rPr lang="en-IN" sz="2400" spc="-55" dirty="0">
                <a:solidFill>
                  <a:schemeClr val="tx1"/>
                </a:solidFill>
                <a:latin typeface="Trebuchet MS" panose="020B0603020202020204" pitchFamily="34" charset="0"/>
              </a:rPr>
              <a:t>calculator</a:t>
            </a:r>
            <a:r>
              <a:rPr lang="en-IN" sz="2400" spc="-125" dirty="0">
                <a:solidFill>
                  <a:schemeClr val="tx1"/>
                </a:solidFill>
                <a:latin typeface="Trebuchet MS" panose="020B0603020202020204" pitchFamily="34" charset="0"/>
              </a:rPr>
              <a:t> </a:t>
            </a:r>
            <a:r>
              <a:rPr lang="en-IN" sz="2400" spc="-80" dirty="0">
                <a:solidFill>
                  <a:schemeClr val="tx1"/>
                </a:solidFill>
                <a:latin typeface="Trebuchet MS" panose="020B0603020202020204" pitchFamily="34" charset="0"/>
              </a:rPr>
              <a:t>shown</a:t>
            </a:r>
            <a:r>
              <a:rPr lang="en-IN" sz="2400" spc="-145" dirty="0">
                <a:solidFill>
                  <a:schemeClr val="tx1"/>
                </a:solidFill>
                <a:latin typeface="Trebuchet MS" panose="020B0603020202020204" pitchFamily="34" charset="0"/>
              </a:rPr>
              <a:t> </a:t>
            </a:r>
            <a:r>
              <a:rPr lang="en-IN" sz="2400" spc="-30" dirty="0">
                <a:solidFill>
                  <a:schemeClr val="tx1"/>
                </a:solidFill>
                <a:latin typeface="Trebuchet MS" panose="020B0603020202020204" pitchFamily="34" charset="0"/>
              </a:rPr>
              <a:t>in</a:t>
            </a:r>
            <a:r>
              <a:rPr lang="en-IN" sz="2400" spc="-150" dirty="0">
                <a:solidFill>
                  <a:schemeClr val="tx1"/>
                </a:solidFill>
                <a:latin typeface="Trebuchet MS" panose="020B0603020202020204" pitchFamily="34" charset="0"/>
              </a:rPr>
              <a:t> </a:t>
            </a:r>
            <a:r>
              <a:rPr lang="en-IN" sz="2400" spc="-20" dirty="0">
                <a:solidFill>
                  <a:schemeClr val="tx1"/>
                </a:solidFill>
                <a:latin typeface="Trebuchet MS" panose="020B0603020202020204" pitchFamily="34" charset="0"/>
              </a:rPr>
              <a:t>the</a:t>
            </a:r>
            <a:r>
              <a:rPr lang="en-IN" sz="2400" spc="-135" dirty="0">
                <a:solidFill>
                  <a:schemeClr val="tx1"/>
                </a:solidFill>
                <a:latin typeface="Trebuchet MS" panose="020B0603020202020204" pitchFamily="34" charset="0"/>
              </a:rPr>
              <a:t> </a:t>
            </a:r>
            <a:r>
              <a:rPr lang="en-IN" sz="2400" spc="-35" dirty="0">
                <a:solidFill>
                  <a:schemeClr val="tx1"/>
                </a:solidFill>
                <a:latin typeface="Trebuchet MS" panose="020B0603020202020204" pitchFamily="34" charset="0"/>
              </a:rPr>
              <a:t>figure</a:t>
            </a:r>
            <a:r>
              <a:rPr lang="en-IN" sz="2400" spc="-110" dirty="0">
                <a:solidFill>
                  <a:schemeClr val="tx1"/>
                </a:solidFill>
                <a:latin typeface="Trebuchet MS" panose="020B0603020202020204" pitchFamily="34" charset="0"/>
              </a:rPr>
              <a:t> </a:t>
            </a:r>
            <a:r>
              <a:rPr lang="en-IN" sz="2400" spc="-135" dirty="0">
                <a:solidFill>
                  <a:schemeClr val="tx1"/>
                </a:solidFill>
                <a:latin typeface="Trebuchet MS" panose="020B0603020202020204" pitchFamily="34" charset="0"/>
              </a:rPr>
              <a:t>has</a:t>
            </a:r>
            <a:r>
              <a:rPr lang="en-IN" sz="2400" spc="-160" dirty="0">
                <a:solidFill>
                  <a:schemeClr val="tx1"/>
                </a:solidFill>
                <a:latin typeface="Trebuchet MS" panose="020B0603020202020204" pitchFamily="34" charset="0"/>
              </a:rPr>
              <a:t> </a:t>
            </a:r>
            <a:r>
              <a:rPr lang="en-IN" sz="2400" spc="40" dirty="0">
                <a:solidFill>
                  <a:schemeClr val="tx1"/>
                </a:solidFill>
                <a:latin typeface="Trebuchet MS" panose="020B0603020202020204" pitchFamily="34" charset="0"/>
              </a:rPr>
              <a:t>to</a:t>
            </a:r>
            <a:r>
              <a:rPr lang="en-IN" sz="2400" spc="-155" dirty="0">
                <a:solidFill>
                  <a:schemeClr val="tx1"/>
                </a:solidFill>
                <a:latin typeface="Trebuchet MS" panose="020B0603020202020204" pitchFamily="34" charset="0"/>
              </a:rPr>
              <a:t> </a:t>
            </a:r>
            <a:r>
              <a:rPr lang="en-IN" sz="2400" spc="-95" dirty="0">
                <a:solidFill>
                  <a:schemeClr val="tx1"/>
                </a:solidFill>
                <a:latin typeface="Trebuchet MS" panose="020B0603020202020204" pitchFamily="34" charset="0"/>
              </a:rPr>
              <a:t>be  </a:t>
            </a:r>
            <a:r>
              <a:rPr lang="en-IN" sz="2400" spc="-65" dirty="0">
                <a:solidFill>
                  <a:schemeClr val="tx1"/>
                </a:solidFill>
                <a:latin typeface="Trebuchet MS" panose="020B0603020202020204" pitchFamily="34" charset="0"/>
              </a:rPr>
              <a:t>powered </a:t>
            </a:r>
            <a:r>
              <a:rPr lang="en-IN" sz="2400" spc="-55" dirty="0">
                <a:solidFill>
                  <a:schemeClr val="tx1"/>
                </a:solidFill>
                <a:latin typeface="Trebuchet MS" panose="020B0603020202020204" pitchFamily="34" charset="0"/>
              </a:rPr>
              <a:t>by </a:t>
            </a:r>
            <a:r>
              <a:rPr lang="en-IN" sz="2400" spc="-140" dirty="0">
                <a:solidFill>
                  <a:schemeClr val="tx1"/>
                </a:solidFill>
                <a:latin typeface="Trebuchet MS" panose="020B0603020202020204" pitchFamily="34" charset="0"/>
              </a:rPr>
              <a:t>a </a:t>
            </a:r>
            <a:r>
              <a:rPr lang="en-IN" sz="2400" spc="-15" dirty="0">
                <a:solidFill>
                  <a:schemeClr val="tx1"/>
                </a:solidFill>
                <a:latin typeface="Trebuchet MS" panose="020B0603020202020204" pitchFamily="34" charset="0"/>
              </a:rPr>
              <a:t>battery </a:t>
            </a:r>
            <a:r>
              <a:rPr lang="en-IN" sz="2400" spc="-95" dirty="0">
                <a:solidFill>
                  <a:schemeClr val="tx1"/>
                </a:solidFill>
                <a:latin typeface="Trebuchet MS" panose="020B0603020202020204" pitchFamily="34" charset="0"/>
              </a:rPr>
              <a:t>source. </a:t>
            </a:r>
            <a:r>
              <a:rPr lang="en-IN" sz="2400" spc="-70" dirty="0">
                <a:solidFill>
                  <a:schemeClr val="tx1"/>
                </a:solidFill>
                <a:latin typeface="Trebuchet MS" panose="020B0603020202020204" pitchFamily="34" charset="0"/>
              </a:rPr>
              <a:t>How </a:t>
            </a:r>
            <a:r>
              <a:rPr lang="en-IN" sz="2400" spc="-20" dirty="0">
                <a:solidFill>
                  <a:schemeClr val="tx1"/>
                </a:solidFill>
                <a:latin typeface="Trebuchet MS" panose="020B0603020202020204" pitchFamily="34" charset="0"/>
              </a:rPr>
              <a:t>the  </a:t>
            </a:r>
            <a:r>
              <a:rPr lang="en-IN" sz="2400" spc="-15" dirty="0">
                <a:solidFill>
                  <a:schemeClr val="tx1"/>
                </a:solidFill>
                <a:latin typeface="Trebuchet MS" panose="020B0603020202020204" pitchFamily="34" charset="0"/>
              </a:rPr>
              <a:t>battery </a:t>
            </a:r>
            <a:r>
              <a:rPr lang="en-IN" sz="2400" spc="-55" dirty="0">
                <a:solidFill>
                  <a:schemeClr val="tx1"/>
                </a:solidFill>
                <a:latin typeface="Trebuchet MS" panose="020B0603020202020204" pitchFamily="34" charset="0"/>
              </a:rPr>
              <a:t>module </a:t>
            </a:r>
            <a:r>
              <a:rPr lang="en-IN" sz="2400" spc="-65" dirty="0">
                <a:solidFill>
                  <a:schemeClr val="tx1"/>
                </a:solidFill>
                <a:latin typeface="Trebuchet MS" panose="020B0603020202020204" pitchFamily="34" charset="0"/>
              </a:rPr>
              <a:t>works </a:t>
            </a:r>
            <a:r>
              <a:rPr lang="en-IN" sz="2400" dirty="0">
                <a:solidFill>
                  <a:schemeClr val="tx1"/>
                </a:solidFill>
                <a:latin typeface="Trebuchet MS" panose="020B0603020202020204" pitchFamily="34" charset="0"/>
              </a:rPr>
              <a:t>for </a:t>
            </a:r>
            <a:r>
              <a:rPr lang="en-IN" sz="2400" spc="-15" dirty="0">
                <a:solidFill>
                  <a:schemeClr val="tx1"/>
                </a:solidFill>
                <a:latin typeface="Trebuchet MS" panose="020B0603020202020204" pitchFamily="34" charset="0"/>
              </a:rPr>
              <a:t>the </a:t>
            </a:r>
            <a:r>
              <a:rPr lang="en-IN" sz="2400" spc="-55" dirty="0">
                <a:solidFill>
                  <a:schemeClr val="tx1"/>
                </a:solidFill>
                <a:latin typeface="Trebuchet MS" panose="020B0603020202020204" pitchFamily="34" charset="0"/>
              </a:rPr>
              <a:t>calculator </a:t>
            </a:r>
            <a:r>
              <a:rPr lang="en-IN" sz="2400" spc="-95" dirty="0">
                <a:solidFill>
                  <a:schemeClr val="tx1"/>
                </a:solidFill>
                <a:latin typeface="Trebuchet MS" panose="020B0603020202020204" pitchFamily="34" charset="0"/>
              </a:rPr>
              <a:t>is  </a:t>
            </a:r>
            <a:r>
              <a:rPr lang="en-IN" sz="2400" spc="5" dirty="0">
                <a:solidFill>
                  <a:schemeClr val="tx1"/>
                </a:solidFill>
                <a:latin typeface="Trebuchet MS" panose="020B0603020202020204" pitchFamily="34" charset="0"/>
              </a:rPr>
              <a:t>not</a:t>
            </a:r>
            <a:r>
              <a:rPr lang="en-IN" sz="2400" spc="-160" dirty="0">
                <a:solidFill>
                  <a:schemeClr val="tx1"/>
                </a:solidFill>
                <a:latin typeface="Trebuchet MS" panose="020B0603020202020204" pitchFamily="34" charset="0"/>
              </a:rPr>
              <a:t> </a:t>
            </a:r>
            <a:r>
              <a:rPr lang="en-IN" sz="2400" spc="-114" dirty="0">
                <a:solidFill>
                  <a:schemeClr val="tx1"/>
                </a:solidFill>
                <a:latin typeface="Trebuchet MS" panose="020B0603020202020204" pitchFamily="34" charset="0"/>
              </a:rPr>
              <a:t>necessary</a:t>
            </a:r>
            <a:r>
              <a:rPr lang="en-IN" sz="2400" spc="-120" dirty="0">
                <a:solidFill>
                  <a:schemeClr val="tx1"/>
                </a:solidFill>
                <a:latin typeface="Trebuchet MS" panose="020B0603020202020204" pitchFamily="34" charset="0"/>
              </a:rPr>
              <a:t> </a:t>
            </a:r>
            <a:r>
              <a:rPr lang="en-IN" sz="2400" spc="40" dirty="0">
                <a:solidFill>
                  <a:schemeClr val="tx1"/>
                </a:solidFill>
                <a:latin typeface="Trebuchet MS" panose="020B0603020202020204" pitchFamily="34" charset="0"/>
              </a:rPr>
              <a:t>to</a:t>
            </a:r>
            <a:r>
              <a:rPr lang="en-IN" sz="2400" spc="-155" dirty="0">
                <a:solidFill>
                  <a:schemeClr val="tx1"/>
                </a:solidFill>
                <a:latin typeface="Trebuchet MS" panose="020B0603020202020204" pitchFamily="34" charset="0"/>
              </a:rPr>
              <a:t> </a:t>
            </a:r>
            <a:r>
              <a:rPr lang="en-IN" sz="2400" spc="-50" dirty="0">
                <a:solidFill>
                  <a:schemeClr val="tx1"/>
                </a:solidFill>
                <a:latin typeface="Trebuchet MS" panose="020B0603020202020204" pitchFamily="34" charset="0"/>
              </a:rPr>
              <a:t>know</a:t>
            </a:r>
            <a:r>
              <a:rPr lang="en-IN" sz="2400" spc="-160" dirty="0">
                <a:solidFill>
                  <a:schemeClr val="tx1"/>
                </a:solidFill>
                <a:latin typeface="Trebuchet MS" panose="020B0603020202020204" pitchFamily="34" charset="0"/>
              </a:rPr>
              <a:t> </a:t>
            </a:r>
            <a:r>
              <a:rPr lang="en-IN" sz="2400" dirty="0">
                <a:solidFill>
                  <a:schemeClr val="tx1"/>
                </a:solidFill>
                <a:latin typeface="Trebuchet MS" panose="020B0603020202020204" pitchFamily="34" charset="0"/>
              </a:rPr>
              <a:t>for</a:t>
            </a:r>
            <a:r>
              <a:rPr lang="en-IN" sz="2400" spc="-135" dirty="0">
                <a:solidFill>
                  <a:schemeClr val="tx1"/>
                </a:solidFill>
                <a:latin typeface="Trebuchet MS" panose="020B0603020202020204" pitchFamily="34" charset="0"/>
              </a:rPr>
              <a:t> </a:t>
            </a:r>
            <a:r>
              <a:rPr lang="en-IN" sz="2400" spc="-20" dirty="0">
                <a:solidFill>
                  <a:schemeClr val="tx1"/>
                </a:solidFill>
                <a:latin typeface="Trebuchet MS" panose="020B0603020202020204" pitchFamily="34" charset="0"/>
              </a:rPr>
              <a:t>the</a:t>
            </a:r>
            <a:r>
              <a:rPr lang="en-IN" sz="2400" spc="-135" dirty="0">
                <a:solidFill>
                  <a:schemeClr val="tx1"/>
                </a:solidFill>
                <a:latin typeface="Trebuchet MS" panose="020B0603020202020204" pitchFamily="34" charset="0"/>
              </a:rPr>
              <a:t> </a:t>
            </a:r>
            <a:r>
              <a:rPr lang="en-IN" sz="2400" spc="-100" dirty="0">
                <a:solidFill>
                  <a:schemeClr val="tx1"/>
                </a:solidFill>
                <a:latin typeface="Trebuchet MS" panose="020B0603020202020204" pitchFamily="34" charset="0"/>
              </a:rPr>
              <a:t>user</a:t>
            </a:r>
            <a:r>
              <a:rPr lang="en-IN" sz="2400" spc="-150" dirty="0">
                <a:solidFill>
                  <a:schemeClr val="tx1"/>
                </a:solidFill>
                <a:latin typeface="Trebuchet MS" panose="020B0603020202020204" pitchFamily="34" charset="0"/>
              </a:rPr>
              <a:t> </a:t>
            </a:r>
            <a:r>
              <a:rPr lang="en-IN" sz="2400" spc="-50" dirty="0">
                <a:solidFill>
                  <a:schemeClr val="tx1"/>
                </a:solidFill>
                <a:latin typeface="Trebuchet MS" panose="020B0603020202020204" pitchFamily="34" charset="0"/>
              </a:rPr>
              <a:t>who</a:t>
            </a:r>
            <a:r>
              <a:rPr lang="en-IN" sz="2400" spc="-135" dirty="0">
                <a:solidFill>
                  <a:schemeClr val="tx1"/>
                </a:solidFill>
                <a:latin typeface="Trebuchet MS" panose="020B0603020202020204" pitchFamily="34" charset="0"/>
              </a:rPr>
              <a:t> </a:t>
            </a:r>
            <a:r>
              <a:rPr lang="en-IN" sz="2400" spc="-150" dirty="0">
                <a:solidFill>
                  <a:schemeClr val="tx1"/>
                </a:solidFill>
                <a:latin typeface="Trebuchet MS" panose="020B0603020202020204" pitchFamily="34" charset="0"/>
              </a:rPr>
              <a:t>uses  </a:t>
            </a:r>
            <a:r>
              <a:rPr lang="en-IN" sz="2400" spc="-65" dirty="0">
                <a:solidFill>
                  <a:schemeClr val="tx1"/>
                </a:solidFill>
                <a:latin typeface="Trebuchet MS" panose="020B0603020202020204" pitchFamily="34" charset="0"/>
              </a:rPr>
              <a:t>calculator.</a:t>
            </a:r>
            <a:endParaRPr lang="en-IN" sz="2400"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21036601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603705"/>
            <a:ext cx="8407107" cy="1982594"/>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Encapsulation</a:t>
            </a:r>
            <a:br>
              <a:rPr lang="en-IN" sz="2800" b="1" dirty="0">
                <a:solidFill>
                  <a:srgbClr val="FFFFFF"/>
                </a:solidFill>
                <a:latin typeface="Trebuchet MS" panose="020B0603020202020204" pitchFamily="34" charset="0"/>
              </a:rPr>
            </a:br>
            <a:r>
              <a:rPr lang="en-IN" sz="2800" b="1" dirty="0">
                <a:solidFill>
                  <a:schemeClr val="bg1"/>
                </a:solidFill>
                <a:latin typeface="Cambria" panose="02040503050406030204" pitchFamily="18" charset="0"/>
              </a:rPr>
              <a:t> </a:t>
            </a:r>
            <a:br>
              <a:rPr lang="en-IN" sz="2400" b="1" dirty="0">
                <a:solidFill>
                  <a:schemeClr val="bg1"/>
                </a:solidFill>
                <a:latin typeface="Cambria" panose="02040503050406030204" pitchFamily="18" charset="0"/>
              </a:rPr>
            </a:br>
            <a:endParaRPr sz="2400" dirty="0"/>
          </a:p>
        </p:txBody>
      </p:sp>
      <p:sp>
        <p:nvSpPr>
          <p:cNvPr id="3" name="object 3">
            <a:extLst>
              <a:ext uri="{FF2B5EF4-FFF2-40B4-BE49-F238E27FC236}">
                <a16:creationId xmlns:a16="http://schemas.microsoft.com/office/drawing/2014/main" id="{B7951F08-FB89-4184-87F6-80D2BCB934EA}"/>
              </a:ext>
            </a:extLst>
          </p:cNvPr>
          <p:cNvSpPr txBox="1"/>
          <p:nvPr/>
        </p:nvSpPr>
        <p:spPr>
          <a:xfrm>
            <a:off x="637627" y="1090180"/>
            <a:ext cx="8681545" cy="2763385"/>
          </a:xfrm>
          <a:prstGeom prst="rect">
            <a:avLst/>
          </a:prstGeom>
        </p:spPr>
        <p:txBody>
          <a:bodyPr vert="horz" wrap="square" lIns="0" tIns="11430" rIns="0" bIns="0" rtlCol="0">
            <a:spAutoFit/>
          </a:bodyPr>
          <a:lstStyle/>
          <a:p>
            <a:pPr marL="355600" marR="0" lvl="0" indent="-342900" defTabSz="914400" eaLnBrk="1" fontAlgn="auto" latinLnBrk="0" hangingPunct="1">
              <a:lnSpc>
                <a:spcPct val="150000"/>
              </a:lnSpc>
              <a:spcBef>
                <a:spcPts val="90"/>
              </a:spcBef>
              <a:spcAft>
                <a:spcPts val="0"/>
              </a:spcAft>
              <a:buClrTx/>
              <a:buSzTx/>
              <a:buFont typeface="Arial" panose="020B0604020202020204" pitchFamily="34" charset="0"/>
              <a:buChar char="•"/>
              <a:tabLst/>
              <a:defRPr/>
            </a:pPr>
            <a:r>
              <a:rPr lang="en-IN" sz="2000" kern="1200" spc="-80" dirty="0">
                <a:solidFill>
                  <a:schemeClr val="tx1"/>
                </a:solidFill>
                <a:latin typeface="Trebuchet MS" panose="020B0603020202020204" pitchFamily="34" charset="0"/>
                <a:ea typeface="+mn-ea"/>
              </a:rPr>
              <a:t>The word “</a:t>
            </a:r>
            <a:r>
              <a:rPr lang="en-IN" sz="2000" kern="1200" spc="-80" dirty="0">
                <a:solidFill>
                  <a:srgbClr val="0070C0"/>
                </a:solidFill>
                <a:latin typeface="Trebuchet MS" panose="020B0603020202020204" pitchFamily="34" charset="0"/>
                <a:ea typeface="+mn-ea"/>
              </a:rPr>
              <a:t>encapsulate</a:t>
            </a:r>
            <a:r>
              <a:rPr lang="en-IN" sz="2000" kern="1200" spc="-80" dirty="0">
                <a:solidFill>
                  <a:schemeClr val="tx1"/>
                </a:solidFill>
                <a:latin typeface="Trebuchet MS" panose="020B0603020202020204" pitchFamily="34" charset="0"/>
                <a:ea typeface="+mn-ea"/>
              </a:rPr>
              <a:t>” refers to the act of enclosing something, </a:t>
            </a:r>
            <a:r>
              <a:rPr lang="en-IN" sz="2000" kern="1200" spc="-80" dirty="0" err="1">
                <a:solidFill>
                  <a:schemeClr val="tx1"/>
                </a:solidFill>
                <a:latin typeface="Trebuchet MS" panose="020B0603020202020204" pitchFamily="34" charset="0"/>
                <a:ea typeface="+mn-ea"/>
              </a:rPr>
              <a:t>i.e</a:t>
            </a:r>
            <a:r>
              <a:rPr lang="en-IN" sz="2000" kern="1200" spc="-80" dirty="0">
                <a:solidFill>
                  <a:schemeClr val="tx1"/>
                </a:solidFill>
                <a:latin typeface="Trebuchet MS" panose="020B0603020202020204" pitchFamily="34" charset="0"/>
                <a:ea typeface="+mn-ea"/>
              </a:rPr>
              <a:t> Keeping the data and function into a single unit like a capsule.</a:t>
            </a:r>
          </a:p>
          <a:p>
            <a:pPr marL="355600" marR="0" lvl="0" indent="-342900" defTabSz="914400" eaLnBrk="1" fontAlgn="auto" latinLnBrk="0" hangingPunct="1">
              <a:lnSpc>
                <a:spcPct val="150000"/>
              </a:lnSpc>
              <a:spcBef>
                <a:spcPts val="90"/>
              </a:spcBef>
              <a:spcAft>
                <a:spcPts val="0"/>
              </a:spcAft>
              <a:buClrTx/>
              <a:buSzTx/>
              <a:buFont typeface="Arial" panose="020B0604020202020204" pitchFamily="34" charset="0"/>
              <a:buChar char="•"/>
              <a:tabLst/>
              <a:defRPr/>
            </a:pPr>
            <a:r>
              <a:rPr kumimoji="0" sz="2000" b="0" i="0" u="none" strike="noStrike" kern="1200" cap="none" spc="-80" normalizeH="0" baseline="0" noProof="0" dirty="0">
                <a:ln>
                  <a:noFill/>
                </a:ln>
                <a:solidFill>
                  <a:schemeClr val="tx1"/>
                </a:solidFill>
                <a:effectLst/>
                <a:uLnTx/>
                <a:uFillTx/>
                <a:latin typeface="Trebuchet MS" panose="020B0603020202020204" pitchFamily="34" charset="0"/>
                <a:ea typeface="+mn-ea"/>
              </a:rPr>
              <a:t>Encapsulation </a:t>
            </a:r>
            <a:r>
              <a:rPr kumimoji="0" sz="2000" b="0" i="0" u="none" strike="noStrike" kern="1200" cap="none" spc="-95" normalizeH="0" baseline="0" noProof="0" dirty="0">
                <a:ln>
                  <a:noFill/>
                </a:ln>
                <a:solidFill>
                  <a:schemeClr val="tx1"/>
                </a:solidFill>
                <a:effectLst/>
                <a:uLnTx/>
                <a:uFillTx/>
                <a:latin typeface="Trebuchet MS" panose="020B0603020202020204" pitchFamily="34" charset="0"/>
                <a:ea typeface="+mn-ea"/>
              </a:rPr>
              <a:t>is </a:t>
            </a:r>
            <a:r>
              <a:rPr kumimoji="0"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a </a:t>
            </a:r>
            <a:r>
              <a:rPr kumimoji="0" sz="2000" b="0" i="0" u="none" strike="noStrike" kern="1200" cap="none" spc="-110" normalizeH="0" baseline="0" noProof="0" dirty="0">
                <a:ln>
                  <a:noFill/>
                </a:ln>
                <a:solidFill>
                  <a:schemeClr val="tx1"/>
                </a:solidFill>
                <a:effectLst/>
                <a:uLnTx/>
                <a:uFillTx/>
                <a:latin typeface="Trebuchet MS" panose="020B0603020202020204" pitchFamily="34" charset="0"/>
                <a:ea typeface="+mn-ea"/>
              </a:rPr>
              <a:t>process </a:t>
            </a:r>
            <a:r>
              <a:rPr kumimoji="0" sz="2000" b="0" i="0" u="none" strike="noStrike" kern="1200" cap="none" spc="10" normalizeH="0" baseline="0" noProof="0" dirty="0">
                <a:ln>
                  <a:noFill/>
                </a:ln>
                <a:solidFill>
                  <a:schemeClr val="tx1"/>
                </a:solidFill>
                <a:effectLst/>
                <a:uLnTx/>
                <a:uFillTx/>
                <a:latin typeface="Trebuchet MS" panose="020B0603020202020204" pitchFamily="34" charset="0"/>
                <a:ea typeface="+mn-ea"/>
              </a:rPr>
              <a:t>of</a:t>
            </a:r>
            <a:r>
              <a:rPr kumimoji="0" sz="2000" b="0" i="0" u="none" strike="noStrike" kern="1200" cap="none" spc="-430"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50" normalizeH="0" baseline="0" noProof="0" dirty="0">
                <a:ln>
                  <a:noFill/>
                </a:ln>
                <a:solidFill>
                  <a:schemeClr val="tx1"/>
                </a:solidFill>
                <a:effectLst/>
                <a:uLnTx/>
                <a:uFillTx/>
                <a:latin typeface="Trebuchet MS" panose="020B0603020202020204" pitchFamily="34" charset="0"/>
                <a:ea typeface="+mn-ea"/>
              </a:rPr>
              <a:t>combining </a:t>
            </a:r>
            <a:r>
              <a:rPr kumimoji="0" sz="2000" b="0" i="0" u="none" strike="noStrike" kern="1200" cap="none" spc="-50" normalizeH="0" baseline="0" noProof="0" dirty="0">
                <a:ln>
                  <a:noFill/>
                </a:ln>
                <a:solidFill>
                  <a:srgbClr val="0070C0"/>
                </a:solidFill>
                <a:effectLst/>
                <a:uLnTx/>
                <a:uFillTx/>
                <a:latin typeface="Trebuchet MS" panose="020B0603020202020204" pitchFamily="34" charset="0"/>
                <a:ea typeface="+mn-ea"/>
              </a:rPr>
              <a:t>data </a:t>
            </a:r>
            <a:r>
              <a:rPr kumimoji="0" sz="2000" b="0" i="0" u="none" strike="noStrike" kern="1200" cap="none" spc="-80" normalizeH="0" baseline="0" noProof="0" dirty="0">
                <a:ln>
                  <a:noFill/>
                </a:ln>
                <a:solidFill>
                  <a:srgbClr val="0070C0"/>
                </a:solidFill>
                <a:effectLst/>
                <a:uLnTx/>
                <a:uFillTx/>
                <a:latin typeface="Trebuchet MS" panose="020B0603020202020204" pitchFamily="34" charset="0"/>
                <a:ea typeface="+mn-ea"/>
              </a:rPr>
              <a:t>members </a:t>
            </a:r>
            <a:r>
              <a:rPr kumimoji="0" sz="2000" b="0" i="0" u="none" strike="noStrike" kern="1200" cap="none" spc="-105" normalizeH="0" baseline="0" noProof="0" dirty="0">
                <a:ln>
                  <a:noFill/>
                </a:ln>
                <a:solidFill>
                  <a:schemeClr val="tx1"/>
                </a:solidFill>
                <a:effectLst/>
                <a:uLnTx/>
                <a:uFillTx/>
                <a:latin typeface="Trebuchet MS" panose="020B0603020202020204" pitchFamily="34" charset="0"/>
                <a:ea typeface="+mn-ea"/>
              </a:rPr>
              <a:t>and</a:t>
            </a:r>
            <a:r>
              <a:rPr kumimoji="0" lang="en-US" sz="2000" b="0" i="0" u="none" strike="noStrike" kern="1200" cap="none" spc="-105" normalizeH="0" baseline="0" noProof="0" dirty="0">
                <a:ln>
                  <a:noFill/>
                </a:ln>
                <a:solidFill>
                  <a:schemeClr val="tx1"/>
                </a:solidFill>
                <a:effectLst/>
                <a:uLnTx/>
                <a:uFillTx/>
                <a:latin typeface="Trebuchet MS" panose="020B0603020202020204" pitchFamily="34" charset="0"/>
                <a:ea typeface="+mn-ea"/>
              </a:rPr>
              <a:t> </a:t>
            </a:r>
            <a:r>
              <a:rPr kumimoji="0" lang="en-US" sz="2000" b="0" i="0" u="none" strike="noStrike" kern="1200" cap="none" spc="-45" normalizeH="0" baseline="0" noProof="0" dirty="0">
                <a:ln>
                  <a:noFill/>
                </a:ln>
                <a:solidFill>
                  <a:srgbClr val="0070C0"/>
                </a:solidFill>
                <a:effectLst/>
                <a:uLnTx/>
                <a:uFillTx/>
                <a:latin typeface="Trebuchet MS" panose="020B0603020202020204" pitchFamily="34" charset="0"/>
                <a:ea typeface="+mj-ea"/>
              </a:rPr>
              <a:t>m</a:t>
            </a:r>
            <a:r>
              <a:rPr lang="en-US" sz="2000" spc="-45" dirty="0">
                <a:solidFill>
                  <a:srgbClr val="0070C0"/>
                </a:solidFill>
                <a:latin typeface="Trebuchet MS" panose="020B0603020202020204" pitchFamily="34" charset="0"/>
                <a:ea typeface="+mj-ea"/>
              </a:rPr>
              <a:t>ember </a:t>
            </a:r>
            <a:r>
              <a:rPr kumimoji="0" lang="en-IN" sz="2000" b="0" i="0" u="none" strike="noStrike" kern="0" cap="none" spc="-45" normalizeH="0" baseline="0" noProof="0" dirty="0">
                <a:ln>
                  <a:noFill/>
                </a:ln>
                <a:solidFill>
                  <a:srgbClr val="0070C0"/>
                </a:solidFill>
                <a:effectLst/>
                <a:uLnTx/>
                <a:uFillTx/>
                <a:latin typeface="Trebuchet MS" panose="020B0603020202020204" pitchFamily="34" charset="0"/>
                <a:ea typeface="+mj-ea"/>
              </a:rPr>
              <a:t>functions</a:t>
            </a:r>
            <a:r>
              <a:rPr kumimoji="0" lang="en-IN" sz="2000" b="0" i="0" u="none" strike="noStrike" kern="0" cap="none" spc="-45" normalizeH="0" baseline="0" noProof="0" dirty="0">
                <a:ln>
                  <a:noFill/>
                </a:ln>
                <a:solidFill>
                  <a:schemeClr val="tx1"/>
                </a:solidFill>
                <a:effectLst/>
                <a:uLnTx/>
                <a:uFillTx/>
                <a:latin typeface="Trebuchet MS" panose="020B0603020202020204" pitchFamily="34" charset="0"/>
                <a:ea typeface="+mj-ea"/>
              </a:rPr>
              <a:t> </a:t>
            </a:r>
            <a:r>
              <a:rPr kumimoji="0" lang="en-IN" sz="2000" b="0" i="0" u="none" strike="noStrike" kern="0" cap="none" spc="-30" normalizeH="0" baseline="0" noProof="0" dirty="0">
                <a:ln>
                  <a:noFill/>
                </a:ln>
                <a:solidFill>
                  <a:schemeClr val="tx1"/>
                </a:solidFill>
                <a:effectLst/>
                <a:uLnTx/>
                <a:uFillTx/>
                <a:latin typeface="Trebuchet MS" panose="020B0603020202020204" pitchFamily="34" charset="0"/>
                <a:ea typeface="+mj-ea"/>
              </a:rPr>
              <a:t>in </a:t>
            </a:r>
            <a:r>
              <a:rPr kumimoji="0" lang="en-IN" sz="2000" b="0" i="0" u="none" strike="noStrike" kern="0" cap="none" spc="-140" normalizeH="0" baseline="0" noProof="0" dirty="0">
                <a:ln>
                  <a:noFill/>
                </a:ln>
                <a:solidFill>
                  <a:schemeClr val="tx1"/>
                </a:solidFill>
                <a:effectLst/>
                <a:uLnTx/>
                <a:uFillTx/>
                <a:latin typeface="Trebuchet MS" panose="020B0603020202020204" pitchFamily="34" charset="0"/>
                <a:ea typeface="+mj-ea"/>
              </a:rPr>
              <a:t>a </a:t>
            </a:r>
            <a:r>
              <a:rPr kumimoji="0" lang="en-IN" sz="2000" b="0" i="0" u="none" strike="noStrike" kern="0" cap="none" spc="-70" normalizeH="0" baseline="0" noProof="0" dirty="0">
                <a:ln>
                  <a:noFill/>
                </a:ln>
                <a:solidFill>
                  <a:schemeClr val="tx1"/>
                </a:solidFill>
                <a:effectLst/>
                <a:uLnTx/>
                <a:uFillTx/>
                <a:latin typeface="Trebuchet MS" panose="020B0603020202020204" pitchFamily="34" charset="0"/>
                <a:ea typeface="+mj-ea"/>
              </a:rPr>
              <a:t>single </a:t>
            </a:r>
            <a:r>
              <a:rPr kumimoji="0" lang="en-IN" sz="2000" b="0" i="0" u="none" strike="noStrike" kern="0" cap="none" spc="0" normalizeH="0" baseline="0" noProof="0" dirty="0">
                <a:ln>
                  <a:noFill/>
                </a:ln>
                <a:solidFill>
                  <a:schemeClr val="tx1"/>
                </a:solidFill>
                <a:effectLst/>
                <a:uLnTx/>
                <a:uFillTx/>
                <a:latin typeface="Trebuchet MS" panose="020B0603020202020204" pitchFamily="34" charset="0"/>
                <a:ea typeface="+mj-ea"/>
              </a:rPr>
              <a:t>unit </a:t>
            </a:r>
            <a:r>
              <a:rPr kumimoji="0" lang="en-IN" sz="2000" b="0" i="0" u="none" strike="noStrike" kern="0" cap="none" spc="-75" normalizeH="0" baseline="0" noProof="0" dirty="0">
                <a:ln>
                  <a:noFill/>
                </a:ln>
                <a:solidFill>
                  <a:schemeClr val="tx1"/>
                </a:solidFill>
                <a:effectLst/>
                <a:uLnTx/>
                <a:uFillTx/>
                <a:latin typeface="Trebuchet MS" panose="020B0603020202020204" pitchFamily="34" charset="0"/>
                <a:ea typeface="+mj-ea"/>
              </a:rPr>
              <a:t>called</a:t>
            </a:r>
            <a:r>
              <a:rPr kumimoji="0" lang="en-IN" sz="2000" b="0" i="0" u="none" strike="noStrike" kern="0" cap="none" spc="-170" normalizeH="0" baseline="0" noProof="0" dirty="0">
                <a:ln>
                  <a:noFill/>
                </a:ln>
                <a:solidFill>
                  <a:schemeClr val="tx1"/>
                </a:solidFill>
                <a:effectLst/>
                <a:uLnTx/>
                <a:uFillTx/>
                <a:latin typeface="Trebuchet MS" panose="020B0603020202020204" pitchFamily="34" charset="0"/>
                <a:ea typeface="+mj-ea"/>
              </a:rPr>
              <a:t> </a:t>
            </a:r>
            <a:r>
              <a:rPr kumimoji="0" lang="en-IN" sz="2000" b="0" i="0" u="none" strike="noStrike" kern="0" cap="none" spc="-114" normalizeH="0" baseline="0" noProof="0" dirty="0">
                <a:ln>
                  <a:noFill/>
                </a:ln>
                <a:solidFill>
                  <a:schemeClr val="tx1"/>
                </a:solidFill>
                <a:effectLst/>
                <a:uLnTx/>
                <a:uFillTx/>
                <a:latin typeface="Trebuchet MS" panose="020B0603020202020204" pitchFamily="34" charset="0"/>
                <a:ea typeface="+mj-ea"/>
              </a:rPr>
              <a:t>class.</a:t>
            </a:r>
          </a:p>
          <a:p>
            <a:pPr marL="355600" marR="0" lvl="0" indent="-342900" defTabSz="914400" eaLnBrk="1" fontAlgn="auto" latinLnBrk="0" hangingPunct="1">
              <a:lnSpc>
                <a:spcPct val="150000"/>
              </a:lnSpc>
              <a:spcBef>
                <a:spcPts val="90"/>
              </a:spcBef>
              <a:spcAft>
                <a:spcPts val="0"/>
              </a:spcAft>
              <a:buClrTx/>
              <a:buSzTx/>
              <a:buFont typeface="Arial" panose="020B0604020202020204" pitchFamily="34" charset="0"/>
              <a:buChar char="•"/>
              <a:tabLst/>
              <a:defRPr/>
            </a:pPr>
            <a:r>
              <a:rPr kumimoji="0" lang="en-IN" sz="2000" b="0" i="0" u="none" strike="noStrike" kern="1200" cap="none" spc="-130" normalizeH="0" baseline="0" noProof="0" dirty="0">
                <a:ln>
                  <a:noFill/>
                </a:ln>
                <a:solidFill>
                  <a:schemeClr val="tx1"/>
                </a:solidFill>
                <a:effectLst/>
                <a:uLnTx/>
                <a:uFillTx/>
                <a:latin typeface="Trebuchet MS" panose="020B0603020202020204" pitchFamily="34" charset="0"/>
                <a:ea typeface="+mn-ea"/>
              </a:rPr>
              <a:t>As</a:t>
            </a:r>
            <a:r>
              <a:rPr kumimoji="0" lang="en-IN" sz="2000" b="0" i="0" u="none" strike="noStrike" kern="1200" cap="none" spc="-13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30" normalizeH="0" baseline="0" noProof="0" dirty="0">
                <a:ln>
                  <a:noFill/>
                </a:ln>
                <a:solidFill>
                  <a:schemeClr val="tx1"/>
                </a:solidFill>
                <a:effectLst/>
                <a:uLnTx/>
                <a:uFillTx/>
                <a:latin typeface="Trebuchet MS" panose="020B0603020202020204" pitchFamily="34" charset="0"/>
                <a:ea typeface="+mn-ea"/>
              </a:rPr>
              <a:t>in</a:t>
            </a:r>
            <a:r>
              <a:rPr kumimoji="0" lang="en-IN" sz="2000" b="0" i="0" u="none" strike="noStrike" kern="1200" cap="none" spc="-16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70" normalizeH="0" baseline="0" noProof="0" dirty="0">
                <a:ln>
                  <a:noFill/>
                </a:ln>
                <a:solidFill>
                  <a:schemeClr val="tx1"/>
                </a:solidFill>
                <a:effectLst/>
                <a:uLnTx/>
                <a:uFillTx/>
                <a:latin typeface="Trebuchet MS" panose="020B0603020202020204" pitchFamily="34" charset="0"/>
                <a:ea typeface="+mn-ea"/>
              </a:rPr>
              <a:t>encapsulation,</a:t>
            </a:r>
            <a:r>
              <a:rPr kumimoji="0" lang="en-IN" sz="2000" b="0" i="0" u="none" strike="noStrike" kern="1200" cap="none" spc="-12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20" normalizeH="0" baseline="0" noProof="0" dirty="0">
                <a:ln>
                  <a:noFill/>
                </a:ln>
                <a:solidFill>
                  <a:schemeClr val="tx1"/>
                </a:solidFill>
                <a:effectLst/>
                <a:uLnTx/>
                <a:uFillTx/>
                <a:latin typeface="Trebuchet MS" panose="020B0603020202020204" pitchFamily="34" charset="0"/>
                <a:ea typeface="+mn-ea"/>
              </a:rPr>
              <a:t>the</a:t>
            </a:r>
            <a:r>
              <a:rPr kumimoji="0" lang="en-IN" sz="2000" b="0" i="0" u="none" strike="noStrike" kern="1200" cap="none" spc="-13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50" normalizeH="0" baseline="0" noProof="0" dirty="0">
                <a:ln>
                  <a:noFill/>
                </a:ln>
                <a:solidFill>
                  <a:schemeClr val="tx1"/>
                </a:solidFill>
                <a:effectLst/>
                <a:uLnTx/>
                <a:uFillTx/>
                <a:latin typeface="Trebuchet MS" panose="020B0603020202020204" pitchFamily="34" charset="0"/>
                <a:ea typeface="+mn-ea"/>
              </a:rPr>
              <a:t>data</a:t>
            </a:r>
            <a:r>
              <a:rPr kumimoji="0" lang="en-IN" sz="2000" b="0" i="0" u="none" strike="noStrike" kern="1200" cap="none" spc="-13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30" normalizeH="0" baseline="0" noProof="0" dirty="0">
                <a:ln>
                  <a:noFill/>
                </a:ln>
                <a:solidFill>
                  <a:schemeClr val="tx1"/>
                </a:solidFill>
                <a:effectLst/>
                <a:uLnTx/>
                <a:uFillTx/>
                <a:latin typeface="Trebuchet MS" panose="020B0603020202020204" pitchFamily="34" charset="0"/>
                <a:ea typeface="+mn-ea"/>
              </a:rPr>
              <a:t>in</a:t>
            </a:r>
            <a:r>
              <a:rPr kumimoji="0" lang="en-IN" sz="2000" b="0" i="0" u="none" strike="noStrike" kern="1200" cap="none" spc="-16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a </a:t>
            </a:r>
            <a:r>
              <a:rPr kumimoji="0" lang="en-IN" sz="2000" b="0" i="0" u="none" strike="noStrike" kern="1200" cap="none" spc="-130" normalizeH="0" baseline="0" noProof="0" dirty="0">
                <a:ln>
                  <a:noFill/>
                </a:ln>
                <a:solidFill>
                  <a:schemeClr val="tx1"/>
                </a:solidFill>
                <a:effectLst/>
                <a:uLnTx/>
                <a:uFillTx/>
                <a:latin typeface="Trebuchet MS" panose="020B0603020202020204" pitchFamily="34" charset="0"/>
                <a:ea typeface="+mn-ea"/>
              </a:rPr>
              <a:t>class</a:t>
            </a:r>
            <a:r>
              <a:rPr kumimoji="0" lang="en-IN" sz="2000" b="0" i="0" u="none" strike="noStrike" kern="1200" cap="none" spc="-16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95" normalizeH="0" baseline="0" noProof="0" dirty="0">
                <a:ln>
                  <a:noFill/>
                </a:ln>
                <a:solidFill>
                  <a:schemeClr val="tx1"/>
                </a:solidFill>
                <a:effectLst/>
                <a:uLnTx/>
                <a:uFillTx/>
                <a:latin typeface="Trebuchet MS" panose="020B0603020202020204" pitchFamily="34" charset="0"/>
                <a:ea typeface="+mn-ea"/>
              </a:rPr>
              <a:t>is</a:t>
            </a:r>
            <a:r>
              <a:rPr kumimoji="0" lang="en-IN" sz="2000" b="0" i="0" u="none" strike="noStrike" kern="1200" cap="none" spc="-13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65" normalizeH="0" baseline="0" noProof="0" dirty="0">
                <a:ln>
                  <a:noFill/>
                </a:ln>
                <a:solidFill>
                  <a:schemeClr val="tx1"/>
                </a:solidFill>
                <a:effectLst/>
                <a:uLnTx/>
                <a:uFillTx/>
                <a:latin typeface="Trebuchet MS" panose="020B0603020202020204" pitchFamily="34" charset="0"/>
                <a:ea typeface="+mn-ea"/>
              </a:rPr>
              <a:t>hidden</a:t>
            </a:r>
            <a:r>
              <a:rPr kumimoji="0" lang="en-IN" sz="2000" b="0" i="0" u="none" strike="noStrike" kern="1200" cap="none" spc="-9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0" normalizeH="0" baseline="0" noProof="0" dirty="0">
                <a:ln>
                  <a:noFill/>
                </a:ln>
                <a:solidFill>
                  <a:schemeClr val="tx1"/>
                </a:solidFill>
                <a:effectLst/>
                <a:uLnTx/>
                <a:uFillTx/>
                <a:latin typeface="Trebuchet MS" panose="020B0603020202020204" pitchFamily="34" charset="0"/>
                <a:ea typeface="+mn-ea"/>
              </a:rPr>
              <a:t>from</a:t>
            </a:r>
            <a:r>
              <a:rPr kumimoji="0" lang="en-IN" sz="2000" b="0" i="0" u="none" strike="noStrike" kern="1200" cap="none" spc="-12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40" normalizeH="0" baseline="0" noProof="0" dirty="0">
                <a:ln>
                  <a:noFill/>
                </a:ln>
                <a:solidFill>
                  <a:schemeClr val="tx1"/>
                </a:solidFill>
                <a:effectLst/>
                <a:uLnTx/>
                <a:uFillTx/>
                <a:latin typeface="Trebuchet MS" panose="020B0603020202020204" pitchFamily="34" charset="0"/>
                <a:ea typeface="+mn-ea"/>
              </a:rPr>
              <a:t>other </a:t>
            </a:r>
            <a:r>
              <a:rPr kumimoji="0" lang="en-IN" sz="2000" b="0" i="0" u="none" strike="noStrike" kern="1200" cap="none" spc="-125" normalizeH="0" baseline="0" noProof="0" dirty="0">
                <a:ln>
                  <a:noFill/>
                </a:ln>
                <a:solidFill>
                  <a:schemeClr val="tx1"/>
                </a:solidFill>
                <a:effectLst/>
                <a:uLnTx/>
                <a:uFillTx/>
                <a:latin typeface="Trebuchet MS" panose="020B0603020202020204" pitchFamily="34" charset="0"/>
                <a:ea typeface="+mn-ea"/>
              </a:rPr>
              <a:t>classes, </a:t>
            </a:r>
            <a:r>
              <a:rPr kumimoji="0" lang="en-IN" sz="2000" b="0" i="0" u="none" strike="noStrike" kern="1200" cap="none" spc="-120" normalizeH="0" baseline="0" noProof="0" dirty="0">
                <a:ln>
                  <a:noFill/>
                </a:ln>
                <a:solidFill>
                  <a:schemeClr val="tx1"/>
                </a:solidFill>
                <a:effectLst/>
                <a:uLnTx/>
                <a:uFillTx/>
                <a:latin typeface="Trebuchet MS" panose="020B0603020202020204" pitchFamily="34" charset="0"/>
                <a:ea typeface="+mn-ea"/>
              </a:rPr>
              <a:t>so </a:t>
            </a:r>
            <a:r>
              <a:rPr kumimoji="0" lang="en-IN" sz="2000" b="0" i="0" u="none" strike="noStrike" kern="1200" cap="none" spc="70" normalizeH="0" baseline="0" noProof="0" dirty="0">
                <a:ln>
                  <a:noFill/>
                </a:ln>
                <a:solidFill>
                  <a:schemeClr val="tx1"/>
                </a:solidFill>
                <a:effectLst/>
                <a:uLnTx/>
                <a:uFillTx/>
                <a:latin typeface="Trebuchet MS" panose="020B0603020202020204" pitchFamily="34" charset="0"/>
                <a:ea typeface="+mn-ea"/>
              </a:rPr>
              <a:t>it </a:t>
            </a:r>
            <a:r>
              <a:rPr kumimoji="0" lang="en-IN" sz="2000" b="0" i="0" u="none" strike="noStrike" kern="1200" cap="none" spc="-95" normalizeH="0" baseline="0" noProof="0" dirty="0">
                <a:ln>
                  <a:noFill/>
                </a:ln>
                <a:solidFill>
                  <a:schemeClr val="tx1"/>
                </a:solidFill>
                <a:effectLst/>
                <a:uLnTx/>
                <a:uFillTx/>
                <a:latin typeface="Trebuchet MS" panose="020B0603020202020204" pitchFamily="34" charset="0"/>
                <a:ea typeface="+mn-ea"/>
              </a:rPr>
              <a:t>is also </a:t>
            </a:r>
            <a:r>
              <a:rPr kumimoji="0" lang="en-IN" sz="2000" b="0" i="0" u="none" strike="noStrike" kern="1200" cap="none" spc="-55" normalizeH="0" baseline="0" noProof="0" dirty="0">
                <a:ln>
                  <a:noFill/>
                </a:ln>
                <a:solidFill>
                  <a:schemeClr val="tx1"/>
                </a:solidFill>
                <a:effectLst/>
                <a:uLnTx/>
                <a:uFillTx/>
                <a:latin typeface="Trebuchet MS" panose="020B0603020202020204" pitchFamily="34" charset="0"/>
                <a:ea typeface="+mn-ea"/>
              </a:rPr>
              <a:t>known </a:t>
            </a:r>
            <a:r>
              <a:rPr kumimoji="0" lang="en-IN" sz="2000" b="0" i="0" u="none" strike="noStrike" kern="1200" cap="none" spc="-165" normalizeH="0" baseline="0" noProof="0" dirty="0">
                <a:ln>
                  <a:noFill/>
                </a:ln>
                <a:solidFill>
                  <a:schemeClr val="tx1"/>
                </a:solidFill>
                <a:effectLst/>
                <a:uLnTx/>
                <a:uFillTx/>
                <a:latin typeface="Trebuchet MS" panose="020B0603020202020204" pitchFamily="34" charset="0"/>
                <a:ea typeface="+mn-ea"/>
              </a:rPr>
              <a:t>as</a:t>
            </a:r>
            <a:r>
              <a:rPr kumimoji="0" lang="en-IN" sz="2000" b="0" i="0" u="none" strike="noStrike" kern="1200" cap="none" spc="-254"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35" normalizeH="0" baseline="0" noProof="0" dirty="0">
                <a:ln>
                  <a:noFill/>
                </a:ln>
                <a:solidFill>
                  <a:schemeClr val="tx1"/>
                </a:solidFill>
                <a:effectLst/>
                <a:uLnTx/>
                <a:uFillTx/>
                <a:latin typeface="Trebuchet MS" panose="020B0603020202020204" pitchFamily="34" charset="0"/>
                <a:ea typeface="+mn-ea"/>
              </a:rPr>
              <a:t>data-hiding</a:t>
            </a:r>
            <a:r>
              <a:rPr kumimoji="0" lang="en-IN" sz="2000" b="0" i="0" u="none" strike="noStrike" kern="1200" cap="none" spc="-35" normalizeH="0" baseline="0" noProof="0" dirty="0">
                <a:ln>
                  <a:noFill/>
                </a:ln>
                <a:solidFill>
                  <a:srgbClr val="585858"/>
                </a:solidFill>
                <a:effectLst/>
                <a:uLnTx/>
                <a:uFillTx/>
                <a:latin typeface="Trebuchet MS" panose="020B0603020202020204" pitchFamily="34" charset="0"/>
                <a:ea typeface="+mn-ea"/>
              </a:rPr>
              <a:t>.</a:t>
            </a:r>
            <a:endParaRPr kumimoji="0" lang="en-IN" sz="2000" b="0" i="0" u="none" strike="noStrike" kern="1200" cap="none" spc="0" normalizeH="0" baseline="0" noProof="0" dirty="0">
              <a:ln>
                <a:noFill/>
              </a:ln>
              <a:solidFill>
                <a:prstClr val="black"/>
              </a:solidFill>
              <a:effectLst/>
              <a:uLnTx/>
              <a:uFillTx/>
              <a:ea typeface="+mn-ea"/>
            </a:endParaRPr>
          </a:p>
        </p:txBody>
      </p:sp>
      <p:sp>
        <p:nvSpPr>
          <p:cNvPr id="4" name="object 6">
            <a:extLst>
              <a:ext uri="{FF2B5EF4-FFF2-40B4-BE49-F238E27FC236}">
                <a16:creationId xmlns:a16="http://schemas.microsoft.com/office/drawing/2014/main" id="{2553C805-2342-4ED1-9E2C-8EEE032D6ED4}"/>
              </a:ext>
            </a:extLst>
          </p:cNvPr>
          <p:cNvSpPr/>
          <p:nvPr/>
        </p:nvSpPr>
        <p:spPr>
          <a:xfrm>
            <a:off x="2993212" y="4172146"/>
            <a:ext cx="6603370" cy="1877672"/>
          </a:xfrm>
          <a:prstGeom prst="rect">
            <a:avLst/>
          </a:prstGeom>
          <a:blipFill>
            <a:blip r:embed="rId3" cstate="print"/>
            <a:stretch>
              <a:fillRect/>
            </a:stretch>
          </a:blipFill>
        </p:spPr>
        <p:txBody>
          <a:bodyPr wrap="square" lIns="0" tIns="0" rIns="0" bIns="0" rtlCol="0"/>
          <a:lstStyle/>
          <a:p>
            <a:pPr>
              <a:buClrTx/>
              <a:buFontTx/>
              <a:buNone/>
            </a:pPr>
            <a:endParaRPr sz="1800" kern="1200">
              <a:solidFill>
                <a:prstClr val="black"/>
              </a:solidFill>
              <a:latin typeface="Calibri"/>
              <a:ea typeface="+mn-ea"/>
              <a:cs typeface="+mn-cs"/>
            </a:endParaRPr>
          </a:p>
        </p:txBody>
      </p:sp>
    </p:spTree>
    <p:extLst>
      <p:ext uri="{BB962C8B-B14F-4D97-AF65-F5344CB8AC3E}">
        <p14:creationId xmlns:p14="http://schemas.microsoft.com/office/powerpoint/2010/main" val="34566753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Inheritance</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4">
            <a:extLst>
              <a:ext uri="{FF2B5EF4-FFF2-40B4-BE49-F238E27FC236}">
                <a16:creationId xmlns:a16="http://schemas.microsoft.com/office/drawing/2014/main" id="{637F3E16-A32A-4245-8BE9-B530A6F5F085}"/>
              </a:ext>
            </a:extLst>
          </p:cNvPr>
          <p:cNvSpPr txBox="1"/>
          <p:nvPr/>
        </p:nvSpPr>
        <p:spPr>
          <a:xfrm>
            <a:off x="253437" y="1348111"/>
            <a:ext cx="5417690" cy="2926442"/>
          </a:xfrm>
          <a:prstGeom prst="rect">
            <a:avLst/>
          </a:prstGeom>
          <a:noFill/>
        </p:spPr>
        <p:txBody>
          <a:bodyPr wrap="square">
            <a:spAutoFit/>
          </a:bodyPr>
          <a:lstStyle/>
          <a:p>
            <a:pPr marL="273050" marR="5080" lvl="0" indent="-261938" algn="just" defTabSz="914400" rtl="0" eaLnBrk="1" fontAlgn="auto" latinLnBrk="0" hangingPunct="1">
              <a:spcBef>
                <a:spcPts val="95"/>
              </a:spcBef>
              <a:spcAft>
                <a:spcPts val="0"/>
              </a:spcAft>
              <a:buClrTx/>
              <a:buSzTx/>
              <a:buFont typeface="Arial" panose="020B0604020202020204" pitchFamily="34" charset="0"/>
              <a:buChar char="•"/>
              <a:tabLst>
                <a:tab pos="356870" algn="l"/>
                <a:tab pos="357505" algn="l"/>
              </a:tabLst>
              <a:defRPr/>
            </a:pPr>
            <a:r>
              <a:rPr kumimoji="0" lang="en-IN" sz="2000" b="0" i="0" u="none" strike="noStrike" kern="1200" cap="none" spc="-105" normalizeH="0" baseline="0" noProof="0" dirty="0">
                <a:ln>
                  <a:noFill/>
                </a:ln>
                <a:solidFill>
                  <a:schemeClr val="tx1"/>
                </a:solidFill>
                <a:effectLst/>
                <a:uLnTx/>
                <a:uFillTx/>
                <a:latin typeface="Trebuchet MS" panose="020B0603020202020204" pitchFamily="34" charset="0"/>
                <a:ea typeface="+mn-ea"/>
              </a:rPr>
              <a:t>The </a:t>
            </a:r>
            <a:r>
              <a:rPr kumimoji="0" lang="en-IN" sz="2000" b="0" i="0" u="none" strike="noStrike" kern="1200" cap="none" spc="-45" normalizeH="0" baseline="0" noProof="0" dirty="0">
                <a:ln>
                  <a:noFill/>
                </a:ln>
                <a:solidFill>
                  <a:schemeClr val="tx1"/>
                </a:solidFill>
                <a:effectLst/>
                <a:uLnTx/>
                <a:uFillTx/>
                <a:latin typeface="Trebuchet MS" panose="020B0603020202020204" pitchFamily="34" charset="0"/>
                <a:ea typeface="+mn-ea"/>
              </a:rPr>
              <a:t>capability </a:t>
            </a:r>
            <a:r>
              <a:rPr kumimoji="0" lang="en-IN" sz="2000" b="0" i="0" u="none" strike="noStrike" kern="1200" cap="none" spc="5" normalizeH="0" baseline="0" noProof="0" dirty="0">
                <a:ln>
                  <a:noFill/>
                </a:ln>
                <a:solidFill>
                  <a:schemeClr val="tx1"/>
                </a:solidFill>
                <a:effectLst/>
                <a:uLnTx/>
                <a:uFillTx/>
                <a:latin typeface="Trebuchet MS" panose="020B0603020202020204" pitchFamily="34" charset="0"/>
                <a:ea typeface="+mn-ea"/>
              </a:rPr>
              <a:t>of </a:t>
            </a:r>
            <a:r>
              <a:rPr kumimoji="0" lang="en-IN"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a </a:t>
            </a:r>
            <a:r>
              <a:rPr kumimoji="0" lang="en-IN" sz="2000" b="0" i="0" u="none" strike="noStrike" kern="1200" cap="none" spc="-130" normalizeH="0" baseline="0" noProof="0" dirty="0">
                <a:ln>
                  <a:noFill/>
                </a:ln>
                <a:solidFill>
                  <a:schemeClr val="tx1"/>
                </a:solidFill>
                <a:effectLst/>
                <a:uLnTx/>
                <a:uFillTx/>
                <a:latin typeface="Trebuchet MS" panose="020B0603020202020204" pitchFamily="34" charset="0"/>
                <a:ea typeface="+mn-ea"/>
              </a:rPr>
              <a:t>class </a:t>
            </a:r>
            <a:r>
              <a:rPr kumimoji="0" lang="en-IN" sz="2000" b="0" i="0" u="none" strike="noStrike" kern="1200" cap="none" spc="40" normalizeH="0" baseline="0" noProof="0" dirty="0">
                <a:ln>
                  <a:noFill/>
                </a:ln>
                <a:solidFill>
                  <a:schemeClr val="tx1"/>
                </a:solidFill>
                <a:effectLst/>
                <a:uLnTx/>
                <a:uFillTx/>
                <a:latin typeface="Trebuchet MS" panose="020B0603020202020204" pitchFamily="34" charset="0"/>
                <a:ea typeface="+mn-ea"/>
              </a:rPr>
              <a:t>to </a:t>
            </a:r>
            <a:r>
              <a:rPr kumimoji="0" lang="en-IN" sz="2000" b="0" i="0" u="none" strike="noStrike" kern="1200" cap="none" spc="-65" normalizeH="0" baseline="0" noProof="0" dirty="0">
                <a:ln>
                  <a:noFill/>
                </a:ln>
                <a:solidFill>
                  <a:srgbClr val="0070C0"/>
                </a:solidFill>
                <a:effectLst/>
                <a:uLnTx/>
                <a:uFillTx/>
                <a:latin typeface="Trebuchet MS" panose="020B0603020202020204" pitchFamily="34" charset="0"/>
                <a:ea typeface="+mn-ea"/>
              </a:rPr>
              <a:t>derive  </a:t>
            </a:r>
            <a:r>
              <a:rPr kumimoji="0" lang="en-IN" sz="2000" b="0" i="0" u="none" strike="noStrike" kern="1200" cap="none" spc="-50" normalizeH="0" baseline="0" noProof="0" dirty="0">
                <a:ln>
                  <a:noFill/>
                </a:ln>
                <a:solidFill>
                  <a:srgbClr val="0070C0"/>
                </a:solidFill>
                <a:effectLst/>
                <a:uLnTx/>
                <a:uFillTx/>
                <a:latin typeface="Trebuchet MS" panose="020B0603020202020204" pitchFamily="34" charset="0"/>
                <a:ea typeface="+mn-ea"/>
              </a:rPr>
              <a:t>properties </a:t>
            </a:r>
            <a:r>
              <a:rPr kumimoji="0" lang="en-IN" sz="2000" b="0" i="0" u="none" strike="noStrike" kern="1200" cap="none" spc="-80" normalizeH="0" baseline="0" noProof="0" dirty="0">
                <a:ln>
                  <a:noFill/>
                </a:ln>
                <a:solidFill>
                  <a:srgbClr val="0070C0"/>
                </a:solidFill>
                <a:effectLst/>
                <a:uLnTx/>
                <a:uFillTx/>
                <a:latin typeface="Trebuchet MS" panose="020B0603020202020204" pitchFamily="34" charset="0"/>
                <a:ea typeface="+mn-ea"/>
              </a:rPr>
              <a:t>and </a:t>
            </a:r>
            <a:r>
              <a:rPr kumimoji="0" lang="en-IN" sz="2000" b="0" i="0" u="none" strike="noStrike" kern="1200" cap="none" spc="-65" normalizeH="0" baseline="0" noProof="0" dirty="0">
                <a:ln>
                  <a:noFill/>
                </a:ln>
                <a:solidFill>
                  <a:srgbClr val="0070C0"/>
                </a:solidFill>
                <a:effectLst/>
                <a:uLnTx/>
                <a:uFillTx/>
                <a:latin typeface="Trebuchet MS" panose="020B0603020202020204" pitchFamily="34" charset="0"/>
                <a:ea typeface="+mn-ea"/>
              </a:rPr>
              <a:t>characteristics </a:t>
            </a:r>
            <a:r>
              <a:rPr kumimoji="0" lang="en-IN" sz="2000" b="0" i="0" u="none" strike="noStrike" kern="1200" cap="none" spc="0" normalizeH="0" baseline="0" noProof="0" dirty="0">
                <a:ln>
                  <a:noFill/>
                </a:ln>
                <a:solidFill>
                  <a:schemeClr val="tx1"/>
                </a:solidFill>
                <a:effectLst/>
                <a:uLnTx/>
                <a:uFillTx/>
                <a:latin typeface="Trebuchet MS" panose="020B0603020202020204" pitchFamily="34" charset="0"/>
                <a:ea typeface="+mn-ea"/>
              </a:rPr>
              <a:t>from  </a:t>
            </a:r>
            <a:r>
              <a:rPr kumimoji="0" lang="en-IN" sz="2000" b="0" i="0" u="none" strike="noStrike" kern="1200" cap="none" spc="-45" normalizeH="0" baseline="0" noProof="0" dirty="0">
                <a:ln>
                  <a:noFill/>
                </a:ln>
                <a:solidFill>
                  <a:schemeClr val="tx1"/>
                </a:solidFill>
                <a:effectLst/>
                <a:uLnTx/>
                <a:uFillTx/>
                <a:latin typeface="Trebuchet MS" panose="020B0603020202020204" pitchFamily="34" charset="0"/>
                <a:ea typeface="+mn-ea"/>
              </a:rPr>
              <a:t>another </a:t>
            </a:r>
            <a:r>
              <a:rPr kumimoji="0" lang="en-IN" sz="2000" b="0" i="0" u="none" strike="noStrike" kern="1200" cap="none" spc="-130" normalizeH="0" baseline="0" noProof="0" dirty="0">
                <a:ln>
                  <a:noFill/>
                </a:ln>
                <a:solidFill>
                  <a:schemeClr val="tx1"/>
                </a:solidFill>
                <a:effectLst/>
                <a:uLnTx/>
                <a:uFillTx/>
                <a:latin typeface="Trebuchet MS" panose="020B0603020202020204" pitchFamily="34" charset="0"/>
                <a:ea typeface="+mn-ea"/>
              </a:rPr>
              <a:t>class </a:t>
            </a:r>
            <a:r>
              <a:rPr kumimoji="0" lang="en-IN" sz="2000" b="0" i="0" u="none" strike="noStrike" kern="1200" cap="none" spc="-95" normalizeH="0" baseline="0" noProof="0" dirty="0">
                <a:ln>
                  <a:noFill/>
                </a:ln>
                <a:solidFill>
                  <a:schemeClr val="tx1"/>
                </a:solidFill>
                <a:effectLst/>
                <a:uLnTx/>
                <a:uFillTx/>
                <a:latin typeface="Trebuchet MS" panose="020B0603020202020204" pitchFamily="34" charset="0"/>
                <a:ea typeface="+mn-ea"/>
              </a:rPr>
              <a:t>is </a:t>
            </a:r>
            <a:r>
              <a:rPr kumimoji="0" lang="en-IN" sz="2000" b="0" i="0" u="none" strike="noStrike" kern="1200" cap="none" spc="-75" normalizeH="0" baseline="0" noProof="0" dirty="0">
                <a:ln>
                  <a:noFill/>
                </a:ln>
                <a:solidFill>
                  <a:schemeClr val="tx1"/>
                </a:solidFill>
                <a:effectLst/>
                <a:uLnTx/>
                <a:uFillTx/>
                <a:latin typeface="Trebuchet MS" panose="020B0603020202020204" pitchFamily="34" charset="0"/>
                <a:ea typeface="+mn-ea"/>
              </a:rPr>
              <a:t>called </a:t>
            </a:r>
            <a:r>
              <a:rPr kumimoji="0" lang="en-IN" sz="2000" b="0" i="0" u="none" strike="noStrike" kern="1200" cap="none" spc="-60" normalizeH="0" baseline="0" noProof="0" dirty="0">
                <a:ln>
                  <a:noFill/>
                </a:ln>
                <a:solidFill>
                  <a:srgbClr val="0070C0"/>
                </a:solidFill>
                <a:effectLst/>
                <a:uLnTx/>
                <a:uFillTx/>
                <a:latin typeface="Trebuchet MS" panose="020B0603020202020204" pitchFamily="34" charset="0"/>
                <a:ea typeface="+mn-ea"/>
              </a:rPr>
              <a:t>Inheritance.</a:t>
            </a:r>
          </a:p>
          <a:p>
            <a:pPr marL="273050" marR="5080" lvl="0" indent="-261938" algn="just" defTabSz="914400" rtl="0" eaLnBrk="1" fontAlgn="auto" latinLnBrk="0" hangingPunct="1">
              <a:spcBef>
                <a:spcPts val="95"/>
              </a:spcBef>
              <a:spcAft>
                <a:spcPts val="0"/>
              </a:spcAft>
              <a:buClrTx/>
              <a:buSzTx/>
              <a:buFont typeface="Arial" panose="020B0604020202020204" pitchFamily="34" charset="0"/>
              <a:buChar char="•"/>
              <a:tabLst>
                <a:tab pos="356870" algn="l"/>
                <a:tab pos="357505" algn="l"/>
              </a:tabLst>
              <a:defRPr/>
            </a:pPr>
            <a:r>
              <a:rPr kumimoji="0" lang="en-IN" sz="2000" b="0" i="0" u="none" strike="noStrike" kern="1200" cap="none" spc="-60" normalizeH="0" baseline="0" noProof="0" dirty="0">
                <a:ln>
                  <a:noFill/>
                </a:ln>
                <a:solidFill>
                  <a:schemeClr val="tx1"/>
                </a:solidFill>
                <a:effectLst/>
                <a:uLnTx/>
                <a:uFillTx/>
                <a:latin typeface="Trebuchet MS" panose="020B0603020202020204" pitchFamily="34" charset="0"/>
                <a:ea typeface="+mn-ea"/>
              </a:rPr>
              <a:t>Inheritance </a:t>
            </a:r>
            <a:r>
              <a:rPr kumimoji="0" lang="en-IN" sz="2000" b="0" i="0" u="none" strike="noStrike" kern="1200" cap="none" spc="-95" normalizeH="0" baseline="0" noProof="0" dirty="0">
                <a:ln>
                  <a:noFill/>
                </a:ln>
                <a:solidFill>
                  <a:schemeClr val="tx1"/>
                </a:solidFill>
                <a:effectLst/>
                <a:uLnTx/>
                <a:uFillTx/>
                <a:latin typeface="Trebuchet MS" panose="020B0603020202020204" pitchFamily="34" charset="0"/>
                <a:ea typeface="+mn-ea"/>
              </a:rPr>
              <a:t>is </a:t>
            </a:r>
            <a:r>
              <a:rPr kumimoji="0" lang="en-IN" sz="2000" b="0" i="0" u="none" strike="noStrike" kern="1200" cap="none" spc="-85" normalizeH="0" baseline="0" noProof="0" dirty="0">
                <a:ln>
                  <a:noFill/>
                </a:ln>
                <a:solidFill>
                  <a:schemeClr val="tx1"/>
                </a:solidFill>
                <a:effectLst/>
                <a:uLnTx/>
                <a:uFillTx/>
                <a:latin typeface="Trebuchet MS" panose="020B0603020202020204" pitchFamily="34" charset="0"/>
                <a:ea typeface="+mn-ea"/>
              </a:rPr>
              <a:t>one </a:t>
            </a:r>
            <a:r>
              <a:rPr kumimoji="0" lang="en-IN" sz="2000" b="0" i="0" u="none" strike="noStrike" kern="1200" cap="none" spc="10" normalizeH="0" baseline="0" noProof="0" dirty="0">
                <a:ln>
                  <a:noFill/>
                </a:ln>
                <a:solidFill>
                  <a:schemeClr val="tx1"/>
                </a:solidFill>
                <a:effectLst/>
                <a:uLnTx/>
                <a:uFillTx/>
                <a:latin typeface="Trebuchet MS" panose="020B0603020202020204" pitchFamily="34" charset="0"/>
                <a:ea typeface="+mn-ea"/>
              </a:rPr>
              <a:t>of </a:t>
            </a:r>
            <a:r>
              <a:rPr kumimoji="0" lang="en-IN" sz="2000" b="0" i="0" u="none" strike="noStrike" kern="1200" cap="none" spc="-20" normalizeH="0" baseline="0" noProof="0" dirty="0">
                <a:ln>
                  <a:noFill/>
                </a:ln>
                <a:solidFill>
                  <a:schemeClr val="tx1"/>
                </a:solidFill>
                <a:effectLst/>
                <a:uLnTx/>
                <a:uFillTx/>
                <a:latin typeface="Trebuchet MS" panose="020B0603020202020204" pitchFamily="34" charset="0"/>
                <a:ea typeface="+mn-ea"/>
              </a:rPr>
              <a:t>the </a:t>
            </a:r>
            <a:r>
              <a:rPr kumimoji="0" lang="en-IN" sz="2000" b="0" i="0" u="none" strike="noStrike" kern="1200" cap="none" spc="-30" normalizeH="0" baseline="0" noProof="0" dirty="0">
                <a:ln>
                  <a:noFill/>
                </a:ln>
                <a:solidFill>
                  <a:schemeClr val="tx1"/>
                </a:solidFill>
                <a:effectLst/>
                <a:uLnTx/>
                <a:uFillTx/>
                <a:latin typeface="Trebuchet MS" panose="020B0603020202020204" pitchFamily="34" charset="0"/>
                <a:ea typeface="+mn-ea"/>
              </a:rPr>
              <a:t>most  </a:t>
            </a:r>
            <a:r>
              <a:rPr kumimoji="0" lang="en-IN" sz="2000" b="0" i="0" u="none" strike="noStrike" kern="1200" cap="none" spc="-5" normalizeH="0" baseline="0" noProof="0" dirty="0">
                <a:ln>
                  <a:noFill/>
                </a:ln>
                <a:solidFill>
                  <a:schemeClr val="tx1"/>
                </a:solidFill>
                <a:effectLst/>
                <a:uLnTx/>
                <a:uFillTx/>
                <a:latin typeface="Trebuchet MS" panose="020B0603020202020204" pitchFamily="34" charset="0"/>
                <a:ea typeface="+mn-ea"/>
              </a:rPr>
              <a:t>important</a:t>
            </a:r>
            <a:r>
              <a:rPr kumimoji="0" lang="en-IN"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40" normalizeH="0" baseline="0" noProof="0" dirty="0">
                <a:ln>
                  <a:noFill/>
                </a:ln>
                <a:solidFill>
                  <a:schemeClr val="tx1"/>
                </a:solidFill>
                <a:effectLst/>
                <a:uLnTx/>
                <a:uFillTx/>
                <a:latin typeface="Trebuchet MS" panose="020B0603020202020204" pitchFamily="34" charset="0"/>
                <a:ea typeface="+mn-ea"/>
              </a:rPr>
              <a:t>feature</a:t>
            </a:r>
            <a:r>
              <a:rPr kumimoji="0" lang="en-IN" sz="2000" b="0" i="0" u="none" strike="noStrike" kern="1200" cap="none" spc="-15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10" normalizeH="0" baseline="0" noProof="0" dirty="0">
                <a:ln>
                  <a:noFill/>
                </a:ln>
                <a:solidFill>
                  <a:schemeClr val="tx1"/>
                </a:solidFill>
                <a:effectLst/>
                <a:uLnTx/>
                <a:uFillTx/>
                <a:latin typeface="Trebuchet MS" panose="020B0603020202020204" pitchFamily="34" charset="0"/>
                <a:ea typeface="+mn-ea"/>
              </a:rPr>
              <a:t>of</a:t>
            </a:r>
            <a:r>
              <a:rPr kumimoji="0" lang="en-IN" sz="2000" b="0" i="0" u="none" strike="noStrike" kern="1200" cap="none" spc="-22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45" normalizeH="0" baseline="0" noProof="0" dirty="0">
                <a:ln>
                  <a:noFill/>
                </a:ln>
                <a:solidFill>
                  <a:schemeClr val="tx1"/>
                </a:solidFill>
                <a:effectLst/>
                <a:uLnTx/>
                <a:uFillTx/>
                <a:latin typeface="Trebuchet MS" panose="020B0603020202020204" pitchFamily="34" charset="0"/>
                <a:ea typeface="+mn-ea"/>
              </a:rPr>
              <a:t>Object</a:t>
            </a:r>
            <a:r>
              <a:rPr kumimoji="0" lang="en-IN" sz="2000" b="0" i="0" u="none" strike="noStrike" kern="1200" cap="none" spc="-21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40" normalizeH="0" baseline="0" noProof="0" dirty="0">
                <a:ln>
                  <a:noFill/>
                </a:ln>
                <a:solidFill>
                  <a:schemeClr val="tx1"/>
                </a:solidFill>
                <a:effectLst/>
                <a:uLnTx/>
                <a:uFillTx/>
                <a:latin typeface="Trebuchet MS" panose="020B0603020202020204" pitchFamily="34" charset="0"/>
                <a:ea typeface="+mn-ea"/>
              </a:rPr>
              <a:t>Oriented  </a:t>
            </a:r>
            <a:r>
              <a:rPr kumimoji="0" lang="en-IN" sz="2000" b="0" i="0" u="none" strike="noStrike" kern="1200" cap="none" spc="-50" normalizeH="0" baseline="0" noProof="0" dirty="0">
                <a:ln>
                  <a:noFill/>
                </a:ln>
                <a:solidFill>
                  <a:schemeClr val="tx1"/>
                </a:solidFill>
                <a:effectLst/>
                <a:uLnTx/>
                <a:uFillTx/>
                <a:latin typeface="Trebuchet MS" panose="020B0603020202020204" pitchFamily="34" charset="0"/>
                <a:ea typeface="+mn-ea"/>
              </a:rPr>
              <a:t>Programming.</a:t>
            </a:r>
          </a:p>
          <a:p>
            <a:pPr marL="273050" marR="5080" lvl="0" indent="-261938" algn="just" defTabSz="914400" rtl="0" eaLnBrk="1" fontAlgn="auto" latinLnBrk="0" hangingPunct="1">
              <a:spcBef>
                <a:spcPts val="95"/>
              </a:spcBef>
              <a:spcAft>
                <a:spcPts val="0"/>
              </a:spcAft>
              <a:buClrTx/>
              <a:buSzTx/>
              <a:buFont typeface="Arial" panose="020B0604020202020204" pitchFamily="34" charset="0"/>
              <a:buChar char="•"/>
              <a:tabLst>
                <a:tab pos="356870" algn="l"/>
                <a:tab pos="357505" algn="l"/>
              </a:tabLst>
              <a:defRPr/>
            </a:pPr>
            <a:r>
              <a:rPr lang="en-IN" sz="2000" kern="1200" spc="-50" dirty="0">
                <a:solidFill>
                  <a:schemeClr val="tx1"/>
                </a:solidFill>
                <a:latin typeface="Trebuchet MS" panose="020B0603020202020204" pitchFamily="34" charset="0"/>
                <a:ea typeface="+mn-ea"/>
              </a:rPr>
              <a:t>There are two types of classes. They are,</a:t>
            </a:r>
          </a:p>
          <a:p>
            <a:pPr marL="893763" marR="5080" lvl="1" indent="-357188" algn="just">
              <a:spcBef>
                <a:spcPts val="95"/>
              </a:spcBef>
              <a:buClrTx/>
              <a:buFont typeface="Wingdings" panose="05000000000000000000" pitchFamily="2" charset="2"/>
              <a:buChar char="ü"/>
              <a:tabLst>
                <a:tab pos="356870" algn="l"/>
                <a:tab pos="357505" algn="l"/>
              </a:tabLst>
              <a:defRPr/>
            </a:pPr>
            <a:r>
              <a:rPr lang="en-IN" sz="2000" kern="1200" spc="-50" dirty="0">
                <a:solidFill>
                  <a:schemeClr val="tx1"/>
                </a:solidFill>
                <a:latin typeface="Trebuchet MS" panose="020B0603020202020204" pitchFamily="34" charset="0"/>
                <a:ea typeface="+mn-ea"/>
              </a:rPr>
              <a:t>Child class </a:t>
            </a:r>
          </a:p>
          <a:p>
            <a:pPr marL="893763" marR="5080" lvl="1" indent="-357188" algn="just">
              <a:spcBef>
                <a:spcPts val="95"/>
              </a:spcBef>
              <a:buClrTx/>
              <a:buFont typeface="Wingdings" panose="05000000000000000000" pitchFamily="2" charset="2"/>
              <a:buChar char="ü"/>
              <a:tabLst>
                <a:tab pos="356870" algn="l"/>
                <a:tab pos="357505" algn="l"/>
              </a:tabLst>
              <a:defRPr/>
            </a:pPr>
            <a:r>
              <a:rPr lang="en-IN" sz="2000" kern="1200" spc="-50" dirty="0">
                <a:solidFill>
                  <a:schemeClr val="tx1"/>
                </a:solidFill>
                <a:latin typeface="Trebuchet MS" panose="020B0603020202020204" pitchFamily="34" charset="0"/>
                <a:ea typeface="+mn-ea"/>
              </a:rPr>
              <a:t>Parent class</a:t>
            </a:r>
          </a:p>
          <a:p>
            <a:pPr marL="354012" marR="5080" lvl="0" indent="-342900" algn="just" defTabSz="914400" rtl="0" eaLnBrk="1" fontAlgn="auto" latinLnBrk="0" hangingPunct="1">
              <a:spcBef>
                <a:spcPts val="95"/>
              </a:spcBef>
              <a:spcAft>
                <a:spcPts val="0"/>
              </a:spcAft>
              <a:buClrTx/>
              <a:buSzTx/>
              <a:buFont typeface="Wingdings" panose="05000000000000000000" pitchFamily="2" charset="2"/>
              <a:buChar char="ü"/>
              <a:tabLst>
                <a:tab pos="356870" algn="l"/>
                <a:tab pos="357505" algn="l"/>
              </a:tabLst>
              <a:defRPr/>
            </a:pPr>
            <a:endParaRPr kumimoji="0" lang="en-IN" sz="2000" b="0" i="0" u="none" strike="noStrike" kern="1200" cap="none" spc="-50" normalizeH="0" baseline="0" noProof="0" dirty="0">
              <a:ln>
                <a:noFill/>
              </a:ln>
              <a:solidFill>
                <a:schemeClr val="tx1"/>
              </a:solidFill>
              <a:effectLst/>
              <a:uLnTx/>
              <a:uFillTx/>
              <a:latin typeface="Trebuchet MS" panose="020B0603020202020204" pitchFamily="34" charset="0"/>
              <a:ea typeface="+mn-ea"/>
            </a:endParaRPr>
          </a:p>
        </p:txBody>
      </p:sp>
      <p:sp>
        <p:nvSpPr>
          <p:cNvPr id="4" name="object 2">
            <a:extLst>
              <a:ext uri="{FF2B5EF4-FFF2-40B4-BE49-F238E27FC236}">
                <a16:creationId xmlns:a16="http://schemas.microsoft.com/office/drawing/2014/main" id="{67730C4D-AE6C-412E-A28E-A9BCEAC33A00}"/>
              </a:ext>
            </a:extLst>
          </p:cNvPr>
          <p:cNvSpPr/>
          <p:nvPr/>
        </p:nvSpPr>
        <p:spPr>
          <a:xfrm>
            <a:off x="6318425" y="1492555"/>
            <a:ext cx="4986883" cy="4372536"/>
          </a:xfrm>
          <a:prstGeom prst="rect">
            <a:avLst/>
          </a:prstGeom>
          <a:blipFill>
            <a:blip r:embed="rId3" cstate="print"/>
            <a:stretch>
              <a:fillRect/>
            </a:stretch>
          </a:blipFill>
        </p:spPr>
        <p:txBody>
          <a:bodyPr wrap="square" lIns="0" tIns="0" rIns="0" bIns="0" rtlCol="0"/>
          <a:lstStyle/>
          <a:p>
            <a:pPr>
              <a:buClrTx/>
              <a:buFontTx/>
              <a:buNone/>
            </a:pPr>
            <a:endParaRPr sz="1800" kern="1200">
              <a:solidFill>
                <a:prstClr val="black"/>
              </a:solidFill>
              <a:latin typeface="Calibri"/>
              <a:ea typeface="+mn-ea"/>
              <a:cs typeface="+mn-cs"/>
            </a:endParaRPr>
          </a:p>
        </p:txBody>
      </p:sp>
    </p:spTree>
    <p:extLst>
      <p:ext uri="{BB962C8B-B14F-4D97-AF65-F5344CB8AC3E}">
        <p14:creationId xmlns:p14="http://schemas.microsoft.com/office/powerpoint/2010/main" val="27158581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Inheritance</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4B56DCC0-7988-463C-9D3B-7EE8B2803998}"/>
              </a:ext>
            </a:extLst>
          </p:cNvPr>
          <p:cNvSpPr txBox="1"/>
          <p:nvPr/>
        </p:nvSpPr>
        <p:spPr>
          <a:xfrm>
            <a:off x="691525" y="1462191"/>
            <a:ext cx="10068839" cy="4036939"/>
          </a:xfrm>
          <a:prstGeom prst="rect">
            <a:avLst/>
          </a:prstGeom>
          <a:noFill/>
        </p:spPr>
        <p:txBody>
          <a:bodyPr wrap="square">
            <a:spAutoFit/>
          </a:bodyPr>
          <a:lstStyle/>
          <a:p>
            <a:pPr marL="356870" marR="5080" lvl="0" indent="-344805" algn="l" defTabSz="914400" rtl="0" eaLnBrk="1" fontAlgn="auto" latinLnBrk="0" hangingPunct="1">
              <a:spcAft>
                <a:spcPts val="0"/>
              </a:spcAft>
              <a:buClrTx/>
              <a:buSzTx/>
              <a:buFontTx/>
              <a:buChar char="•"/>
              <a:tabLst>
                <a:tab pos="356870" algn="l"/>
                <a:tab pos="357505" algn="l"/>
              </a:tabLst>
              <a:defRPr/>
            </a:pPr>
            <a:r>
              <a:rPr kumimoji="0" lang="en-IN" sz="2000" b="0" i="0" u="none" strike="noStrike" kern="1200" cap="none" spc="-75" normalizeH="0" baseline="0" noProof="0" dirty="0">
                <a:ln>
                  <a:noFill/>
                </a:ln>
                <a:solidFill>
                  <a:srgbClr val="0070C0"/>
                </a:solidFill>
                <a:effectLst/>
                <a:uLnTx/>
                <a:uFillTx/>
                <a:latin typeface="Trebuchet MS" panose="020B0603020202020204" pitchFamily="34" charset="0"/>
                <a:ea typeface="+mn-ea"/>
                <a:cs typeface="Arial"/>
                <a:sym typeface="Arial"/>
              </a:rPr>
              <a:t>Child</a:t>
            </a:r>
            <a:r>
              <a:rPr kumimoji="0" lang="en-IN" sz="2000" b="0" i="0" u="none" strike="noStrike" kern="1200" cap="none" spc="-215" normalizeH="0" baseline="0" noProof="0" dirty="0">
                <a:ln>
                  <a:noFill/>
                </a:ln>
                <a:solidFill>
                  <a:srgbClr val="0070C0"/>
                </a:solidFill>
                <a:effectLst/>
                <a:uLnTx/>
                <a:uFillTx/>
                <a:latin typeface="Trebuchet MS" panose="020B0603020202020204" pitchFamily="34" charset="0"/>
                <a:ea typeface="+mn-ea"/>
                <a:cs typeface="Arial"/>
                <a:sym typeface="Arial"/>
              </a:rPr>
              <a:t> </a:t>
            </a:r>
            <a:r>
              <a:rPr kumimoji="0" lang="en-IN" sz="2000" b="0" i="0" u="none" strike="noStrike" kern="1200" cap="none" spc="-135" normalizeH="0" baseline="0" noProof="0" dirty="0">
                <a:ln>
                  <a:noFill/>
                </a:ln>
                <a:solidFill>
                  <a:srgbClr val="0070C0"/>
                </a:solidFill>
                <a:effectLst/>
                <a:uLnTx/>
                <a:uFillTx/>
                <a:latin typeface="Trebuchet MS" panose="020B0603020202020204" pitchFamily="34" charset="0"/>
                <a:ea typeface="+mn-ea"/>
                <a:cs typeface="Arial"/>
                <a:sym typeface="Arial"/>
              </a:rPr>
              <a:t>Class:</a:t>
            </a:r>
          </a:p>
          <a:p>
            <a:pPr marL="12065" marR="5080" lvl="0" algn="l" defTabSz="914400" rtl="0" eaLnBrk="1" fontAlgn="auto" latinLnBrk="0" hangingPunct="1">
              <a:spcAft>
                <a:spcPts val="0"/>
              </a:spcAft>
              <a:buClrTx/>
              <a:buSzTx/>
              <a:tabLst>
                <a:tab pos="356870" algn="l"/>
                <a:tab pos="357505" algn="l"/>
              </a:tabLst>
              <a:defRPr/>
            </a:pPr>
            <a:r>
              <a:rPr lang="en-IN" sz="2000" kern="1200" spc="-135" dirty="0">
                <a:latin typeface="Trebuchet MS" panose="020B0603020202020204" pitchFamily="34" charset="0"/>
                <a:ea typeface="+mn-ea"/>
              </a:rPr>
              <a:t>	</a:t>
            </a:r>
            <a:r>
              <a:rPr kumimoji="0" lang="en-IN" sz="2000" b="0" i="0" u="none" strike="noStrike" kern="1200" cap="none" spc="-320" normalizeH="0" baseline="0" noProof="0" dirty="0">
                <a:ln>
                  <a:noFill/>
                </a:ln>
                <a:solidFill>
                  <a:srgbClr val="000000"/>
                </a:solidFill>
                <a:effectLst/>
                <a:uLnTx/>
                <a:uFillTx/>
                <a:latin typeface="Trebuchet MS" panose="020B0603020202020204" pitchFamily="34" charset="0"/>
                <a:ea typeface="+mn-ea"/>
                <a:cs typeface="Arial"/>
                <a:sym typeface="Arial"/>
              </a:rPr>
              <a:t> </a:t>
            </a:r>
            <a:r>
              <a:rPr kumimoji="0" lang="en-IN" sz="2000" b="0" i="0" u="none" strike="noStrike" kern="1200" cap="none" spc="-105" normalizeH="0" baseline="0" noProof="0" dirty="0">
                <a:ln>
                  <a:noFill/>
                </a:ln>
                <a:solidFill>
                  <a:srgbClr val="000000"/>
                </a:solidFill>
                <a:effectLst/>
                <a:uLnTx/>
                <a:uFillTx/>
                <a:latin typeface="Trebuchet MS" panose="020B0603020202020204" pitchFamily="34" charset="0"/>
                <a:ea typeface="+mn-ea"/>
                <a:cs typeface="Arial"/>
                <a:sym typeface="Arial"/>
              </a:rPr>
              <a:t>The</a:t>
            </a:r>
            <a:r>
              <a:rPr kumimoji="0" lang="en-IN" sz="2000" b="0" i="0" u="none" strike="noStrike" kern="1200" cap="none" spc="-140" normalizeH="0" baseline="0" noProof="0" dirty="0">
                <a:ln>
                  <a:noFill/>
                </a:ln>
                <a:solidFill>
                  <a:srgbClr val="000000"/>
                </a:solidFill>
                <a:effectLst/>
                <a:uLnTx/>
                <a:uFillTx/>
                <a:latin typeface="Trebuchet MS" panose="020B0603020202020204" pitchFamily="34" charset="0"/>
                <a:ea typeface="+mn-ea"/>
                <a:cs typeface="Arial"/>
                <a:sym typeface="Arial"/>
              </a:rPr>
              <a:t> </a:t>
            </a:r>
            <a:r>
              <a:rPr kumimoji="0" lang="en-IN" sz="2000" b="0" i="0" u="none" strike="noStrike" kern="1200" cap="none" spc="-130" normalizeH="0" baseline="0" noProof="0" dirty="0">
                <a:ln>
                  <a:noFill/>
                </a:ln>
                <a:solidFill>
                  <a:srgbClr val="000000"/>
                </a:solidFill>
                <a:effectLst/>
                <a:uLnTx/>
                <a:uFillTx/>
                <a:latin typeface="Trebuchet MS" panose="020B0603020202020204" pitchFamily="34" charset="0"/>
                <a:ea typeface="+mn-ea"/>
                <a:cs typeface="Arial"/>
                <a:sym typeface="Arial"/>
              </a:rPr>
              <a:t>class</a:t>
            </a:r>
            <a:r>
              <a:rPr kumimoji="0" lang="en-IN" sz="2000" b="0" i="0" u="none" strike="noStrike" kern="1200" cap="none" spc="-150" normalizeH="0" baseline="0" noProof="0" dirty="0">
                <a:ln>
                  <a:noFill/>
                </a:ln>
                <a:solidFill>
                  <a:srgbClr val="000000"/>
                </a:solidFill>
                <a:effectLst/>
                <a:uLnTx/>
                <a:uFillTx/>
                <a:latin typeface="Trebuchet MS" panose="020B0603020202020204" pitchFamily="34" charset="0"/>
                <a:ea typeface="+mn-ea"/>
                <a:cs typeface="Arial"/>
                <a:sym typeface="Arial"/>
              </a:rPr>
              <a:t> </a:t>
            </a:r>
            <a:r>
              <a:rPr kumimoji="0" lang="en-IN" sz="2000" b="0" i="0" u="none" strike="noStrike" kern="1200" cap="none" spc="15" normalizeH="0" baseline="0" noProof="0" dirty="0">
                <a:ln>
                  <a:noFill/>
                </a:ln>
                <a:solidFill>
                  <a:srgbClr val="000000"/>
                </a:solidFill>
                <a:effectLst/>
                <a:uLnTx/>
                <a:uFillTx/>
                <a:latin typeface="Trebuchet MS" panose="020B0603020202020204" pitchFamily="34" charset="0"/>
                <a:ea typeface="+mn-ea"/>
                <a:cs typeface="Arial"/>
                <a:sym typeface="Arial"/>
              </a:rPr>
              <a:t>that</a:t>
            </a:r>
            <a:r>
              <a:rPr kumimoji="0" lang="en-IN" sz="2000" b="0" i="0" u="none" strike="noStrike" kern="1200" cap="none" spc="-150" normalizeH="0" baseline="0" noProof="0" dirty="0">
                <a:ln>
                  <a:noFill/>
                </a:ln>
                <a:solidFill>
                  <a:srgbClr val="000000"/>
                </a:solidFill>
                <a:effectLst/>
                <a:uLnTx/>
                <a:uFillTx/>
                <a:latin typeface="Trebuchet MS" panose="020B0603020202020204" pitchFamily="34" charset="0"/>
                <a:ea typeface="+mn-ea"/>
                <a:cs typeface="Arial"/>
                <a:sym typeface="Arial"/>
              </a:rPr>
              <a:t> </a:t>
            </a:r>
            <a:r>
              <a:rPr kumimoji="0" lang="en-IN" sz="2000" b="0" i="0" u="none" strike="noStrike" kern="1200" cap="none" spc="-40" normalizeH="0" baseline="0" noProof="0" dirty="0">
                <a:ln>
                  <a:noFill/>
                </a:ln>
                <a:solidFill>
                  <a:srgbClr val="000000"/>
                </a:solidFill>
                <a:effectLst/>
                <a:uLnTx/>
                <a:uFillTx/>
                <a:latin typeface="Trebuchet MS" panose="020B0603020202020204" pitchFamily="34" charset="0"/>
                <a:ea typeface="+mn-ea"/>
                <a:cs typeface="Arial"/>
                <a:sym typeface="Arial"/>
              </a:rPr>
              <a:t>inherits </a:t>
            </a:r>
            <a:r>
              <a:rPr kumimoji="0" lang="en-IN" sz="2000" b="0" i="0" u="none" strike="noStrike" kern="1200" cap="none" spc="-50" normalizeH="0" baseline="0" noProof="0" dirty="0">
                <a:ln>
                  <a:noFill/>
                </a:ln>
                <a:solidFill>
                  <a:srgbClr val="000000"/>
                </a:solidFill>
                <a:effectLst/>
                <a:uLnTx/>
                <a:uFillTx/>
                <a:latin typeface="Trebuchet MS" panose="020B0603020202020204" pitchFamily="34" charset="0"/>
                <a:ea typeface="+mn-ea"/>
                <a:cs typeface="Arial"/>
                <a:sym typeface="Arial"/>
              </a:rPr>
              <a:t>properties </a:t>
            </a:r>
            <a:r>
              <a:rPr kumimoji="0" lang="en-IN" sz="20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Arial"/>
                <a:sym typeface="Arial"/>
              </a:rPr>
              <a:t>from </a:t>
            </a:r>
            <a:r>
              <a:rPr kumimoji="0" lang="en-IN" sz="2000" b="0" i="0" u="none" strike="noStrike" kern="1200" cap="none" spc="-45" normalizeH="0" baseline="0" noProof="0" dirty="0">
                <a:ln>
                  <a:noFill/>
                </a:ln>
                <a:solidFill>
                  <a:srgbClr val="000000"/>
                </a:solidFill>
                <a:effectLst/>
                <a:uLnTx/>
                <a:uFillTx/>
                <a:latin typeface="Trebuchet MS" panose="020B0603020202020204" pitchFamily="34" charset="0"/>
                <a:ea typeface="+mn-ea"/>
                <a:cs typeface="Arial"/>
                <a:sym typeface="Arial"/>
              </a:rPr>
              <a:t>another </a:t>
            </a:r>
            <a:r>
              <a:rPr kumimoji="0" lang="en-IN" sz="2000" b="0" i="0" u="none" strike="noStrike" kern="1200" cap="none" spc="-130" normalizeH="0" baseline="0" noProof="0" dirty="0">
                <a:ln>
                  <a:noFill/>
                </a:ln>
                <a:solidFill>
                  <a:srgbClr val="000000"/>
                </a:solidFill>
                <a:effectLst/>
                <a:uLnTx/>
                <a:uFillTx/>
                <a:latin typeface="Trebuchet MS" panose="020B0603020202020204" pitchFamily="34" charset="0"/>
                <a:ea typeface="+mn-ea"/>
                <a:cs typeface="Arial"/>
                <a:sym typeface="Arial"/>
              </a:rPr>
              <a:t>class </a:t>
            </a:r>
            <a:r>
              <a:rPr kumimoji="0" lang="en-IN" sz="2000" b="0" i="0" u="none" strike="noStrike" kern="1200" cap="none" spc="-95" normalizeH="0" baseline="0" noProof="0" dirty="0">
                <a:ln>
                  <a:noFill/>
                </a:ln>
                <a:solidFill>
                  <a:srgbClr val="000000"/>
                </a:solidFill>
                <a:effectLst/>
                <a:uLnTx/>
                <a:uFillTx/>
                <a:latin typeface="Trebuchet MS" panose="020B0603020202020204" pitchFamily="34" charset="0"/>
                <a:ea typeface="+mn-ea"/>
                <a:cs typeface="Arial"/>
                <a:sym typeface="Arial"/>
              </a:rPr>
              <a:t>is </a:t>
            </a:r>
            <a:r>
              <a:rPr kumimoji="0" lang="en-IN" sz="2000" b="0" i="0" u="none" strike="noStrike" kern="1200" cap="none" spc="-75" normalizeH="0" baseline="0" noProof="0" dirty="0">
                <a:ln>
                  <a:noFill/>
                </a:ln>
                <a:solidFill>
                  <a:srgbClr val="000000"/>
                </a:solidFill>
                <a:effectLst/>
                <a:uLnTx/>
                <a:uFillTx/>
                <a:latin typeface="Trebuchet MS" panose="020B0603020202020204" pitchFamily="34" charset="0"/>
                <a:ea typeface="+mn-ea"/>
                <a:cs typeface="Arial"/>
                <a:sym typeface="Arial"/>
              </a:rPr>
              <a:t>called</a:t>
            </a:r>
            <a:r>
              <a:rPr kumimoji="0" lang="en-IN" sz="2000" b="0" i="0" u="none" strike="noStrike" kern="1200" cap="none" spc="-175" normalizeH="0" baseline="0" noProof="0" dirty="0">
                <a:ln>
                  <a:noFill/>
                </a:ln>
                <a:solidFill>
                  <a:srgbClr val="000000"/>
                </a:solidFill>
                <a:effectLst/>
                <a:uLnTx/>
                <a:uFillTx/>
                <a:latin typeface="Trebuchet MS" panose="020B0603020202020204" pitchFamily="34" charset="0"/>
                <a:ea typeface="+mn-ea"/>
                <a:cs typeface="Arial"/>
                <a:sym typeface="Arial"/>
              </a:rPr>
              <a:t>  </a:t>
            </a:r>
            <a:r>
              <a:rPr lang="en-IN" sz="2000" kern="1200" spc="-120" dirty="0">
                <a:solidFill>
                  <a:srgbClr val="FF0000"/>
                </a:solidFill>
                <a:latin typeface="Trebuchet MS" panose="020B0603020202020204" pitchFamily="34" charset="0"/>
                <a:ea typeface="+mn-ea"/>
              </a:rPr>
              <a:t>s</a:t>
            </a:r>
            <a:r>
              <a:rPr kumimoji="0" lang="en-IN" sz="2000" b="0" i="0" u="none" strike="noStrike" kern="1200" cap="none" spc="-120" normalizeH="0" baseline="0" noProof="0" dirty="0" err="1">
                <a:ln>
                  <a:noFill/>
                </a:ln>
                <a:solidFill>
                  <a:srgbClr val="FF0000"/>
                </a:solidFill>
                <a:effectLst/>
                <a:uLnTx/>
                <a:uFillTx/>
                <a:latin typeface="Trebuchet MS" panose="020B0603020202020204" pitchFamily="34" charset="0"/>
                <a:ea typeface="+mn-ea"/>
                <a:cs typeface="Arial"/>
                <a:sym typeface="Arial"/>
              </a:rPr>
              <a:t>ub</a:t>
            </a:r>
            <a:r>
              <a:rPr kumimoji="0" lang="en-IN" sz="2000" b="0" i="0" u="none" strike="noStrike" kern="1200" cap="none" spc="-175" normalizeH="0" baseline="0" noProof="0" dirty="0">
                <a:ln>
                  <a:noFill/>
                </a:ln>
                <a:solidFill>
                  <a:srgbClr val="FF0000"/>
                </a:solidFill>
                <a:effectLst/>
                <a:uLnTx/>
                <a:uFillTx/>
                <a:latin typeface="Trebuchet MS" panose="020B0603020202020204" pitchFamily="34" charset="0"/>
                <a:ea typeface="+mn-ea"/>
                <a:cs typeface="Arial"/>
                <a:sym typeface="Arial"/>
              </a:rPr>
              <a:t> </a:t>
            </a:r>
            <a:r>
              <a:rPr kumimoji="0" lang="en-IN" sz="2000" b="0" i="0" u="none" strike="noStrike" kern="1200" cap="none" spc="-130" normalizeH="0" baseline="0" noProof="0" dirty="0">
                <a:ln>
                  <a:noFill/>
                </a:ln>
                <a:solidFill>
                  <a:srgbClr val="FF0000"/>
                </a:solidFill>
                <a:effectLst/>
                <a:uLnTx/>
                <a:uFillTx/>
                <a:latin typeface="Trebuchet MS" panose="020B0603020202020204" pitchFamily="34" charset="0"/>
                <a:ea typeface="+mn-ea"/>
                <a:cs typeface="Arial"/>
                <a:sym typeface="Arial"/>
              </a:rPr>
              <a:t>class</a:t>
            </a:r>
            <a:r>
              <a:rPr kumimoji="0" lang="en-IN" sz="2000" b="0" i="0" u="none" strike="noStrike" kern="1200" cap="none" spc="-150" normalizeH="0" baseline="0" noProof="0" dirty="0">
                <a:ln>
                  <a:noFill/>
                </a:ln>
                <a:solidFill>
                  <a:srgbClr val="FF0000"/>
                </a:solidFill>
                <a:effectLst/>
                <a:uLnTx/>
                <a:uFillTx/>
                <a:latin typeface="Trebuchet MS" panose="020B0603020202020204" pitchFamily="34" charset="0"/>
                <a:ea typeface="+mn-ea"/>
                <a:cs typeface="Arial"/>
                <a:sym typeface="Arial"/>
              </a:rPr>
              <a:t> </a:t>
            </a:r>
            <a:r>
              <a:rPr kumimoji="0" lang="en-IN" sz="2000" b="0" i="0" u="none" strike="noStrike" kern="1200" cap="none" spc="-30" normalizeH="0" baseline="0" noProof="0" dirty="0">
                <a:ln>
                  <a:noFill/>
                </a:ln>
                <a:solidFill>
                  <a:schemeClr val="tx1"/>
                </a:solidFill>
                <a:effectLst/>
                <a:uLnTx/>
                <a:uFillTx/>
                <a:latin typeface="Trebuchet MS" panose="020B0603020202020204" pitchFamily="34" charset="0"/>
                <a:ea typeface="+mn-ea"/>
                <a:cs typeface="Arial"/>
                <a:sym typeface="Arial"/>
              </a:rPr>
              <a:t>or</a:t>
            </a:r>
            <a:r>
              <a:rPr kumimoji="0" lang="en-IN" sz="2000" b="0" i="0" u="none" strike="noStrike" kern="1200" cap="none" spc="-135" normalizeH="0" baseline="0" noProof="0" dirty="0">
                <a:ln>
                  <a:noFill/>
                </a:ln>
                <a:solidFill>
                  <a:srgbClr val="FF0000"/>
                </a:solidFill>
                <a:effectLst/>
                <a:uLnTx/>
                <a:uFillTx/>
                <a:latin typeface="Trebuchet MS" panose="020B0603020202020204" pitchFamily="34" charset="0"/>
                <a:ea typeface="+mn-ea"/>
                <a:cs typeface="Arial"/>
                <a:sym typeface="Arial"/>
              </a:rPr>
              <a:t> 	</a:t>
            </a:r>
            <a:r>
              <a:rPr lang="en-IN" sz="2000" kern="1200" spc="-70" dirty="0">
                <a:solidFill>
                  <a:srgbClr val="FF0000"/>
                </a:solidFill>
                <a:latin typeface="Trebuchet MS" panose="020B0603020202020204" pitchFamily="34" charset="0"/>
                <a:ea typeface="+mn-ea"/>
              </a:rPr>
              <a:t>d</a:t>
            </a:r>
            <a:r>
              <a:rPr kumimoji="0" lang="en-IN" sz="2000" b="0" i="0" u="none" strike="noStrike" kern="1200" cap="none" spc="-70" normalizeH="0" baseline="0" noProof="0" dirty="0" err="1">
                <a:ln>
                  <a:noFill/>
                </a:ln>
                <a:solidFill>
                  <a:srgbClr val="FF0000"/>
                </a:solidFill>
                <a:effectLst/>
                <a:uLnTx/>
                <a:uFillTx/>
                <a:latin typeface="Trebuchet MS" panose="020B0603020202020204" pitchFamily="34" charset="0"/>
                <a:ea typeface="+mn-ea"/>
                <a:cs typeface="Arial"/>
                <a:sym typeface="Arial"/>
              </a:rPr>
              <a:t>erived</a:t>
            </a:r>
            <a:r>
              <a:rPr kumimoji="0" lang="en-IN" sz="2000" b="0" i="0" u="none" strike="noStrike" kern="1200" cap="none" spc="-190" normalizeH="0" baseline="0" noProof="0" dirty="0">
                <a:ln>
                  <a:noFill/>
                </a:ln>
                <a:solidFill>
                  <a:srgbClr val="FF0000"/>
                </a:solidFill>
                <a:effectLst/>
                <a:uLnTx/>
                <a:uFillTx/>
                <a:latin typeface="Trebuchet MS" panose="020B0603020202020204" pitchFamily="34" charset="0"/>
                <a:ea typeface="+mn-ea"/>
                <a:cs typeface="Arial"/>
                <a:sym typeface="Arial"/>
              </a:rPr>
              <a:t> </a:t>
            </a:r>
            <a:r>
              <a:rPr lang="en-IN" sz="2000" kern="1200" spc="-135" dirty="0">
                <a:solidFill>
                  <a:srgbClr val="FF0000"/>
                </a:solidFill>
                <a:latin typeface="Trebuchet MS" panose="020B0603020202020204" pitchFamily="34" charset="0"/>
                <a:ea typeface="+mn-ea"/>
              </a:rPr>
              <a:t>c</a:t>
            </a:r>
            <a:r>
              <a:rPr kumimoji="0" lang="en-IN" sz="2000" b="0" i="0" u="none" strike="noStrike" kern="1200" cap="none" spc="-135" normalizeH="0" baseline="0" noProof="0" dirty="0">
                <a:ln>
                  <a:noFill/>
                </a:ln>
                <a:solidFill>
                  <a:srgbClr val="FF0000"/>
                </a:solidFill>
                <a:effectLst/>
                <a:uLnTx/>
                <a:uFillTx/>
                <a:latin typeface="Trebuchet MS" panose="020B0603020202020204" pitchFamily="34" charset="0"/>
                <a:ea typeface="+mn-ea"/>
                <a:cs typeface="Arial"/>
                <a:sym typeface="Arial"/>
              </a:rPr>
              <a:t>lass.</a:t>
            </a:r>
          </a:p>
          <a:p>
            <a:pPr marL="356870" marR="5080" lvl="0" indent="-344805" algn="l" defTabSz="914400" rtl="0" eaLnBrk="1" fontAlgn="auto" latinLnBrk="0" hangingPunct="1">
              <a:spcAft>
                <a:spcPts val="0"/>
              </a:spcAft>
              <a:buClrTx/>
              <a:buSzTx/>
              <a:buFontTx/>
              <a:buChar char="•"/>
              <a:tabLst>
                <a:tab pos="356870" algn="l"/>
                <a:tab pos="357505" algn="l"/>
              </a:tabLst>
              <a:defRPr/>
            </a:pPr>
            <a:r>
              <a:rPr kumimoji="0" lang="en-IN" sz="2000" b="0" i="0" u="none" strike="noStrike" kern="1200" cap="none" spc="-65" normalizeH="0" baseline="0" noProof="0" dirty="0">
                <a:ln>
                  <a:noFill/>
                </a:ln>
                <a:solidFill>
                  <a:srgbClr val="0070C0"/>
                </a:solidFill>
                <a:effectLst/>
                <a:uLnTx/>
                <a:uFillTx/>
                <a:latin typeface="Trebuchet MS" panose="020B0603020202020204" pitchFamily="34" charset="0"/>
                <a:ea typeface="+mn-ea"/>
                <a:cs typeface="Arial"/>
                <a:sym typeface="Arial"/>
              </a:rPr>
              <a:t>Parent </a:t>
            </a:r>
            <a:r>
              <a:rPr kumimoji="0" lang="en-IN" sz="2000" b="0" i="0" u="none" strike="noStrike" kern="1200" cap="none" spc="-135" normalizeH="0" baseline="0" noProof="0" dirty="0">
                <a:ln>
                  <a:noFill/>
                </a:ln>
                <a:solidFill>
                  <a:srgbClr val="0070C0"/>
                </a:solidFill>
                <a:effectLst/>
                <a:uLnTx/>
                <a:uFillTx/>
                <a:latin typeface="Trebuchet MS" panose="020B0603020202020204" pitchFamily="34" charset="0"/>
                <a:ea typeface="+mn-ea"/>
                <a:cs typeface="Arial"/>
                <a:sym typeface="Arial"/>
              </a:rPr>
              <a:t>Class: </a:t>
            </a:r>
          </a:p>
          <a:p>
            <a:pPr marL="12065" marR="5080" lvl="0" algn="l" defTabSz="914400" rtl="0" eaLnBrk="1" fontAlgn="auto" latinLnBrk="0" hangingPunct="1">
              <a:spcAft>
                <a:spcPts val="0"/>
              </a:spcAft>
              <a:buClrTx/>
              <a:buSzTx/>
              <a:tabLst>
                <a:tab pos="356870" algn="l"/>
                <a:tab pos="357505" algn="l"/>
              </a:tabLst>
              <a:defRPr/>
            </a:pPr>
            <a:r>
              <a:rPr lang="en-IN" sz="2000" kern="1200" spc="-135" dirty="0">
                <a:latin typeface="Trebuchet MS" panose="020B0603020202020204" pitchFamily="34" charset="0"/>
                <a:ea typeface="+mn-ea"/>
              </a:rPr>
              <a:t>	</a:t>
            </a:r>
            <a:r>
              <a:rPr kumimoji="0" lang="en-IN" sz="2000" b="0" i="0" u="none" strike="noStrike" kern="1200" cap="none" spc="-105" normalizeH="0" baseline="0" noProof="0" dirty="0">
                <a:ln>
                  <a:noFill/>
                </a:ln>
                <a:solidFill>
                  <a:srgbClr val="000000"/>
                </a:solidFill>
                <a:effectLst/>
                <a:uLnTx/>
                <a:uFillTx/>
                <a:latin typeface="Trebuchet MS" panose="020B0603020202020204" pitchFamily="34" charset="0"/>
                <a:ea typeface="+mn-ea"/>
                <a:cs typeface="Arial"/>
                <a:sym typeface="Arial"/>
              </a:rPr>
              <a:t>The </a:t>
            </a:r>
            <a:r>
              <a:rPr kumimoji="0" lang="en-IN" sz="2000" b="0" i="0" u="none" strike="noStrike" kern="1200" cap="none" spc="-130" normalizeH="0" baseline="0" noProof="0" dirty="0">
                <a:ln>
                  <a:noFill/>
                </a:ln>
                <a:solidFill>
                  <a:srgbClr val="000000"/>
                </a:solidFill>
                <a:effectLst/>
                <a:uLnTx/>
                <a:uFillTx/>
                <a:latin typeface="Trebuchet MS" panose="020B0603020202020204" pitchFamily="34" charset="0"/>
                <a:ea typeface="+mn-ea"/>
                <a:cs typeface="Arial"/>
                <a:sym typeface="Arial"/>
              </a:rPr>
              <a:t>class </a:t>
            </a:r>
            <a:r>
              <a:rPr kumimoji="0" lang="en-IN" sz="2000" b="0" i="0" u="none" strike="noStrike" kern="1200" cap="none" spc="-95" normalizeH="0" baseline="0" noProof="0" dirty="0">
                <a:ln>
                  <a:noFill/>
                </a:ln>
                <a:solidFill>
                  <a:srgbClr val="000000"/>
                </a:solidFill>
                <a:effectLst/>
                <a:uLnTx/>
                <a:uFillTx/>
                <a:latin typeface="Trebuchet MS" panose="020B0603020202020204" pitchFamily="34" charset="0"/>
                <a:ea typeface="+mn-ea"/>
                <a:cs typeface="Arial"/>
                <a:sym typeface="Arial"/>
              </a:rPr>
              <a:t>whose  </a:t>
            </a:r>
            <a:r>
              <a:rPr kumimoji="0" lang="en-IN" sz="2000" b="0" i="0" u="none" strike="noStrike" kern="1200" cap="none" spc="-50" normalizeH="0" baseline="0" noProof="0" dirty="0">
                <a:ln>
                  <a:noFill/>
                </a:ln>
                <a:solidFill>
                  <a:srgbClr val="000000"/>
                </a:solidFill>
                <a:effectLst/>
                <a:uLnTx/>
                <a:uFillTx/>
                <a:latin typeface="Trebuchet MS" panose="020B0603020202020204" pitchFamily="34" charset="0"/>
                <a:ea typeface="+mn-ea"/>
                <a:cs typeface="Arial"/>
                <a:sym typeface="Arial"/>
              </a:rPr>
              <a:t>properties </a:t>
            </a:r>
            <a:r>
              <a:rPr kumimoji="0" lang="en-IN" sz="2000" b="0" i="0" u="none" strike="noStrike" kern="1200" cap="none" spc="-85" normalizeH="0" baseline="0" noProof="0" dirty="0">
                <a:ln>
                  <a:noFill/>
                </a:ln>
                <a:solidFill>
                  <a:srgbClr val="000000"/>
                </a:solidFill>
                <a:effectLst/>
                <a:uLnTx/>
                <a:uFillTx/>
                <a:latin typeface="Trebuchet MS" panose="020B0603020202020204" pitchFamily="34" charset="0"/>
                <a:ea typeface="+mn-ea"/>
                <a:cs typeface="Arial"/>
                <a:sym typeface="Arial"/>
              </a:rPr>
              <a:t>are </a:t>
            </a:r>
            <a:r>
              <a:rPr kumimoji="0" lang="en-IN" sz="2000" b="0" i="0" u="none" strike="noStrike" kern="1200" cap="none" spc="-30" normalizeH="0" baseline="0" noProof="0" dirty="0">
                <a:ln>
                  <a:noFill/>
                </a:ln>
                <a:solidFill>
                  <a:srgbClr val="000000"/>
                </a:solidFill>
                <a:effectLst/>
                <a:uLnTx/>
                <a:uFillTx/>
                <a:latin typeface="Trebuchet MS" panose="020B0603020202020204" pitchFamily="34" charset="0"/>
                <a:ea typeface="+mn-ea"/>
                <a:cs typeface="Arial"/>
                <a:sym typeface="Arial"/>
              </a:rPr>
              <a:t>inherited </a:t>
            </a:r>
            <a:r>
              <a:rPr kumimoji="0" lang="en-IN" sz="2000" b="0" i="0" u="none" strike="noStrike" kern="1200" cap="none" spc="-55" normalizeH="0" baseline="0" noProof="0" dirty="0">
                <a:ln>
                  <a:noFill/>
                </a:ln>
                <a:solidFill>
                  <a:srgbClr val="000000"/>
                </a:solidFill>
                <a:effectLst/>
                <a:uLnTx/>
                <a:uFillTx/>
                <a:latin typeface="Trebuchet MS" panose="020B0603020202020204" pitchFamily="34" charset="0"/>
                <a:ea typeface="+mn-ea"/>
                <a:cs typeface="Arial"/>
                <a:sym typeface="Arial"/>
              </a:rPr>
              <a:t>by </a:t>
            </a:r>
            <a:r>
              <a:rPr kumimoji="0" lang="en-IN" sz="2000" b="0" i="0" u="none" strike="noStrike" kern="1200" cap="none" spc="-110" normalizeH="0" baseline="0" noProof="0" dirty="0">
                <a:ln>
                  <a:noFill/>
                </a:ln>
                <a:solidFill>
                  <a:srgbClr val="000000"/>
                </a:solidFill>
                <a:effectLst/>
                <a:uLnTx/>
                <a:uFillTx/>
                <a:latin typeface="Trebuchet MS" panose="020B0603020202020204" pitchFamily="34" charset="0"/>
                <a:ea typeface="+mn-ea"/>
                <a:cs typeface="Arial"/>
                <a:sym typeface="Arial"/>
              </a:rPr>
              <a:t>sub </a:t>
            </a:r>
            <a:r>
              <a:rPr kumimoji="0" lang="en-IN" sz="2000" b="0" i="0" u="none" strike="noStrike" kern="1200" cap="none" spc="-130" normalizeH="0" baseline="0" noProof="0" dirty="0">
                <a:ln>
                  <a:noFill/>
                </a:ln>
                <a:solidFill>
                  <a:srgbClr val="000000"/>
                </a:solidFill>
                <a:effectLst/>
                <a:uLnTx/>
                <a:uFillTx/>
                <a:latin typeface="Trebuchet MS" panose="020B0603020202020204" pitchFamily="34" charset="0"/>
                <a:ea typeface="+mn-ea"/>
                <a:cs typeface="Arial"/>
                <a:sym typeface="Arial"/>
              </a:rPr>
              <a:t>class  </a:t>
            </a:r>
            <a:r>
              <a:rPr kumimoji="0" lang="en-IN" sz="2000" b="0" i="0" u="none" strike="noStrike" kern="1200" cap="none" spc="-95" normalizeH="0" baseline="0" noProof="0" dirty="0">
                <a:ln>
                  <a:noFill/>
                </a:ln>
                <a:solidFill>
                  <a:srgbClr val="000000"/>
                </a:solidFill>
                <a:effectLst/>
                <a:uLnTx/>
                <a:uFillTx/>
                <a:latin typeface="Trebuchet MS" panose="020B0603020202020204" pitchFamily="34" charset="0"/>
                <a:ea typeface="+mn-ea"/>
                <a:cs typeface="Arial"/>
                <a:sym typeface="Arial"/>
              </a:rPr>
              <a:t>is </a:t>
            </a:r>
            <a:r>
              <a:rPr kumimoji="0" lang="en-IN" sz="2000" b="0" i="0" u="none" strike="noStrike" kern="1200" cap="none" spc="-75" normalizeH="0" baseline="0" noProof="0" dirty="0">
                <a:ln>
                  <a:noFill/>
                </a:ln>
                <a:solidFill>
                  <a:srgbClr val="000000"/>
                </a:solidFill>
                <a:effectLst/>
                <a:uLnTx/>
                <a:uFillTx/>
                <a:latin typeface="Trebuchet MS" panose="020B0603020202020204" pitchFamily="34" charset="0"/>
                <a:ea typeface="+mn-ea"/>
                <a:cs typeface="Arial"/>
                <a:sym typeface="Arial"/>
              </a:rPr>
              <a:t>called  </a:t>
            </a:r>
            <a:r>
              <a:rPr kumimoji="0" lang="en-IN" sz="2000" b="0" i="0" u="none" strike="noStrike" kern="1200" cap="none" spc="-155" normalizeH="0" baseline="0" noProof="0" dirty="0">
                <a:ln>
                  <a:noFill/>
                </a:ln>
                <a:solidFill>
                  <a:srgbClr val="FF0000"/>
                </a:solidFill>
                <a:effectLst/>
                <a:uLnTx/>
                <a:uFillTx/>
                <a:latin typeface="Trebuchet MS" panose="020B0603020202020204" pitchFamily="34" charset="0"/>
                <a:ea typeface="+mn-ea"/>
                <a:cs typeface="Arial"/>
                <a:sym typeface="Arial"/>
              </a:rPr>
              <a:t>base </a:t>
            </a:r>
            <a:r>
              <a:rPr lang="en-IN" sz="2000" kern="1200" spc="-160" dirty="0">
                <a:solidFill>
                  <a:srgbClr val="FF0000"/>
                </a:solidFill>
                <a:latin typeface="Trebuchet MS" panose="020B0603020202020204" pitchFamily="34" charset="0"/>
                <a:ea typeface="+mn-ea"/>
              </a:rPr>
              <a:t>c</a:t>
            </a:r>
            <a:r>
              <a:rPr kumimoji="0" lang="en-IN" sz="2000" b="0" i="0" u="none" strike="noStrike" kern="1200" cap="none" spc="-160" normalizeH="0" baseline="0" noProof="0" dirty="0">
                <a:ln>
                  <a:noFill/>
                </a:ln>
                <a:solidFill>
                  <a:srgbClr val="FF0000"/>
                </a:solidFill>
                <a:effectLst/>
                <a:uLnTx/>
                <a:uFillTx/>
                <a:latin typeface="Trebuchet MS" panose="020B0603020202020204" pitchFamily="34" charset="0"/>
                <a:ea typeface="+mn-ea"/>
                <a:cs typeface="Arial"/>
                <a:sym typeface="Arial"/>
              </a:rPr>
              <a:t>lass </a:t>
            </a:r>
            <a:r>
              <a:rPr kumimoji="0" lang="en-IN" sz="2000" b="0" i="0" u="none" strike="noStrike" kern="1200" cap="none" spc="-30" normalizeH="0" baseline="0" noProof="0" dirty="0">
                <a:ln>
                  <a:noFill/>
                </a:ln>
                <a:solidFill>
                  <a:schemeClr val="tx1"/>
                </a:solidFill>
                <a:effectLst/>
                <a:uLnTx/>
                <a:uFillTx/>
                <a:latin typeface="Trebuchet MS" panose="020B0603020202020204" pitchFamily="34" charset="0"/>
                <a:ea typeface="+mn-ea"/>
                <a:cs typeface="Arial"/>
                <a:sym typeface="Arial"/>
              </a:rPr>
              <a:t>or</a:t>
            </a:r>
            <a:r>
              <a:rPr kumimoji="0" lang="en-IN" sz="2000" b="0" i="0" u="none" strike="noStrike" kern="1200" cap="none" spc="-375" normalizeH="0" baseline="0" noProof="0" dirty="0">
                <a:ln>
                  <a:noFill/>
                </a:ln>
                <a:solidFill>
                  <a:schemeClr val="tx1"/>
                </a:solidFill>
                <a:effectLst/>
                <a:uLnTx/>
                <a:uFillTx/>
                <a:latin typeface="Trebuchet MS" panose="020B0603020202020204" pitchFamily="34" charset="0"/>
                <a:ea typeface="+mn-ea"/>
                <a:cs typeface="Arial"/>
                <a:sym typeface="Arial"/>
              </a:rPr>
              <a:t> 	</a:t>
            </a:r>
            <a:r>
              <a:rPr lang="en-IN" sz="2000" kern="1200" spc="-100" dirty="0">
                <a:solidFill>
                  <a:srgbClr val="FF0000"/>
                </a:solidFill>
                <a:latin typeface="Trebuchet MS" panose="020B0603020202020204" pitchFamily="34" charset="0"/>
                <a:ea typeface="+mn-ea"/>
              </a:rPr>
              <a:t>s</a:t>
            </a:r>
            <a:r>
              <a:rPr kumimoji="0" lang="en-IN" sz="2000" b="0" i="0" u="none" strike="noStrike" kern="1200" cap="none" spc="-100" normalizeH="0" baseline="0" noProof="0" dirty="0" err="1">
                <a:ln>
                  <a:noFill/>
                </a:ln>
                <a:solidFill>
                  <a:srgbClr val="FF0000"/>
                </a:solidFill>
                <a:effectLst/>
                <a:uLnTx/>
                <a:uFillTx/>
                <a:latin typeface="Trebuchet MS" panose="020B0603020202020204" pitchFamily="34" charset="0"/>
                <a:ea typeface="+mn-ea"/>
                <a:cs typeface="Arial"/>
                <a:sym typeface="Arial"/>
              </a:rPr>
              <a:t>uper</a:t>
            </a:r>
            <a:r>
              <a:rPr kumimoji="0" lang="en-IN" sz="2000" b="0" i="0" u="none" strike="noStrike" kern="1200" cap="none" spc="-100" normalizeH="0" baseline="0" noProof="0" dirty="0">
                <a:ln>
                  <a:noFill/>
                </a:ln>
                <a:solidFill>
                  <a:srgbClr val="FF0000"/>
                </a:solidFill>
                <a:effectLst/>
                <a:uLnTx/>
                <a:uFillTx/>
                <a:latin typeface="Trebuchet MS" panose="020B0603020202020204" pitchFamily="34" charset="0"/>
                <a:ea typeface="+mn-ea"/>
                <a:cs typeface="Arial"/>
                <a:sym typeface="Arial"/>
              </a:rPr>
              <a:t> </a:t>
            </a:r>
            <a:r>
              <a:rPr kumimoji="0" lang="en-IN" sz="2000" b="0" i="0" u="none" strike="noStrike" kern="1200" cap="none" spc="-114" normalizeH="0" baseline="0" noProof="0" dirty="0">
                <a:ln>
                  <a:noFill/>
                </a:ln>
                <a:solidFill>
                  <a:srgbClr val="FF0000"/>
                </a:solidFill>
                <a:effectLst/>
                <a:uLnTx/>
                <a:uFillTx/>
                <a:latin typeface="Trebuchet MS" panose="020B0603020202020204" pitchFamily="34" charset="0"/>
                <a:ea typeface="+mn-ea"/>
                <a:cs typeface="Arial"/>
                <a:sym typeface="Arial"/>
              </a:rPr>
              <a:t>class.</a:t>
            </a:r>
          </a:p>
          <a:p>
            <a:pPr marL="12065" marR="5080" lvl="0" algn="l" defTabSz="914400" rtl="0" eaLnBrk="1" fontAlgn="auto" latinLnBrk="0" hangingPunct="1">
              <a:spcAft>
                <a:spcPts val="0"/>
              </a:spcAft>
              <a:buClrTx/>
              <a:buSzTx/>
              <a:tabLst>
                <a:tab pos="356870" algn="l"/>
                <a:tab pos="357505" algn="l"/>
              </a:tabLst>
              <a:defRPr/>
            </a:pPr>
            <a:endParaRPr kumimoji="0" lang="en-IN" sz="2000" b="0" i="0" u="none" strike="noStrike" kern="1200" cap="none" spc="-114" normalizeH="0" baseline="0" noProof="0" dirty="0">
              <a:ln>
                <a:noFill/>
              </a:ln>
              <a:solidFill>
                <a:srgbClr val="FF0000"/>
              </a:solidFill>
              <a:effectLst/>
              <a:uLnTx/>
              <a:uFillTx/>
              <a:latin typeface="Trebuchet MS" panose="020B0603020202020204" pitchFamily="34" charset="0"/>
              <a:ea typeface="+mn-ea"/>
              <a:cs typeface="Arial"/>
              <a:sym typeface="Arial"/>
            </a:endParaRPr>
          </a:p>
          <a:p>
            <a:pPr marL="12065" marR="5080" lvl="0" algn="l" defTabSz="914400" rtl="0" eaLnBrk="1" fontAlgn="auto" latinLnBrk="0" hangingPunct="1">
              <a:spcAft>
                <a:spcPts val="0"/>
              </a:spcAft>
              <a:buClrTx/>
              <a:buSzTx/>
              <a:tabLst>
                <a:tab pos="356870" algn="l"/>
                <a:tab pos="357505" algn="l"/>
              </a:tabLst>
              <a:defRPr/>
            </a:pPr>
            <a:r>
              <a:rPr lang="en-IN" sz="2000" b="1" kern="1200" spc="-130" dirty="0">
                <a:latin typeface="Trebuchet MS" panose="020B0603020202020204" pitchFamily="34" charset="0"/>
                <a:ea typeface="+mn-ea"/>
              </a:rPr>
              <a:t>Real Time Example: </a:t>
            </a:r>
          </a:p>
          <a:p>
            <a:pPr marL="12065" marR="5080" lvl="0" algn="l" defTabSz="914400" rtl="0" eaLnBrk="1" fontAlgn="auto" latinLnBrk="0" hangingPunct="1">
              <a:lnSpc>
                <a:spcPct val="150000"/>
              </a:lnSpc>
              <a:spcAft>
                <a:spcPts val="0"/>
              </a:spcAft>
              <a:buClrTx/>
              <a:buSzTx/>
              <a:tabLst>
                <a:tab pos="356870" algn="l"/>
                <a:tab pos="357505" algn="l"/>
              </a:tabLst>
              <a:defRPr/>
            </a:pPr>
            <a:r>
              <a:rPr lang="en-IN" sz="2000" kern="1200" spc="-95" dirty="0">
                <a:latin typeface="Trebuchet MS" panose="020B0603020202020204" pitchFamily="34" charset="0"/>
                <a:ea typeface="+mn-ea"/>
              </a:rPr>
              <a:t>An insect could be represented by an Insect superclass in the animal world. Insects all have the same characteristics, such as six legs and an exoskeleton. For grasshoppers and ants, subclasses could be created. They inherently share all bug features because they inherit or are derived from the Insect class.</a:t>
            </a:r>
          </a:p>
        </p:txBody>
      </p:sp>
    </p:spTree>
    <p:extLst>
      <p:ext uri="{BB962C8B-B14F-4D97-AF65-F5344CB8AC3E}">
        <p14:creationId xmlns:p14="http://schemas.microsoft.com/office/powerpoint/2010/main" val="4082528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Inheritance – Example </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pic>
        <p:nvPicPr>
          <p:cNvPr id="3" name="Picture 4">
            <a:extLst>
              <a:ext uri="{FF2B5EF4-FFF2-40B4-BE49-F238E27FC236}">
                <a16:creationId xmlns:a16="http://schemas.microsoft.com/office/drawing/2014/main" id="{9513F06D-6FF0-4AB1-B0F7-39EF62FF8480}"/>
              </a:ext>
            </a:extLst>
          </p:cNvPr>
          <p:cNvPicPr>
            <a:picLocks noChangeAspect="1"/>
          </p:cNvPicPr>
          <p:nvPr/>
        </p:nvPicPr>
        <p:blipFill>
          <a:blip r:embed="rId3"/>
          <a:stretch>
            <a:fillRect/>
          </a:stretch>
        </p:blipFill>
        <p:spPr>
          <a:xfrm>
            <a:off x="1930401" y="2178382"/>
            <a:ext cx="8682182" cy="4074635"/>
          </a:xfrm>
          <a:prstGeom prst="rect">
            <a:avLst/>
          </a:prstGeom>
        </p:spPr>
      </p:pic>
    </p:spTree>
    <p:extLst>
      <p:ext uri="{BB962C8B-B14F-4D97-AF65-F5344CB8AC3E}">
        <p14:creationId xmlns:p14="http://schemas.microsoft.com/office/powerpoint/2010/main" val="3677468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Polymorphism</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object 3">
            <a:extLst>
              <a:ext uri="{FF2B5EF4-FFF2-40B4-BE49-F238E27FC236}">
                <a16:creationId xmlns:a16="http://schemas.microsoft.com/office/drawing/2014/main" id="{DCED7B3B-3276-4791-B4D9-E004EF4EBA21}"/>
              </a:ext>
            </a:extLst>
          </p:cNvPr>
          <p:cNvSpPr txBox="1">
            <a:spLocks/>
          </p:cNvSpPr>
          <p:nvPr/>
        </p:nvSpPr>
        <p:spPr>
          <a:xfrm>
            <a:off x="615404" y="1265394"/>
            <a:ext cx="10551360" cy="4249240"/>
          </a:xfrm>
          <a:prstGeom prst="rect">
            <a:avLst/>
          </a:prstGeom>
        </p:spPr>
        <p:txBody>
          <a:bodyPr vert="horz" wrap="square" lIns="0" tIns="12065" rIns="0" bIns="0" rtlCol="0">
            <a:spAutoFit/>
          </a:bodyPr>
          <a:lstStyle>
            <a:lvl1pPr>
              <a:defRPr sz="2000" b="0" i="0">
                <a:solidFill>
                  <a:srgbClr val="585858"/>
                </a:solidFill>
                <a:latin typeface="Arial"/>
                <a:ea typeface="+mj-ea"/>
                <a:cs typeface="Arial"/>
              </a:defRPr>
            </a:lvl1pPr>
          </a:lstStyle>
          <a:p>
            <a:pPr marL="273050" marR="0" lvl="0" indent="-260350" defTabSz="914400" eaLnBrk="1" fontAlgn="auto" latinLnBrk="0" hangingPunct="1">
              <a:lnSpc>
                <a:spcPct val="150000"/>
              </a:lnSpc>
              <a:spcBef>
                <a:spcPts val="95"/>
              </a:spcBef>
              <a:spcAft>
                <a:spcPts val="0"/>
              </a:spcAft>
              <a:buClrTx/>
              <a:buSzTx/>
              <a:buFont typeface="Arial" panose="020B0604020202020204" pitchFamily="34" charset="0"/>
              <a:buChar char="•"/>
              <a:tabLst/>
              <a:defRPr/>
            </a:pPr>
            <a:r>
              <a:rPr lang="en-IN" sz="2400" spc="-75" dirty="0">
                <a:solidFill>
                  <a:schemeClr val="tx1"/>
                </a:solidFill>
                <a:latin typeface="Trebuchet MS" panose="020B0603020202020204" pitchFamily="34" charset="0"/>
              </a:rPr>
              <a:t>W</a:t>
            </a:r>
            <a:r>
              <a:rPr kumimoji="0" lang="en-IN" sz="2400" b="0" i="0" u="none" strike="noStrike" kern="0" cap="none" spc="-75" normalizeH="0" baseline="0" noProof="0" dirty="0">
                <a:ln>
                  <a:noFill/>
                </a:ln>
                <a:solidFill>
                  <a:schemeClr val="tx1"/>
                </a:solidFill>
                <a:effectLst/>
                <a:uLnTx/>
                <a:uFillTx/>
                <a:latin typeface="Trebuchet MS" panose="020B0603020202020204" pitchFamily="34" charset="0"/>
              </a:rPr>
              <a:t>e </a:t>
            </a:r>
            <a:r>
              <a:rPr kumimoji="0" lang="en-IN" sz="2400" b="0" i="0" u="none" strike="noStrike" kern="0" cap="none" spc="-114" normalizeH="0" baseline="0" noProof="0" dirty="0">
                <a:ln>
                  <a:noFill/>
                </a:ln>
                <a:solidFill>
                  <a:schemeClr val="tx1"/>
                </a:solidFill>
                <a:effectLst/>
                <a:uLnTx/>
                <a:uFillTx/>
                <a:latin typeface="Trebuchet MS" panose="020B0603020202020204" pitchFamily="34" charset="0"/>
              </a:rPr>
              <a:t>can </a:t>
            </a:r>
            <a:r>
              <a:rPr kumimoji="0" lang="en-IN" sz="2400" b="0" i="0" u="none" strike="noStrike" kern="0" cap="none" spc="-50" normalizeH="0" baseline="0" noProof="0" dirty="0">
                <a:ln>
                  <a:noFill/>
                </a:ln>
                <a:solidFill>
                  <a:schemeClr val="tx1"/>
                </a:solidFill>
                <a:effectLst/>
                <a:uLnTx/>
                <a:uFillTx/>
                <a:latin typeface="Trebuchet MS" panose="020B0603020202020204" pitchFamily="34" charset="0"/>
              </a:rPr>
              <a:t>define </a:t>
            </a:r>
            <a:r>
              <a:rPr kumimoji="0" lang="en-IN" sz="2400" b="0" i="0" u="none" strike="noStrike" kern="0" cap="none" spc="-45" normalizeH="0" baseline="0" noProof="0" dirty="0">
                <a:ln>
                  <a:noFill/>
                </a:ln>
                <a:solidFill>
                  <a:schemeClr val="tx1"/>
                </a:solidFill>
                <a:effectLst/>
                <a:uLnTx/>
                <a:uFillTx/>
                <a:latin typeface="Trebuchet MS" panose="020B0603020202020204" pitchFamily="34" charset="0"/>
              </a:rPr>
              <a:t>polymorphism </a:t>
            </a:r>
            <a:r>
              <a:rPr kumimoji="0" lang="en-IN" sz="2400" b="0" i="0" u="none" strike="noStrike" kern="0" cap="none" spc="-165" normalizeH="0" baseline="0" noProof="0" dirty="0">
                <a:ln>
                  <a:noFill/>
                </a:ln>
                <a:solidFill>
                  <a:schemeClr val="tx1"/>
                </a:solidFill>
                <a:effectLst/>
                <a:uLnTx/>
                <a:uFillTx/>
                <a:latin typeface="Trebuchet MS" panose="020B0603020202020204" pitchFamily="34" charset="0"/>
              </a:rPr>
              <a:t>as </a:t>
            </a:r>
            <a:r>
              <a:rPr kumimoji="0" lang="en-IN" sz="2400" b="0" i="0" u="none" strike="noStrike" kern="0" cap="none" spc="-15" normalizeH="0" baseline="0" noProof="0" dirty="0">
                <a:ln>
                  <a:noFill/>
                </a:ln>
                <a:solidFill>
                  <a:schemeClr val="tx1"/>
                </a:solidFill>
                <a:effectLst/>
                <a:uLnTx/>
                <a:uFillTx/>
                <a:latin typeface="Trebuchet MS" panose="020B0603020202020204" pitchFamily="34" charset="0"/>
              </a:rPr>
              <a:t>the ability </a:t>
            </a:r>
            <a:r>
              <a:rPr kumimoji="0" lang="en-IN" sz="2400" b="0" i="0" u="none" strike="noStrike" kern="0" cap="none" spc="5" normalizeH="0" baseline="0" noProof="0" dirty="0">
                <a:ln>
                  <a:noFill/>
                </a:ln>
                <a:solidFill>
                  <a:schemeClr val="tx1"/>
                </a:solidFill>
                <a:effectLst/>
                <a:uLnTx/>
                <a:uFillTx/>
                <a:latin typeface="Trebuchet MS" panose="020B0603020202020204" pitchFamily="34" charset="0"/>
              </a:rPr>
              <a:t>of </a:t>
            </a:r>
            <a:r>
              <a:rPr kumimoji="0" lang="en-IN" sz="2400" b="0" i="0" u="none" strike="noStrike" kern="0" cap="none" spc="-140" normalizeH="0" baseline="0" noProof="0" dirty="0">
                <a:ln>
                  <a:noFill/>
                </a:ln>
                <a:solidFill>
                  <a:schemeClr val="tx1"/>
                </a:solidFill>
                <a:effectLst/>
                <a:uLnTx/>
                <a:uFillTx/>
                <a:latin typeface="Trebuchet MS" panose="020B0603020202020204" pitchFamily="34" charset="0"/>
              </a:rPr>
              <a:t>a </a:t>
            </a:r>
            <a:r>
              <a:rPr kumimoji="0" lang="en-IN" sz="2400" b="0" i="0" u="none" strike="noStrike" kern="0" cap="none" spc="-120" normalizeH="0" baseline="0" noProof="0" dirty="0">
                <a:ln>
                  <a:noFill/>
                </a:ln>
                <a:solidFill>
                  <a:schemeClr val="tx1"/>
                </a:solidFill>
                <a:effectLst/>
                <a:uLnTx/>
                <a:uFillTx/>
                <a:latin typeface="Trebuchet MS" panose="020B0603020202020204" pitchFamily="34" charset="0"/>
              </a:rPr>
              <a:t>message </a:t>
            </a:r>
            <a:r>
              <a:rPr kumimoji="0" lang="en-IN" sz="2400" b="0" i="0" u="none" strike="noStrike" kern="0" cap="none" spc="40" normalizeH="0" baseline="0" noProof="0" dirty="0">
                <a:ln>
                  <a:noFill/>
                </a:ln>
                <a:solidFill>
                  <a:schemeClr val="tx1"/>
                </a:solidFill>
                <a:effectLst/>
                <a:uLnTx/>
                <a:uFillTx/>
                <a:latin typeface="Trebuchet MS" panose="020B0603020202020204" pitchFamily="34" charset="0"/>
              </a:rPr>
              <a:t>to</a:t>
            </a:r>
            <a:r>
              <a:rPr kumimoji="0" lang="en-IN" sz="2400" b="0" i="0" u="none" strike="noStrike" kern="0" cap="none" spc="-400" normalizeH="0" baseline="0" noProof="0" dirty="0">
                <a:ln>
                  <a:noFill/>
                </a:ln>
                <a:solidFill>
                  <a:schemeClr val="tx1"/>
                </a:solidFill>
                <a:effectLst/>
                <a:uLnTx/>
                <a:uFillTx/>
                <a:latin typeface="Trebuchet MS" panose="020B0603020202020204" pitchFamily="34" charset="0"/>
              </a:rPr>
              <a:t> </a:t>
            </a:r>
            <a:r>
              <a:rPr kumimoji="0" lang="en-IN" sz="2400" b="0" i="0" u="none" strike="noStrike" kern="0" cap="none" spc="-125" normalizeH="0" baseline="0" noProof="0" dirty="0">
                <a:ln>
                  <a:noFill/>
                </a:ln>
                <a:solidFill>
                  <a:schemeClr val="tx1"/>
                </a:solidFill>
                <a:effectLst/>
                <a:uLnTx/>
                <a:uFillTx/>
                <a:latin typeface="Trebuchet MS" panose="020B0603020202020204" pitchFamily="34" charset="0"/>
              </a:rPr>
              <a:t>be </a:t>
            </a:r>
            <a:r>
              <a:rPr kumimoji="0" lang="en-IN" sz="2400" b="0" i="0" u="none" strike="noStrike" kern="1200" cap="none" spc="-75" normalizeH="0" baseline="0" noProof="0" dirty="0">
                <a:ln>
                  <a:noFill/>
                </a:ln>
                <a:solidFill>
                  <a:schemeClr val="tx1"/>
                </a:solidFill>
                <a:effectLst/>
                <a:uLnTx/>
                <a:uFillTx/>
                <a:latin typeface="Trebuchet MS" panose="020B0603020202020204" pitchFamily="34" charset="0"/>
                <a:ea typeface="+mn-ea"/>
              </a:rPr>
              <a:t>displayed</a:t>
            </a:r>
            <a:r>
              <a:rPr kumimoji="0" lang="en-IN" sz="2400" b="0" i="0" u="none" strike="noStrike" kern="1200" cap="none" spc="-125" normalizeH="0" baseline="0" noProof="0" dirty="0">
                <a:ln>
                  <a:noFill/>
                </a:ln>
                <a:solidFill>
                  <a:schemeClr val="tx1"/>
                </a:solidFill>
                <a:effectLst/>
                <a:uLnTx/>
                <a:uFillTx/>
                <a:latin typeface="Trebuchet MS" panose="020B0603020202020204" pitchFamily="34" charset="0"/>
                <a:ea typeface="+mn-ea"/>
              </a:rPr>
              <a:t> </a:t>
            </a:r>
            <a:r>
              <a:rPr kumimoji="0" lang="en-IN" sz="2400" b="0" i="0" u="none" strike="noStrike" kern="1200" cap="none" spc="-30" normalizeH="0" baseline="0" noProof="0" dirty="0">
                <a:ln>
                  <a:noFill/>
                </a:ln>
                <a:solidFill>
                  <a:schemeClr val="tx1"/>
                </a:solidFill>
                <a:effectLst/>
                <a:uLnTx/>
                <a:uFillTx/>
                <a:latin typeface="Trebuchet MS" panose="020B0603020202020204" pitchFamily="34" charset="0"/>
                <a:ea typeface="+mn-ea"/>
              </a:rPr>
              <a:t>in</a:t>
            </a:r>
            <a:r>
              <a:rPr kumimoji="0" lang="en-IN" sz="2400" b="0" i="0" u="none" strike="noStrike" kern="1200" cap="none" spc="-150" normalizeH="0" baseline="0" noProof="0" dirty="0">
                <a:ln>
                  <a:noFill/>
                </a:ln>
                <a:solidFill>
                  <a:schemeClr val="tx1"/>
                </a:solidFill>
                <a:effectLst/>
                <a:uLnTx/>
                <a:uFillTx/>
                <a:latin typeface="Trebuchet MS" panose="020B0603020202020204" pitchFamily="34" charset="0"/>
                <a:ea typeface="+mn-ea"/>
              </a:rPr>
              <a:t> </a:t>
            </a:r>
            <a:r>
              <a:rPr kumimoji="0" lang="en-IN" sz="2400" b="0" i="0" u="none" strike="noStrike" kern="1200" cap="none" spc="-50" normalizeH="0" baseline="0" noProof="0" dirty="0">
                <a:ln>
                  <a:noFill/>
                </a:ln>
                <a:solidFill>
                  <a:srgbClr val="FF0000"/>
                </a:solidFill>
                <a:effectLst/>
                <a:uLnTx/>
                <a:uFillTx/>
                <a:latin typeface="Trebuchet MS" panose="020B0603020202020204" pitchFamily="34" charset="0"/>
                <a:ea typeface="+mn-ea"/>
              </a:rPr>
              <a:t>more</a:t>
            </a:r>
            <a:r>
              <a:rPr kumimoji="0" lang="en-IN" sz="2400" b="0" i="0" u="none" strike="noStrike" kern="1200" cap="none" spc="-130" normalizeH="0" baseline="0" noProof="0" dirty="0">
                <a:ln>
                  <a:noFill/>
                </a:ln>
                <a:solidFill>
                  <a:srgbClr val="FF0000"/>
                </a:solidFill>
                <a:effectLst/>
                <a:uLnTx/>
                <a:uFillTx/>
                <a:latin typeface="Trebuchet MS" panose="020B0603020202020204" pitchFamily="34" charset="0"/>
                <a:ea typeface="+mn-ea"/>
              </a:rPr>
              <a:t> </a:t>
            </a:r>
            <a:r>
              <a:rPr kumimoji="0" lang="en-IN" sz="2400" b="0" i="0" u="none" strike="noStrike" kern="1200" cap="none" spc="-30" normalizeH="0" baseline="0" noProof="0" dirty="0">
                <a:ln>
                  <a:noFill/>
                </a:ln>
                <a:solidFill>
                  <a:srgbClr val="FF0000"/>
                </a:solidFill>
                <a:effectLst/>
                <a:uLnTx/>
                <a:uFillTx/>
                <a:latin typeface="Trebuchet MS" panose="020B0603020202020204" pitchFamily="34" charset="0"/>
                <a:ea typeface="+mn-ea"/>
              </a:rPr>
              <a:t>than</a:t>
            </a:r>
            <a:r>
              <a:rPr kumimoji="0" lang="en-IN" sz="2400" b="0" i="0" u="none" strike="noStrike" kern="1200" cap="none" spc="-170" normalizeH="0" baseline="0" noProof="0" dirty="0">
                <a:ln>
                  <a:noFill/>
                </a:ln>
                <a:solidFill>
                  <a:srgbClr val="FF0000"/>
                </a:solidFill>
                <a:effectLst/>
                <a:uLnTx/>
                <a:uFillTx/>
                <a:latin typeface="Trebuchet MS" panose="020B0603020202020204" pitchFamily="34" charset="0"/>
                <a:ea typeface="+mn-ea"/>
              </a:rPr>
              <a:t> </a:t>
            </a:r>
            <a:r>
              <a:rPr kumimoji="0" lang="en-IN" sz="2400" b="0" i="0" u="none" strike="noStrike" kern="1200" cap="none" spc="-85" normalizeH="0" baseline="0" noProof="0" dirty="0">
                <a:ln>
                  <a:noFill/>
                </a:ln>
                <a:solidFill>
                  <a:srgbClr val="FF0000"/>
                </a:solidFill>
                <a:effectLst/>
                <a:uLnTx/>
                <a:uFillTx/>
                <a:latin typeface="Trebuchet MS" panose="020B0603020202020204" pitchFamily="34" charset="0"/>
                <a:ea typeface="+mn-ea"/>
              </a:rPr>
              <a:t>one</a:t>
            </a:r>
            <a:r>
              <a:rPr kumimoji="0" lang="en-IN" sz="2400" b="0" i="0" u="none" strike="noStrike" kern="1200" cap="none" spc="-135" normalizeH="0" baseline="0" noProof="0" dirty="0">
                <a:ln>
                  <a:noFill/>
                </a:ln>
                <a:solidFill>
                  <a:srgbClr val="FF0000"/>
                </a:solidFill>
                <a:effectLst/>
                <a:uLnTx/>
                <a:uFillTx/>
                <a:latin typeface="Trebuchet MS" panose="020B0603020202020204" pitchFamily="34" charset="0"/>
                <a:ea typeface="+mn-ea"/>
              </a:rPr>
              <a:t> </a:t>
            </a:r>
            <a:r>
              <a:rPr kumimoji="0" lang="en-IN" sz="2400" b="0" i="0" u="none" strike="noStrike" kern="1200" cap="none" spc="-5" normalizeH="0" baseline="0" noProof="0" dirty="0">
                <a:ln>
                  <a:noFill/>
                </a:ln>
                <a:solidFill>
                  <a:srgbClr val="FF0000"/>
                </a:solidFill>
                <a:effectLst/>
                <a:uLnTx/>
                <a:uFillTx/>
                <a:latin typeface="Trebuchet MS" panose="020B0603020202020204" pitchFamily="34" charset="0"/>
                <a:ea typeface="+mn-ea"/>
              </a:rPr>
              <a:t>form.</a:t>
            </a:r>
          </a:p>
          <a:p>
            <a:pPr marL="273050" marR="0" lvl="0" indent="-260350" defTabSz="914400" eaLnBrk="1" fontAlgn="auto" latinLnBrk="0" hangingPunct="1">
              <a:lnSpc>
                <a:spcPct val="150000"/>
              </a:lnSpc>
              <a:spcBef>
                <a:spcPts val="95"/>
              </a:spcBef>
              <a:spcAft>
                <a:spcPts val="0"/>
              </a:spcAft>
              <a:buClrTx/>
              <a:buSzTx/>
              <a:buFont typeface="Arial" panose="020B0604020202020204" pitchFamily="34" charset="0"/>
              <a:buChar char="•"/>
              <a:tabLst/>
              <a:defRPr/>
            </a:pPr>
            <a:r>
              <a:rPr lang="en-IN" sz="2400" spc="-114" dirty="0">
                <a:solidFill>
                  <a:schemeClr val="tx1"/>
                </a:solidFill>
                <a:latin typeface="Trebuchet MS" panose="020B0603020202020204" pitchFamily="34" charset="0"/>
              </a:rPr>
              <a:t>Polymorphism in OOPs is inseparable and an essential concept of every object-oriented programming language. </a:t>
            </a:r>
          </a:p>
          <a:p>
            <a:pPr marL="273050" marR="0" lvl="0" indent="-260350" defTabSz="914400" eaLnBrk="1" fontAlgn="auto" latinLnBrk="0" hangingPunct="1">
              <a:lnSpc>
                <a:spcPct val="150000"/>
              </a:lnSpc>
              <a:spcBef>
                <a:spcPts val="95"/>
              </a:spcBef>
              <a:spcAft>
                <a:spcPts val="0"/>
              </a:spcAft>
              <a:buClrTx/>
              <a:buSzTx/>
              <a:buFont typeface="Arial" panose="020B0604020202020204" pitchFamily="34" charset="0"/>
              <a:buChar char="•"/>
              <a:tabLst/>
              <a:defRPr/>
            </a:pPr>
            <a:r>
              <a:rPr lang="en-IN" sz="2400" spc="-114" dirty="0">
                <a:solidFill>
                  <a:schemeClr val="tx1"/>
                </a:solidFill>
                <a:latin typeface="Trebuchet MS" panose="020B0603020202020204" pitchFamily="34" charset="0"/>
              </a:rPr>
              <a:t>An object or reference basically can take multiple forms in different instances.</a:t>
            </a:r>
          </a:p>
          <a:p>
            <a:pPr marL="273050" marR="0" lvl="0" indent="-260350" defTabSz="914400" eaLnBrk="1" fontAlgn="auto" latinLnBrk="0" hangingPunct="1">
              <a:lnSpc>
                <a:spcPct val="150000"/>
              </a:lnSpc>
              <a:spcBef>
                <a:spcPts val="95"/>
              </a:spcBef>
              <a:spcAft>
                <a:spcPts val="0"/>
              </a:spcAft>
              <a:buClrTx/>
              <a:buSzTx/>
              <a:buFont typeface="Arial" panose="020B0604020202020204" pitchFamily="34" charset="0"/>
              <a:buChar char="•"/>
              <a:tabLst/>
              <a:defRPr/>
            </a:pPr>
            <a:r>
              <a:rPr lang="en-IN" sz="2400" spc="-114" dirty="0">
                <a:solidFill>
                  <a:schemeClr val="tx1"/>
                </a:solidFill>
                <a:latin typeface="Trebuchet MS" panose="020B0603020202020204" pitchFamily="34" charset="0"/>
              </a:rPr>
              <a:t> As the word suggests, ‘</a:t>
            </a:r>
            <a:r>
              <a:rPr lang="en-IN" sz="2400" spc="-114" dirty="0">
                <a:solidFill>
                  <a:srgbClr val="0070C0"/>
                </a:solidFill>
                <a:latin typeface="Trebuchet MS" panose="020B0603020202020204" pitchFamily="34" charset="0"/>
              </a:rPr>
              <a:t>poly</a:t>
            </a:r>
            <a:r>
              <a:rPr lang="en-IN" sz="2400" spc="-114" dirty="0">
                <a:solidFill>
                  <a:schemeClr val="tx1"/>
                </a:solidFill>
                <a:latin typeface="Trebuchet MS" panose="020B0603020202020204" pitchFamily="34" charset="0"/>
              </a:rPr>
              <a:t>’ means ‘</a:t>
            </a:r>
            <a:r>
              <a:rPr lang="en-IN" sz="2400" spc="-114" dirty="0">
                <a:solidFill>
                  <a:srgbClr val="0070C0"/>
                </a:solidFill>
                <a:latin typeface="Trebuchet MS" panose="020B0603020202020204" pitchFamily="34" charset="0"/>
              </a:rPr>
              <a:t>many</a:t>
            </a:r>
            <a:r>
              <a:rPr lang="en-IN" sz="2400" spc="-114" dirty="0">
                <a:solidFill>
                  <a:schemeClr val="tx1"/>
                </a:solidFill>
                <a:latin typeface="Trebuchet MS" panose="020B0603020202020204" pitchFamily="34" charset="0"/>
              </a:rPr>
              <a:t>’ and ‘</a:t>
            </a:r>
            <a:r>
              <a:rPr lang="en-IN" sz="2400" spc="-114" dirty="0">
                <a:solidFill>
                  <a:srgbClr val="0070C0"/>
                </a:solidFill>
                <a:latin typeface="Trebuchet MS" panose="020B0603020202020204" pitchFamily="34" charset="0"/>
              </a:rPr>
              <a:t>morph</a:t>
            </a:r>
            <a:r>
              <a:rPr lang="en-IN" sz="2400" spc="-114" dirty="0">
                <a:solidFill>
                  <a:schemeClr val="tx1"/>
                </a:solidFill>
                <a:latin typeface="Trebuchet MS" panose="020B0603020202020204" pitchFamily="34" charset="0"/>
              </a:rPr>
              <a:t>’ points at ‘</a:t>
            </a:r>
            <a:r>
              <a:rPr lang="en-IN" sz="2400" spc="-114" dirty="0">
                <a:solidFill>
                  <a:srgbClr val="0070C0"/>
                </a:solidFill>
                <a:latin typeface="Trebuchet MS" panose="020B0603020202020204" pitchFamily="34" charset="0"/>
              </a:rPr>
              <a:t>forms</a:t>
            </a:r>
            <a:r>
              <a:rPr lang="en-IN" sz="2400" spc="-114" dirty="0">
                <a:solidFill>
                  <a:schemeClr val="tx1"/>
                </a:solidFill>
                <a:latin typeface="Trebuchet MS" panose="020B0603020202020204" pitchFamily="34" charset="0"/>
              </a:rPr>
              <a:t>’; thus, polymorphism as a whole would mean ‘a </a:t>
            </a:r>
            <a:r>
              <a:rPr lang="en-IN" sz="2400" spc="-114" dirty="0">
                <a:solidFill>
                  <a:srgbClr val="FF0000"/>
                </a:solidFill>
                <a:latin typeface="Trebuchet MS" panose="020B0603020202020204" pitchFamily="34" charset="0"/>
              </a:rPr>
              <a:t>property of having many forms</a:t>
            </a:r>
            <a:r>
              <a:rPr lang="en-IN" sz="2400" spc="-114" dirty="0">
                <a:solidFill>
                  <a:schemeClr val="tx1"/>
                </a:solidFill>
                <a:latin typeface="Trebuchet MS" panose="020B0603020202020204" pitchFamily="34" charset="0"/>
              </a:rPr>
              <a:t>.’</a:t>
            </a:r>
          </a:p>
          <a:p>
            <a:pPr marL="12700" marR="0" lvl="0" indent="0" defTabSz="914400" eaLnBrk="1" fontAlgn="auto" latinLnBrk="0" hangingPunct="1">
              <a:lnSpc>
                <a:spcPct val="100000"/>
              </a:lnSpc>
              <a:spcBef>
                <a:spcPts val="95"/>
              </a:spcBef>
              <a:spcAft>
                <a:spcPts val="0"/>
              </a:spcAft>
              <a:buClrTx/>
              <a:buSzTx/>
              <a:buFontTx/>
              <a:buNone/>
              <a:tabLst/>
              <a:defRPr/>
            </a:pPr>
            <a:endParaRPr kumimoji="0" lang="en-IN" sz="2000" b="0" i="0" u="none" strike="noStrike" kern="0" cap="none" spc="-125" normalizeH="0" baseline="0" noProof="0" dirty="0">
              <a:ln>
                <a:noFill/>
              </a:ln>
              <a:solidFill>
                <a:srgbClr val="585858"/>
              </a:solidFill>
              <a:effectLst/>
              <a:uLnTx/>
              <a:uFillTx/>
              <a:latin typeface="Arial"/>
              <a:ea typeface="+mj-ea"/>
              <a:cs typeface="Arial"/>
            </a:endParaRPr>
          </a:p>
        </p:txBody>
      </p:sp>
    </p:spTree>
    <p:extLst>
      <p:ext uri="{BB962C8B-B14F-4D97-AF65-F5344CB8AC3E}">
        <p14:creationId xmlns:p14="http://schemas.microsoft.com/office/powerpoint/2010/main" val="5154235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kern="0" dirty="0">
                <a:solidFill>
                  <a:srgbClr val="FFFFFF"/>
                </a:solidFill>
                <a:latin typeface="Trebuchet MS" panose="020B0603020202020204" pitchFamily="34" charset="0"/>
                <a:cs typeface="Arial"/>
                <a:sym typeface="Arial"/>
              </a:rPr>
              <a:t>Polymorphism – Example </a:t>
            </a:r>
            <a:br>
              <a:rPr lang="en-IN" sz="2800" b="1" kern="0" dirty="0">
                <a:solidFill>
                  <a:srgbClr val="FFFFFF"/>
                </a:solidFill>
                <a:latin typeface="Trebuchet MS" panose="020B0603020202020204" pitchFamily="34" charset="0"/>
                <a:cs typeface="Arial"/>
                <a:sym typeface="Arial"/>
              </a:rPr>
            </a:br>
            <a:br>
              <a:rPr lang="en-IN" sz="2400" b="1" dirty="0">
                <a:solidFill>
                  <a:schemeClr val="bg1"/>
                </a:solidFill>
                <a:latin typeface="Cambria" panose="02040503050406030204" pitchFamily="18" charset="0"/>
              </a:rPr>
            </a:br>
            <a:endParaRPr sz="2400" dirty="0"/>
          </a:p>
        </p:txBody>
      </p:sp>
      <p:sp>
        <p:nvSpPr>
          <p:cNvPr id="3" name="TextBox 6">
            <a:extLst>
              <a:ext uri="{FF2B5EF4-FFF2-40B4-BE49-F238E27FC236}">
                <a16:creationId xmlns:a16="http://schemas.microsoft.com/office/drawing/2014/main" id="{0F135C04-0212-45DC-9352-E29A1CC3A512}"/>
              </a:ext>
            </a:extLst>
          </p:cNvPr>
          <p:cNvSpPr txBox="1"/>
          <p:nvPr/>
        </p:nvSpPr>
        <p:spPr>
          <a:xfrm>
            <a:off x="631815" y="1163445"/>
            <a:ext cx="7948447" cy="400110"/>
          </a:xfrm>
          <a:prstGeom prst="rect">
            <a:avLst/>
          </a:prstGeom>
          <a:noFill/>
        </p:spPr>
        <p:txBody>
          <a:bodyPr wrap="square">
            <a:spAutoFit/>
          </a:bodyPr>
          <a:lstStyle/>
          <a:p>
            <a:pPr marL="355600" marR="0" lvl="0" indent="-34290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IN" sz="2000" i="0" u="none" strike="noStrike" kern="0" cap="none" spc="0" normalizeH="0" baseline="0" noProof="0" dirty="0">
                <a:ln>
                  <a:noFill/>
                </a:ln>
                <a:solidFill>
                  <a:schemeClr val="tx1"/>
                </a:solidFill>
                <a:effectLst/>
                <a:uLnTx/>
                <a:uFillTx/>
                <a:latin typeface="Trebuchet MS" panose="020B0603020202020204" pitchFamily="34" charset="0"/>
                <a:cs typeface="Arial"/>
                <a:sym typeface="Arial"/>
              </a:rPr>
              <a:t>Person may be different form in different places.</a:t>
            </a:r>
          </a:p>
        </p:txBody>
      </p:sp>
      <p:pic>
        <p:nvPicPr>
          <p:cNvPr id="4" name="Picture 1">
            <a:extLst>
              <a:ext uri="{FF2B5EF4-FFF2-40B4-BE49-F238E27FC236}">
                <a16:creationId xmlns:a16="http://schemas.microsoft.com/office/drawing/2014/main" id="{D0118340-B120-4B32-9989-63188226B03C}"/>
              </a:ext>
            </a:extLst>
          </p:cNvPr>
          <p:cNvPicPr>
            <a:picLocks noChangeAspect="1"/>
          </p:cNvPicPr>
          <p:nvPr/>
        </p:nvPicPr>
        <p:blipFill>
          <a:blip r:embed="rId3"/>
          <a:stretch>
            <a:fillRect/>
          </a:stretch>
        </p:blipFill>
        <p:spPr>
          <a:xfrm>
            <a:off x="1062183" y="2313150"/>
            <a:ext cx="9688944" cy="3856741"/>
          </a:xfrm>
          <a:prstGeom prst="rect">
            <a:avLst/>
          </a:prstGeom>
        </p:spPr>
      </p:pic>
    </p:spTree>
    <p:extLst>
      <p:ext uri="{BB962C8B-B14F-4D97-AF65-F5344CB8AC3E}">
        <p14:creationId xmlns:p14="http://schemas.microsoft.com/office/powerpoint/2010/main" val="10960794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kern="0" dirty="0">
                <a:solidFill>
                  <a:srgbClr val="FFFFFF"/>
                </a:solidFill>
                <a:latin typeface="Trebuchet MS" panose="020B0603020202020204" pitchFamily="34" charset="0"/>
                <a:cs typeface="Arial"/>
                <a:sym typeface="Arial"/>
              </a:rPr>
              <a:t>Polymorphism – Types </a:t>
            </a:r>
            <a:br>
              <a:rPr lang="en-IN" sz="2800" b="1" kern="0" dirty="0">
                <a:solidFill>
                  <a:srgbClr val="FFFFFF"/>
                </a:solidFill>
                <a:latin typeface="Trebuchet MS" panose="020B0603020202020204" pitchFamily="34" charset="0"/>
                <a:cs typeface="Arial"/>
                <a:sym typeface="Arial"/>
              </a:rPr>
            </a:b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BC51BF60-64D9-4B4F-ADF7-48D483A36B10}"/>
              </a:ext>
            </a:extLst>
          </p:cNvPr>
          <p:cNvSpPr txBox="1"/>
          <p:nvPr/>
        </p:nvSpPr>
        <p:spPr>
          <a:xfrm>
            <a:off x="857881" y="2298560"/>
            <a:ext cx="9496082" cy="2240485"/>
          </a:xfrm>
          <a:prstGeom prst="rect">
            <a:avLst/>
          </a:prstGeom>
          <a:noFill/>
        </p:spPr>
        <p:txBody>
          <a:bodyPr wrap="square">
            <a:spAutoFit/>
          </a:bodyPr>
          <a:lstStyle/>
          <a:p>
            <a:pPr marL="285750" indent="-285750" algn="l">
              <a:lnSpc>
                <a:spcPct val="150000"/>
              </a:lnSpc>
              <a:buFont typeface="Arial" panose="020B0604020202020204" pitchFamily="34" charset="0"/>
              <a:buChar char="•"/>
            </a:pPr>
            <a:r>
              <a:rPr lang="en-IN" sz="2400" dirty="0">
                <a:solidFill>
                  <a:schemeClr val="tx1"/>
                </a:solidFill>
                <a:latin typeface="Trebuchet MS" panose="020B0603020202020204" pitchFamily="34" charset="0"/>
              </a:rPr>
              <a:t>Polymorphism in C++ is broadly classified into two categories based on their characteristic features.</a:t>
            </a:r>
          </a:p>
          <a:p>
            <a:pPr marL="809625" lvl="1" indent="-357188">
              <a:lnSpc>
                <a:spcPct val="150000"/>
              </a:lnSpc>
              <a:buFont typeface="Wingdings" panose="05000000000000000000" pitchFamily="2" charset="2"/>
              <a:buChar char="ü"/>
            </a:pPr>
            <a:r>
              <a:rPr lang="en-IN" sz="2400" dirty="0">
                <a:solidFill>
                  <a:srgbClr val="0070C0"/>
                </a:solidFill>
                <a:latin typeface="Trebuchet MS" panose="020B0603020202020204" pitchFamily="34" charset="0"/>
              </a:rPr>
              <a:t>Compile-time Polymorphism</a:t>
            </a:r>
          </a:p>
          <a:p>
            <a:pPr marL="809625" lvl="1" indent="-357188">
              <a:lnSpc>
                <a:spcPct val="150000"/>
              </a:lnSpc>
              <a:buFont typeface="Wingdings" panose="05000000000000000000" pitchFamily="2" charset="2"/>
              <a:buChar char="ü"/>
            </a:pPr>
            <a:r>
              <a:rPr lang="en-IN" sz="2400" dirty="0">
                <a:solidFill>
                  <a:srgbClr val="0070C0"/>
                </a:solidFill>
                <a:latin typeface="Trebuchet MS" panose="020B0603020202020204" pitchFamily="34" charset="0"/>
              </a:rPr>
              <a:t>Run-time Polymorphism</a:t>
            </a:r>
          </a:p>
        </p:txBody>
      </p:sp>
    </p:spTree>
    <p:extLst>
      <p:ext uri="{BB962C8B-B14F-4D97-AF65-F5344CB8AC3E}">
        <p14:creationId xmlns:p14="http://schemas.microsoft.com/office/powerpoint/2010/main" val="28605701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kern="0" dirty="0">
                <a:solidFill>
                  <a:srgbClr val="FFFFFF"/>
                </a:solidFill>
                <a:latin typeface="Trebuchet MS" panose="020B0603020202020204" pitchFamily="34" charset="0"/>
                <a:cs typeface="Arial"/>
                <a:sym typeface="Arial"/>
              </a:rPr>
              <a:t>Polymorphism – Types </a:t>
            </a:r>
            <a:br>
              <a:rPr lang="en-IN" sz="2800" b="1" kern="0" dirty="0">
                <a:solidFill>
                  <a:srgbClr val="FFFFFF"/>
                </a:solidFill>
                <a:latin typeface="Trebuchet MS" panose="020B0603020202020204" pitchFamily="34" charset="0"/>
                <a:cs typeface="Arial"/>
                <a:sym typeface="Arial"/>
              </a:rPr>
            </a:b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49C8594E-898E-4DF3-B0F5-D649DAC9DBA1}"/>
              </a:ext>
            </a:extLst>
          </p:cNvPr>
          <p:cNvSpPr txBox="1"/>
          <p:nvPr/>
        </p:nvSpPr>
        <p:spPr>
          <a:xfrm>
            <a:off x="774653" y="1595092"/>
            <a:ext cx="9246802" cy="4401205"/>
          </a:xfrm>
          <a:prstGeom prst="rect">
            <a:avLst/>
          </a:prstGeom>
          <a:noFill/>
        </p:spPr>
        <p:txBody>
          <a:bodyPr wrap="square">
            <a:spAutoFit/>
          </a:bodyPr>
          <a:lstStyle/>
          <a:p>
            <a:pPr lvl="1">
              <a:spcBef>
                <a:spcPts val="600"/>
              </a:spcBef>
              <a:spcAft>
                <a:spcPts val="600"/>
              </a:spcAft>
            </a:pPr>
            <a:r>
              <a:rPr lang="en-IN" sz="2000" dirty="0">
                <a:solidFill>
                  <a:srgbClr val="0070C0"/>
                </a:solidFill>
                <a:latin typeface="Trebuchet MS" panose="020B0603020202020204" pitchFamily="34" charset="0"/>
              </a:rPr>
              <a:t>Compile-time Polymorphism</a:t>
            </a:r>
          </a:p>
          <a:p>
            <a:pPr marL="273050" lvl="1" indent="-273050">
              <a:spcBef>
                <a:spcPts val="600"/>
              </a:spcBef>
              <a:spcAft>
                <a:spcPts val="600"/>
              </a:spcAft>
              <a:buFont typeface="Arial" panose="020B0604020202020204" pitchFamily="34" charset="0"/>
              <a:buChar char="•"/>
            </a:pPr>
            <a:r>
              <a:rPr lang="en-IN" sz="2000" dirty="0">
                <a:solidFill>
                  <a:schemeClr val="tx1"/>
                </a:solidFill>
                <a:latin typeface="Trebuchet MS" panose="020B0603020202020204" pitchFamily="34" charset="0"/>
              </a:rPr>
              <a:t>When the relationship between the definition of different functions and their function calls, is determined during the </a:t>
            </a:r>
            <a:r>
              <a:rPr lang="en-IN" sz="2000" dirty="0">
                <a:solidFill>
                  <a:srgbClr val="FF0000"/>
                </a:solidFill>
                <a:latin typeface="Trebuchet MS" panose="020B0603020202020204" pitchFamily="34" charset="0"/>
              </a:rPr>
              <a:t>compile-time</a:t>
            </a:r>
            <a:r>
              <a:rPr lang="en-IN" sz="2000" dirty="0">
                <a:solidFill>
                  <a:schemeClr val="tx1"/>
                </a:solidFill>
                <a:latin typeface="Trebuchet MS" panose="020B0603020202020204" pitchFamily="34" charset="0"/>
              </a:rPr>
              <a:t>, it is known as compile-time polymorphism. </a:t>
            </a:r>
          </a:p>
          <a:p>
            <a:pPr marL="273050" lvl="1" indent="-273050">
              <a:spcBef>
                <a:spcPts val="600"/>
              </a:spcBef>
              <a:spcAft>
                <a:spcPts val="600"/>
              </a:spcAft>
              <a:buFont typeface="Arial" panose="020B0604020202020204" pitchFamily="34" charset="0"/>
              <a:buChar char="•"/>
            </a:pPr>
            <a:r>
              <a:rPr lang="en-IN" sz="2000" dirty="0">
                <a:solidFill>
                  <a:schemeClr val="tx1"/>
                </a:solidFill>
                <a:latin typeface="Trebuchet MS" panose="020B0603020202020204" pitchFamily="34" charset="0"/>
              </a:rPr>
              <a:t>This type of polymorphism is also known as </a:t>
            </a:r>
            <a:r>
              <a:rPr lang="en-IN" sz="2000" dirty="0">
                <a:solidFill>
                  <a:srgbClr val="FF0000"/>
                </a:solidFill>
                <a:latin typeface="Trebuchet MS" panose="020B0603020202020204" pitchFamily="34" charset="0"/>
              </a:rPr>
              <a:t>static or early binding </a:t>
            </a:r>
            <a:r>
              <a:rPr lang="en-IN" sz="2000" dirty="0">
                <a:solidFill>
                  <a:schemeClr val="tx1"/>
                </a:solidFill>
                <a:latin typeface="Trebuchet MS" panose="020B0603020202020204" pitchFamily="34" charset="0"/>
              </a:rPr>
              <a:t>polymorphism.</a:t>
            </a:r>
          </a:p>
          <a:p>
            <a:pPr marL="285750" indent="-285750">
              <a:spcBef>
                <a:spcPts val="600"/>
              </a:spcBef>
              <a:spcAft>
                <a:spcPts val="600"/>
              </a:spcAft>
              <a:buFont typeface="Arial" panose="020B0604020202020204" pitchFamily="34" charset="0"/>
              <a:buChar char="•"/>
            </a:pPr>
            <a:r>
              <a:rPr lang="en-IN" sz="2000" dirty="0">
                <a:latin typeface="Trebuchet MS" panose="020B0603020202020204" pitchFamily="34" charset="0"/>
              </a:rPr>
              <a:t>All the methods of compile-time polymorphism </a:t>
            </a:r>
            <a:r>
              <a:rPr lang="en-IN" sz="2000" dirty="0">
                <a:solidFill>
                  <a:srgbClr val="FF0000"/>
                </a:solidFill>
                <a:latin typeface="Trebuchet MS" panose="020B0603020202020204" pitchFamily="34" charset="0"/>
              </a:rPr>
              <a:t>get called or invoked </a:t>
            </a:r>
            <a:r>
              <a:rPr lang="en-IN" sz="2000" dirty="0">
                <a:latin typeface="Trebuchet MS" panose="020B0603020202020204" pitchFamily="34" charset="0"/>
              </a:rPr>
              <a:t>during the compile time.</a:t>
            </a:r>
          </a:p>
          <a:p>
            <a:pPr marL="285750" indent="-285750">
              <a:spcBef>
                <a:spcPts val="600"/>
              </a:spcBef>
              <a:spcAft>
                <a:spcPts val="600"/>
              </a:spcAft>
              <a:buFont typeface="Arial" panose="020B0604020202020204" pitchFamily="34" charset="0"/>
              <a:buChar char="•"/>
            </a:pPr>
            <a:r>
              <a:rPr lang="en-IN" sz="2000" dirty="0">
                <a:latin typeface="Trebuchet MS" panose="020B0603020202020204" pitchFamily="34" charset="0"/>
              </a:rPr>
              <a:t>The implementation of compile-time polymorphism is achieved in </a:t>
            </a:r>
            <a:r>
              <a:rPr lang="en-IN" sz="2000" dirty="0">
                <a:solidFill>
                  <a:srgbClr val="FF0000"/>
                </a:solidFill>
                <a:latin typeface="Trebuchet MS" panose="020B0603020202020204" pitchFamily="34" charset="0"/>
              </a:rPr>
              <a:t>two ways</a:t>
            </a:r>
            <a:r>
              <a:rPr lang="en-IN" sz="2000" dirty="0">
                <a:latin typeface="Trebuchet MS" panose="020B0603020202020204" pitchFamily="34" charset="0"/>
              </a:rPr>
              <a:t>:</a:t>
            </a:r>
          </a:p>
          <a:p>
            <a:pPr marL="809625" lvl="1" indent="-357188">
              <a:spcBef>
                <a:spcPts val="600"/>
              </a:spcBef>
              <a:spcAft>
                <a:spcPts val="600"/>
              </a:spcAft>
              <a:buFont typeface="Wingdings" panose="05000000000000000000" pitchFamily="2" charset="2"/>
              <a:buChar char="ü"/>
            </a:pPr>
            <a:r>
              <a:rPr lang="en-IN" sz="2000" dirty="0">
                <a:solidFill>
                  <a:srgbClr val="FF0000"/>
                </a:solidFill>
                <a:latin typeface="Trebuchet MS" panose="020B0603020202020204" pitchFamily="34" charset="0"/>
              </a:rPr>
              <a:t>Function overloading</a:t>
            </a:r>
          </a:p>
          <a:p>
            <a:pPr marL="809625" lvl="1" indent="-357188">
              <a:spcBef>
                <a:spcPts val="600"/>
              </a:spcBef>
              <a:spcAft>
                <a:spcPts val="600"/>
              </a:spcAft>
              <a:buFont typeface="Wingdings" panose="05000000000000000000" pitchFamily="2" charset="2"/>
              <a:buChar char="ü"/>
            </a:pPr>
            <a:r>
              <a:rPr lang="en-IN" sz="2000" dirty="0">
                <a:solidFill>
                  <a:srgbClr val="FF0000"/>
                </a:solidFill>
                <a:latin typeface="Trebuchet MS" panose="020B0603020202020204" pitchFamily="34" charset="0"/>
              </a:rPr>
              <a:t>Operator overloading</a:t>
            </a:r>
          </a:p>
        </p:txBody>
      </p:sp>
    </p:spTree>
    <p:extLst>
      <p:ext uri="{BB962C8B-B14F-4D97-AF65-F5344CB8AC3E}">
        <p14:creationId xmlns:p14="http://schemas.microsoft.com/office/powerpoint/2010/main" val="22403594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kern="0" dirty="0">
                <a:solidFill>
                  <a:srgbClr val="FFFFFF"/>
                </a:solidFill>
                <a:latin typeface="Trebuchet MS" panose="020B0603020202020204" pitchFamily="34" charset="0"/>
                <a:cs typeface="Arial"/>
                <a:sym typeface="Arial"/>
              </a:rPr>
              <a:t>Polymorphism – Types </a:t>
            </a:r>
            <a:br>
              <a:rPr lang="en-IN" sz="2800" b="1" kern="0" dirty="0">
                <a:solidFill>
                  <a:srgbClr val="FFFFFF"/>
                </a:solidFill>
                <a:latin typeface="Trebuchet MS" panose="020B0603020202020204" pitchFamily="34" charset="0"/>
                <a:cs typeface="Arial"/>
                <a:sym typeface="Arial"/>
              </a:rPr>
            </a:b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CEF3AA2A-7C7C-4F1B-9BF4-FB530DC3A3F1}"/>
              </a:ext>
            </a:extLst>
          </p:cNvPr>
          <p:cNvSpPr txBox="1"/>
          <p:nvPr/>
        </p:nvSpPr>
        <p:spPr>
          <a:xfrm>
            <a:off x="1162579" y="1573922"/>
            <a:ext cx="9440765" cy="3785652"/>
          </a:xfrm>
          <a:prstGeom prst="rect">
            <a:avLst/>
          </a:prstGeom>
          <a:noFill/>
        </p:spPr>
        <p:txBody>
          <a:bodyPr wrap="square">
            <a:spAutoFit/>
          </a:bodyPr>
          <a:lstStyle/>
          <a:p>
            <a:pPr marL="84138" lvl="1">
              <a:spcBef>
                <a:spcPts val="600"/>
              </a:spcBef>
              <a:spcAft>
                <a:spcPts val="600"/>
              </a:spcAft>
            </a:pPr>
            <a:r>
              <a:rPr lang="en-IN" sz="2000" dirty="0">
                <a:solidFill>
                  <a:srgbClr val="0070C0"/>
                </a:solidFill>
                <a:latin typeface="Trebuchet MS" panose="020B0603020202020204" pitchFamily="34" charset="0"/>
              </a:rPr>
              <a:t>Runtime Polymorphism</a:t>
            </a:r>
          </a:p>
          <a:p>
            <a:pPr marL="369888" lvl="1" indent="-285750">
              <a:spcBef>
                <a:spcPts val="600"/>
              </a:spcBef>
              <a:spcAft>
                <a:spcPts val="600"/>
              </a:spcAft>
              <a:buFont typeface="Arial" panose="020B0604020202020204" pitchFamily="34" charset="0"/>
              <a:buChar char="•"/>
            </a:pPr>
            <a:r>
              <a:rPr lang="en-IN" sz="2000" dirty="0">
                <a:latin typeface="Trebuchet MS" panose="020B0603020202020204" pitchFamily="34" charset="0"/>
              </a:rPr>
              <a:t>In runtime polymorphism, the compiler resolves the object at </a:t>
            </a:r>
            <a:r>
              <a:rPr lang="en-IN" sz="2000" dirty="0">
                <a:solidFill>
                  <a:srgbClr val="FF0000"/>
                </a:solidFill>
                <a:latin typeface="Trebuchet MS" panose="020B0603020202020204" pitchFamily="34" charset="0"/>
              </a:rPr>
              <a:t>run time </a:t>
            </a:r>
            <a:r>
              <a:rPr lang="en-IN" sz="2000" dirty="0">
                <a:latin typeface="Trebuchet MS" panose="020B0603020202020204" pitchFamily="34" charset="0"/>
              </a:rPr>
              <a:t>and then it decides which function call should be associated with that object. </a:t>
            </a:r>
          </a:p>
          <a:p>
            <a:pPr marL="369888" lvl="1" indent="-285750">
              <a:spcBef>
                <a:spcPts val="600"/>
              </a:spcBef>
              <a:spcAft>
                <a:spcPts val="600"/>
              </a:spcAft>
              <a:buFont typeface="Arial" panose="020B0604020202020204" pitchFamily="34" charset="0"/>
              <a:buChar char="•"/>
            </a:pPr>
            <a:r>
              <a:rPr lang="en-IN" sz="2000" dirty="0">
                <a:latin typeface="Trebuchet MS" panose="020B0603020202020204" pitchFamily="34" charset="0"/>
              </a:rPr>
              <a:t>It is also known as </a:t>
            </a:r>
            <a:r>
              <a:rPr lang="en-IN" sz="2000" dirty="0">
                <a:solidFill>
                  <a:srgbClr val="FF0000"/>
                </a:solidFill>
                <a:latin typeface="Trebuchet MS" panose="020B0603020202020204" pitchFamily="34" charset="0"/>
              </a:rPr>
              <a:t>dynamic or late binding </a:t>
            </a:r>
            <a:r>
              <a:rPr lang="en-IN" sz="2000" dirty="0">
                <a:latin typeface="Trebuchet MS" panose="020B0603020202020204" pitchFamily="34" charset="0"/>
              </a:rPr>
              <a:t>polymorphism. This type of polymorphism is executed through virtual functions and function overriding. </a:t>
            </a:r>
          </a:p>
          <a:p>
            <a:pPr marL="369888" lvl="1" indent="-285750">
              <a:spcBef>
                <a:spcPts val="600"/>
              </a:spcBef>
              <a:spcAft>
                <a:spcPts val="600"/>
              </a:spcAft>
              <a:buFont typeface="Arial" panose="020B0604020202020204" pitchFamily="34" charset="0"/>
              <a:buChar char="•"/>
            </a:pPr>
            <a:r>
              <a:rPr lang="en-IN" sz="2000" dirty="0">
                <a:latin typeface="Trebuchet MS" panose="020B0603020202020204" pitchFamily="34" charset="0"/>
              </a:rPr>
              <a:t>All the methods of runtime polymorphism </a:t>
            </a:r>
            <a:r>
              <a:rPr lang="en-IN" sz="2000" dirty="0">
                <a:solidFill>
                  <a:srgbClr val="FF0000"/>
                </a:solidFill>
                <a:latin typeface="Trebuchet MS" panose="020B0603020202020204" pitchFamily="34" charset="0"/>
              </a:rPr>
              <a:t>get invoked during the run time</a:t>
            </a:r>
            <a:r>
              <a:rPr lang="en-IN" sz="2000" dirty="0">
                <a:latin typeface="Trebuchet MS" panose="020B0603020202020204" pitchFamily="34" charset="0"/>
              </a:rPr>
              <a:t>.</a:t>
            </a:r>
          </a:p>
          <a:p>
            <a:pPr marL="369888" lvl="1" indent="-285750">
              <a:spcBef>
                <a:spcPts val="600"/>
              </a:spcBef>
              <a:spcAft>
                <a:spcPts val="600"/>
              </a:spcAft>
              <a:buFont typeface="Arial" panose="020B0604020202020204" pitchFamily="34" charset="0"/>
              <a:buChar char="•"/>
            </a:pPr>
            <a:r>
              <a:rPr lang="en-IN" sz="2000" dirty="0">
                <a:latin typeface="Trebuchet MS" panose="020B0603020202020204" pitchFamily="34" charset="0"/>
              </a:rPr>
              <a:t>The implementation of run time polymorphism can be achieved in </a:t>
            </a:r>
            <a:r>
              <a:rPr lang="en-IN" sz="2000" dirty="0">
                <a:solidFill>
                  <a:srgbClr val="FF0000"/>
                </a:solidFill>
                <a:latin typeface="Trebuchet MS" panose="020B0603020202020204" pitchFamily="34" charset="0"/>
              </a:rPr>
              <a:t>two ways</a:t>
            </a:r>
            <a:r>
              <a:rPr lang="en-IN" sz="2000" dirty="0">
                <a:latin typeface="Trebuchet MS" panose="020B0603020202020204" pitchFamily="34" charset="0"/>
              </a:rPr>
              <a:t>:</a:t>
            </a:r>
          </a:p>
          <a:p>
            <a:pPr marL="809625" lvl="1" indent="-357188">
              <a:spcBef>
                <a:spcPts val="600"/>
              </a:spcBef>
              <a:spcAft>
                <a:spcPts val="600"/>
              </a:spcAft>
              <a:buFont typeface="Wingdings" panose="05000000000000000000" pitchFamily="2" charset="2"/>
              <a:buChar char="ü"/>
            </a:pPr>
            <a:r>
              <a:rPr lang="en-IN" sz="2000" dirty="0">
                <a:solidFill>
                  <a:srgbClr val="FF0000"/>
                </a:solidFill>
                <a:latin typeface="Trebuchet MS" panose="020B0603020202020204" pitchFamily="34" charset="0"/>
              </a:rPr>
              <a:t>Function overriding</a:t>
            </a:r>
          </a:p>
          <a:p>
            <a:pPr marL="809625" lvl="1" indent="-357188">
              <a:spcBef>
                <a:spcPts val="600"/>
              </a:spcBef>
              <a:spcAft>
                <a:spcPts val="600"/>
              </a:spcAft>
              <a:buFont typeface="Wingdings" panose="05000000000000000000" pitchFamily="2" charset="2"/>
              <a:buChar char="ü"/>
            </a:pPr>
            <a:r>
              <a:rPr lang="en-IN" sz="2000" dirty="0">
                <a:solidFill>
                  <a:srgbClr val="FF0000"/>
                </a:solidFill>
                <a:latin typeface="Trebuchet MS" panose="020B0603020202020204" pitchFamily="34" charset="0"/>
              </a:rPr>
              <a:t>Virtual functions</a:t>
            </a:r>
            <a:endParaRPr lang="en-IN" sz="2000" dirty="0">
              <a:latin typeface="Trebuchet MS" panose="020B0603020202020204" pitchFamily="34" charset="0"/>
            </a:endParaRPr>
          </a:p>
        </p:txBody>
      </p:sp>
    </p:spTree>
    <p:extLst>
      <p:ext uri="{BB962C8B-B14F-4D97-AF65-F5344CB8AC3E}">
        <p14:creationId xmlns:p14="http://schemas.microsoft.com/office/powerpoint/2010/main" val="5732042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Dynamic Binding</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9A5F8823-3370-4F50-B565-FC1E8CF748F9}"/>
              </a:ext>
            </a:extLst>
          </p:cNvPr>
          <p:cNvSpPr txBox="1"/>
          <p:nvPr/>
        </p:nvSpPr>
        <p:spPr>
          <a:xfrm>
            <a:off x="1070915" y="2044005"/>
            <a:ext cx="9126029" cy="3016210"/>
          </a:xfrm>
          <a:prstGeom prst="rect">
            <a:avLst/>
          </a:prstGeom>
          <a:noFill/>
        </p:spPr>
        <p:txBody>
          <a:bodyPr wrap="square">
            <a:spAutoFit/>
          </a:bodyPr>
          <a:lstStyle/>
          <a:p>
            <a:pPr marL="285750" indent="-285750" algn="l">
              <a:spcBef>
                <a:spcPts val="600"/>
              </a:spcBef>
              <a:spcAft>
                <a:spcPts val="600"/>
              </a:spcAft>
              <a:buFont typeface="Arial" panose="020B0604020202020204" pitchFamily="34" charset="0"/>
              <a:buChar char="•"/>
            </a:pPr>
            <a:r>
              <a:rPr lang="en-IN" sz="2000" u="none" strike="noStrike" baseline="0" dirty="0">
                <a:solidFill>
                  <a:srgbClr val="0070C0"/>
                </a:solidFill>
                <a:latin typeface="Trebuchet MS" panose="020B0603020202020204" pitchFamily="34" charset="0"/>
              </a:rPr>
              <a:t>Binding </a:t>
            </a:r>
            <a:r>
              <a:rPr lang="en-IN" sz="2000" u="none" strike="noStrike" baseline="0" dirty="0">
                <a:latin typeface="Trebuchet MS" panose="020B0603020202020204" pitchFamily="34" charset="0"/>
              </a:rPr>
              <a:t>refers to the linking of a procedure call to the code to be executed in response to the call.</a:t>
            </a:r>
          </a:p>
          <a:p>
            <a:pPr marL="285750" indent="-285750" algn="l">
              <a:spcBef>
                <a:spcPts val="600"/>
              </a:spcBef>
              <a:spcAft>
                <a:spcPts val="600"/>
              </a:spcAft>
              <a:buFont typeface="Arial" panose="020B0604020202020204" pitchFamily="34" charset="0"/>
              <a:buChar char="•"/>
            </a:pPr>
            <a:r>
              <a:rPr lang="en-IN" sz="2000" u="none" strike="noStrike" baseline="0" dirty="0">
                <a:latin typeface="Trebuchet MS" panose="020B0603020202020204" pitchFamily="34" charset="0"/>
              </a:rPr>
              <a:t>Dynamic Binding (also known as late binding) means that the </a:t>
            </a:r>
            <a:r>
              <a:rPr lang="en-IN" sz="2000" u="none" strike="noStrike" baseline="0" dirty="0">
                <a:solidFill>
                  <a:srgbClr val="0070C0"/>
                </a:solidFill>
                <a:latin typeface="Trebuchet MS" panose="020B0603020202020204" pitchFamily="34" charset="0"/>
              </a:rPr>
              <a:t>code associated with a given procedure call</a:t>
            </a:r>
            <a:r>
              <a:rPr lang="en-IN" sz="2000" u="none" strike="noStrike" baseline="0" dirty="0">
                <a:latin typeface="Trebuchet MS" panose="020B0603020202020204" pitchFamily="34" charset="0"/>
              </a:rPr>
              <a:t> is not known until the time of the call at run-time. </a:t>
            </a:r>
          </a:p>
          <a:p>
            <a:pPr marL="285750" indent="-285750" algn="l">
              <a:spcBef>
                <a:spcPts val="600"/>
              </a:spcBef>
              <a:spcAft>
                <a:spcPts val="600"/>
              </a:spcAft>
              <a:buFont typeface="Arial" panose="020B0604020202020204" pitchFamily="34" charset="0"/>
              <a:buChar char="•"/>
            </a:pPr>
            <a:r>
              <a:rPr lang="en-IN" sz="2000" u="none" strike="noStrike" baseline="0" dirty="0">
                <a:latin typeface="Trebuchet MS" panose="020B0603020202020204" pitchFamily="34" charset="0"/>
              </a:rPr>
              <a:t>It is associated with </a:t>
            </a:r>
            <a:r>
              <a:rPr lang="en-IN" sz="2000" u="none" strike="noStrike" baseline="0" dirty="0">
                <a:solidFill>
                  <a:srgbClr val="0070C0"/>
                </a:solidFill>
                <a:latin typeface="Trebuchet MS" panose="020B0603020202020204" pitchFamily="34" charset="0"/>
              </a:rPr>
              <a:t>polymorphism and inheritance</a:t>
            </a:r>
            <a:r>
              <a:rPr lang="en-IN" sz="2000" u="none" strike="noStrike" baseline="0" dirty="0">
                <a:latin typeface="Trebuchet MS" panose="020B0603020202020204" pitchFamily="34" charset="0"/>
              </a:rPr>
              <a:t>.</a:t>
            </a:r>
          </a:p>
          <a:p>
            <a:pPr marL="285750" indent="-285750" algn="l">
              <a:spcBef>
                <a:spcPts val="600"/>
              </a:spcBef>
              <a:spcAft>
                <a:spcPts val="600"/>
              </a:spcAft>
              <a:buFont typeface="Arial" panose="020B0604020202020204" pitchFamily="34" charset="0"/>
              <a:buChar char="•"/>
            </a:pPr>
            <a:r>
              <a:rPr lang="en-IN" sz="2000" u="none" strike="noStrike" baseline="0" dirty="0">
                <a:latin typeface="Trebuchet MS" panose="020B0603020202020204" pitchFamily="34" charset="0"/>
              </a:rPr>
              <a:t>A function call associated with a polymorphic reference depends on the dynamic type of that reference.</a:t>
            </a:r>
            <a:endParaRPr lang="en-IN" sz="2000" dirty="0">
              <a:latin typeface="Trebuchet MS" panose="020B0603020202020204" pitchFamily="34" charset="0"/>
            </a:endParaRPr>
          </a:p>
        </p:txBody>
      </p:sp>
    </p:spTree>
    <p:extLst>
      <p:ext uri="{BB962C8B-B14F-4D97-AF65-F5344CB8AC3E}">
        <p14:creationId xmlns:p14="http://schemas.microsoft.com/office/powerpoint/2010/main" val="656669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Message Passing</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object 3">
            <a:extLst>
              <a:ext uri="{FF2B5EF4-FFF2-40B4-BE49-F238E27FC236}">
                <a16:creationId xmlns:a16="http://schemas.microsoft.com/office/drawing/2014/main" id="{93F133C6-B7F5-424F-814F-CCEC4D724BC1}"/>
              </a:ext>
            </a:extLst>
          </p:cNvPr>
          <p:cNvSpPr txBox="1"/>
          <p:nvPr/>
        </p:nvSpPr>
        <p:spPr>
          <a:xfrm>
            <a:off x="617633" y="1348111"/>
            <a:ext cx="9865639" cy="4509568"/>
          </a:xfrm>
          <a:prstGeom prst="rect">
            <a:avLst/>
          </a:prstGeom>
        </p:spPr>
        <p:txBody>
          <a:bodyPr vert="horz" wrap="square" lIns="0" tIns="46355" rIns="0" bIns="0" rtlCol="0">
            <a:spAutoFit/>
          </a:bodyPr>
          <a:lstStyle/>
          <a:p>
            <a:pPr marL="298450" marR="139700" lvl="0" indent="-285750" defTabSz="914400" eaLnBrk="1" fontAlgn="auto" latinLnBrk="0" hangingPunct="1">
              <a:spcBef>
                <a:spcPts val="600"/>
              </a:spcBef>
              <a:spcAft>
                <a:spcPts val="600"/>
              </a:spcAft>
              <a:buClrTx/>
              <a:buSzTx/>
              <a:buFont typeface="Arial" panose="020B0604020202020204" pitchFamily="34" charset="0"/>
              <a:buChar char="•"/>
              <a:tabLst>
                <a:tab pos="195580" algn="l"/>
              </a:tabLst>
              <a:defRPr/>
            </a:pPr>
            <a:r>
              <a:rPr kumimoji="0" sz="2000" b="0" i="0" u="none" strike="noStrike" kern="1200" cap="none" spc="-65" normalizeH="0" baseline="0" noProof="0" dirty="0">
                <a:ln>
                  <a:noFill/>
                </a:ln>
                <a:solidFill>
                  <a:schemeClr val="tx1"/>
                </a:solidFill>
                <a:effectLst/>
                <a:uLnTx/>
                <a:uFillTx/>
                <a:latin typeface="Trebuchet MS" panose="020B0603020202020204" pitchFamily="34" charset="0"/>
                <a:ea typeface="+mn-ea"/>
              </a:rPr>
              <a:t>An</a:t>
            </a:r>
            <a:r>
              <a:rPr kumimoji="0" sz="2000" b="0" i="0" u="none" strike="noStrike" kern="1200" cap="none" spc="-14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35" normalizeH="0" baseline="0" noProof="0" dirty="0">
                <a:ln>
                  <a:noFill/>
                </a:ln>
                <a:solidFill>
                  <a:schemeClr val="tx1"/>
                </a:solidFill>
                <a:effectLst/>
                <a:uLnTx/>
                <a:uFillTx/>
                <a:latin typeface="Trebuchet MS" panose="020B0603020202020204" pitchFamily="34" charset="0"/>
                <a:ea typeface="+mn-ea"/>
              </a:rPr>
              <a:t>object-oriented</a:t>
            </a:r>
            <a:r>
              <a:rPr kumimoji="0" sz="2000" b="0" i="0" u="none" strike="noStrike" kern="1200" cap="none" spc="-6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45" normalizeH="0" baseline="0" noProof="0" dirty="0">
                <a:ln>
                  <a:noFill/>
                </a:ln>
                <a:solidFill>
                  <a:schemeClr val="tx1"/>
                </a:solidFill>
                <a:effectLst/>
                <a:uLnTx/>
                <a:uFillTx/>
                <a:latin typeface="Trebuchet MS" panose="020B0603020202020204" pitchFamily="34" charset="0"/>
                <a:ea typeface="+mn-ea"/>
              </a:rPr>
              <a:t>program</a:t>
            </a:r>
            <a:r>
              <a:rPr kumimoji="0" sz="2000" b="0" i="0" u="none" strike="noStrike" kern="1200" cap="none" spc="-114"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90" normalizeH="0" baseline="0" noProof="0" dirty="0">
                <a:ln>
                  <a:noFill/>
                </a:ln>
                <a:solidFill>
                  <a:schemeClr val="tx1"/>
                </a:solidFill>
                <a:effectLst/>
                <a:uLnTx/>
                <a:uFillTx/>
                <a:latin typeface="Trebuchet MS" panose="020B0603020202020204" pitchFamily="34" charset="0"/>
                <a:ea typeface="+mn-ea"/>
              </a:rPr>
              <a:t>consists</a:t>
            </a:r>
            <a:r>
              <a:rPr kumimoji="0" sz="2000" b="0" i="0" u="none" strike="noStrike" kern="1200" cap="none" spc="-13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10" normalizeH="0" baseline="0" noProof="0" dirty="0">
                <a:ln>
                  <a:noFill/>
                </a:ln>
                <a:solidFill>
                  <a:schemeClr val="tx1"/>
                </a:solidFill>
                <a:effectLst/>
                <a:uLnTx/>
                <a:uFillTx/>
                <a:latin typeface="Trebuchet MS" panose="020B0603020202020204" pitchFamily="34" charset="0"/>
                <a:ea typeface="+mn-ea"/>
              </a:rPr>
              <a:t>of</a:t>
            </a:r>
            <a:r>
              <a:rPr kumimoji="0" sz="2000" b="0" i="0" u="none" strike="noStrike" kern="1200" cap="none" spc="-160"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a </a:t>
            </a:r>
            <a:r>
              <a:rPr kumimoji="0" sz="2000" b="0" i="0" u="none" strike="noStrike" kern="1200" cap="none" spc="-65" normalizeH="0" baseline="0" noProof="0" dirty="0">
                <a:ln>
                  <a:noFill/>
                </a:ln>
                <a:solidFill>
                  <a:srgbClr val="0070C0"/>
                </a:solidFill>
                <a:effectLst/>
                <a:uLnTx/>
                <a:uFillTx/>
                <a:latin typeface="Trebuchet MS" panose="020B0603020202020204" pitchFamily="34" charset="0"/>
                <a:ea typeface="+mn-ea"/>
              </a:rPr>
              <a:t>set</a:t>
            </a:r>
            <a:r>
              <a:rPr kumimoji="0" sz="2000" b="0" i="0" u="none" strike="noStrike" kern="1200" cap="none" spc="-145" normalizeH="0" baseline="0" noProof="0" dirty="0">
                <a:ln>
                  <a:noFill/>
                </a:ln>
                <a:solidFill>
                  <a:srgbClr val="0070C0"/>
                </a:solidFill>
                <a:effectLst/>
                <a:uLnTx/>
                <a:uFillTx/>
                <a:latin typeface="Trebuchet MS" panose="020B0603020202020204" pitchFamily="34" charset="0"/>
                <a:ea typeface="+mn-ea"/>
              </a:rPr>
              <a:t> </a:t>
            </a:r>
            <a:r>
              <a:rPr kumimoji="0" sz="2000" b="0" i="0" u="none" strike="noStrike" kern="1200" cap="none" spc="10" normalizeH="0" baseline="0" noProof="0" dirty="0">
                <a:ln>
                  <a:noFill/>
                </a:ln>
                <a:solidFill>
                  <a:srgbClr val="0070C0"/>
                </a:solidFill>
                <a:effectLst/>
                <a:uLnTx/>
                <a:uFillTx/>
                <a:latin typeface="Trebuchet MS" panose="020B0603020202020204" pitchFamily="34" charset="0"/>
                <a:ea typeface="+mn-ea"/>
              </a:rPr>
              <a:t>of</a:t>
            </a:r>
            <a:r>
              <a:rPr kumimoji="0" sz="2000" b="0" i="0" u="none" strike="noStrike" kern="1200" cap="none" spc="-140" normalizeH="0" baseline="0" noProof="0" dirty="0">
                <a:ln>
                  <a:noFill/>
                </a:ln>
                <a:solidFill>
                  <a:srgbClr val="0070C0"/>
                </a:solidFill>
                <a:effectLst/>
                <a:uLnTx/>
                <a:uFillTx/>
                <a:latin typeface="Trebuchet MS" panose="020B0603020202020204" pitchFamily="34" charset="0"/>
                <a:ea typeface="+mn-ea"/>
              </a:rPr>
              <a:t> </a:t>
            </a:r>
            <a:r>
              <a:rPr kumimoji="0" sz="2000" b="0" i="0" u="none" strike="noStrike" kern="1200" cap="none" spc="-65" normalizeH="0" baseline="0" noProof="0" dirty="0">
                <a:ln>
                  <a:noFill/>
                </a:ln>
                <a:solidFill>
                  <a:srgbClr val="0070C0"/>
                </a:solidFill>
                <a:effectLst/>
                <a:uLnTx/>
                <a:uFillTx/>
                <a:latin typeface="Trebuchet MS" panose="020B0603020202020204" pitchFamily="34" charset="0"/>
                <a:ea typeface="+mn-ea"/>
              </a:rPr>
              <a:t>objects</a:t>
            </a:r>
            <a:r>
              <a:rPr kumimoji="0" sz="2000" b="0" i="0" u="none" strike="noStrike" kern="1200" cap="none" spc="-85" normalizeH="0" baseline="0" noProof="0" dirty="0">
                <a:ln>
                  <a:noFill/>
                </a:ln>
                <a:solidFill>
                  <a:srgbClr val="0070C0"/>
                </a:solidFill>
                <a:effectLst/>
                <a:uLnTx/>
                <a:uFillTx/>
                <a:latin typeface="Trebuchet MS" panose="020B0603020202020204" pitchFamily="34" charset="0"/>
                <a:ea typeface="+mn-ea"/>
              </a:rPr>
              <a:t> </a:t>
            </a:r>
            <a:r>
              <a:rPr kumimoji="0" sz="2000" b="0" i="0" u="none" strike="noStrike" kern="1200" cap="none" spc="-20" normalizeH="0" baseline="0" noProof="0" dirty="0">
                <a:ln>
                  <a:noFill/>
                </a:ln>
                <a:solidFill>
                  <a:srgbClr val="0070C0"/>
                </a:solidFill>
                <a:effectLst/>
                <a:uLnTx/>
                <a:uFillTx/>
                <a:latin typeface="Trebuchet MS" panose="020B0603020202020204" pitchFamily="34" charset="0"/>
                <a:ea typeface="+mn-ea"/>
              </a:rPr>
              <a:t>that </a:t>
            </a:r>
            <a:r>
              <a:rPr kumimoji="0" sz="2000" b="0" i="0" u="none" strike="noStrike" kern="1200" cap="none" spc="-60" normalizeH="0" baseline="0" noProof="0" dirty="0">
                <a:ln>
                  <a:noFill/>
                </a:ln>
                <a:solidFill>
                  <a:srgbClr val="0070C0"/>
                </a:solidFill>
                <a:effectLst/>
                <a:uLnTx/>
                <a:uFillTx/>
                <a:latin typeface="Trebuchet MS" panose="020B0603020202020204" pitchFamily="34" charset="0"/>
                <a:ea typeface="+mn-ea"/>
              </a:rPr>
              <a:t>communicate </a:t>
            </a:r>
            <a:r>
              <a:rPr kumimoji="0" sz="2000" b="0" i="0" u="none" strike="noStrike" kern="1200" cap="none" spc="15" normalizeH="0" baseline="0" noProof="0" dirty="0">
                <a:ln>
                  <a:noFill/>
                </a:ln>
                <a:solidFill>
                  <a:srgbClr val="0070C0"/>
                </a:solidFill>
                <a:effectLst/>
                <a:uLnTx/>
                <a:uFillTx/>
                <a:latin typeface="Trebuchet MS" panose="020B0603020202020204" pitchFamily="34" charset="0"/>
                <a:ea typeface="+mn-ea"/>
              </a:rPr>
              <a:t>with </a:t>
            </a:r>
            <a:r>
              <a:rPr kumimoji="0" sz="2000" b="0" i="0" u="none" strike="noStrike" kern="1200" cap="none" spc="-114" normalizeH="0" baseline="0" noProof="0" dirty="0">
                <a:ln>
                  <a:noFill/>
                </a:ln>
                <a:solidFill>
                  <a:srgbClr val="0070C0"/>
                </a:solidFill>
                <a:effectLst/>
                <a:uLnTx/>
                <a:uFillTx/>
                <a:latin typeface="Trebuchet MS" panose="020B0603020202020204" pitchFamily="34" charset="0"/>
                <a:ea typeface="+mn-ea"/>
              </a:rPr>
              <a:t>each</a:t>
            </a:r>
            <a:r>
              <a:rPr kumimoji="0" sz="2000" b="0" i="0" u="none" strike="noStrike" kern="1200" cap="none" spc="-335" normalizeH="0" baseline="0" noProof="0" dirty="0">
                <a:ln>
                  <a:noFill/>
                </a:ln>
                <a:solidFill>
                  <a:srgbClr val="0070C0"/>
                </a:solidFill>
                <a:effectLst/>
                <a:uLnTx/>
                <a:uFillTx/>
                <a:latin typeface="Trebuchet MS" panose="020B0603020202020204" pitchFamily="34" charset="0"/>
                <a:ea typeface="+mn-ea"/>
              </a:rPr>
              <a:t> </a:t>
            </a:r>
            <a:r>
              <a:rPr kumimoji="0" lang="en-US" sz="2000" b="0" i="0" u="none" strike="noStrike" kern="1200" cap="none" spc="-335" normalizeH="0" baseline="0" noProof="0" dirty="0">
                <a:ln>
                  <a:noFill/>
                </a:ln>
                <a:solidFill>
                  <a:srgbClr val="0070C0"/>
                </a:solidFill>
                <a:effectLst/>
                <a:uLnTx/>
                <a:uFillTx/>
                <a:latin typeface="Trebuchet MS" panose="020B0603020202020204" pitchFamily="34" charset="0"/>
                <a:ea typeface="+mn-ea"/>
              </a:rPr>
              <a:t> </a:t>
            </a:r>
            <a:r>
              <a:rPr kumimoji="0" sz="2000" b="0" i="0" u="none" strike="noStrike" kern="1200" cap="none" spc="-40" normalizeH="0" baseline="0" noProof="0" dirty="0">
                <a:ln>
                  <a:noFill/>
                </a:ln>
                <a:solidFill>
                  <a:srgbClr val="0070C0"/>
                </a:solidFill>
                <a:effectLst/>
                <a:uLnTx/>
                <a:uFillTx/>
                <a:latin typeface="Trebuchet MS" panose="020B0603020202020204" pitchFamily="34" charset="0"/>
                <a:ea typeface="+mn-ea"/>
              </a:rPr>
              <a:t>other.</a:t>
            </a:r>
            <a:endParaRPr kumimoji="0" lang="en-US" sz="2000" b="0" i="0" u="none" strike="noStrike" kern="1200" cap="none" spc="-40" normalizeH="0" baseline="0" noProof="0" dirty="0">
              <a:ln>
                <a:noFill/>
              </a:ln>
              <a:solidFill>
                <a:srgbClr val="0070C0"/>
              </a:solidFill>
              <a:effectLst/>
              <a:uLnTx/>
              <a:uFillTx/>
              <a:latin typeface="Trebuchet MS" panose="020B0603020202020204" pitchFamily="34" charset="0"/>
              <a:ea typeface="+mn-ea"/>
            </a:endParaRPr>
          </a:p>
          <a:p>
            <a:pPr marL="298450" marR="139700" lvl="0" indent="-285750" defTabSz="914400" eaLnBrk="1" fontAlgn="auto" latinLnBrk="0" hangingPunct="1">
              <a:spcBef>
                <a:spcPts val="600"/>
              </a:spcBef>
              <a:spcAft>
                <a:spcPts val="600"/>
              </a:spcAft>
              <a:buClrTx/>
              <a:buSzTx/>
              <a:buFont typeface="Arial" panose="020B0604020202020204" pitchFamily="34" charset="0"/>
              <a:buChar char="•"/>
              <a:tabLst>
                <a:tab pos="195580" algn="l"/>
              </a:tabLst>
              <a:defRPr/>
            </a:pPr>
            <a:r>
              <a:rPr lang="en-IN" sz="2000" kern="1200" spc="-35" dirty="0">
                <a:solidFill>
                  <a:schemeClr val="tx1"/>
                </a:solidFill>
                <a:latin typeface="Trebuchet MS" panose="020B0603020202020204" pitchFamily="34" charset="0"/>
                <a:ea typeface="+mn-ea"/>
              </a:rPr>
              <a:t>A message is a form of request that is made to an object to perform a function specific to the object to which the request was made.</a:t>
            </a:r>
          </a:p>
          <a:p>
            <a:pPr marL="298450" marR="139700" lvl="0" indent="-285750" defTabSz="914400" eaLnBrk="1" fontAlgn="auto" latinLnBrk="0" hangingPunct="1">
              <a:spcBef>
                <a:spcPts val="600"/>
              </a:spcBef>
              <a:spcAft>
                <a:spcPts val="600"/>
              </a:spcAft>
              <a:buClrTx/>
              <a:buSzTx/>
              <a:buFont typeface="Arial" panose="020B0604020202020204" pitchFamily="34" charset="0"/>
              <a:buChar char="•"/>
              <a:tabLst>
                <a:tab pos="195580" algn="l"/>
              </a:tabLst>
              <a:defRPr/>
            </a:pPr>
            <a:r>
              <a:rPr lang="en-IN" sz="2000" kern="1200" spc="-35" dirty="0">
                <a:solidFill>
                  <a:schemeClr val="tx1"/>
                </a:solidFill>
                <a:latin typeface="Trebuchet MS" panose="020B0603020202020204" pitchFamily="34" charset="0"/>
                <a:ea typeface="+mn-ea"/>
              </a:rPr>
              <a:t>A message is a form of communication between objects that make an object perform a task for the system.</a:t>
            </a:r>
          </a:p>
          <a:p>
            <a:pPr marL="298450" marR="139700" lvl="0" indent="-285750" defTabSz="914400" eaLnBrk="1" fontAlgn="auto" latinLnBrk="0" hangingPunct="1">
              <a:spcBef>
                <a:spcPts val="600"/>
              </a:spcBef>
              <a:spcAft>
                <a:spcPts val="600"/>
              </a:spcAft>
              <a:buClrTx/>
              <a:buSzTx/>
              <a:buFont typeface="Arial" panose="020B0604020202020204" pitchFamily="34" charset="0"/>
              <a:buChar char="•"/>
              <a:tabLst>
                <a:tab pos="195580" algn="l"/>
              </a:tabLst>
              <a:defRPr/>
            </a:pPr>
            <a:r>
              <a:rPr lang="en-IN" sz="2000" kern="1200" spc="-35" dirty="0">
                <a:solidFill>
                  <a:schemeClr val="tx1"/>
                </a:solidFill>
                <a:latin typeface="Trebuchet MS" panose="020B0603020202020204" pitchFamily="34" charset="0"/>
                <a:ea typeface="+mn-ea"/>
              </a:rPr>
              <a:t>Message passing in C++ is the method of communication between two or more objects.</a:t>
            </a:r>
          </a:p>
          <a:p>
            <a:pPr marL="298450" marR="139700" lvl="0" indent="-285750" defTabSz="914400" eaLnBrk="1" fontAlgn="auto" latinLnBrk="0" hangingPunct="1">
              <a:spcBef>
                <a:spcPts val="600"/>
              </a:spcBef>
              <a:spcAft>
                <a:spcPts val="600"/>
              </a:spcAft>
              <a:buClrTx/>
              <a:buSzTx/>
              <a:buFont typeface="Arial" panose="020B0604020202020204" pitchFamily="34" charset="0"/>
              <a:buChar char="•"/>
              <a:tabLst>
                <a:tab pos="195580" algn="l"/>
              </a:tabLst>
              <a:defRPr/>
            </a:pPr>
            <a:r>
              <a:rPr lang="en-IN" sz="2000" kern="1200" spc="-35" dirty="0">
                <a:solidFill>
                  <a:schemeClr val="tx1"/>
                </a:solidFill>
                <a:latin typeface="Trebuchet MS" panose="020B0603020202020204" pitchFamily="34" charset="0"/>
                <a:ea typeface="+mn-ea"/>
              </a:rPr>
              <a:t>A message is used to communicate with other objects by invoking the function of other objects.</a:t>
            </a:r>
          </a:p>
          <a:p>
            <a:pPr marL="298450" marR="139700" lvl="0" indent="-285750" defTabSz="914400" eaLnBrk="1" fontAlgn="auto" latinLnBrk="0" hangingPunct="1">
              <a:spcBef>
                <a:spcPts val="600"/>
              </a:spcBef>
              <a:spcAft>
                <a:spcPts val="600"/>
              </a:spcAft>
              <a:buClrTx/>
              <a:buSzTx/>
              <a:buFont typeface="Arial" panose="020B0604020202020204" pitchFamily="34" charset="0"/>
              <a:buChar char="•"/>
              <a:tabLst>
                <a:tab pos="195580" algn="l"/>
              </a:tabLst>
              <a:defRPr/>
            </a:pPr>
            <a:r>
              <a:rPr lang="en-IN" sz="2000" kern="1200" spc="-35" dirty="0">
                <a:solidFill>
                  <a:schemeClr val="tx1"/>
                </a:solidFill>
                <a:latin typeface="Trebuchet MS" panose="020B0603020202020204" pitchFamily="34" charset="0"/>
                <a:ea typeface="+mn-ea"/>
              </a:rPr>
              <a:t>A real-life entity </a:t>
            </a:r>
            <a:r>
              <a:rPr lang="en-IN" sz="2000" kern="1200" spc="-35" dirty="0" err="1">
                <a:solidFill>
                  <a:schemeClr val="tx1"/>
                </a:solidFill>
                <a:latin typeface="Trebuchet MS" panose="020B0603020202020204" pitchFamily="34" charset="0"/>
                <a:ea typeface="+mn-ea"/>
              </a:rPr>
              <a:t>modeled</a:t>
            </a:r>
            <a:r>
              <a:rPr lang="en-IN" sz="2000" kern="1200" spc="-35" dirty="0">
                <a:solidFill>
                  <a:schemeClr val="tx1"/>
                </a:solidFill>
                <a:latin typeface="Trebuchet MS" panose="020B0603020202020204" pitchFamily="34" charset="0"/>
                <a:ea typeface="+mn-ea"/>
              </a:rPr>
              <a:t> using the oops concept in C++ provides an example of message passing.</a:t>
            </a:r>
            <a:endParaRPr sz="2000" kern="1200" spc="-35" dirty="0">
              <a:solidFill>
                <a:schemeClr val="tx1"/>
              </a:solidFill>
              <a:latin typeface="Trebuchet MS" panose="020B0603020202020204" pitchFamily="34" charset="0"/>
              <a:ea typeface="+mn-ea"/>
            </a:endParaRPr>
          </a:p>
        </p:txBody>
      </p:sp>
    </p:spTree>
    <p:extLst>
      <p:ext uri="{BB962C8B-B14F-4D97-AF65-F5344CB8AC3E}">
        <p14:creationId xmlns:p14="http://schemas.microsoft.com/office/powerpoint/2010/main" val="24524354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Benefits of OOPs</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CD51FD11-74C0-4721-81D8-370CA8CCA31A}"/>
              </a:ext>
            </a:extLst>
          </p:cNvPr>
          <p:cNvSpPr txBox="1"/>
          <p:nvPr/>
        </p:nvSpPr>
        <p:spPr>
          <a:xfrm>
            <a:off x="913763" y="1538514"/>
            <a:ext cx="9366309" cy="372916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000" dirty="0">
                <a:latin typeface="Trebuchet MS" panose="020B0603020202020204" pitchFamily="34" charset="0"/>
              </a:rPr>
              <a:t>Through inheritance, we can eliminate redundant code and extend the use of existing classes.</a:t>
            </a:r>
          </a:p>
          <a:p>
            <a:pPr marL="285750" indent="-285750">
              <a:lnSpc>
                <a:spcPct val="150000"/>
              </a:lnSpc>
              <a:buFont typeface="Arial" panose="020B0604020202020204" pitchFamily="34" charset="0"/>
              <a:buChar char="•"/>
            </a:pPr>
            <a:r>
              <a:rPr lang="en-IN" sz="2000" dirty="0">
                <a:latin typeface="Trebuchet MS" panose="020B0603020202020204" pitchFamily="34" charset="0"/>
              </a:rPr>
              <a:t>The principle of data hiding helps the programmer to build secure programs that cannot be invaded by code on other parts of the program.</a:t>
            </a:r>
          </a:p>
          <a:p>
            <a:pPr marL="285750" indent="-285750">
              <a:lnSpc>
                <a:spcPct val="150000"/>
              </a:lnSpc>
              <a:buFont typeface="Arial" panose="020B0604020202020204" pitchFamily="34" charset="0"/>
              <a:buChar char="•"/>
            </a:pPr>
            <a:r>
              <a:rPr lang="en-IN" sz="2000" dirty="0">
                <a:latin typeface="Trebuchet MS" panose="020B0603020202020204" pitchFamily="34" charset="0"/>
              </a:rPr>
              <a:t>It is possible to have multiple instances of on object to co-exist without any interference.</a:t>
            </a:r>
          </a:p>
          <a:p>
            <a:pPr marL="285750" indent="-285750">
              <a:lnSpc>
                <a:spcPct val="150000"/>
              </a:lnSpc>
              <a:buFont typeface="Arial" panose="020B0604020202020204" pitchFamily="34" charset="0"/>
              <a:buChar char="•"/>
            </a:pPr>
            <a:r>
              <a:rPr lang="en-IN" sz="2000" dirty="0">
                <a:latin typeface="Trebuchet MS" panose="020B0603020202020204" pitchFamily="34" charset="0"/>
              </a:rPr>
              <a:t>It is possible to map objects in the problem domain to those objects in the program.</a:t>
            </a:r>
          </a:p>
        </p:txBody>
      </p:sp>
    </p:spTree>
    <p:extLst>
      <p:ext uri="{BB962C8B-B14F-4D97-AF65-F5344CB8AC3E}">
        <p14:creationId xmlns:p14="http://schemas.microsoft.com/office/powerpoint/2010/main" val="29050269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Benefits of OOPs</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7A305EE8-D22D-4DB7-9154-D5CDA18AC211}"/>
              </a:ext>
            </a:extLst>
          </p:cNvPr>
          <p:cNvSpPr txBox="1"/>
          <p:nvPr/>
        </p:nvSpPr>
        <p:spPr>
          <a:xfrm>
            <a:off x="1456895" y="2254533"/>
            <a:ext cx="9284995" cy="276530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000" dirty="0">
                <a:latin typeface="Trebuchet MS" panose="020B0603020202020204" pitchFamily="34" charset="0"/>
              </a:rPr>
              <a:t>It is easy to partition the work in a project based on objects.</a:t>
            </a:r>
          </a:p>
          <a:p>
            <a:pPr marL="285750" indent="-285750">
              <a:lnSpc>
                <a:spcPct val="150000"/>
              </a:lnSpc>
              <a:buFont typeface="Arial" panose="020B0604020202020204" pitchFamily="34" charset="0"/>
              <a:buChar char="•"/>
            </a:pPr>
            <a:r>
              <a:rPr lang="en-IN" sz="2000" dirty="0">
                <a:latin typeface="Trebuchet MS" panose="020B0603020202020204" pitchFamily="34" charset="0"/>
              </a:rPr>
              <a:t>Object-oriented systems can be easily upgraded from small to large systems.</a:t>
            </a:r>
          </a:p>
          <a:p>
            <a:pPr marL="285750" indent="-285750">
              <a:lnSpc>
                <a:spcPct val="150000"/>
              </a:lnSpc>
              <a:buFont typeface="Arial" panose="020B0604020202020204" pitchFamily="34" charset="0"/>
              <a:buChar char="•"/>
            </a:pPr>
            <a:r>
              <a:rPr lang="en-IN" sz="2000" dirty="0">
                <a:latin typeface="Trebuchet MS" panose="020B0603020202020204" pitchFamily="34" charset="0"/>
              </a:rPr>
              <a:t>Message passing techniques for communication between objects makes the interface descriptions with external systems much simpler.</a:t>
            </a:r>
          </a:p>
          <a:p>
            <a:pPr marL="285750" indent="-285750">
              <a:lnSpc>
                <a:spcPct val="150000"/>
              </a:lnSpc>
              <a:buFont typeface="Arial" panose="020B0604020202020204" pitchFamily="34" charset="0"/>
              <a:buChar char="•"/>
            </a:pPr>
            <a:r>
              <a:rPr lang="en-IN" sz="2000" dirty="0">
                <a:latin typeface="Trebuchet MS" panose="020B0603020202020204" pitchFamily="34" charset="0"/>
              </a:rPr>
              <a:t>Software complexity can be easily managed.</a:t>
            </a:r>
          </a:p>
          <a:p>
            <a:pPr marL="285750" indent="-285750">
              <a:lnSpc>
                <a:spcPct val="150000"/>
              </a:lnSpc>
              <a:buFont typeface="Arial" panose="020B0604020202020204" pitchFamily="34" charset="0"/>
              <a:buChar char="•"/>
            </a:pPr>
            <a:endParaRPr lang="en-IN" sz="1800" dirty="0">
              <a:latin typeface="Trebuchet MS" panose="020B0603020202020204" pitchFamily="34" charset="0"/>
            </a:endParaRPr>
          </a:p>
        </p:txBody>
      </p:sp>
    </p:spTree>
    <p:extLst>
      <p:ext uri="{BB962C8B-B14F-4D97-AF65-F5344CB8AC3E}">
        <p14:creationId xmlns:p14="http://schemas.microsoft.com/office/powerpoint/2010/main" val="32581114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Access Modifiers</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2848CB63-5A7D-4FBE-994A-AAD5E4FE6DB9}"/>
              </a:ext>
            </a:extLst>
          </p:cNvPr>
          <p:cNvSpPr txBox="1"/>
          <p:nvPr/>
        </p:nvSpPr>
        <p:spPr>
          <a:xfrm>
            <a:off x="1284690" y="1866609"/>
            <a:ext cx="9392546" cy="3729162"/>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000" dirty="0">
                <a:solidFill>
                  <a:srgbClr val="0070C0"/>
                </a:solidFill>
                <a:latin typeface="Trebuchet MS" panose="020B0603020202020204" pitchFamily="34" charset="0"/>
              </a:rPr>
              <a:t>Data hiding </a:t>
            </a:r>
            <a:r>
              <a:rPr lang="en-IN" sz="2000" dirty="0">
                <a:latin typeface="Trebuchet MS" panose="020B0603020202020204" pitchFamily="34" charset="0"/>
              </a:rPr>
              <a:t>is an important concept of Object-Oriented Programming, implemented with these ‘</a:t>
            </a:r>
            <a:r>
              <a:rPr lang="en-IN" sz="2000" dirty="0">
                <a:solidFill>
                  <a:schemeClr val="tx1"/>
                </a:solidFill>
                <a:latin typeface="Trebuchet MS" panose="020B0603020202020204" pitchFamily="34" charset="0"/>
              </a:rPr>
              <a:t>Access modifiers’</a:t>
            </a:r>
            <a:r>
              <a:rPr lang="en-IN" sz="2000" dirty="0">
                <a:latin typeface="Trebuchet MS" panose="020B0603020202020204" pitchFamily="34" charset="0"/>
              </a:rPr>
              <a:t> help. It is also known as </a:t>
            </a:r>
            <a:r>
              <a:rPr lang="en-IN" sz="2000" dirty="0">
                <a:solidFill>
                  <a:srgbClr val="FF0000"/>
                </a:solidFill>
                <a:latin typeface="Trebuchet MS" panose="020B0603020202020204" pitchFamily="34" charset="0"/>
              </a:rPr>
              <a:t>Access Specifier</a:t>
            </a:r>
            <a:r>
              <a:rPr lang="en-IN" sz="2000" dirty="0">
                <a:latin typeface="Trebuchet MS" panose="020B0603020202020204" pitchFamily="34" charset="0"/>
              </a:rPr>
              <a:t>. </a:t>
            </a:r>
          </a:p>
          <a:p>
            <a:pPr marL="285750" indent="-285750">
              <a:lnSpc>
                <a:spcPct val="150000"/>
              </a:lnSpc>
              <a:buFont typeface="Arial" panose="020B0604020202020204" pitchFamily="34" charset="0"/>
              <a:buChar char="•"/>
            </a:pPr>
            <a:r>
              <a:rPr lang="en-IN" sz="2000" dirty="0">
                <a:latin typeface="Trebuchet MS" panose="020B0603020202020204" pitchFamily="34" charset="0"/>
              </a:rPr>
              <a:t>Access Specifiers in a class decide the accessibility of the class members, like variables or methods in other classes. </a:t>
            </a:r>
          </a:p>
          <a:p>
            <a:pPr marL="285750" indent="-285750">
              <a:lnSpc>
                <a:spcPct val="150000"/>
              </a:lnSpc>
              <a:buFont typeface="Arial" panose="020B0604020202020204" pitchFamily="34" charset="0"/>
              <a:buChar char="•"/>
            </a:pPr>
            <a:r>
              <a:rPr lang="en-IN" sz="2000" dirty="0">
                <a:latin typeface="Trebuchet MS" panose="020B0603020202020204" pitchFamily="34" charset="0"/>
              </a:rPr>
              <a:t>That is, it will decide whether the members or methods will get directly accessed by the blocks present outside the class or not, depending on the type of Access Specifier. </a:t>
            </a:r>
          </a:p>
        </p:txBody>
      </p:sp>
    </p:spTree>
    <p:extLst>
      <p:ext uri="{BB962C8B-B14F-4D97-AF65-F5344CB8AC3E}">
        <p14:creationId xmlns:p14="http://schemas.microsoft.com/office/powerpoint/2010/main" val="24771144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Access Modifiers</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object 4">
            <a:extLst>
              <a:ext uri="{FF2B5EF4-FFF2-40B4-BE49-F238E27FC236}">
                <a16:creationId xmlns:a16="http://schemas.microsoft.com/office/drawing/2014/main" id="{F46E0217-8168-440B-9A95-C2D75B2470F7}"/>
              </a:ext>
            </a:extLst>
          </p:cNvPr>
          <p:cNvSpPr txBox="1"/>
          <p:nvPr/>
        </p:nvSpPr>
        <p:spPr>
          <a:xfrm>
            <a:off x="1199559" y="1495174"/>
            <a:ext cx="9126696" cy="4753224"/>
          </a:xfrm>
          <a:prstGeom prst="rect">
            <a:avLst/>
          </a:prstGeom>
        </p:spPr>
        <p:txBody>
          <a:bodyPr vert="horz" wrap="square" lIns="0" tIns="135255" rIns="0" bIns="0" rtlCol="0">
            <a:spAutoFit/>
          </a:bodyPr>
          <a:lstStyle/>
          <a:p>
            <a:pPr marL="12700">
              <a:spcBef>
                <a:spcPts val="600"/>
              </a:spcBef>
              <a:spcAft>
                <a:spcPts val="600"/>
              </a:spcAft>
              <a:buClr>
                <a:srgbClr val="40B9D2"/>
              </a:buClr>
              <a:tabLst>
                <a:tab pos="195580" algn="l"/>
              </a:tabLst>
            </a:pPr>
            <a:r>
              <a:rPr kumimoji="0" lang="en-IN" sz="2000" b="0" i="0" u="none" strike="noStrike" kern="0" cap="none" spc="-90" normalizeH="0" baseline="0" noProof="0" dirty="0">
                <a:ln>
                  <a:noFill/>
                </a:ln>
                <a:solidFill>
                  <a:schemeClr val="tx1"/>
                </a:solidFill>
                <a:effectLst/>
                <a:uLnTx/>
                <a:uFillTx/>
                <a:latin typeface="Trebuchet MS" panose="020B0603020202020204" pitchFamily="34" charset="0"/>
                <a:ea typeface="+mj-ea"/>
              </a:rPr>
              <a:t>There</a:t>
            </a:r>
            <a:r>
              <a:rPr kumimoji="0" lang="en-IN" sz="2000" b="0" i="0" u="none" strike="noStrike" kern="0" cap="none" spc="-105" normalizeH="0" baseline="0" noProof="0" dirty="0">
                <a:ln>
                  <a:noFill/>
                </a:ln>
                <a:solidFill>
                  <a:schemeClr val="tx1"/>
                </a:solidFill>
                <a:effectLst/>
                <a:uLnTx/>
                <a:uFillTx/>
                <a:latin typeface="Trebuchet MS" panose="020B0603020202020204" pitchFamily="34" charset="0"/>
                <a:ea typeface="+mj-ea"/>
              </a:rPr>
              <a:t> </a:t>
            </a:r>
            <a:r>
              <a:rPr kumimoji="0" lang="en-IN" sz="2000" b="0" i="0" u="none" strike="noStrike" kern="0" cap="none" spc="-85" normalizeH="0" baseline="0" noProof="0" dirty="0">
                <a:ln>
                  <a:noFill/>
                </a:ln>
                <a:solidFill>
                  <a:schemeClr val="tx1"/>
                </a:solidFill>
                <a:effectLst/>
                <a:uLnTx/>
                <a:uFillTx/>
                <a:latin typeface="Trebuchet MS" panose="020B0603020202020204" pitchFamily="34" charset="0"/>
                <a:ea typeface="+mj-ea"/>
              </a:rPr>
              <a:t>are</a:t>
            </a:r>
            <a:r>
              <a:rPr kumimoji="0" lang="en-IN" sz="2000" b="0" i="0" u="none" strike="noStrike" kern="0" cap="none" spc="-155" normalizeH="0" baseline="0" noProof="0" dirty="0">
                <a:ln>
                  <a:noFill/>
                </a:ln>
                <a:solidFill>
                  <a:schemeClr val="tx1"/>
                </a:solidFill>
                <a:effectLst/>
                <a:uLnTx/>
                <a:uFillTx/>
                <a:latin typeface="Trebuchet MS" panose="020B0603020202020204" pitchFamily="34" charset="0"/>
                <a:ea typeface="+mj-ea"/>
              </a:rPr>
              <a:t> </a:t>
            </a:r>
            <a:r>
              <a:rPr kumimoji="0" lang="en-IN" sz="2000" b="0" i="0" u="none" strike="noStrike" kern="0" cap="none" spc="-210" normalizeH="0" baseline="0" noProof="0" dirty="0">
                <a:ln>
                  <a:noFill/>
                </a:ln>
                <a:solidFill>
                  <a:schemeClr val="tx1"/>
                </a:solidFill>
                <a:effectLst/>
                <a:uLnTx/>
                <a:uFillTx/>
                <a:latin typeface="Trebuchet MS" panose="020B0603020202020204" pitchFamily="34" charset="0"/>
                <a:ea typeface="+mj-ea"/>
              </a:rPr>
              <a:t>3</a:t>
            </a:r>
            <a:r>
              <a:rPr kumimoji="0" lang="en-IN" sz="2000" b="0" i="0" u="none" strike="noStrike" kern="0" cap="none" spc="-135" normalizeH="0" baseline="0" noProof="0" dirty="0">
                <a:ln>
                  <a:noFill/>
                </a:ln>
                <a:solidFill>
                  <a:schemeClr val="tx1"/>
                </a:solidFill>
                <a:effectLst/>
                <a:uLnTx/>
                <a:uFillTx/>
                <a:latin typeface="Trebuchet MS" panose="020B0603020202020204" pitchFamily="34" charset="0"/>
                <a:ea typeface="+mj-ea"/>
              </a:rPr>
              <a:t> </a:t>
            </a:r>
            <a:r>
              <a:rPr kumimoji="0" lang="en-IN" sz="2000" b="0" i="0" u="none" strike="noStrike" kern="0" cap="none" spc="-60" normalizeH="0" baseline="0" noProof="0" dirty="0">
                <a:ln>
                  <a:noFill/>
                </a:ln>
                <a:solidFill>
                  <a:schemeClr val="tx1"/>
                </a:solidFill>
                <a:effectLst/>
                <a:uLnTx/>
                <a:uFillTx/>
                <a:latin typeface="Trebuchet MS" panose="020B0603020202020204" pitchFamily="34" charset="0"/>
                <a:ea typeface="+mj-ea"/>
              </a:rPr>
              <a:t>types</a:t>
            </a:r>
            <a:r>
              <a:rPr kumimoji="0" lang="en-IN" sz="2000" b="0" i="0" u="none" strike="noStrike" kern="0" cap="none" spc="-140" normalizeH="0" baseline="0" noProof="0" dirty="0">
                <a:ln>
                  <a:noFill/>
                </a:ln>
                <a:solidFill>
                  <a:schemeClr val="tx1"/>
                </a:solidFill>
                <a:effectLst/>
                <a:uLnTx/>
                <a:uFillTx/>
                <a:latin typeface="Trebuchet MS" panose="020B0603020202020204" pitchFamily="34" charset="0"/>
                <a:ea typeface="+mj-ea"/>
              </a:rPr>
              <a:t> </a:t>
            </a:r>
            <a:r>
              <a:rPr kumimoji="0" lang="en-IN" sz="2000" b="0" i="0" u="none" strike="noStrike" kern="0" cap="none" spc="5" normalizeH="0" baseline="0" noProof="0" dirty="0">
                <a:ln>
                  <a:noFill/>
                </a:ln>
                <a:solidFill>
                  <a:schemeClr val="tx1"/>
                </a:solidFill>
                <a:effectLst/>
                <a:uLnTx/>
                <a:uFillTx/>
                <a:latin typeface="Trebuchet MS" panose="020B0603020202020204" pitchFamily="34" charset="0"/>
                <a:ea typeface="+mj-ea"/>
              </a:rPr>
              <a:t>of</a:t>
            </a:r>
            <a:r>
              <a:rPr kumimoji="0" lang="en-IN" sz="2000" b="0" i="0" u="none" strike="noStrike" kern="0" cap="none" spc="-130" normalizeH="0" baseline="0" noProof="0" dirty="0">
                <a:ln>
                  <a:noFill/>
                </a:ln>
                <a:solidFill>
                  <a:schemeClr val="tx1"/>
                </a:solidFill>
                <a:effectLst/>
                <a:uLnTx/>
                <a:uFillTx/>
                <a:latin typeface="Trebuchet MS" panose="020B0603020202020204" pitchFamily="34" charset="0"/>
                <a:ea typeface="+mj-ea"/>
              </a:rPr>
              <a:t> </a:t>
            </a:r>
            <a:r>
              <a:rPr kumimoji="0" lang="en-IN" sz="2000" b="0" i="0" u="none" strike="noStrike" kern="0" cap="none" spc="-160" normalizeH="0" baseline="0" noProof="0" dirty="0">
                <a:ln>
                  <a:noFill/>
                </a:ln>
                <a:solidFill>
                  <a:schemeClr val="tx1"/>
                </a:solidFill>
                <a:effectLst/>
                <a:uLnTx/>
                <a:uFillTx/>
                <a:latin typeface="Trebuchet MS" panose="020B0603020202020204" pitchFamily="34" charset="0"/>
                <a:ea typeface="+mj-ea"/>
              </a:rPr>
              <a:t>access</a:t>
            </a:r>
            <a:r>
              <a:rPr kumimoji="0" lang="en-IN" sz="2000" b="0" i="0" u="none" strike="noStrike" kern="0" cap="none" spc="-145" normalizeH="0" baseline="0" noProof="0" dirty="0">
                <a:ln>
                  <a:noFill/>
                </a:ln>
                <a:solidFill>
                  <a:schemeClr val="tx1"/>
                </a:solidFill>
                <a:effectLst/>
                <a:uLnTx/>
                <a:uFillTx/>
                <a:latin typeface="Trebuchet MS" panose="020B0603020202020204" pitchFamily="34" charset="0"/>
                <a:ea typeface="+mj-ea"/>
              </a:rPr>
              <a:t> </a:t>
            </a:r>
            <a:r>
              <a:rPr kumimoji="0" lang="en-IN" sz="2000" b="0" i="0" u="none" strike="noStrike" kern="0" cap="none" spc="-45" normalizeH="0" baseline="0" noProof="0" dirty="0">
                <a:ln>
                  <a:noFill/>
                </a:ln>
                <a:solidFill>
                  <a:schemeClr val="tx1"/>
                </a:solidFill>
                <a:effectLst/>
                <a:uLnTx/>
                <a:uFillTx/>
                <a:latin typeface="Trebuchet MS" panose="020B0603020202020204" pitchFamily="34" charset="0"/>
                <a:ea typeface="+mj-ea"/>
              </a:rPr>
              <a:t>modifiers</a:t>
            </a:r>
            <a:r>
              <a:rPr kumimoji="0" lang="en-IN" sz="2000" b="0" i="0" u="none" strike="noStrike" kern="0" cap="none" spc="-60" normalizeH="0" baseline="0" noProof="0" dirty="0">
                <a:ln>
                  <a:noFill/>
                </a:ln>
                <a:solidFill>
                  <a:schemeClr val="tx1"/>
                </a:solidFill>
                <a:effectLst/>
                <a:uLnTx/>
                <a:uFillTx/>
                <a:latin typeface="Trebuchet MS" panose="020B0603020202020204" pitchFamily="34" charset="0"/>
                <a:ea typeface="+mj-ea"/>
              </a:rPr>
              <a:t> </a:t>
            </a:r>
            <a:r>
              <a:rPr kumimoji="0" lang="en-IN" sz="2000" b="0" i="0" u="none" strike="noStrike" kern="0" cap="none" spc="-75" normalizeH="0" baseline="0" noProof="0" dirty="0">
                <a:ln>
                  <a:noFill/>
                </a:ln>
                <a:solidFill>
                  <a:schemeClr val="tx1"/>
                </a:solidFill>
                <a:effectLst/>
                <a:uLnTx/>
                <a:uFillTx/>
                <a:latin typeface="Trebuchet MS" panose="020B0603020202020204" pitchFamily="34" charset="0"/>
                <a:ea typeface="+mj-ea"/>
              </a:rPr>
              <a:t>available</a:t>
            </a:r>
            <a:r>
              <a:rPr kumimoji="0" lang="en-IN" sz="2000" b="0" i="0" u="none" strike="noStrike" kern="0" cap="none" spc="-130" normalizeH="0" baseline="0" noProof="0" dirty="0">
                <a:ln>
                  <a:noFill/>
                </a:ln>
                <a:solidFill>
                  <a:schemeClr val="tx1"/>
                </a:solidFill>
                <a:effectLst/>
                <a:uLnTx/>
                <a:uFillTx/>
                <a:latin typeface="Trebuchet MS" panose="020B0603020202020204" pitchFamily="34" charset="0"/>
                <a:ea typeface="+mj-ea"/>
              </a:rPr>
              <a:t> </a:t>
            </a:r>
            <a:r>
              <a:rPr kumimoji="0" lang="en-IN" sz="2000" b="0" i="0" u="none" strike="noStrike" kern="0" cap="none" spc="-30" normalizeH="0" baseline="0" noProof="0" dirty="0">
                <a:ln>
                  <a:noFill/>
                </a:ln>
                <a:solidFill>
                  <a:schemeClr val="tx1"/>
                </a:solidFill>
                <a:effectLst/>
                <a:uLnTx/>
                <a:uFillTx/>
                <a:latin typeface="Trebuchet MS" panose="020B0603020202020204" pitchFamily="34" charset="0"/>
                <a:ea typeface="+mj-ea"/>
              </a:rPr>
              <a:t>in</a:t>
            </a:r>
            <a:r>
              <a:rPr kumimoji="0" lang="en-IN" sz="2000" b="0" i="0" u="none" strike="noStrike" kern="0" cap="none" spc="-215" normalizeH="0" baseline="0" noProof="0" dirty="0">
                <a:ln>
                  <a:noFill/>
                </a:ln>
                <a:solidFill>
                  <a:schemeClr val="tx1"/>
                </a:solidFill>
                <a:effectLst/>
                <a:uLnTx/>
                <a:uFillTx/>
                <a:latin typeface="Trebuchet MS" panose="020B0603020202020204" pitchFamily="34" charset="0"/>
                <a:ea typeface="+mj-ea"/>
              </a:rPr>
              <a:t> </a:t>
            </a:r>
            <a:r>
              <a:rPr kumimoji="0" lang="en-IN" sz="2000" b="0" i="0" u="none" strike="noStrike" kern="0" cap="none" spc="-170" normalizeH="0" baseline="0" noProof="0" dirty="0">
                <a:ln>
                  <a:noFill/>
                </a:ln>
                <a:solidFill>
                  <a:schemeClr val="tx1"/>
                </a:solidFill>
                <a:effectLst/>
                <a:uLnTx/>
                <a:uFillTx/>
                <a:latin typeface="Trebuchet MS" panose="020B0603020202020204" pitchFamily="34" charset="0"/>
                <a:ea typeface="+mj-ea"/>
              </a:rPr>
              <a:t>C++.</a:t>
            </a:r>
          </a:p>
          <a:p>
            <a:pPr marL="12700" marR="0" lvl="0" defTabSz="914400" eaLnBrk="1" fontAlgn="auto" latinLnBrk="0" hangingPunct="1">
              <a:spcBef>
                <a:spcPts val="600"/>
              </a:spcBef>
              <a:spcAft>
                <a:spcPts val="600"/>
              </a:spcAft>
              <a:buClr>
                <a:srgbClr val="40B9D2"/>
              </a:buClr>
              <a:buSzTx/>
              <a:tabLst>
                <a:tab pos="195580" algn="l"/>
              </a:tabLst>
              <a:defRPr/>
            </a:pPr>
            <a:r>
              <a:rPr kumimoji="0" sz="2000" b="1" i="0" u="none" strike="noStrike" kern="1200" cap="none" spc="-85" normalizeH="0" baseline="0" noProof="0" dirty="0">
                <a:ln>
                  <a:noFill/>
                </a:ln>
                <a:solidFill>
                  <a:srgbClr val="0070C0"/>
                </a:solidFill>
                <a:effectLst/>
                <a:uLnTx/>
                <a:uFillTx/>
                <a:latin typeface="Trebuchet MS" panose="020B0603020202020204" pitchFamily="34" charset="0"/>
                <a:ea typeface="+mn-ea"/>
                <a:cs typeface="Trebuchet MS"/>
              </a:rPr>
              <a:t>Private:</a:t>
            </a:r>
            <a:endParaRPr kumimoji="0" sz="20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rebuchet MS"/>
            </a:endParaRPr>
          </a:p>
          <a:p>
            <a:pPr marL="298450" marR="325120" lvl="0" indent="-285750" algn="just" defTabSz="914400" eaLnBrk="1" fontAlgn="auto" latinLnBrk="0" hangingPunct="1">
              <a:spcBef>
                <a:spcPts val="600"/>
              </a:spcBef>
              <a:spcAft>
                <a:spcPts val="600"/>
              </a:spcAft>
              <a:buClrTx/>
              <a:buSzTx/>
              <a:buFont typeface="Arial" panose="020B0604020202020204" pitchFamily="34" charset="0"/>
              <a:buChar char="•"/>
              <a:tabLst>
                <a:tab pos="195580" algn="l"/>
              </a:tabLst>
              <a:defRPr/>
            </a:pPr>
            <a:r>
              <a:rPr kumimoji="0" sz="2000" b="0" i="0" u="none" strike="noStrike" kern="1200" cap="none" spc="-70" normalizeH="0" baseline="0" noProof="0" dirty="0">
                <a:ln>
                  <a:noFill/>
                </a:ln>
                <a:solidFill>
                  <a:schemeClr val="tx1"/>
                </a:solidFill>
                <a:effectLst/>
                <a:uLnTx/>
                <a:uFillTx/>
                <a:latin typeface="Trebuchet MS" panose="020B0603020202020204" pitchFamily="34" charset="0"/>
                <a:ea typeface="+mn-ea"/>
              </a:rPr>
              <a:t>A</a:t>
            </a:r>
            <a:r>
              <a:rPr kumimoji="0" sz="2000" b="0" i="0" u="none" strike="noStrike" kern="1200" cap="none" spc="-14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40" normalizeH="0" baseline="0" noProof="0" dirty="0">
                <a:ln>
                  <a:noFill/>
                </a:ln>
                <a:solidFill>
                  <a:schemeClr val="tx1"/>
                </a:solidFill>
                <a:effectLst/>
                <a:uLnTx/>
                <a:uFillTx/>
                <a:latin typeface="Trebuchet MS" panose="020B0603020202020204" pitchFamily="34" charset="0"/>
                <a:ea typeface="+mn-ea"/>
              </a:rPr>
              <a:t>private</a:t>
            </a:r>
            <a:r>
              <a:rPr kumimoji="0" sz="2000" b="0" i="0" u="none" strike="noStrike" kern="1200" cap="none" spc="-13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60" normalizeH="0" baseline="0" noProof="0" dirty="0">
                <a:ln>
                  <a:noFill/>
                </a:ln>
                <a:solidFill>
                  <a:schemeClr val="tx1"/>
                </a:solidFill>
                <a:effectLst/>
                <a:uLnTx/>
                <a:uFillTx/>
                <a:latin typeface="Trebuchet MS" panose="020B0603020202020204" pitchFamily="34" charset="0"/>
                <a:ea typeface="+mn-ea"/>
              </a:rPr>
              <a:t>member</a:t>
            </a:r>
            <a:r>
              <a:rPr kumimoji="0" sz="2000" b="0" i="0" u="none" strike="noStrike" kern="1200" cap="none" spc="-70"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65" normalizeH="0" baseline="0" noProof="0" dirty="0">
                <a:ln>
                  <a:noFill/>
                </a:ln>
                <a:solidFill>
                  <a:schemeClr val="tx1"/>
                </a:solidFill>
                <a:effectLst/>
                <a:uLnTx/>
                <a:uFillTx/>
                <a:latin typeface="Trebuchet MS" panose="020B0603020202020204" pitchFamily="34" charset="0"/>
                <a:ea typeface="+mn-ea"/>
              </a:rPr>
              <a:t>variable</a:t>
            </a:r>
            <a:r>
              <a:rPr kumimoji="0" sz="2000" b="0" i="0" u="none" strike="noStrike" kern="1200" cap="none" spc="-13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30" normalizeH="0" baseline="0" noProof="0" dirty="0">
                <a:ln>
                  <a:noFill/>
                </a:ln>
                <a:solidFill>
                  <a:schemeClr val="tx1"/>
                </a:solidFill>
                <a:effectLst/>
                <a:uLnTx/>
                <a:uFillTx/>
                <a:latin typeface="Trebuchet MS" panose="020B0603020202020204" pitchFamily="34" charset="0"/>
                <a:ea typeface="+mn-ea"/>
              </a:rPr>
              <a:t>or</a:t>
            </a:r>
            <a:r>
              <a:rPr kumimoji="0"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25" normalizeH="0" baseline="0" noProof="0" dirty="0">
                <a:ln>
                  <a:noFill/>
                </a:ln>
                <a:solidFill>
                  <a:schemeClr val="tx1"/>
                </a:solidFill>
                <a:effectLst/>
                <a:uLnTx/>
                <a:uFillTx/>
                <a:latin typeface="Trebuchet MS" panose="020B0603020202020204" pitchFamily="34" charset="0"/>
                <a:ea typeface="+mn-ea"/>
              </a:rPr>
              <a:t>function</a:t>
            </a:r>
            <a:r>
              <a:rPr kumimoji="0" sz="2000" b="0" i="0" u="none" strike="noStrike" kern="1200" cap="none" spc="-12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55" normalizeH="0" baseline="0" noProof="0" dirty="0">
                <a:ln>
                  <a:noFill/>
                </a:ln>
                <a:solidFill>
                  <a:schemeClr val="tx1"/>
                </a:solidFill>
                <a:effectLst/>
                <a:uLnTx/>
                <a:uFillTx/>
                <a:latin typeface="Trebuchet MS" panose="020B0603020202020204" pitchFamily="34" charset="0"/>
                <a:ea typeface="+mn-ea"/>
              </a:rPr>
              <a:t>cannot</a:t>
            </a:r>
            <a:r>
              <a:rPr kumimoji="0" sz="2000" b="0" i="0" u="none" strike="noStrike" kern="1200" cap="none" spc="-150"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90" normalizeH="0" baseline="0" noProof="0" dirty="0">
                <a:ln>
                  <a:noFill/>
                </a:ln>
                <a:solidFill>
                  <a:schemeClr val="tx1"/>
                </a:solidFill>
                <a:effectLst/>
                <a:uLnTx/>
                <a:uFillTx/>
                <a:latin typeface="Trebuchet MS" panose="020B0603020202020204" pitchFamily="34" charset="0"/>
                <a:ea typeface="+mn-ea"/>
              </a:rPr>
              <a:t>be</a:t>
            </a:r>
            <a:r>
              <a:rPr kumimoji="0" sz="2000" b="0" i="0" u="none" strike="noStrike" kern="1200" cap="none" spc="-130" normalizeH="0" baseline="0" noProof="0" dirty="0">
                <a:ln>
                  <a:noFill/>
                </a:ln>
                <a:solidFill>
                  <a:schemeClr val="tx1"/>
                </a:solidFill>
                <a:effectLst/>
                <a:uLnTx/>
                <a:uFillTx/>
                <a:latin typeface="Trebuchet MS" panose="020B0603020202020204" pitchFamily="34" charset="0"/>
                <a:ea typeface="+mn-ea"/>
              </a:rPr>
              <a:t> accessed,</a:t>
            </a:r>
            <a:r>
              <a:rPr kumimoji="0" sz="2000" b="0" i="0" u="none" strike="noStrike" kern="1200" cap="none" spc="-100"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120" normalizeH="0" baseline="0" noProof="0" dirty="0">
                <a:ln>
                  <a:noFill/>
                </a:ln>
                <a:solidFill>
                  <a:schemeClr val="tx1"/>
                </a:solidFill>
                <a:effectLst/>
                <a:uLnTx/>
                <a:uFillTx/>
                <a:latin typeface="Trebuchet MS" panose="020B0603020202020204" pitchFamily="34" charset="0"/>
                <a:ea typeface="+mn-ea"/>
              </a:rPr>
              <a:t>or  </a:t>
            </a:r>
            <a:r>
              <a:rPr kumimoji="0" sz="2000" b="0" i="0" u="none" strike="noStrike" kern="1200" cap="none" spc="-105" normalizeH="0" baseline="0" noProof="0" dirty="0">
                <a:ln>
                  <a:noFill/>
                </a:ln>
                <a:solidFill>
                  <a:schemeClr val="tx1"/>
                </a:solidFill>
                <a:effectLst/>
                <a:uLnTx/>
                <a:uFillTx/>
                <a:latin typeface="Trebuchet MS" panose="020B0603020202020204" pitchFamily="34" charset="0"/>
                <a:ea typeface="+mn-ea"/>
              </a:rPr>
              <a:t>even</a:t>
            </a:r>
            <a:r>
              <a:rPr kumimoji="0" sz="2000" b="0" i="0" u="none" strike="noStrike" kern="1200" cap="none" spc="-12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70" normalizeH="0" baseline="0" noProof="0" dirty="0">
                <a:ln>
                  <a:noFill/>
                </a:ln>
                <a:solidFill>
                  <a:schemeClr val="tx1"/>
                </a:solidFill>
                <a:effectLst/>
                <a:uLnTx/>
                <a:uFillTx/>
                <a:latin typeface="Trebuchet MS" panose="020B0603020202020204" pitchFamily="34" charset="0"/>
                <a:ea typeface="+mn-ea"/>
              </a:rPr>
              <a:t>viewed</a:t>
            </a:r>
            <a:r>
              <a:rPr kumimoji="0" sz="2000" b="0" i="0" u="none" strike="noStrike" kern="1200" cap="none" spc="-90"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0" normalizeH="0" baseline="0" noProof="0" dirty="0">
                <a:ln>
                  <a:noFill/>
                </a:ln>
                <a:solidFill>
                  <a:schemeClr val="tx1"/>
                </a:solidFill>
                <a:effectLst/>
                <a:uLnTx/>
                <a:uFillTx/>
                <a:latin typeface="Trebuchet MS" panose="020B0603020202020204" pitchFamily="34" charset="0"/>
                <a:ea typeface="+mn-ea"/>
              </a:rPr>
              <a:t>from</a:t>
            </a:r>
            <a:r>
              <a:rPr kumimoji="0" sz="2000" b="0" i="0" u="none" strike="noStrike" kern="1200" cap="none" spc="-12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55" normalizeH="0" baseline="0" noProof="0" dirty="0">
                <a:ln>
                  <a:noFill/>
                </a:ln>
                <a:solidFill>
                  <a:schemeClr val="tx1"/>
                </a:solidFill>
                <a:effectLst/>
                <a:uLnTx/>
                <a:uFillTx/>
                <a:latin typeface="Trebuchet MS" panose="020B0603020202020204" pitchFamily="34" charset="0"/>
                <a:ea typeface="+mn-ea"/>
              </a:rPr>
              <a:t>outside</a:t>
            </a:r>
            <a:r>
              <a:rPr kumimoji="0" sz="2000" b="0" i="0" u="none" strike="noStrike" kern="1200" cap="none" spc="-110"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20" normalizeH="0" baseline="0" noProof="0" dirty="0">
                <a:ln>
                  <a:noFill/>
                </a:ln>
                <a:solidFill>
                  <a:schemeClr val="tx1"/>
                </a:solidFill>
                <a:effectLst/>
                <a:uLnTx/>
                <a:uFillTx/>
                <a:latin typeface="Trebuchet MS" panose="020B0603020202020204" pitchFamily="34" charset="0"/>
                <a:ea typeface="+mn-ea"/>
              </a:rPr>
              <a:t>the</a:t>
            </a:r>
            <a:r>
              <a:rPr kumimoji="0" sz="2000" b="0" i="0" u="none" strike="noStrike" kern="1200" cap="none" spc="-160"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114" normalizeH="0" baseline="0" noProof="0" dirty="0">
                <a:ln>
                  <a:noFill/>
                </a:ln>
                <a:solidFill>
                  <a:schemeClr val="tx1"/>
                </a:solidFill>
                <a:effectLst/>
                <a:uLnTx/>
                <a:uFillTx/>
                <a:latin typeface="Trebuchet MS" panose="020B0603020202020204" pitchFamily="34" charset="0"/>
                <a:ea typeface="+mn-ea"/>
              </a:rPr>
              <a:t>class.</a:t>
            </a:r>
            <a:r>
              <a:rPr kumimoji="0" sz="2000" b="0" i="0" u="none" strike="noStrike" kern="1200" cap="none" spc="-21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50" normalizeH="0" baseline="0" noProof="0" dirty="0">
                <a:ln>
                  <a:noFill/>
                </a:ln>
                <a:solidFill>
                  <a:schemeClr val="tx1"/>
                </a:solidFill>
                <a:effectLst/>
                <a:uLnTx/>
                <a:uFillTx/>
                <a:latin typeface="Trebuchet MS" panose="020B0603020202020204" pitchFamily="34" charset="0"/>
                <a:ea typeface="+mn-ea"/>
              </a:rPr>
              <a:t>Only</a:t>
            </a:r>
            <a:r>
              <a:rPr kumimoji="0" sz="2000" b="0" i="0" u="none" strike="noStrike" kern="1200" cap="none" spc="-14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20" normalizeH="0" baseline="0" noProof="0" dirty="0">
                <a:ln>
                  <a:noFill/>
                </a:ln>
                <a:solidFill>
                  <a:schemeClr val="tx1"/>
                </a:solidFill>
                <a:effectLst/>
                <a:uLnTx/>
                <a:uFillTx/>
                <a:latin typeface="Trebuchet MS" panose="020B0603020202020204" pitchFamily="34" charset="0"/>
                <a:ea typeface="+mn-ea"/>
              </a:rPr>
              <a:t>the</a:t>
            </a:r>
            <a:r>
              <a:rPr kumimoji="0" sz="2000" b="0" i="0" u="none" strike="noStrike" kern="1200" cap="none" spc="-160"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130" normalizeH="0" baseline="0" noProof="0" dirty="0">
                <a:ln>
                  <a:noFill/>
                </a:ln>
                <a:solidFill>
                  <a:schemeClr val="tx1"/>
                </a:solidFill>
                <a:effectLst/>
                <a:uLnTx/>
                <a:uFillTx/>
                <a:latin typeface="Trebuchet MS" panose="020B0603020202020204" pitchFamily="34" charset="0"/>
                <a:ea typeface="+mn-ea"/>
              </a:rPr>
              <a:t>class</a:t>
            </a:r>
            <a:r>
              <a:rPr kumimoji="0"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80" normalizeH="0" baseline="0" noProof="0" dirty="0">
                <a:ln>
                  <a:noFill/>
                </a:ln>
                <a:solidFill>
                  <a:schemeClr val="tx1"/>
                </a:solidFill>
                <a:effectLst/>
                <a:uLnTx/>
                <a:uFillTx/>
                <a:latin typeface="Trebuchet MS" panose="020B0603020202020204" pitchFamily="34" charset="0"/>
                <a:ea typeface="+mn-ea"/>
              </a:rPr>
              <a:t>and</a:t>
            </a:r>
            <a:r>
              <a:rPr kumimoji="0" sz="2000" b="0" i="0" u="none" strike="noStrike" kern="1200" cap="none" spc="-16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30" normalizeH="0" baseline="0" noProof="0" dirty="0">
                <a:ln>
                  <a:noFill/>
                </a:ln>
                <a:solidFill>
                  <a:schemeClr val="tx1"/>
                </a:solidFill>
                <a:effectLst/>
                <a:uLnTx/>
                <a:uFillTx/>
                <a:latin typeface="Trebuchet MS" panose="020B0603020202020204" pitchFamily="34" charset="0"/>
                <a:ea typeface="+mn-ea"/>
              </a:rPr>
              <a:t>friend  </a:t>
            </a:r>
            <a:r>
              <a:rPr kumimoji="0" sz="2000" b="0" i="0" u="none" strike="noStrike" kern="1200" cap="none" spc="-45" normalizeH="0" baseline="0" noProof="0" dirty="0">
                <a:ln>
                  <a:noFill/>
                </a:ln>
                <a:solidFill>
                  <a:schemeClr val="tx1"/>
                </a:solidFill>
                <a:effectLst/>
                <a:uLnTx/>
                <a:uFillTx/>
                <a:latin typeface="Trebuchet MS" panose="020B0603020202020204" pitchFamily="34" charset="0"/>
                <a:ea typeface="+mn-ea"/>
              </a:rPr>
              <a:t>functions </a:t>
            </a:r>
            <a:r>
              <a:rPr kumimoji="0" sz="2000" b="0" i="0" u="none" strike="noStrike" kern="1200" cap="none" spc="-114" normalizeH="0" baseline="0" noProof="0" dirty="0">
                <a:ln>
                  <a:noFill/>
                </a:ln>
                <a:solidFill>
                  <a:schemeClr val="tx1"/>
                </a:solidFill>
                <a:effectLst/>
                <a:uLnTx/>
                <a:uFillTx/>
                <a:latin typeface="Trebuchet MS" panose="020B0603020202020204" pitchFamily="34" charset="0"/>
                <a:ea typeface="+mn-ea"/>
              </a:rPr>
              <a:t>can </a:t>
            </a:r>
            <a:r>
              <a:rPr kumimoji="0" sz="2000" b="0" i="0" u="none" strike="noStrike" kern="1200" cap="none" spc="-160" normalizeH="0" baseline="0" noProof="0" dirty="0">
                <a:ln>
                  <a:noFill/>
                </a:ln>
                <a:solidFill>
                  <a:schemeClr val="tx1"/>
                </a:solidFill>
                <a:effectLst/>
                <a:uLnTx/>
                <a:uFillTx/>
                <a:latin typeface="Trebuchet MS" panose="020B0603020202020204" pitchFamily="34" charset="0"/>
                <a:ea typeface="+mn-ea"/>
              </a:rPr>
              <a:t>access </a:t>
            </a:r>
            <a:r>
              <a:rPr kumimoji="0" sz="2000" b="0" i="0" u="none" strike="noStrike" kern="1200" cap="none" spc="-40" normalizeH="0" baseline="0" noProof="0" dirty="0">
                <a:ln>
                  <a:noFill/>
                </a:ln>
                <a:solidFill>
                  <a:schemeClr val="tx1"/>
                </a:solidFill>
                <a:effectLst/>
                <a:uLnTx/>
                <a:uFillTx/>
                <a:latin typeface="Trebuchet MS" panose="020B0603020202020204" pitchFamily="34" charset="0"/>
                <a:ea typeface="+mn-ea"/>
              </a:rPr>
              <a:t>private</a:t>
            </a:r>
            <a:r>
              <a:rPr kumimoji="0" sz="2000" b="0" i="0" u="none" strike="noStrike" kern="1200" cap="none" spc="-22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70" normalizeH="0" baseline="0" noProof="0" dirty="0">
                <a:ln>
                  <a:noFill/>
                </a:ln>
                <a:solidFill>
                  <a:schemeClr val="tx1"/>
                </a:solidFill>
                <a:effectLst/>
                <a:uLnTx/>
                <a:uFillTx/>
                <a:latin typeface="Trebuchet MS" panose="020B0603020202020204" pitchFamily="34" charset="0"/>
                <a:ea typeface="+mn-ea"/>
              </a:rPr>
              <a:t>members.</a:t>
            </a:r>
            <a:endParaRPr kumimoji="0" sz="2000" b="0" i="0" u="none" strike="noStrike" kern="1200" cap="none" spc="0" normalizeH="0" baseline="0" noProof="0" dirty="0">
              <a:ln>
                <a:noFill/>
              </a:ln>
              <a:solidFill>
                <a:schemeClr val="tx1"/>
              </a:solidFill>
              <a:effectLst/>
              <a:uLnTx/>
              <a:uFillTx/>
              <a:latin typeface="Trebuchet MS" panose="020B0603020202020204" pitchFamily="34" charset="0"/>
              <a:ea typeface="+mn-ea"/>
            </a:endParaRPr>
          </a:p>
          <a:p>
            <a:pPr marL="12700" marR="0" lvl="0" defTabSz="914400" eaLnBrk="1" fontAlgn="auto" latinLnBrk="0" hangingPunct="1">
              <a:spcBef>
                <a:spcPts val="600"/>
              </a:spcBef>
              <a:spcAft>
                <a:spcPts val="600"/>
              </a:spcAft>
              <a:buClr>
                <a:srgbClr val="40B9D2"/>
              </a:buClr>
              <a:buSzTx/>
              <a:tabLst>
                <a:tab pos="195580" algn="l"/>
              </a:tabLst>
              <a:defRPr/>
            </a:pPr>
            <a:r>
              <a:rPr kumimoji="0" sz="2000" b="1" i="0" u="none" strike="noStrike" kern="1200" cap="none" spc="-90" normalizeH="0" baseline="0" noProof="0" dirty="0">
                <a:ln>
                  <a:noFill/>
                </a:ln>
                <a:solidFill>
                  <a:srgbClr val="0070C0"/>
                </a:solidFill>
                <a:effectLst/>
                <a:uLnTx/>
                <a:uFillTx/>
                <a:latin typeface="Trebuchet MS" panose="020B0603020202020204" pitchFamily="34" charset="0"/>
                <a:ea typeface="+mn-ea"/>
                <a:cs typeface="Trebuchet MS"/>
              </a:rPr>
              <a:t>Protected:</a:t>
            </a:r>
            <a:endParaRPr kumimoji="0" sz="20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rebuchet MS"/>
            </a:endParaRPr>
          </a:p>
          <a:p>
            <a:pPr marL="298450" marR="5080" lvl="0" indent="-285750" defTabSz="914400" eaLnBrk="1" fontAlgn="auto" latinLnBrk="0" hangingPunct="1">
              <a:spcBef>
                <a:spcPts val="600"/>
              </a:spcBef>
              <a:spcAft>
                <a:spcPts val="600"/>
              </a:spcAft>
              <a:buClrTx/>
              <a:buSzTx/>
              <a:buFont typeface="Arial" panose="020B0604020202020204" pitchFamily="34" charset="0"/>
              <a:buChar char="•"/>
              <a:tabLst>
                <a:tab pos="195580" algn="l"/>
              </a:tabLst>
              <a:defRPr/>
            </a:pPr>
            <a:r>
              <a:rPr kumimoji="0" sz="2000" b="0" i="0" u="none" strike="noStrike" kern="1200" cap="none" spc="-70" normalizeH="0" baseline="0" noProof="0" dirty="0">
                <a:ln>
                  <a:noFill/>
                </a:ln>
                <a:solidFill>
                  <a:schemeClr val="tx1"/>
                </a:solidFill>
                <a:effectLst/>
                <a:uLnTx/>
                <a:uFillTx/>
                <a:latin typeface="Trebuchet MS" panose="020B0603020202020204" pitchFamily="34" charset="0"/>
                <a:ea typeface="+mn-ea"/>
              </a:rPr>
              <a:t>A </a:t>
            </a:r>
            <a:r>
              <a:rPr kumimoji="0" sz="2000" b="0" i="0" u="none" strike="noStrike" kern="1200" cap="none" spc="-35" normalizeH="0" baseline="0" noProof="0" dirty="0">
                <a:ln>
                  <a:noFill/>
                </a:ln>
                <a:solidFill>
                  <a:schemeClr val="tx1"/>
                </a:solidFill>
                <a:effectLst/>
                <a:uLnTx/>
                <a:uFillTx/>
                <a:latin typeface="Trebuchet MS" panose="020B0603020202020204" pitchFamily="34" charset="0"/>
                <a:ea typeface="+mn-ea"/>
              </a:rPr>
              <a:t>protected </a:t>
            </a:r>
            <a:r>
              <a:rPr kumimoji="0" sz="2000" b="0" i="0" u="none" strike="noStrike" kern="1200" cap="none" spc="-60" normalizeH="0" baseline="0" noProof="0" dirty="0">
                <a:ln>
                  <a:noFill/>
                </a:ln>
                <a:solidFill>
                  <a:schemeClr val="tx1"/>
                </a:solidFill>
                <a:effectLst/>
                <a:uLnTx/>
                <a:uFillTx/>
                <a:latin typeface="Trebuchet MS" panose="020B0603020202020204" pitchFamily="34" charset="0"/>
                <a:ea typeface="+mn-ea"/>
              </a:rPr>
              <a:t>member </a:t>
            </a:r>
            <a:r>
              <a:rPr kumimoji="0" sz="2000" b="0" i="0" u="none" strike="noStrike" kern="1200" cap="none" spc="-65" normalizeH="0" baseline="0" noProof="0" dirty="0">
                <a:ln>
                  <a:noFill/>
                </a:ln>
                <a:solidFill>
                  <a:schemeClr val="tx1"/>
                </a:solidFill>
                <a:effectLst/>
                <a:uLnTx/>
                <a:uFillTx/>
                <a:latin typeface="Trebuchet MS" panose="020B0603020202020204" pitchFamily="34" charset="0"/>
                <a:ea typeface="+mn-ea"/>
              </a:rPr>
              <a:t>variable </a:t>
            </a:r>
            <a:r>
              <a:rPr kumimoji="0" sz="2000" b="0" i="0" u="none" strike="noStrike" kern="1200" cap="none" spc="-30" normalizeH="0" baseline="0" noProof="0" dirty="0">
                <a:ln>
                  <a:noFill/>
                </a:ln>
                <a:solidFill>
                  <a:schemeClr val="tx1"/>
                </a:solidFill>
                <a:effectLst/>
                <a:uLnTx/>
                <a:uFillTx/>
                <a:latin typeface="Trebuchet MS" panose="020B0603020202020204" pitchFamily="34" charset="0"/>
                <a:ea typeface="+mn-ea"/>
              </a:rPr>
              <a:t>or </a:t>
            </a:r>
            <a:r>
              <a:rPr kumimoji="0" sz="2000" b="0" i="0" u="none" strike="noStrike" kern="1200" cap="none" spc="-25" normalizeH="0" baseline="0" noProof="0" dirty="0">
                <a:ln>
                  <a:noFill/>
                </a:ln>
                <a:solidFill>
                  <a:schemeClr val="tx1"/>
                </a:solidFill>
                <a:effectLst/>
                <a:uLnTx/>
                <a:uFillTx/>
                <a:latin typeface="Trebuchet MS" panose="020B0603020202020204" pitchFamily="34" charset="0"/>
                <a:ea typeface="+mn-ea"/>
              </a:rPr>
              <a:t>function </a:t>
            </a:r>
            <a:r>
              <a:rPr kumimoji="0" sz="2000" b="0" i="0" u="none" strike="noStrike" kern="1200" cap="none" spc="-95" normalizeH="0" baseline="0" noProof="0" dirty="0">
                <a:ln>
                  <a:noFill/>
                </a:ln>
                <a:solidFill>
                  <a:schemeClr val="tx1"/>
                </a:solidFill>
                <a:effectLst/>
                <a:uLnTx/>
                <a:uFillTx/>
                <a:latin typeface="Trebuchet MS" panose="020B0603020202020204" pitchFamily="34" charset="0"/>
                <a:ea typeface="+mn-ea"/>
              </a:rPr>
              <a:t>is </a:t>
            </a:r>
            <a:r>
              <a:rPr kumimoji="0" sz="2000" b="0" i="0" u="none" strike="noStrike" kern="1200" cap="none" spc="-70" normalizeH="0" baseline="0" noProof="0" dirty="0">
                <a:ln>
                  <a:noFill/>
                </a:ln>
                <a:solidFill>
                  <a:schemeClr val="tx1"/>
                </a:solidFill>
                <a:effectLst/>
                <a:uLnTx/>
                <a:uFillTx/>
                <a:latin typeface="Trebuchet MS" panose="020B0603020202020204" pitchFamily="34" charset="0"/>
                <a:ea typeface="+mn-ea"/>
              </a:rPr>
              <a:t>very </a:t>
            </a:r>
            <a:r>
              <a:rPr kumimoji="0" sz="2000" b="0" i="0" u="none" strike="noStrike" kern="1200" cap="none" spc="-45" normalizeH="0" baseline="0" noProof="0" dirty="0">
                <a:ln>
                  <a:noFill/>
                </a:ln>
                <a:solidFill>
                  <a:schemeClr val="tx1"/>
                </a:solidFill>
                <a:effectLst/>
                <a:uLnTx/>
                <a:uFillTx/>
                <a:latin typeface="Trebuchet MS" panose="020B0603020202020204" pitchFamily="34" charset="0"/>
                <a:ea typeface="+mn-ea"/>
              </a:rPr>
              <a:t>similar </a:t>
            </a:r>
            <a:r>
              <a:rPr kumimoji="0" sz="2000" b="0" i="0" u="none" strike="noStrike" kern="1200" cap="none" spc="40" normalizeH="0" baseline="0" noProof="0" dirty="0">
                <a:ln>
                  <a:noFill/>
                </a:ln>
                <a:solidFill>
                  <a:schemeClr val="tx1"/>
                </a:solidFill>
                <a:effectLst/>
                <a:uLnTx/>
                <a:uFillTx/>
                <a:latin typeface="Trebuchet MS" panose="020B0603020202020204" pitchFamily="34" charset="0"/>
                <a:ea typeface="+mn-ea"/>
              </a:rPr>
              <a:t>to </a:t>
            </a:r>
            <a:r>
              <a:rPr kumimoji="0"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a  </a:t>
            </a:r>
            <a:r>
              <a:rPr kumimoji="0" sz="2000" b="0" i="0" u="none" strike="noStrike" kern="1200" cap="none" spc="-40" normalizeH="0" baseline="0" noProof="0" dirty="0">
                <a:ln>
                  <a:noFill/>
                </a:ln>
                <a:solidFill>
                  <a:schemeClr val="tx1"/>
                </a:solidFill>
                <a:effectLst/>
                <a:uLnTx/>
                <a:uFillTx/>
                <a:latin typeface="Trebuchet MS" panose="020B0603020202020204" pitchFamily="34" charset="0"/>
                <a:ea typeface="+mn-ea"/>
              </a:rPr>
              <a:t>private </a:t>
            </a:r>
            <a:r>
              <a:rPr kumimoji="0" sz="2000" b="0" i="0" u="none" strike="noStrike" kern="1200" cap="none" spc="-60" normalizeH="0" baseline="0" noProof="0" dirty="0">
                <a:ln>
                  <a:noFill/>
                </a:ln>
                <a:solidFill>
                  <a:schemeClr val="tx1"/>
                </a:solidFill>
                <a:effectLst/>
                <a:uLnTx/>
                <a:uFillTx/>
                <a:latin typeface="Trebuchet MS" panose="020B0603020202020204" pitchFamily="34" charset="0"/>
                <a:ea typeface="+mn-ea"/>
              </a:rPr>
              <a:t>member </a:t>
            </a:r>
            <a:r>
              <a:rPr kumimoji="0" sz="2000" b="0" i="0" u="none" strike="noStrike" kern="1200" cap="none" spc="-5" normalizeH="0" baseline="0" noProof="0" dirty="0">
                <a:ln>
                  <a:noFill/>
                </a:ln>
                <a:solidFill>
                  <a:schemeClr val="tx1"/>
                </a:solidFill>
                <a:effectLst/>
                <a:uLnTx/>
                <a:uFillTx/>
                <a:latin typeface="Trebuchet MS" panose="020B0603020202020204" pitchFamily="34" charset="0"/>
                <a:ea typeface="+mn-ea"/>
              </a:rPr>
              <a:t>but </a:t>
            </a:r>
            <a:r>
              <a:rPr kumimoji="0" sz="2000" b="0" i="0" u="none" strike="noStrike" kern="1200" cap="none" spc="70" normalizeH="0" baseline="0" noProof="0" dirty="0">
                <a:ln>
                  <a:noFill/>
                </a:ln>
                <a:solidFill>
                  <a:schemeClr val="tx1"/>
                </a:solidFill>
                <a:effectLst/>
                <a:uLnTx/>
                <a:uFillTx/>
                <a:latin typeface="Trebuchet MS" panose="020B0603020202020204" pitchFamily="34" charset="0"/>
                <a:ea typeface="+mn-ea"/>
              </a:rPr>
              <a:t>it</a:t>
            </a:r>
            <a:r>
              <a:rPr kumimoji="0" sz="2000" b="0" i="0" u="none" strike="noStrike" kern="1200" cap="none" spc="-35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55" normalizeH="0" baseline="0" noProof="0" dirty="0">
                <a:ln>
                  <a:noFill/>
                </a:ln>
                <a:solidFill>
                  <a:schemeClr val="tx1"/>
                </a:solidFill>
                <a:effectLst/>
                <a:uLnTx/>
                <a:uFillTx/>
                <a:latin typeface="Trebuchet MS" panose="020B0603020202020204" pitchFamily="34" charset="0"/>
                <a:ea typeface="+mn-ea"/>
              </a:rPr>
              <a:t>provided </a:t>
            </a:r>
            <a:r>
              <a:rPr kumimoji="0" sz="2000" b="0" i="0" u="none" strike="noStrike" kern="1200" cap="none" spc="-85" normalizeH="0" baseline="0" noProof="0" dirty="0">
                <a:ln>
                  <a:noFill/>
                </a:ln>
                <a:solidFill>
                  <a:schemeClr val="tx1"/>
                </a:solidFill>
                <a:effectLst/>
                <a:uLnTx/>
                <a:uFillTx/>
                <a:latin typeface="Trebuchet MS" panose="020B0603020202020204" pitchFamily="34" charset="0"/>
                <a:ea typeface="+mn-ea"/>
              </a:rPr>
              <a:t>one </a:t>
            </a:r>
            <a:r>
              <a:rPr kumimoji="0" sz="2000" b="0" i="0" u="none" strike="noStrike" kern="1200" cap="none" spc="-35" normalizeH="0" baseline="0" noProof="0" dirty="0">
                <a:ln>
                  <a:noFill/>
                </a:ln>
                <a:solidFill>
                  <a:schemeClr val="tx1"/>
                </a:solidFill>
                <a:effectLst/>
                <a:uLnTx/>
                <a:uFillTx/>
                <a:latin typeface="Trebuchet MS" panose="020B0603020202020204" pitchFamily="34" charset="0"/>
                <a:ea typeface="+mn-ea"/>
              </a:rPr>
              <a:t>additional </a:t>
            </a:r>
            <a:r>
              <a:rPr kumimoji="0" sz="2000" b="0" i="0" u="none" strike="noStrike" kern="1200" cap="none" spc="-25" normalizeH="0" baseline="0" noProof="0" dirty="0">
                <a:ln>
                  <a:noFill/>
                </a:ln>
                <a:solidFill>
                  <a:schemeClr val="tx1"/>
                </a:solidFill>
                <a:effectLst/>
                <a:uLnTx/>
                <a:uFillTx/>
                <a:latin typeface="Trebuchet MS" panose="020B0603020202020204" pitchFamily="34" charset="0"/>
                <a:ea typeface="+mn-ea"/>
              </a:rPr>
              <a:t>benefit </a:t>
            </a:r>
            <a:r>
              <a:rPr kumimoji="0" sz="2000" b="0" i="0" u="none" strike="noStrike" kern="1200" cap="none" spc="15" normalizeH="0" baseline="0" noProof="0" dirty="0">
                <a:ln>
                  <a:noFill/>
                </a:ln>
                <a:solidFill>
                  <a:schemeClr val="tx1"/>
                </a:solidFill>
                <a:effectLst/>
                <a:uLnTx/>
                <a:uFillTx/>
                <a:latin typeface="Trebuchet MS" panose="020B0603020202020204" pitchFamily="34" charset="0"/>
                <a:ea typeface="+mn-ea"/>
              </a:rPr>
              <a:t>that </a:t>
            </a:r>
            <a:r>
              <a:rPr kumimoji="0" sz="2000" b="0" i="0" u="none" strike="noStrike" kern="1200" cap="none" spc="-30" normalizeH="0" baseline="0" noProof="0" dirty="0">
                <a:ln>
                  <a:noFill/>
                </a:ln>
                <a:solidFill>
                  <a:schemeClr val="tx1"/>
                </a:solidFill>
                <a:effectLst/>
                <a:uLnTx/>
                <a:uFillTx/>
                <a:latin typeface="Trebuchet MS" panose="020B0603020202020204" pitchFamily="34" charset="0"/>
                <a:ea typeface="+mn-ea"/>
              </a:rPr>
              <a:t>they  </a:t>
            </a:r>
            <a:r>
              <a:rPr kumimoji="0" sz="2000" b="0" i="0" u="none" strike="noStrike" kern="1200" cap="none" spc="-114" normalizeH="0" baseline="0" noProof="0" dirty="0">
                <a:ln>
                  <a:noFill/>
                </a:ln>
                <a:solidFill>
                  <a:schemeClr val="tx1"/>
                </a:solidFill>
                <a:effectLst/>
                <a:uLnTx/>
                <a:uFillTx/>
                <a:latin typeface="Trebuchet MS" panose="020B0603020202020204" pitchFamily="34" charset="0"/>
                <a:ea typeface="+mn-ea"/>
              </a:rPr>
              <a:t>can </a:t>
            </a:r>
            <a:r>
              <a:rPr kumimoji="0" sz="2000" b="0" i="0" u="none" strike="noStrike" kern="1200" cap="none" spc="-90" normalizeH="0" baseline="0" noProof="0" dirty="0">
                <a:ln>
                  <a:noFill/>
                </a:ln>
                <a:solidFill>
                  <a:schemeClr val="tx1"/>
                </a:solidFill>
                <a:effectLst/>
                <a:uLnTx/>
                <a:uFillTx/>
                <a:latin typeface="Trebuchet MS" panose="020B0603020202020204" pitchFamily="34" charset="0"/>
                <a:ea typeface="+mn-ea"/>
              </a:rPr>
              <a:t>be </a:t>
            </a:r>
            <a:r>
              <a:rPr kumimoji="0"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accessed </a:t>
            </a:r>
            <a:r>
              <a:rPr kumimoji="0" sz="2000" b="0" i="0" u="none" strike="noStrike" kern="1200" cap="none" spc="-30" normalizeH="0" baseline="0" noProof="0" dirty="0">
                <a:ln>
                  <a:noFill/>
                </a:ln>
                <a:solidFill>
                  <a:schemeClr val="tx1"/>
                </a:solidFill>
                <a:effectLst/>
                <a:uLnTx/>
                <a:uFillTx/>
                <a:latin typeface="Trebuchet MS" panose="020B0603020202020204" pitchFamily="34" charset="0"/>
                <a:ea typeface="+mn-ea"/>
              </a:rPr>
              <a:t>in </a:t>
            </a:r>
            <a:r>
              <a:rPr kumimoji="0" sz="2000" b="0" i="0" u="none" strike="noStrike" kern="1200" cap="none" spc="-50" normalizeH="0" baseline="0" noProof="0" dirty="0">
                <a:ln>
                  <a:noFill/>
                </a:ln>
                <a:solidFill>
                  <a:schemeClr val="tx1"/>
                </a:solidFill>
                <a:effectLst/>
                <a:uLnTx/>
                <a:uFillTx/>
                <a:latin typeface="Trebuchet MS" panose="020B0603020202020204" pitchFamily="34" charset="0"/>
                <a:ea typeface="+mn-ea"/>
              </a:rPr>
              <a:t>child </a:t>
            </a:r>
            <a:r>
              <a:rPr kumimoji="0"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classes </a:t>
            </a:r>
            <a:r>
              <a:rPr kumimoji="0" sz="2000" b="0" i="0" u="none" strike="noStrike" kern="1200" cap="none" spc="-55" normalizeH="0" baseline="0" noProof="0" dirty="0">
                <a:ln>
                  <a:noFill/>
                </a:ln>
                <a:solidFill>
                  <a:schemeClr val="tx1"/>
                </a:solidFill>
                <a:effectLst/>
                <a:uLnTx/>
                <a:uFillTx/>
                <a:latin typeface="Trebuchet MS" panose="020B0603020202020204" pitchFamily="34" charset="0"/>
                <a:ea typeface="+mn-ea"/>
              </a:rPr>
              <a:t>which </a:t>
            </a:r>
            <a:r>
              <a:rPr kumimoji="0" sz="2000" b="0" i="0" u="none" strike="noStrike" kern="1200" cap="none" spc="-85" normalizeH="0" baseline="0" noProof="0" dirty="0">
                <a:ln>
                  <a:noFill/>
                </a:ln>
                <a:solidFill>
                  <a:schemeClr val="tx1"/>
                </a:solidFill>
                <a:effectLst/>
                <a:uLnTx/>
                <a:uFillTx/>
                <a:latin typeface="Trebuchet MS" panose="020B0603020202020204" pitchFamily="34" charset="0"/>
                <a:ea typeface="+mn-ea"/>
              </a:rPr>
              <a:t>are </a:t>
            </a:r>
            <a:r>
              <a:rPr kumimoji="0" sz="2000" b="0" i="0" u="none" strike="noStrike" kern="1200" cap="none" spc="-75" normalizeH="0" baseline="0" noProof="0" dirty="0">
                <a:ln>
                  <a:noFill/>
                </a:ln>
                <a:solidFill>
                  <a:schemeClr val="tx1"/>
                </a:solidFill>
                <a:effectLst/>
                <a:uLnTx/>
                <a:uFillTx/>
                <a:latin typeface="Trebuchet MS" panose="020B0603020202020204" pitchFamily="34" charset="0"/>
                <a:ea typeface="+mn-ea"/>
              </a:rPr>
              <a:t>called </a:t>
            </a:r>
            <a:r>
              <a:rPr kumimoji="0" sz="2000" b="0" i="0" u="none" strike="noStrike" kern="1200" cap="none" spc="-65" normalizeH="0" baseline="0" noProof="0" dirty="0">
                <a:ln>
                  <a:noFill/>
                </a:ln>
                <a:solidFill>
                  <a:schemeClr val="tx1"/>
                </a:solidFill>
                <a:effectLst/>
                <a:uLnTx/>
                <a:uFillTx/>
                <a:latin typeface="Trebuchet MS" panose="020B0603020202020204" pitchFamily="34" charset="0"/>
                <a:ea typeface="+mn-ea"/>
              </a:rPr>
              <a:t>derived</a:t>
            </a:r>
            <a:r>
              <a:rPr kumimoji="0" sz="2000" b="0" i="0" u="none" strike="noStrike" kern="1200" cap="none" spc="-155" normalizeH="0" baseline="0" noProof="0" dirty="0">
                <a:ln>
                  <a:noFill/>
                </a:ln>
                <a:solidFill>
                  <a:schemeClr val="tx1"/>
                </a:solidFill>
                <a:effectLst/>
                <a:uLnTx/>
                <a:uFillTx/>
                <a:latin typeface="Trebuchet MS" panose="020B0603020202020204" pitchFamily="34" charset="0"/>
                <a:ea typeface="+mn-ea"/>
              </a:rPr>
              <a:t> </a:t>
            </a:r>
            <a:r>
              <a:rPr kumimoji="0" sz="2000" b="0" i="0" u="none" strike="noStrike" kern="1200" cap="none" spc="-114" normalizeH="0" baseline="0" noProof="0" dirty="0">
                <a:ln>
                  <a:noFill/>
                </a:ln>
                <a:solidFill>
                  <a:schemeClr val="tx1"/>
                </a:solidFill>
                <a:effectLst/>
                <a:uLnTx/>
                <a:uFillTx/>
                <a:latin typeface="Trebuchet MS" panose="020B0603020202020204" pitchFamily="34" charset="0"/>
                <a:ea typeface="+mn-ea"/>
              </a:rPr>
              <a:t>classes.</a:t>
            </a:r>
            <a:endParaRPr kumimoji="0" lang="en-US" sz="2000" b="0" i="0" u="none" strike="noStrike" kern="1200" cap="none" spc="-114" normalizeH="0" baseline="0" noProof="0" dirty="0">
              <a:ln>
                <a:noFill/>
              </a:ln>
              <a:solidFill>
                <a:schemeClr val="tx1"/>
              </a:solidFill>
              <a:effectLst/>
              <a:uLnTx/>
              <a:uFillTx/>
              <a:latin typeface="Trebuchet MS" panose="020B0603020202020204" pitchFamily="34" charset="0"/>
              <a:ea typeface="+mn-ea"/>
            </a:endParaRPr>
          </a:p>
          <a:p>
            <a:pPr marL="12700" marR="0" lvl="0" defTabSz="914400" eaLnBrk="1" fontAlgn="auto" latinLnBrk="0" hangingPunct="1">
              <a:spcBef>
                <a:spcPts val="600"/>
              </a:spcBef>
              <a:spcAft>
                <a:spcPts val="600"/>
              </a:spcAft>
              <a:buClr>
                <a:srgbClr val="40B9D2"/>
              </a:buClr>
              <a:buSzTx/>
              <a:tabLst>
                <a:tab pos="195580" algn="l"/>
              </a:tabLst>
              <a:defRPr/>
            </a:pPr>
            <a:r>
              <a:rPr kumimoji="0" lang="en-IN" sz="2000" b="1" i="0" u="none" strike="noStrike" kern="1200" cap="none" spc="-90" normalizeH="0" baseline="0" noProof="0" dirty="0">
                <a:ln>
                  <a:noFill/>
                </a:ln>
                <a:solidFill>
                  <a:srgbClr val="0070C0"/>
                </a:solidFill>
                <a:effectLst/>
                <a:uLnTx/>
                <a:uFillTx/>
                <a:latin typeface="Trebuchet MS" panose="020B0603020202020204" pitchFamily="34" charset="0"/>
                <a:ea typeface="+mn-ea"/>
                <a:cs typeface="Trebuchet MS"/>
              </a:rPr>
              <a:t>Public:</a:t>
            </a:r>
            <a:endParaRPr kumimoji="0" lang="en-IN" sz="2000" b="0" i="0" u="none" strike="noStrike" kern="1200" cap="none" spc="0" normalizeH="0" baseline="0" noProof="0" dirty="0">
              <a:ln>
                <a:noFill/>
              </a:ln>
              <a:solidFill>
                <a:srgbClr val="0070C0"/>
              </a:solidFill>
              <a:effectLst/>
              <a:uLnTx/>
              <a:uFillTx/>
              <a:latin typeface="Trebuchet MS" panose="020B0603020202020204" pitchFamily="34" charset="0"/>
              <a:ea typeface="+mn-ea"/>
              <a:cs typeface="Trebuchet MS"/>
            </a:endParaRPr>
          </a:p>
          <a:p>
            <a:pPr marL="298450" marR="173355" lvl="0" indent="-285750" defTabSz="914400" eaLnBrk="1" fontAlgn="auto" latinLnBrk="0" hangingPunct="1">
              <a:spcBef>
                <a:spcPts val="600"/>
              </a:spcBef>
              <a:spcAft>
                <a:spcPts val="600"/>
              </a:spcAft>
              <a:buClrTx/>
              <a:buSzTx/>
              <a:buFont typeface="Arial" panose="020B0604020202020204" pitchFamily="34" charset="0"/>
              <a:buChar char="•"/>
              <a:tabLst>
                <a:tab pos="195580" algn="l"/>
              </a:tabLst>
              <a:defRPr/>
            </a:pPr>
            <a:r>
              <a:rPr kumimoji="0" lang="en-IN" sz="2000" b="0" i="0" u="none" strike="noStrike" kern="1200" cap="none" spc="-70" normalizeH="0" baseline="0" noProof="0" dirty="0">
                <a:ln>
                  <a:noFill/>
                </a:ln>
                <a:solidFill>
                  <a:schemeClr val="tx1"/>
                </a:solidFill>
                <a:effectLst/>
                <a:uLnTx/>
                <a:uFillTx/>
                <a:latin typeface="Trebuchet MS" panose="020B0603020202020204" pitchFamily="34" charset="0"/>
                <a:ea typeface="+mn-ea"/>
              </a:rPr>
              <a:t>A</a:t>
            </a:r>
            <a:r>
              <a:rPr kumimoji="0" lang="en-IN"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55" normalizeH="0" baseline="0" noProof="0" dirty="0">
                <a:ln>
                  <a:noFill/>
                </a:ln>
                <a:solidFill>
                  <a:schemeClr val="tx1"/>
                </a:solidFill>
                <a:effectLst/>
                <a:uLnTx/>
                <a:uFillTx/>
                <a:latin typeface="Trebuchet MS" panose="020B0603020202020204" pitchFamily="34" charset="0"/>
                <a:ea typeface="+mn-ea"/>
              </a:rPr>
              <a:t>public</a:t>
            </a:r>
            <a:r>
              <a:rPr kumimoji="0" lang="en-IN" sz="2000" b="0" i="0" u="none" strike="noStrike" kern="1200" cap="none" spc="-11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60" normalizeH="0" baseline="0" noProof="0" dirty="0">
                <a:ln>
                  <a:noFill/>
                </a:ln>
                <a:solidFill>
                  <a:schemeClr val="tx1"/>
                </a:solidFill>
                <a:effectLst/>
                <a:uLnTx/>
                <a:uFillTx/>
                <a:latin typeface="Trebuchet MS" panose="020B0603020202020204" pitchFamily="34" charset="0"/>
                <a:ea typeface="+mn-ea"/>
              </a:rPr>
              <a:t>member</a:t>
            </a:r>
            <a:r>
              <a:rPr kumimoji="0" lang="en-IN" sz="2000" b="0" i="0" u="none" strike="noStrike" kern="1200" cap="none" spc="-95" normalizeH="0" baseline="0" noProof="0" dirty="0">
                <a:ln>
                  <a:noFill/>
                </a:ln>
                <a:solidFill>
                  <a:schemeClr val="tx1"/>
                </a:solidFill>
                <a:effectLst/>
                <a:uLnTx/>
                <a:uFillTx/>
                <a:latin typeface="Trebuchet MS" panose="020B0603020202020204" pitchFamily="34" charset="0"/>
                <a:ea typeface="+mn-ea"/>
              </a:rPr>
              <a:t> is</a:t>
            </a:r>
            <a:r>
              <a:rPr kumimoji="0" lang="en-IN" sz="2000" b="0" i="0" u="none" strike="noStrike" kern="1200" cap="none" spc="-13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114" normalizeH="0" baseline="0" noProof="0" dirty="0">
                <a:ln>
                  <a:noFill/>
                </a:ln>
                <a:solidFill>
                  <a:schemeClr val="tx1"/>
                </a:solidFill>
                <a:effectLst/>
                <a:uLnTx/>
                <a:uFillTx/>
                <a:latin typeface="Trebuchet MS" panose="020B0603020202020204" pitchFamily="34" charset="0"/>
                <a:ea typeface="+mn-ea"/>
              </a:rPr>
              <a:t>accessible</a:t>
            </a:r>
            <a:r>
              <a:rPr kumimoji="0" lang="en-IN" sz="2000" b="0" i="0" u="none" strike="noStrike" kern="1200" cap="none" spc="-10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0" normalizeH="0" baseline="0" noProof="0" dirty="0">
                <a:ln>
                  <a:noFill/>
                </a:ln>
                <a:solidFill>
                  <a:schemeClr val="tx1"/>
                </a:solidFill>
                <a:effectLst/>
                <a:uLnTx/>
                <a:uFillTx/>
                <a:latin typeface="Trebuchet MS" panose="020B0603020202020204" pitchFamily="34" charset="0"/>
                <a:ea typeface="+mn-ea"/>
              </a:rPr>
              <a:t>from</a:t>
            </a:r>
            <a:r>
              <a:rPr kumimoji="0" lang="en-IN" sz="2000" b="0" i="0" u="none" strike="noStrike" kern="1200" cap="none" spc="-12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75" normalizeH="0" baseline="0" noProof="0" dirty="0">
                <a:ln>
                  <a:noFill/>
                </a:ln>
                <a:solidFill>
                  <a:schemeClr val="tx1"/>
                </a:solidFill>
                <a:effectLst/>
                <a:uLnTx/>
                <a:uFillTx/>
                <a:latin typeface="Trebuchet MS" panose="020B0603020202020204" pitchFamily="34" charset="0"/>
                <a:ea typeface="+mn-ea"/>
              </a:rPr>
              <a:t>anywhere</a:t>
            </a:r>
            <a:r>
              <a:rPr kumimoji="0" lang="en-IN" sz="2000" b="0" i="0" u="none" strike="noStrike" kern="1200" cap="none" spc="-10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55" normalizeH="0" baseline="0" noProof="0" dirty="0">
                <a:ln>
                  <a:noFill/>
                </a:ln>
                <a:solidFill>
                  <a:schemeClr val="tx1"/>
                </a:solidFill>
                <a:effectLst/>
                <a:uLnTx/>
                <a:uFillTx/>
                <a:latin typeface="Trebuchet MS" panose="020B0603020202020204" pitchFamily="34" charset="0"/>
                <a:ea typeface="+mn-ea"/>
              </a:rPr>
              <a:t>outside</a:t>
            </a:r>
            <a:r>
              <a:rPr kumimoji="0" lang="en-IN" sz="2000" b="0" i="0" u="none" strike="noStrike" kern="1200" cap="none" spc="-13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20" normalizeH="0" baseline="0" noProof="0" dirty="0">
                <a:ln>
                  <a:noFill/>
                </a:ln>
                <a:solidFill>
                  <a:schemeClr val="tx1"/>
                </a:solidFill>
                <a:effectLst/>
                <a:uLnTx/>
                <a:uFillTx/>
                <a:latin typeface="Trebuchet MS" panose="020B0603020202020204" pitchFamily="34" charset="0"/>
                <a:ea typeface="+mn-ea"/>
              </a:rPr>
              <a:t>the</a:t>
            </a:r>
            <a:r>
              <a:rPr kumimoji="0" lang="en-IN" sz="2000" b="0" i="0" u="none" strike="noStrike" kern="1200" cap="none" spc="-13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160" normalizeH="0" baseline="0" noProof="0" dirty="0">
                <a:ln>
                  <a:noFill/>
                </a:ln>
                <a:solidFill>
                  <a:schemeClr val="tx1"/>
                </a:solidFill>
                <a:effectLst/>
                <a:uLnTx/>
                <a:uFillTx/>
                <a:latin typeface="Trebuchet MS" panose="020B0603020202020204" pitchFamily="34" charset="0"/>
                <a:ea typeface="+mn-ea"/>
              </a:rPr>
              <a:t>class  </a:t>
            </a:r>
            <a:r>
              <a:rPr kumimoji="0" lang="en-IN" sz="2000" b="0" i="0" u="none" strike="noStrike" kern="1200" cap="none" spc="-5" normalizeH="0" baseline="0" noProof="0" dirty="0">
                <a:ln>
                  <a:noFill/>
                </a:ln>
                <a:solidFill>
                  <a:schemeClr val="tx1"/>
                </a:solidFill>
                <a:effectLst/>
                <a:uLnTx/>
                <a:uFillTx/>
                <a:latin typeface="Trebuchet MS" panose="020B0603020202020204" pitchFamily="34" charset="0"/>
                <a:ea typeface="+mn-ea"/>
              </a:rPr>
              <a:t>but </a:t>
            </a:r>
            <a:r>
              <a:rPr kumimoji="0" lang="en-IN" sz="2000" b="0" i="0" u="none" strike="noStrike" kern="1200" cap="none" spc="0" normalizeH="0" baseline="0" noProof="0" dirty="0">
                <a:ln>
                  <a:noFill/>
                </a:ln>
                <a:solidFill>
                  <a:schemeClr val="tx1"/>
                </a:solidFill>
                <a:effectLst/>
                <a:uLnTx/>
                <a:uFillTx/>
                <a:latin typeface="Trebuchet MS" panose="020B0603020202020204" pitchFamily="34" charset="0"/>
                <a:ea typeface="+mn-ea"/>
              </a:rPr>
              <a:t>within </a:t>
            </a:r>
            <a:r>
              <a:rPr kumimoji="0" lang="en-IN"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a</a:t>
            </a:r>
            <a:r>
              <a:rPr kumimoji="0" lang="en-IN" sz="2000" b="0" i="0" u="none" strike="noStrike" kern="1200" cap="none" spc="-41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45" normalizeH="0" baseline="0" noProof="0" dirty="0">
                <a:ln>
                  <a:noFill/>
                </a:ln>
                <a:solidFill>
                  <a:schemeClr val="tx1"/>
                </a:solidFill>
                <a:effectLst/>
                <a:uLnTx/>
                <a:uFillTx/>
                <a:latin typeface="Trebuchet MS" panose="020B0603020202020204" pitchFamily="34" charset="0"/>
                <a:ea typeface="+mn-ea"/>
              </a:rPr>
              <a:t>program.</a:t>
            </a:r>
            <a:endParaRPr kumimoji="0" sz="2000" b="0" i="0" u="none" strike="noStrike" kern="1200" cap="none" spc="0" normalizeH="0" baseline="0" noProof="0" dirty="0">
              <a:ln>
                <a:noFill/>
              </a:ln>
              <a:solidFill>
                <a:schemeClr val="tx1"/>
              </a:solidFill>
              <a:effectLst/>
              <a:uLnTx/>
              <a:uFillTx/>
              <a:latin typeface="Trebuchet MS" panose="020B0603020202020204" pitchFamily="34" charset="0"/>
              <a:ea typeface="+mn-ea"/>
            </a:endParaRPr>
          </a:p>
        </p:txBody>
      </p:sp>
    </p:spTree>
    <p:extLst>
      <p:ext uri="{BB962C8B-B14F-4D97-AF65-F5344CB8AC3E}">
        <p14:creationId xmlns:p14="http://schemas.microsoft.com/office/powerpoint/2010/main" val="10201757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42150"/>
            <a:ext cx="8407107" cy="1859483"/>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rgbClr val="FFFFFF"/>
                </a:solidFill>
                <a:latin typeface="Trebuchet MS" panose="020B0603020202020204" pitchFamily="34" charset="0"/>
              </a:rPr>
            </a:br>
            <a:br>
              <a:rPr lang="en-IN" sz="2400" b="1" dirty="0">
                <a:solidFill>
                  <a:srgbClr val="FFFFFF"/>
                </a:solidFill>
                <a:latin typeface="Trebuchet MS" panose="020B0603020202020204" pitchFamily="34" charset="0"/>
              </a:rPr>
            </a:br>
            <a:r>
              <a:rPr lang="en-IN" sz="2400" b="1" dirty="0">
                <a:solidFill>
                  <a:srgbClr val="FFFFFF"/>
                </a:solidFill>
                <a:latin typeface="Trebuchet MS" panose="020B0603020202020204" pitchFamily="34" charset="0"/>
              </a:rPr>
              <a:t>Access Modifiers</a:t>
            </a:r>
            <a:br>
              <a:rPr lang="en-IN" sz="24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B0168DAC-CD9D-432D-A032-DFF08828FA3C}"/>
              </a:ext>
            </a:extLst>
          </p:cNvPr>
          <p:cNvSpPr txBox="1"/>
          <p:nvPr/>
        </p:nvSpPr>
        <p:spPr>
          <a:xfrm>
            <a:off x="1474462" y="1775852"/>
            <a:ext cx="7863502" cy="4093428"/>
          </a:xfrm>
          <a:prstGeom prst="rect">
            <a:avLst/>
          </a:prstGeom>
          <a:noFill/>
        </p:spPr>
        <p:txBody>
          <a:bodyPr wrap="square">
            <a:spAutoFit/>
          </a:bodyPr>
          <a:lstStyle/>
          <a:p>
            <a:r>
              <a:rPr lang="en-IN" sz="2000" dirty="0">
                <a:solidFill>
                  <a:srgbClr val="0070C0"/>
                </a:solidFill>
                <a:latin typeface="Trebuchet MS" panose="020B0603020202020204" pitchFamily="34" charset="0"/>
              </a:rPr>
              <a:t>Syntax of Declaring Access Specifiers</a:t>
            </a:r>
          </a:p>
          <a:p>
            <a:endParaRPr lang="en-IN" sz="2000" dirty="0">
              <a:solidFill>
                <a:srgbClr val="0070C0"/>
              </a:solidFill>
              <a:latin typeface="Trebuchet MS" panose="020B0603020202020204" pitchFamily="34" charset="0"/>
            </a:endParaRPr>
          </a:p>
          <a:p>
            <a:pPr marL="361950"/>
            <a:r>
              <a:rPr lang="en-IN" sz="2000" dirty="0">
                <a:latin typeface="Trebuchet MS" panose="020B0603020202020204" pitchFamily="34" charset="0"/>
              </a:rPr>
              <a:t>class </a:t>
            </a:r>
            <a:r>
              <a:rPr lang="en-IN" sz="2000" dirty="0" err="1">
                <a:latin typeface="Trebuchet MS" panose="020B0603020202020204" pitchFamily="34" charset="0"/>
              </a:rPr>
              <a:t>ClassName</a:t>
            </a:r>
            <a:r>
              <a:rPr lang="en-IN" sz="2000" dirty="0">
                <a:latin typeface="Trebuchet MS" panose="020B0603020202020204" pitchFamily="34" charset="0"/>
              </a:rPr>
              <a:t> </a:t>
            </a:r>
          </a:p>
          <a:p>
            <a:pPr marL="361950"/>
            <a:r>
              <a:rPr lang="en-IN" sz="2000" dirty="0">
                <a:latin typeface="Trebuchet MS" panose="020B0603020202020204" pitchFamily="34" charset="0"/>
              </a:rPr>
              <a:t>{</a:t>
            </a:r>
          </a:p>
          <a:p>
            <a:pPr marL="361950"/>
            <a:r>
              <a:rPr lang="en-IN" sz="2000" dirty="0">
                <a:latin typeface="Trebuchet MS" panose="020B0603020202020204" pitchFamily="34" charset="0"/>
              </a:rPr>
              <a:t>private:</a:t>
            </a:r>
          </a:p>
          <a:p>
            <a:pPr marL="361950"/>
            <a:r>
              <a:rPr lang="en-IN" sz="2000" dirty="0">
                <a:latin typeface="Trebuchet MS" panose="020B0603020202020204" pitchFamily="34" charset="0"/>
              </a:rPr>
              <a:t>// Declare private members/methods here.</a:t>
            </a:r>
          </a:p>
          <a:p>
            <a:pPr marL="361950"/>
            <a:endParaRPr lang="en-IN" sz="2000" dirty="0">
              <a:latin typeface="Trebuchet MS" panose="020B0603020202020204" pitchFamily="34" charset="0"/>
            </a:endParaRPr>
          </a:p>
          <a:p>
            <a:pPr marL="361950"/>
            <a:r>
              <a:rPr lang="en-IN" sz="2000" dirty="0">
                <a:latin typeface="Trebuchet MS" panose="020B0603020202020204" pitchFamily="34" charset="0"/>
              </a:rPr>
              <a:t>public:</a:t>
            </a:r>
          </a:p>
          <a:p>
            <a:pPr marL="361950"/>
            <a:r>
              <a:rPr lang="en-IN" sz="2000" dirty="0">
                <a:latin typeface="Trebuchet MS" panose="020B0603020202020204" pitchFamily="34" charset="0"/>
              </a:rPr>
              <a:t>// Declare public members/methods here.</a:t>
            </a:r>
          </a:p>
          <a:p>
            <a:pPr marL="361950"/>
            <a:endParaRPr lang="en-IN" sz="2000" dirty="0">
              <a:latin typeface="Trebuchet MS" panose="020B0603020202020204" pitchFamily="34" charset="0"/>
            </a:endParaRPr>
          </a:p>
          <a:p>
            <a:pPr marL="361950"/>
            <a:r>
              <a:rPr lang="en-IN" sz="2000" dirty="0">
                <a:latin typeface="Trebuchet MS" panose="020B0603020202020204" pitchFamily="34" charset="0"/>
              </a:rPr>
              <a:t>protected:</a:t>
            </a:r>
          </a:p>
          <a:p>
            <a:pPr marL="361950"/>
            <a:r>
              <a:rPr lang="en-IN" sz="2000" dirty="0">
                <a:latin typeface="Trebuchet MS" panose="020B0603020202020204" pitchFamily="34" charset="0"/>
              </a:rPr>
              <a:t>// Declare protected members/methods here.</a:t>
            </a:r>
          </a:p>
          <a:p>
            <a:pPr marL="361950"/>
            <a:r>
              <a:rPr lang="en-IN" sz="2000" dirty="0">
                <a:latin typeface="Trebuchet MS" panose="020B0603020202020204" pitchFamily="34" charset="0"/>
              </a:rPr>
              <a:t>}; </a:t>
            </a:r>
          </a:p>
        </p:txBody>
      </p:sp>
    </p:spTree>
    <p:extLst>
      <p:ext uri="{BB962C8B-B14F-4D97-AF65-F5344CB8AC3E}">
        <p14:creationId xmlns:p14="http://schemas.microsoft.com/office/powerpoint/2010/main" val="12576698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42150"/>
            <a:ext cx="8407107" cy="1859483"/>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rgbClr val="FFFFFF"/>
                </a:solidFill>
                <a:latin typeface="Trebuchet MS" panose="020B0603020202020204" pitchFamily="34" charset="0"/>
              </a:rPr>
            </a:br>
            <a:br>
              <a:rPr lang="en-IN" sz="2400" b="1" dirty="0">
                <a:solidFill>
                  <a:srgbClr val="FFFFFF"/>
                </a:solidFill>
                <a:latin typeface="Trebuchet MS" panose="020B0603020202020204" pitchFamily="34" charset="0"/>
              </a:rPr>
            </a:br>
            <a:r>
              <a:rPr lang="en-IN" sz="2400" b="1" dirty="0">
                <a:solidFill>
                  <a:srgbClr val="FFFFFF"/>
                </a:solidFill>
                <a:latin typeface="Trebuchet MS" panose="020B0603020202020204" pitchFamily="34" charset="0"/>
              </a:rPr>
              <a:t>Access Modifiers</a:t>
            </a:r>
            <a:br>
              <a:rPr lang="en-IN" sz="24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pic>
        <p:nvPicPr>
          <p:cNvPr id="3" name="Picture 1">
            <a:extLst>
              <a:ext uri="{FF2B5EF4-FFF2-40B4-BE49-F238E27FC236}">
                <a16:creationId xmlns:a16="http://schemas.microsoft.com/office/drawing/2014/main" id="{56726F68-74A5-474F-8B46-67DEFEB61A6D}"/>
              </a:ext>
            </a:extLst>
          </p:cNvPr>
          <p:cNvPicPr>
            <a:picLocks noChangeAspect="1"/>
          </p:cNvPicPr>
          <p:nvPr/>
        </p:nvPicPr>
        <p:blipFill>
          <a:blip r:embed="rId3"/>
          <a:stretch>
            <a:fillRect/>
          </a:stretch>
        </p:blipFill>
        <p:spPr>
          <a:xfrm>
            <a:off x="403802" y="1398928"/>
            <a:ext cx="5498233" cy="3884271"/>
          </a:xfrm>
          <a:prstGeom prst="rect">
            <a:avLst/>
          </a:prstGeom>
        </p:spPr>
      </p:pic>
      <p:sp>
        <p:nvSpPr>
          <p:cNvPr id="4" name="TextBox 5">
            <a:extLst>
              <a:ext uri="{FF2B5EF4-FFF2-40B4-BE49-F238E27FC236}">
                <a16:creationId xmlns:a16="http://schemas.microsoft.com/office/drawing/2014/main" id="{214D3223-EF96-4360-8A26-34221719FC80}"/>
              </a:ext>
            </a:extLst>
          </p:cNvPr>
          <p:cNvSpPr txBox="1"/>
          <p:nvPr/>
        </p:nvSpPr>
        <p:spPr>
          <a:xfrm>
            <a:off x="7121236" y="2067431"/>
            <a:ext cx="4424219" cy="3164969"/>
          </a:xfrm>
          <a:prstGeom prst="rect">
            <a:avLst/>
          </a:prstGeom>
          <a:noFill/>
        </p:spPr>
        <p:txBody>
          <a:bodyPr wrap="square">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rPr>
              <a:t>#include</a:t>
            </a:r>
            <a:r>
              <a:rPr kumimoji="0" lang="en-IN" sz="1800" b="0" i="0" u="none" strike="noStrike" kern="1200" cap="none" spc="-110" normalizeH="0" baseline="0" noProof="0" dirty="0">
                <a:ln>
                  <a:noFill/>
                </a:ln>
                <a:solidFill>
                  <a:prstClr val="black"/>
                </a:solidFill>
                <a:effectLst/>
                <a:uLnTx/>
                <a:uFillTx/>
                <a:latin typeface="Trebuchet MS" panose="020B0603020202020204" pitchFamily="34" charset="0"/>
                <a:ea typeface="+mn-ea"/>
              </a:rPr>
              <a:t> </a:t>
            </a:r>
            <a:r>
              <a:rPr kumimoji="0" lang="en-IN" sz="1800" b="0" i="0" u="none" strike="noStrike" kern="1200" cap="none" spc="-10" normalizeH="0" baseline="0" noProof="0" dirty="0">
                <a:ln>
                  <a:noFill/>
                </a:ln>
                <a:solidFill>
                  <a:prstClr val="black"/>
                </a:solidFill>
                <a:effectLst/>
                <a:uLnTx/>
                <a:uFillTx/>
                <a:latin typeface="Trebuchet MS" panose="020B0603020202020204" pitchFamily="34" charset="0"/>
                <a:ea typeface="+mn-ea"/>
              </a:rPr>
              <a:t>&lt;iostream&gt;</a:t>
            </a:r>
            <a:endPar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endParaRPr>
          </a:p>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Trebuchet MS" panose="020B0603020202020204" pitchFamily="34" charset="0"/>
                <a:ea typeface="+mn-ea"/>
                <a:cs typeface="+mn-cs"/>
              </a:rPr>
              <a:t>using </a:t>
            </a:r>
            <a:r>
              <a:rPr kumimoji="0" lang="en-IN" sz="1800" b="0" i="0" u="none" strike="noStrike" kern="1200" cap="none" spc="-5" normalizeH="0" baseline="0" noProof="0" dirty="0">
                <a:ln>
                  <a:noFill/>
                </a:ln>
                <a:solidFill>
                  <a:srgbClr val="000000"/>
                </a:solidFill>
                <a:effectLst/>
                <a:uLnTx/>
                <a:uFillTx/>
                <a:latin typeface="Trebuchet MS" panose="020B0603020202020204" pitchFamily="34" charset="0"/>
                <a:ea typeface="+mn-ea"/>
                <a:cs typeface="+mn-cs"/>
              </a:rPr>
              <a:t>namespace</a:t>
            </a:r>
            <a:r>
              <a:rPr kumimoji="0" lang="en-IN" sz="1800" b="0" i="0" u="none" strike="noStrike" kern="1200" cap="none" spc="-200" normalizeH="0" baseline="0" noProof="0" dirty="0">
                <a:ln>
                  <a:noFill/>
                </a:ln>
                <a:solidFill>
                  <a:srgbClr val="000000"/>
                </a:solidFill>
                <a:effectLst/>
                <a:uLnTx/>
                <a:uFillTx/>
                <a:latin typeface="Trebuchet MS" panose="020B0603020202020204" pitchFamily="34" charset="0"/>
                <a:ea typeface="+mn-ea"/>
                <a:cs typeface="+mn-cs"/>
              </a:rPr>
              <a:t> </a:t>
            </a:r>
            <a:r>
              <a:rPr kumimoji="0" lang="en-IN" sz="1800" b="0" i="0" u="none" strike="noStrike" kern="1200" cap="none" spc="-15" normalizeH="0" baseline="0" noProof="0" dirty="0">
                <a:ln>
                  <a:noFill/>
                </a:ln>
                <a:solidFill>
                  <a:srgbClr val="000000"/>
                </a:solidFill>
                <a:effectLst/>
                <a:uLnTx/>
                <a:uFillTx/>
                <a:latin typeface="Trebuchet MS" panose="020B0603020202020204" pitchFamily="34" charset="0"/>
                <a:ea typeface="+mn-ea"/>
                <a:cs typeface="+mn-cs"/>
              </a:rPr>
              <a:t>std;</a:t>
            </a:r>
            <a:endPar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endParaRPr>
          </a:p>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rPr>
              <a:t>class</a:t>
            </a:r>
            <a:r>
              <a:rPr kumimoji="0" lang="en-IN" sz="1800" b="0" i="0" u="none" strike="noStrike" kern="1200" cap="none" spc="-45" normalizeH="0" baseline="0" noProof="0" dirty="0">
                <a:ln>
                  <a:noFill/>
                </a:ln>
                <a:solidFill>
                  <a:prstClr val="black"/>
                </a:solidFill>
                <a:effectLst/>
                <a:uLnTx/>
                <a:uFillTx/>
                <a:latin typeface="Trebuchet MS" panose="020B0603020202020204" pitchFamily="34" charset="0"/>
                <a:ea typeface="+mn-ea"/>
              </a:rPr>
              <a:t> </a:t>
            </a: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rPr>
              <a:t>access</a:t>
            </a:r>
            <a:endPar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endParaRP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rPr>
              <a:t>{</a:t>
            </a:r>
          </a:p>
          <a:p>
            <a:pPr marL="70485"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25" normalizeH="0" baseline="0" noProof="0" dirty="0">
                <a:ln>
                  <a:noFill/>
                </a:ln>
                <a:solidFill>
                  <a:prstClr val="black"/>
                </a:solidFill>
                <a:effectLst/>
                <a:uLnTx/>
                <a:uFillTx/>
                <a:latin typeface="Trebuchet MS" panose="020B0603020202020204" pitchFamily="34" charset="0"/>
                <a:ea typeface="+mn-ea"/>
              </a:rPr>
              <a:t>private:</a:t>
            </a:r>
            <a:endPar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endParaRPr>
          </a:p>
          <a:p>
            <a:pPr marL="24130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rPr>
              <a:t>int </a:t>
            </a:r>
            <a:r>
              <a:rPr kumimoji="0" lang="en-IN" sz="1800" b="0" i="0" u="none" strike="noStrike" kern="1200" cap="none" spc="0" normalizeH="0" baseline="0" noProof="0" dirty="0" err="1">
                <a:ln>
                  <a:noFill/>
                </a:ln>
                <a:solidFill>
                  <a:prstClr val="black"/>
                </a:solidFill>
                <a:effectLst/>
                <a:uLnTx/>
                <a:uFillTx/>
                <a:latin typeface="Trebuchet MS" panose="020B0603020202020204" pitchFamily="34" charset="0"/>
                <a:ea typeface="+mn-ea"/>
              </a:rPr>
              <a:t>a_pri</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rPr>
              <a:t> =</a:t>
            </a:r>
            <a:r>
              <a:rPr kumimoji="0" lang="en-IN" sz="1800" b="0" i="0" u="none" strike="noStrike" kern="1200" cap="none" spc="-165" normalizeH="0" baseline="0" noProof="0" dirty="0">
                <a:ln>
                  <a:noFill/>
                </a:ln>
                <a:solidFill>
                  <a:prstClr val="black"/>
                </a:solidFill>
                <a:effectLst/>
                <a:uLnTx/>
                <a:uFillTx/>
                <a:latin typeface="Trebuchet MS" panose="020B0603020202020204" pitchFamily="34" charset="0"/>
                <a:ea typeface="+mn-ea"/>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rPr>
              <a:t>10;</a:t>
            </a:r>
          </a:p>
          <a:p>
            <a:pPr marL="70485" marR="0" lvl="0" indent="0" algn="l" defTabSz="914400" rtl="0" eaLnBrk="1" fontAlgn="auto" latinLnBrk="0" hangingPunct="1">
              <a:lnSpc>
                <a:spcPct val="100000"/>
              </a:lnSpc>
              <a:spcBef>
                <a:spcPts val="5"/>
              </a:spcBef>
              <a:spcAft>
                <a:spcPts val="0"/>
              </a:spcAft>
              <a:buClrTx/>
              <a:buSzTx/>
              <a:buFontTx/>
              <a:buNone/>
              <a:tabLst/>
              <a:defRPr/>
            </a:pP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rPr>
              <a:t>protected:</a:t>
            </a:r>
            <a:endPar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endParaRPr>
          </a:p>
          <a:p>
            <a:pPr marL="299085"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rPr>
              <a:t>int </a:t>
            </a:r>
            <a:r>
              <a:rPr kumimoji="0" lang="en-IN" sz="1800" b="0" i="0" u="none" strike="noStrike" kern="1200" cap="none" spc="0" normalizeH="0" baseline="0" noProof="0" dirty="0" err="1">
                <a:ln>
                  <a:noFill/>
                </a:ln>
                <a:solidFill>
                  <a:prstClr val="black"/>
                </a:solidFill>
                <a:effectLst/>
                <a:uLnTx/>
                <a:uFillTx/>
                <a:latin typeface="Trebuchet MS" panose="020B0603020202020204" pitchFamily="34" charset="0"/>
                <a:ea typeface="+mn-ea"/>
              </a:rPr>
              <a:t>b_pro</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rPr>
              <a:t> =</a:t>
            </a:r>
            <a:r>
              <a:rPr kumimoji="0" lang="en-IN" sz="1800" b="0" i="0" u="none" strike="noStrike" kern="1200" cap="none" spc="-175" normalizeH="0" baseline="0" noProof="0" dirty="0">
                <a:ln>
                  <a:noFill/>
                </a:ln>
                <a:solidFill>
                  <a:prstClr val="black"/>
                </a:solidFill>
                <a:effectLst/>
                <a:uLnTx/>
                <a:uFillTx/>
                <a:latin typeface="Trebuchet MS" panose="020B0603020202020204" pitchFamily="34" charset="0"/>
                <a:ea typeface="+mn-ea"/>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rPr>
              <a:t>20;</a:t>
            </a:r>
          </a:p>
          <a:p>
            <a:pPr marL="70485"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rPr>
              <a:t>public:</a:t>
            </a:r>
          </a:p>
          <a:p>
            <a:pPr marL="24130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rPr>
              <a:t>int </a:t>
            </a:r>
            <a:r>
              <a:rPr kumimoji="0" lang="en-IN" sz="1800" b="0" i="0" u="none" strike="noStrike" kern="1200" cap="none" spc="0" normalizeH="0" baseline="0" noProof="0" dirty="0" err="1">
                <a:ln>
                  <a:noFill/>
                </a:ln>
                <a:solidFill>
                  <a:prstClr val="black"/>
                </a:solidFill>
                <a:effectLst/>
                <a:uLnTx/>
                <a:uFillTx/>
                <a:latin typeface="Trebuchet MS" panose="020B0603020202020204" pitchFamily="34" charset="0"/>
                <a:ea typeface="+mn-ea"/>
              </a:rPr>
              <a:t>c_public</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rPr>
              <a:t> =</a:t>
            </a:r>
            <a:r>
              <a:rPr kumimoji="0" lang="en-IN" sz="1800" b="0" i="0" u="none" strike="noStrike" kern="1200" cap="none" spc="-170" normalizeH="0" baseline="0" noProof="0" dirty="0">
                <a:ln>
                  <a:noFill/>
                </a:ln>
                <a:solidFill>
                  <a:prstClr val="black"/>
                </a:solidFill>
                <a:effectLst/>
                <a:uLnTx/>
                <a:uFillTx/>
                <a:latin typeface="Trebuchet MS" panose="020B0603020202020204" pitchFamily="34" charset="0"/>
                <a:ea typeface="+mn-ea"/>
              </a:rPr>
              <a:t> </a:t>
            </a:r>
            <a:r>
              <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rPr>
              <a:t>30;</a:t>
            </a:r>
          </a:p>
          <a:p>
            <a:pPr marL="1270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5" normalizeH="0" baseline="0" noProof="0" dirty="0">
                <a:ln>
                  <a:noFill/>
                </a:ln>
                <a:solidFill>
                  <a:prstClr val="black"/>
                </a:solidFill>
                <a:effectLst/>
                <a:uLnTx/>
                <a:uFillTx/>
                <a:latin typeface="Trebuchet MS" panose="020B0603020202020204" pitchFamily="34" charset="0"/>
                <a:ea typeface="+mn-ea"/>
              </a:rPr>
              <a:t>};</a:t>
            </a:r>
            <a:endParaRPr kumimoji="0" lang="en-IN" sz="1800" b="0" i="0" u="none" strike="noStrike" kern="1200" cap="none" spc="0" normalizeH="0" baseline="0" noProof="0" dirty="0">
              <a:ln>
                <a:noFill/>
              </a:ln>
              <a:solidFill>
                <a:prstClr val="black"/>
              </a:solidFill>
              <a:effectLst/>
              <a:uLnTx/>
              <a:uFillTx/>
              <a:latin typeface="Trebuchet MS" panose="020B0603020202020204" pitchFamily="34" charset="0"/>
              <a:ea typeface="+mn-ea"/>
            </a:endParaRPr>
          </a:p>
        </p:txBody>
      </p:sp>
    </p:spTree>
    <p:extLst>
      <p:ext uri="{BB962C8B-B14F-4D97-AF65-F5344CB8AC3E}">
        <p14:creationId xmlns:p14="http://schemas.microsoft.com/office/powerpoint/2010/main" val="28924133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Basics of a Typical C++ Environment</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489E28F4-4596-401C-A3E8-D2D78C63C25E}"/>
              </a:ext>
            </a:extLst>
          </p:cNvPr>
          <p:cNvSpPr txBox="1"/>
          <p:nvPr/>
        </p:nvSpPr>
        <p:spPr>
          <a:xfrm>
            <a:off x="680992" y="1538514"/>
            <a:ext cx="9663735" cy="419082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000" b="0" i="0" dirty="0">
                <a:solidFill>
                  <a:srgbClr val="222222"/>
                </a:solidFill>
                <a:effectLst/>
                <a:latin typeface="Trebuchet MS" panose="020B0603020202020204" pitchFamily="34" charset="0"/>
              </a:rPr>
              <a:t>C++ systems generally consist of three parts: a program development environment, the language and the C++ Standard Library. </a:t>
            </a:r>
          </a:p>
          <a:p>
            <a:pPr marL="285750" indent="-285750">
              <a:lnSpc>
                <a:spcPct val="150000"/>
              </a:lnSpc>
              <a:buFont typeface="Arial" panose="020B0604020202020204" pitchFamily="34" charset="0"/>
              <a:buChar char="•"/>
            </a:pPr>
            <a:r>
              <a:rPr lang="en-IN" sz="2000" b="0" i="0" dirty="0">
                <a:solidFill>
                  <a:srgbClr val="222222"/>
                </a:solidFill>
                <a:effectLst/>
                <a:latin typeface="Trebuchet MS" panose="020B0603020202020204" pitchFamily="34" charset="0"/>
              </a:rPr>
              <a:t>C++ programs typically go through six phases: </a:t>
            </a:r>
            <a:endParaRPr lang="en-IN" sz="2000" dirty="0">
              <a:latin typeface="Trebuchet MS" panose="020B0603020202020204" pitchFamily="34" charset="0"/>
            </a:endParaRPr>
          </a:p>
          <a:p>
            <a:pPr marL="989013" lvl="1" indent="-361950">
              <a:lnSpc>
                <a:spcPct val="150000"/>
              </a:lnSpc>
              <a:buFont typeface="Wingdings" panose="05000000000000000000" pitchFamily="2" charset="2"/>
              <a:buChar char="ü"/>
            </a:pPr>
            <a:r>
              <a:rPr lang="en-IN" sz="2000" dirty="0">
                <a:latin typeface="Trebuchet MS" panose="020B0603020202020204" pitchFamily="34" charset="0"/>
              </a:rPr>
              <a:t>Editor </a:t>
            </a:r>
          </a:p>
          <a:p>
            <a:pPr marL="989013" lvl="1" indent="-361950">
              <a:lnSpc>
                <a:spcPct val="150000"/>
              </a:lnSpc>
              <a:buFont typeface="Wingdings" panose="05000000000000000000" pitchFamily="2" charset="2"/>
              <a:buChar char="ü"/>
            </a:pPr>
            <a:r>
              <a:rPr lang="en-IN" sz="2000" dirty="0">
                <a:latin typeface="Trebuchet MS" panose="020B0603020202020204" pitchFamily="34" charset="0"/>
              </a:rPr>
              <a:t>Preprocessor </a:t>
            </a:r>
          </a:p>
          <a:p>
            <a:pPr marL="989013" lvl="1" indent="-361950">
              <a:lnSpc>
                <a:spcPct val="150000"/>
              </a:lnSpc>
              <a:buFont typeface="Wingdings" panose="05000000000000000000" pitchFamily="2" charset="2"/>
              <a:buChar char="ü"/>
            </a:pPr>
            <a:r>
              <a:rPr lang="en-IN" sz="2000" dirty="0">
                <a:latin typeface="Trebuchet MS" panose="020B0603020202020204" pitchFamily="34" charset="0"/>
              </a:rPr>
              <a:t>Compilers </a:t>
            </a:r>
          </a:p>
          <a:p>
            <a:pPr marL="989013" lvl="1" indent="-361950">
              <a:lnSpc>
                <a:spcPct val="150000"/>
              </a:lnSpc>
              <a:buFont typeface="Wingdings" panose="05000000000000000000" pitchFamily="2" charset="2"/>
              <a:buChar char="ü"/>
            </a:pPr>
            <a:r>
              <a:rPr lang="en-IN" sz="2000" dirty="0">
                <a:latin typeface="Trebuchet MS" panose="020B0603020202020204" pitchFamily="34" charset="0"/>
              </a:rPr>
              <a:t>Linkers </a:t>
            </a:r>
          </a:p>
          <a:p>
            <a:pPr marL="989013" lvl="1" indent="-361950">
              <a:lnSpc>
                <a:spcPct val="150000"/>
              </a:lnSpc>
              <a:buFont typeface="Wingdings" panose="05000000000000000000" pitchFamily="2" charset="2"/>
              <a:buChar char="ü"/>
            </a:pPr>
            <a:r>
              <a:rPr lang="en-IN" sz="2000" dirty="0">
                <a:latin typeface="Trebuchet MS" panose="020B0603020202020204" pitchFamily="34" charset="0"/>
              </a:rPr>
              <a:t>Loaders </a:t>
            </a:r>
          </a:p>
          <a:p>
            <a:pPr marL="989013" lvl="1" indent="-361950">
              <a:lnSpc>
                <a:spcPct val="150000"/>
              </a:lnSpc>
              <a:buFont typeface="Wingdings" panose="05000000000000000000" pitchFamily="2" charset="2"/>
              <a:buChar char="ü"/>
            </a:pPr>
            <a:r>
              <a:rPr lang="en-IN" sz="2000" dirty="0">
                <a:latin typeface="Trebuchet MS" panose="020B0603020202020204" pitchFamily="34" charset="0"/>
              </a:rPr>
              <a:t>Execute</a:t>
            </a:r>
          </a:p>
        </p:txBody>
      </p:sp>
    </p:spTree>
    <p:extLst>
      <p:ext uri="{BB962C8B-B14F-4D97-AF65-F5344CB8AC3E}">
        <p14:creationId xmlns:p14="http://schemas.microsoft.com/office/powerpoint/2010/main" val="3243923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Basics of a Typical C++ Environment</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pic>
        <p:nvPicPr>
          <p:cNvPr id="3" name="Picture 7">
            <a:extLst>
              <a:ext uri="{FF2B5EF4-FFF2-40B4-BE49-F238E27FC236}">
                <a16:creationId xmlns:a16="http://schemas.microsoft.com/office/drawing/2014/main" id="{695151C8-49FB-4616-95B9-0C010DD1194F}"/>
              </a:ext>
            </a:extLst>
          </p:cNvPr>
          <p:cNvPicPr>
            <a:picLocks noChangeAspect="1"/>
          </p:cNvPicPr>
          <p:nvPr/>
        </p:nvPicPr>
        <p:blipFill rotWithShape="1">
          <a:blip r:embed="rId3"/>
          <a:srcRect l="47286" t="15255"/>
          <a:stretch/>
        </p:blipFill>
        <p:spPr>
          <a:xfrm>
            <a:off x="1246909" y="1477818"/>
            <a:ext cx="9365673" cy="4634694"/>
          </a:xfrm>
          <a:prstGeom prst="rect">
            <a:avLst/>
          </a:prstGeom>
        </p:spPr>
      </p:pic>
    </p:spTree>
    <p:extLst>
      <p:ext uri="{BB962C8B-B14F-4D97-AF65-F5344CB8AC3E}">
        <p14:creationId xmlns:p14="http://schemas.microsoft.com/office/powerpoint/2010/main" val="9543342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Basics of a Typical C++ Environment</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9D0127A7-C93A-44E7-9CBF-FE7C4771992D}"/>
              </a:ext>
            </a:extLst>
          </p:cNvPr>
          <p:cNvSpPr txBox="1"/>
          <p:nvPr/>
        </p:nvSpPr>
        <p:spPr>
          <a:xfrm>
            <a:off x="1189144" y="1789405"/>
            <a:ext cx="9691291" cy="3631763"/>
          </a:xfrm>
          <a:prstGeom prst="rect">
            <a:avLst/>
          </a:prstGeom>
          <a:noFill/>
        </p:spPr>
        <p:txBody>
          <a:bodyPr wrap="square">
            <a:spAutoFit/>
          </a:bodyPr>
          <a:lstStyle/>
          <a:p>
            <a:pPr marL="12700" marR="0" lvl="0" algn="l" defTabSz="914400" rtl="0" eaLnBrk="1" fontAlgn="auto" latinLnBrk="0" hangingPunct="1">
              <a:spcBef>
                <a:spcPts val="600"/>
              </a:spcBef>
              <a:buClr>
                <a:srgbClr val="40B9D2"/>
              </a:buClr>
              <a:buSzTx/>
              <a:tabLst>
                <a:tab pos="195580" algn="l"/>
              </a:tabLst>
              <a:defRPr/>
            </a:pPr>
            <a:r>
              <a:rPr kumimoji="0" lang="en-IN" sz="2000" b="1" i="0" u="none" strike="noStrike" kern="1200" cap="none" spc="-50" normalizeH="0" baseline="0" noProof="0" dirty="0">
                <a:ln>
                  <a:noFill/>
                </a:ln>
                <a:solidFill>
                  <a:srgbClr val="0070C0"/>
                </a:solidFill>
                <a:effectLst/>
                <a:uLnTx/>
                <a:uFillTx/>
                <a:latin typeface="Trebuchet MS" panose="020B0603020202020204" pitchFamily="34" charset="0"/>
                <a:ea typeface="+mn-ea"/>
                <a:cs typeface="Trebuchet MS"/>
              </a:rPr>
              <a:t>Phase</a:t>
            </a:r>
            <a:r>
              <a:rPr kumimoji="0" lang="en-IN" sz="2000" b="1" i="0" u="none" strike="noStrike" kern="1200" cap="none" spc="-170" normalizeH="0" baseline="0" noProof="0" dirty="0">
                <a:ln>
                  <a:noFill/>
                </a:ln>
                <a:solidFill>
                  <a:srgbClr val="0070C0"/>
                </a:solidFill>
                <a:effectLst/>
                <a:uLnTx/>
                <a:uFillTx/>
                <a:latin typeface="Trebuchet MS" panose="020B0603020202020204" pitchFamily="34" charset="0"/>
                <a:ea typeface="+mn-ea"/>
                <a:cs typeface="Trebuchet MS"/>
              </a:rPr>
              <a:t> 1:</a:t>
            </a:r>
            <a:r>
              <a:rPr kumimoji="0" lang="en-IN" sz="2000" b="1" i="0" u="none" strike="noStrike" kern="1200" cap="none" spc="-280" normalizeH="0" baseline="0" noProof="0" dirty="0">
                <a:ln>
                  <a:noFill/>
                </a:ln>
                <a:solidFill>
                  <a:srgbClr val="0070C0"/>
                </a:solidFill>
                <a:effectLst/>
                <a:uLnTx/>
                <a:uFillTx/>
                <a:latin typeface="Trebuchet MS" panose="020B0603020202020204" pitchFamily="34" charset="0"/>
                <a:ea typeface="+mn-ea"/>
                <a:cs typeface="Trebuchet MS"/>
              </a:rPr>
              <a:t> </a:t>
            </a:r>
            <a:r>
              <a:rPr kumimoji="0" lang="en-IN" sz="2000" b="1" i="0" u="none" strike="noStrike" kern="1200" cap="none" spc="-65" normalizeH="0" baseline="0" noProof="0" dirty="0">
                <a:ln>
                  <a:noFill/>
                </a:ln>
                <a:solidFill>
                  <a:srgbClr val="0070C0"/>
                </a:solidFill>
                <a:effectLst/>
                <a:uLnTx/>
                <a:uFillTx/>
                <a:latin typeface="Trebuchet MS" panose="020B0603020202020204" pitchFamily="34" charset="0"/>
                <a:ea typeface="+mn-ea"/>
                <a:cs typeface="Trebuchet MS"/>
              </a:rPr>
              <a:t>Creating</a:t>
            </a:r>
            <a:r>
              <a:rPr kumimoji="0" lang="en-IN" sz="2000" b="1" i="0" u="none" strike="noStrike" kern="1200" cap="none" spc="-175" normalizeH="0" baseline="0" noProof="0" dirty="0">
                <a:ln>
                  <a:noFill/>
                </a:ln>
                <a:solidFill>
                  <a:srgbClr val="0070C0"/>
                </a:solidFill>
                <a:effectLst/>
                <a:uLnTx/>
                <a:uFillTx/>
                <a:latin typeface="Trebuchet MS" panose="020B0603020202020204" pitchFamily="34" charset="0"/>
                <a:ea typeface="+mn-ea"/>
                <a:cs typeface="Trebuchet MS"/>
              </a:rPr>
              <a:t> </a:t>
            </a:r>
            <a:r>
              <a:rPr kumimoji="0" lang="en-IN" sz="2000" b="1" i="0" u="none" strike="noStrike" kern="1200" cap="none" spc="-40" normalizeH="0" baseline="0" noProof="0" dirty="0">
                <a:ln>
                  <a:noFill/>
                </a:ln>
                <a:solidFill>
                  <a:srgbClr val="0070C0"/>
                </a:solidFill>
                <a:effectLst/>
                <a:uLnTx/>
                <a:uFillTx/>
                <a:latin typeface="Trebuchet MS" panose="020B0603020202020204" pitchFamily="34" charset="0"/>
                <a:ea typeface="+mn-ea"/>
                <a:cs typeface="Trebuchet MS"/>
              </a:rPr>
              <a:t>a</a:t>
            </a:r>
            <a:r>
              <a:rPr kumimoji="0" lang="en-IN" sz="2000" b="1" i="0" u="none" strike="noStrike" kern="1200" cap="none" spc="-200" normalizeH="0" baseline="0" noProof="0" dirty="0">
                <a:ln>
                  <a:noFill/>
                </a:ln>
                <a:solidFill>
                  <a:srgbClr val="0070C0"/>
                </a:solidFill>
                <a:effectLst/>
                <a:uLnTx/>
                <a:uFillTx/>
                <a:latin typeface="Trebuchet MS" panose="020B0603020202020204" pitchFamily="34" charset="0"/>
                <a:ea typeface="+mn-ea"/>
                <a:cs typeface="Trebuchet MS"/>
              </a:rPr>
              <a:t> </a:t>
            </a:r>
            <a:r>
              <a:rPr kumimoji="0" lang="en-IN" sz="2000" b="1" i="0" u="none" strike="noStrike" kern="1200" cap="none" spc="-75" normalizeH="0" baseline="0" noProof="0" dirty="0">
                <a:ln>
                  <a:noFill/>
                </a:ln>
                <a:solidFill>
                  <a:srgbClr val="0070C0"/>
                </a:solidFill>
                <a:effectLst/>
                <a:uLnTx/>
                <a:uFillTx/>
                <a:latin typeface="Trebuchet MS" panose="020B0603020202020204" pitchFamily="34" charset="0"/>
                <a:ea typeface="+mn-ea"/>
                <a:cs typeface="Trebuchet MS"/>
              </a:rPr>
              <a:t>Program</a:t>
            </a:r>
            <a:endParaRPr kumimoji="0" lang="en-IN" sz="2000" b="0" i="0" u="none" strike="noStrike" kern="1200" cap="none" spc="25" normalizeH="0" baseline="0" noProof="0" dirty="0">
              <a:ln>
                <a:noFill/>
              </a:ln>
              <a:solidFill>
                <a:srgbClr val="0070C0"/>
              </a:solidFill>
              <a:effectLst/>
              <a:uLnTx/>
              <a:uFillTx/>
              <a:latin typeface="Trebuchet MS" panose="020B0603020202020204" pitchFamily="34" charset="0"/>
              <a:ea typeface="+mn-ea"/>
            </a:endParaRPr>
          </a:p>
          <a:p>
            <a:pPr marL="298450" marR="0" lvl="0" indent="-285750" algn="l" defTabSz="914400" rtl="0" eaLnBrk="1" fontAlgn="auto" latinLnBrk="0" hangingPunct="1">
              <a:spcBef>
                <a:spcPts val="600"/>
              </a:spcBef>
              <a:buClrTx/>
              <a:buSzTx/>
              <a:buFont typeface="Arial" panose="020B0604020202020204" pitchFamily="34" charset="0"/>
              <a:buChar char="•"/>
              <a:tabLst>
                <a:tab pos="195580" algn="l"/>
              </a:tabLst>
              <a:defRPr/>
            </a:pPr>
            <a:r>
              <a:rPr kumimoji="0" lang="en-IN" sz="2000" b="0" i="0" u="none" strike="noStrike" kern="1200" cap="none" spc="25" normalizeH="0" baseline="0" noProof="0" dirty="0">
                <a:ln>
                  <a:noFill/>
                </a:ln>
                <a:solidFill>
                  <a:schemeClr val="tx1"/>
                </a:solidFill>
                <a:effectLst/>
                <a:uLnTx/>
                <a:uFillTx/>
                <a:latin typeface="Trebuchet MS" panose="020B0603020202020204" pitchFamily="34" charset="0"/>
                <a:ea typeface="+mn-ea"/>
              </a:rPr>
              <a:t>It</a:t>
            </a:r>
            <a:r>
              <a:rPr kumimoji="0" lang="en-IN" sz="2000" b="0" i="0" u="none" strike="noStrike" kern="1200" cap="none" spc="-15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90" normalizeH="0" baseline="0" noProof="0" dirty="0">
                <a:ln>
                  <a:noFill/>
                </a:ln>
                <a:solidFill>
                  <a:schemeClr val="tx1"/>
                </a:solidFill>
                <a:effectLst/>
                <a:uLnTx/>
                <a:uFillTx/>
                <a:latin typeface="Trebuchet MS" panose="020B0603020202020204" pitchFamily="34" charset="0"/>
                <a:ea typeface="+mn-ea"/>
              </a:rPr>
              <a:t>consists</a:t>
            </a:r>
            <a:r>
              <a:rPr kumimoji="0" lang="en-IN"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10" normalizeH="0" baseline="0" noProof="0" dirty="0">
                <a:ln>
                  <a:noFill/>
                </a:ln>
                <a:solidFill>
                  <a:schemeClr val="tx1"/>
                </a:solidFill>
                <a:effectLst/>
                <a:uLnTx/>
                <a:uFillTx/>
                <a:latin typeface="Trebuchet MS" panose="020B0603020202020204" pitchFamily="34" charset="0"/>
                <a:ea typeface="+mn-ea"/>
              </a:rPr>
              <a:t>of</a:t>
            </a:r>
            <a:r>
              <a:rPr kumimoji="0" lang="en-IN" sz="2000" b="0" i="0" u="none" strike="noStrike" kern="1200" cap="none" spc="-14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25" normalizeH="0" baseline="0" noProof="0" dirty="0">
                <a:ln>
                  <a:noFill/>
                </a:ln>
                <a:solidFill>
                  <a:schemeClr val="tx1"/>
                </a:solidFill>
                <a:effectLst/>
                <a:uLnTx/>
                <a:uFillTx/>
                <a:latin typeface="Trebuchet MS" panose="020B0603020202020204" pitchFamily="34" charset="0"/>
                <a:ea typeface="+mn-ea"/>
              </a:rPr>
              <a:t>editing</a:t>
            </a:r>
            <a:r>
              <a:rPr kumimoji="0" lang="en-IN" sz="2000" b="0" i="0" u="none" strike="noStrike" kern="1200" cap="none" spc="-10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140" normalizeH="0" baseline="0" noProof="0" dirty="0">
                <a:ln>
                  <a:noFill/>
                </a:ln>
                <a:solidFill>
                  <a:schemeClr val="tx1"/>
                </a:solidFill>
                <a:effectLst/>
                <a:uLnTx/>
                <a:uFillTx/>
                <a:latin typeface="Trebuchet MS" panose="020B0603020202020204" pitchFamily="34" charset="0"/>
                <a:ea typeface="+mn-ea"/>
              </a:rPr>
              <a:t>a</a:t>
            </a:r>
            <a:r>
              <a:rPr kumimoji="0" lang="en-IN" sz="2000" b="0" i="0" u="none" strike="noStrike" kern="1200" cap="none" spc="-16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10" normalizeH="0" baseline="0" noProof="0" dirty="0">
                <a:ln>
                  <a:noFill/>
                </a:ln>
                <a:solidFill>
                  <a:schemeClr val="tx1"/>
                </a:solidFill>
                <a:effectLst/>
                <a:uLnTx/>
                <a:uFillTx/>
                <a:latin typeface="Trebuchet MS" panose="020B0603020202020204" pitchFamily="34" charset="0"/>
                <a:ea typeface="+mn-ea"/>
              </a:rPr>
              <a:t>file</a:t>
            </a:r>
            <a:r>
              <a:rPr kumimoji="0" lang="en-IN" sz="2000" b="0" i="0" u="none" strike="noStrike" kern="1200" cap="none" spc="-13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15" normalizeH="0" baseline="0" noProof="0" dirty="0">
                <a:ln>
                  <a:noFill/>
                </a:ln>
                <a:solidFill>
                  <a:schemeClr val="tx1"/>
                </a:solidFill>
                <a:effectLst/>
                <a:uLnTx/>
                <a:uFillTx/>
                <a:latin typeface="Trebuchet MS" panose="020B0603020202020204" pitchFamily="34" charset="0"/>
                <a:ea typeface="+mn-ea"/>
              </a:rPr>
              <a:t>with</a:t>
            </a:r>
            <a:r>
              <a:rPr kumimoji="0" lang="en-IN" sz="2000" b="0" i="0" u="none" strike="noStrike" kern="1200" cap="none" spc="-13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100" normalizeH="0" baseline="0" noProof="0" dirty="0">
                <a:ln>
                  <a:noFill/>
                </a:ln>
                <a:solidFill>
                  <a:schemeClr val="tx1"/>
                </a:solidFill>
                <a:effectLst/>
                <a:uLnTx/>
                <a:uFillTx/>
                <a:latin typeface="Trebuchet MS" panose="020B0603020202020204" pitchFamily="34" charset="0"/>
                <a:ea typeface="+mn-ea"/>
              </a:rPr>
              <a:t>an</a:t>
            </a:r>
            <a:r>
              <a:rPr kumimoji="0" lang="en-IN" sz="2000" b="0" i="0" u="none" strike="noStrike" kern="1200" cap="none" spc="-17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20" normalizeH="0" baseline="0" noProof="0" dirty="0">
                <a:ln>
                  <a:noFill/>
                </a:ln>
                <a:solidFill>
                  <a:schemeClr val="tx1"/>
                </a:solidFill>
                <a:effectLst/>
                <a:uLnTx/>
                <a:uFillTx/>
                <a:latin typeface="Trebuchet MS" panose="020B0603020202020204" pitchFamily="34" charset="0"/>
                <a:ea typeface="+mn-ea"/>
              </a:rPr>
              <a:t>editor</a:t>
            </a:r>
            <a:r>
              <a:rPr kumimoji="0" lang="en-IN" sz="2000" b="0" i="0" u="none" strike="noStrike" kern="1200" cap="none" spc="-10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45" normalizeH="0" baseline="0" noProof="0" dirty="0">
                <a:ln>
                  <a:noFill/>
                </a:ln>
                <a:solidFill>
                  <a:schemeClr val="tx1"/>
                </a:solidFill>
                <a:effectLst/>
                <a:uLnTx/>
                <a:uFillTx/>
                <a:latin typeface="Trebuchet MS" panose="020B0603020202020204" pitchFamily="34" charset="0"/>
                <a:ea typeface="+mn-ea"/>
              </a:rPr>
              <a:t>program</a:t>
            </a:r>
            <a:r>
              <a:rPr kumimoji="0" lang="en-IN" sz="2000" b="0" i="0" u="none" strike="noStrike" kern="1200" cap="none" spc="-190" normalizeH="0" baseline="0" noProof="0" dirty="0">
                <a:ln>
                  <a:noFill/>
                </a:ln>
                <a:solidFill>
                  <a:schemeClr val="tx1"/>
                </a:solidFill>
                <a:effectLst/>
                <a:uLnTx/>
                <a:uFillTx/>
                <a:latin typeface="Trebuchet MS" panose="020B0603020202020204" pitchFamily="34" charset="0"/>
                <a:ea typeface="+mn-ea"/>
              </a:rPr>
              <a:t> C++</a:t>
            </a:r>
            <a:r>
              <a:rPr kumimoji="0" lang="en-IN" sz="2000" b="0" i="0" u="none" strike="noStrike" kern="1200" cap="none" spc="-16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100" normalizeH="0" baseline="0" noProof="0" dirty="0">
                <a:ln>
                  <a:noFill/>
                </a:ln>
                <a:solidFill>
                  <a:schemeClr val="tx1"/>
                </a:solidFill>
                <a:effectLst/>
                <a:uLnTx/>
                <a:uFillTx/>
                <a:latin typeface="Trebuchet MS" panose="020B0603020202020204" pitchFamily="34" charset="0"/>
                <a:ea typeface="+mn-ea"/>
              </a:rPr>
              <a:t>source</a:t>
            </a:r>
            <a:r>
              <a:rPr kumimoji="0" lang="en-IN" sz="2000" b="0" i="0" u="none" strike="noStrike" kern="1200" cap="none" spc="-13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95" normalizeH="0" baseline="0" noProof="0" dirty="0">
                <a:ln>
                  <a:noFill/>
                </a:ln>
                <a:solidFill>
                  <a:schemeClr val="tx1"/>
                </a:solidFill>
                <a:effectLst/>
                <a:uLnTx/>
                <a:uFillTx/>
                <a:latin typeface="Trebuchet MS" panose="020B0603020202020204" pitchFamily="34" charset="0"/>
                <a:ea typeface="+mn-ea"/>
              </a:rPr>
              <a:t>cod </a:t>
            </a:r>
            <a:r>
              <a:rPr kumimoji="0" lang="en-IN" sz="2000" b="0" i="0" u="none" strike="noStrike" kern="1200" cap="none" spc="-65" normalizeH="0" baseline="0" noProof="0" dirty="0">
                <a:ln>
                  <a:noFill/>
                </a:ln>
                <a:solidFill>
                  <a:schemeClr val="tx1"/>
                </a:solidFill>
                <a:effectLst/>
                <a:uLnTx/>
                <a:uFillTx/>
                <a:latin typeface="Trebuchet MS" panose="020B0603020202020204" pitchFamily="34" charset="0"/>
                <a:ea typeface="+mn-ea"/>
              </a:rPr>
              <a:t>filenames</a:t>
            </a:r>
            <a:r>
              <a:rPr kumimoji="0" lang="en-IN" sz="2000" b="0" i="0" u="none" strike="noStrike" kern="1200" cap="none" spc="-10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10" normalizeH="0" baseline="0" noProof="0" dirty="0">
                <a:ln>
                  <a:noFill/>
                </a:ln>
                <a:solidFill>
                  <a:schemeClr val="tx1"/>
                </a:solidFill>
                <a:effectLst/>
                <a:uLnTx/>
                <a:uFillTx/>
                <a:latin typeface="Trebuchet MS" panose="020B0603020202020204" pitchFamily="34" charset="0"/>
                <a:ea typeface="+mn-ea"/>
              </a:rPr>
              <a:t>often</a:t>
            </a:r>
            <a:r>
              <a:rPr kumimoji="0" lang="en-IN" sz="2000" b="0" i="0" u="none" strike="noStrike" kern="1200" cap="none" spc="-130"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80" normalizeH="0" baseline="0" noProof="0" dirty="0">
                <a:ln>
                  <a:noFill/>
                </a:ln>
                <a:solidFill>
                  <a:schemeClr val="tx1"/>
                </a:solidFill>
                <a:effectLst/>
                <a:uLnTx/>
                <a:uFillTx/>
                <a:latin typeface="Trebuchet MS" panose="020B0603020202020204" pitchFamily="34" charset="0"/>
                <a:ea typeface="+mn-ea"/>
              </a:rPr>
              <a:t>end</a:t>
            </a:r>
            <a:r>
              <a:rPr kumimoji="0" lang="en-IN" sz="2000" b="0" i="0" u="none" strike="noStrike" kern="1200" cap="none" spc="-13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15" normalizeH="0" baseline="0" noProof="0" dirty="0">
                <a:ln>
                  <a:noFill/>
                </a:ln>
                <a:solidFill>
                  <a:schemeClr val="tx1"/>
                </a:solidFill>
                <a:effectLst/>
                <a:uLnTx/>
                <a:uFillTx/>
                <a:latin typeface="Trebuchet MS" panose="020B0603020202020204" pitchFamily="34" charset="0"/>
                <a:ea typeface="+mn-ea"/>
              </a:rPr>
              <a:t>with</a:t>
            </a:r>
            <a:r>
              <a:rPr kumimoji="0" lang="en-IN" sz="2000" b="0" i="0" u="none" strike="noStrike" kern="1200" cap="none" spc="-13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15" normalizeH="0" baseline="0" noProof="0" dirty="0">
                <a:ln>
                  <a:noFill/>
                </a:ln>
                <a:solidFill>
                  <a:schemeClr val="tx1"/>
                </a:solidFill>
                <a:effectLst/>
                <a:uLnTx/>
                <a:uFillTx/>
                <a:latin typeface="Trebuchet MS" panose="020B0603020202020204" pitchFamily="34" charset="0"/>
                <a:ea typeface="+mn-ea"/>
              </a:rPr>
              <a:t>the</a:t>
            </a:r>
            <a:r>
              <a:rPr kumimoji="0" lang="en-IN" sz="2000" b="0" i="0" u="none" strike="noStrike" kern="1200" cap="none" spc="-145" normalizeH="0" baseline="0" noProof="0" dirty="0">
                <a:ln>
                  <a:noFill/>
                </a:ln>
                <a:solidFill>
                  <a:schemeClr val="tx1"/>
                </a:solidFill>
                <a:effectLst/>
                <a:uLnTx/>
                <a:uFillTx/>
                <a:latin typeface="Trebuchet MS" panose="020B0603020202020204" pitchFamily="34" charset="0"/>
                <a:ea typeface="+mn-ea"/>
              </a:rPr>
              <a:t> </a:t>
            </a:r>
            <a:r>
              <a:rPr kumimoji="0" lang="en-IN" sz="2000" b="0" i="0" u="none" strike="noStrike" kern="1200" cap="none" spc="-70" normalizeH="0" baseline="0" noProof="0" dirty="0">
                <a:ln>
                  <a:noFill/>
                </a:ln>
                <a:solidFill>
                  <a:srgbClr val="FF0000"/>
                </a:solidFill>
                <a:effectLst/>
                <a:uLnTx/>
                <a:uFillTx/>
                <a:latin typeface="Trebuchet MS" panose="020B0603020202020204" pitchFamily="34" charset="0"/>
                <a:ea typeface="+mn-ea"/>
              </a:rPr>
              <a:t>.cpp</a:t>
            </a:r>
            <a:r>
              <a:rPr kumimoji="0" lang="en-IN" sz="2000" b="0" i="0" u="none" strike="noStrike" kern="1200" cap="none" spc="-130" normalizeH="0" baseline="0" noProof="0" dirty="0">
                <a:ln>
                  <a:noFill/>
                </a:ln>
                <a:solidFill>
                  <a:srgbClr val="FF0000"/>
                </a:solidFill>
                <a:effectLst/>
                <a:uLnTx/>
                <a:uFillTx/>
                <a:latin typeface="Trebuchet MS" panose="020B0603020202020204" pitchFamily="34" charset="0"/>
                <a:ea typeface="+mn-ea"/>
              </a:rPr>
              <a:t> </a:t>
            </a:r>
            <a:r>
              <a:rPr kumimoji="0" lang="en-IN" sz="2000" b="0" i="0" u="none" strike="noStrike" kern="1200" cap="none" spc="-75" normalizeH="0" baseline="0" noProof="0" dirty="0">
                <a:ln>
                  <a:noFill/>
                </a:ln>
                <a:solidFill>
                  <a:srgbClr val="FF0000"/>
                </a:solidFill>
                <a:effectLst/>
                <a:uLnTx/>
                <a:uFillTx/>
                <a:latin typeface="Trebuchet MS" panose="020B0603020202020204" pitchFamily="34" charset="0"/>
                <a:ea typeface="+mn-ea"/>
              </a:rPr>
              <a:t>extension.</a:t>
            </a:r>
            <a:endParaRPr kumimoji="0" lang="en-IN" sz="2000" b="0" i="0" u="none" strike="noStrike" kern="1200" cap="none" spc="0" normalizeH="0" baseline="0" noProof="0" dirty="0">
              <a:ln>
                <a:noFill/>
              </a:ln>
              <a:solidFill>
                <a:srgbClr val="FF0000"/>
              </a:solidFill>
              <a:effectLst/>
              <a:uLnTx/>
              <a:uFillTx/>
              <a:latin typeface="Trebuchet MS" panose="020B0603020202020204" pitchFamily="34" charset="0"/>
              <a:ea typeface="+mn-ea"/>
            </a:endParaRPr>
          </a:p>
          <a:p>
            <a:pPr marL="298450" marR="0" lvl="0" indent="-285750" algn="l" defTabSz="914400" rtl="0" eaLnBrk="1" fontAlgn="auto" latinLnBrk="0" hangingPunct="1">
              <a:spcBef>
                <a:spcPts val="600"/>
              </a:spcBef>
              <a:buClrTx/>
              <a:buSzTx/>
              <a:buFont typeface="Arial" panose="020B0604020202020204" pitchFamily="34" charset="0"/>
              <a:buChar char="•"/>
              <a:tabLst>
                <a:tab pos="195580" algn="l"/>
              </a:tabLst>
              <a:defRPr/>
            </a:pPr>
            <a:r>
              <a:rPr kumimoji="0" lang="en-IN" sz="2000" b="0" i="0" u="none" strike="noStrike" kern="1200" cap="none" spc="-60" normalizeH="0" baseline="0" noProof="0" dirty="0">
                <a:ln>
                  <a:noFill/>
                </a:ln>
                <a:solidFill>
                  <a:schemeClr val="tx1"/>
                </a:solidFill>
                <a:effectLst/>
                <a:uLnTx/>
                <a:uFillTx/>
                <a:latin typeface="Trebuchet MS" panose="020B0603020202020204" pitchFamily="34" charset="0"/>
                <a:ea typeface="+mn-ea"/>
              </a:rPr>
              <a:t>In </a:t>
            </a:r>
            <a:r>
              <a:rPr kumimoji="0" lang="en-IN" sz="2000" b="0" i="0" u="none" strike="noStrike" kern="1200" cap="none" spc="-70" normalizeH="0" baseline="0" noProof="0" dirty="0">
                <a:ln>
                  <a:noFill/>
                </a:ln>
                <a:solidFill>
                  <a:schemeClr val="tx1"/>
                </a:solidFill>
                <a:effectLst/>
                <a:uLnTx/>
                <a:uFillTx/>
                <a:latin typeface="Trebuchet MS" panose="020B0603020202020204" pitchFamily="34" charset="0"/>
                <a:ea typeface="+mn-ea"/>
              </a:rPr>
              <a:t>Windows: Notepad++, </a:t>
            </a:r>
            <a:r>
              <a:rPr kumimoji="0" lang="en-IN" sz="2000" b="0" i="0" u="none" strike="noStrike" kern="1200" cap="none" spc="-75" normalizeH="0" baseline="0" noProof="0" dirty="0">
                <a:ln>
                  <a:noFill/>
                </a:ln>
                <a:solidFill>
                  <a:schemeClr val="tx1"/>
                </a:solidFill>
                <a:effectLst/>
                <a:uLnTx/>
                <a:uFillTx/>
                <a:latin typeface="Trebuchet MS" panose="020B0603020202020204" pitchFamily="34" charset="0"/>
                <a:ea typeface="+mn-ea"/>
              </a:rPr>
              <a:t>turbo C++, </a:t>
            </a:r>
            <a:r>
              <a:rPr kumimoji="0" lang="en-IN" sz="2000" b="0" i="0" u="none" strike="noStrike" kern="1200" cap="none" spc="-105" normalizeH="0" baseline="0" noProof="0" dirty="0">
                <a:ln>
                  <a:noFill/>
                </a:ln>
                <a:solidFill>
                  <a:schemeClr val="tx1"/>
                </a:solidFill>
                <a:effectLst/>
                <a:uLnTx/>
                <a:uFillTx/>
                <a:latin typeface="Trebuchet MS" panose="020B0603020202020204" pitchFamily="34" charset="0"/>
                <a:ea typeface="+mn-ea"/>
              </a:rPr>
              <a:t>Code blocks,</a:t>
            </a:r>
            <a:r>
              <a:rPr lang="en-IN" sz="2000" b="1" i="0" dirty="0">
                <a:solidFill>
                  <a:srgbClr val="202124"/>
                </a:solidFill>
                <a:effectLst/>
                <a:latin typeface="arial" panose="020B0604020202020204" pitchFamily="34" charset="0"/>
              </a:rPr>
              <a:t> </a:t>
            </a:r>
            <a:r>
              <a:rPr lang="en-IN" sz="2000" kern="1200" spc="-105" dirty="0">
                <a:solidFill>
                  <a:schemeClr val="tx1"/>
                </a:solidFill>
                <a:latin typeface="Trebuchet MS" panose="020B0603020202020204" pitchFamily="34" charset="0"/>
                <a:ea typeface="+mn-ea"/>
              </a:rPr>
              <a:t>Visual Studio </a:t>
            </a:r>
            <a:r>
              <a:rPr kumimoji="0" lang="en-IN" sz="2000" b="0" i="0" u="none" strike="noStrike" kern="1200" cap="none" spc="-45" normalizeH="0" baseline="0" noProof="0" dirty="0">
                <a:ln>
                  <a:noFill/>
                </a:ln>
                <a:solidFill>
                  <a:schemeClr val="tx1"/>
                </a:solidFill>
                <a:effectLst/>
                <a:uLnTx/>
                <a:uFillTx/>
                <a:latin typeface="Trebuchet MS" panose="020B0603020202020204" pitchFamily="34" charset="0"/>
                <a:ea typeface="+mn-ea"/>
              </a:rPr>
              <a:t>etc.</a:t>
            </a:r>
          </a:p>
          <a:p>
            <a:pPr marL="12700" marR="0" lvl="0" algn="l" defTabSz="914400" rtl="0" eaLnBrk="1" fontAlgn="auto" latinLnBrk="0" hangingPunct="1">
              <a:spcBef>
                <a:spcPts val="600"/>
              </a:spcBef>
              <a:buClrTx/>
              <a:buSzTx/>
              <a:tabLst>
                <a:tab pos="195580" algn="l"/>
              </a:tabLst>
              <a:defRPr/>
            </a:pPr>
            <a:r>
              <a:rPr lang="en-IN" sz="2000" b="1" kern="1200" spc="-50" dirty="0">
                <a:solidFill>
                  <a:srgbClr val="0070C0"/>
                </a:solidFill>
                <a:latin typeface="Trebuchet MS" panose="020B0603020202020204" pitchFamily="34" charset="0"/>
                <a:ea typeface="+mn-ea"/>
              </a:rPr>
              <a:t>Phases 2 and 3: Preprocessing and Compiling a C++ Program</a:t>
            </a:r>
          </a:p>
          <a:p>
            <a:pPr marL="298450" marR="0" lvl="0" indent="-285750" algn="l" defTabSz="914400" rtl="0" eaLnBrk="1" fontAlgn="auto" latinLnBrk="0" hangingPunct="1">
              <a:spcBef>
                <a:spcPts val="600"/>
              </a:spcBef>
              <a:spcAft>
                <a:spcPts val="600"/>
              </a:spcAft>
              <a:buClrTx/>
              <a:buSzTx/>
              <a:buFont typeface="Arial" panose="020B0604020202020204" pitchFamily="34" charset="0"/>
              <a:buChar char="•"/>
              <a:tabLst>
                <a:tab pos="195580" algn="l"/>
              </a:tabLst>
              <a:defRPr/>
            </a:pPr>
            <a:r>
              <a:rPr kumimoji="0" lang="en-IN" sz="2000" b="0" i="0" u="none" strike="noStrike" kern="1200" cap="none" spc="0" normalizeH="0" baseline="0" noProof="0" dirty="0">
                <a:ln>
                  <a:noFill/>
                </a:ln>
                <a:solidFill>
                  <a:schemeClr val="tx1"/>
                </a:solidFill>
                <a:effectLst/>
                <a:uLnTx/>
                <a:uFillTx/>
                <a:latin typeface="Trebuchet MS" panose="020B0603020202020204" pitchFamily="34" charset="0"/>
                <a:ea typeface="+mn-ea"/>
              </a:rPr>
              <a:t>A </a:t>
            </a:r>
            <a:r>
              <a:rPr kumimoji="0" lang="en-IN" sz="2000" b="0" i="0" u="none" strike="noStrike" kern="1200" cap="none" spc="0" normalizeH="0" baseline="0" noProof="0" dirty="0" err="1">
                <a:ln>
                  <a:noFill/>
                </a:ln>
                <a:solidFill>
                  <a:schemeClr val="tx1"/>
                </a:solidFill>
                <a:effectLst/>
                <a:uLnTx/>
                <a:uFillTx/>
                <a:latin typeface="Trebuchet MS" panose="020B0603020202020204" pitchFamily="34" charset="0"/>
                <a:ea typeface="+mn-ea"/>
              </a:rPr>
              <a:t>preprocessor</a:t>
            </a:r>
            <a:r>
              <a:rPr kumimoji="0" lang="en-IN" sz="2000" b="0" i="0" u="none" strike="noStrike" kern="1200" cap="none" spc="0" normalizeH="0" baseline="0" noProof="0" dirty="0">
                <a:ln>
                  <a:noFill/>
                </a:ln>
                <a:solidFill>
                  <a:schemeClr val="tx1"/>
                </a:solidFill>
                <a:effectLst/>
                <a:uLnTx/>
                <a:uFillTx/>
                <a:latin typeface="Trebuchet MS" panose="020B0603020202020204" pitchFamily="34" charset="0"/>
                <a:ea typeface="+mn-ea"/>
              </a:rPr>
              <a:t> program executes automatically before the  compiler’s translation phase begins. </a:t>
            </a:r>
          </a:p>
          <a:p>
            <a:pPr marL="298450" marR="0" lvl="0" indent="-285750" algn="l" defTabSz="914400" rtl="0" eaLnBrk="1" fontAlgn="auto" latinLnBrk="0" hangingPunct="1">
              <a:spcBef>
                <a:spcPts val="600"/>
              </a:spcBef>
              <a:spcAft>
                <a:spcPts val="600"/>
              </a:spcAft>
              <a:buClrTx/>
              <a:buSzTx/>
              <a:buFont typeface="Arial" panose="020B0604020202020204" pitchFamily="34" charset="0"/>
              <a:buChar char="•"/>
              <a:tabLst>
                <a:tab pos="195580" algn="l"/>
              </a:tabLst>
              <a:defRPr/>
            </a:pPr>
            <a:r>
              <a:rPr kumimoji="0" lang="en-IN" sz="2000" b="0" i="0" u="none" strike="noStrike" kern="1200" cap="none" spc="0" normalizeH="0" baseline="0" noProof="0" dirty="0">
                <a:ln>
                  <a:noFill/>
                </a:ln>
                <a:solidFill>
                  <a:schemeClr val="tx1"/>
                </a:solidFill>
                <a:effectLst/>
                <a:uLnTx/>
                <a:uFillTx/>
                <a:latin typeface="Trebuchet MS" panose="020B0603020202020204" pitchFamily="34" charset="0"/>
                <a:ea typeface="+mn-ea"/>
              </a:rPr>
              <a:t>The C++ </a:t>
            </a:r>
            <a:r>
              <a:rPr kumimoji="0" lang="en-IN" sz="2000" b="0" i="0" u="none" strike="noStrike" kern="1200" cap="none" spc="0" normalizeH="0" baseline="0" noProof="0" dirty="0" err="1">
                <a:ln>
                  <a:noFill/>
                </a:ln>
                <a:solidFill>
                  <a:schemeClr val="tx1"/>
                </a:solidFill>
                <a:effectLst/>
                <a:uLnTx/>
                <a:uFillTx/>
                <a:latin typeface="Trebuchet MS" panose="020B0603020202020204" pitchFamily="34" charset="0"/>
                <a:ea typeface="+mn-ea"/>
              </a:rPr>
              <a:t>preprocessor</a:t>
            </a:r>
            <a:r>
              <a:rPr kumimoji="0" lang="en-IN" sz="2000" b="0" i="0" u="none" strike="noStrike" kern="1200" cap="none" spc="0" normalizeH="0" baseline="0" noProof="0" dirty="0">
                <a:ln>
                  <a:noFill/>
                </a:ln>
                <a:solidFill>
                  <a:schemeClr val="tx1"/>
                </a:solidFill>
                <a:effectLst/>
                <a:uLnTx/>
                <a:uFillTx/>
                <a:latin typeface="Trebuchet MS" panose="020B0603020202020204" pitchFamily="34" charset="0"/>
                <a:ea typeface="+mn-ea"/>
              </a:rPr>
              <a:t> obeys  commands called </a:t>
            </a:r>
            <a:r>
              <a:rPr kumimoji="0" lang="en-IN" sz="2000" b="0" i="0" u="none" strike="noStrike" kern="1200" cap="none" spc="0" normalizeH="0" baseline="0" noProof="0" dirty="0" err="1">
                <a:ln>
                  <a:noFill/>
                </a:ln>
                <a:solidFill>
                  <a:schemeClr val="tx1"/>
                </a:solidFill>
                <a:effectLst/>
                <a:uLnTx/>
                <a:uFillTx/>
                <a:latin typeface="Trebuchet MS" panose="020B0603020202020204" pitchFamily="34" charset="0"/>
                <a:ea typeface="+mn-ea"/>
              </a:rPr>
              <a:t>preprocessor</a:t>
            </a:r>
            <a:r>
              <a:rPr kumimoji="0" lang="en-IN" sz="2000" b="0" i="0" u="none" strike="noStrike" kern="1200" cap="none" spc="0" normalizeH="0" baseline="0" noProof="0" dirty="0">
                <a:ln>
                  <a:noFill/>
                </a:ln>
                <a:solidFill>
                  <a:schemeClr val="tx1"/>
                </a:solidFill>
                <a:effectLst/>
                <a:uLnTx/>
                <a:uFillTx/>
                <a:latin typeface="Trebuchet MS" panose="020B0603020202020204" pitchFamily="34" charset="0"/>
                <a:ea typeface="+mn-ea"/>
              </a:rPr>
              <a:t> directives, which indicate that  certain manipulations are to be performed on the program before  compilation.</a:t>
            </a:r>
          </a:p>
        </p:txBody>
      </p:sp>
    </p:spTree>
    <p:extLst>
      <p:ext uri="{BB962C8B-B14F-4D97-AF65-F5344CB8AC3E}">
        <p14:creationId xmlns:p14="http://schemas.microsoft.com/office/powerpoint/2010/main" val="19323290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Basics of a Typical C++ Environment</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49F21AC7-3FAD-4CEB-B8E5-96192F6EC044}"/>
              </a:ext>
            </a:extLst>
          </p:cNvPr>
          <p:cNvSpPr txBox="1"/>
          <p:nvPr/>
        </p:nvSpPr>
        <p:spPr>
          <a:xfrm>
            <a:off x="1126593" y="1667189"/>
            <a:ext cx="9467516" cy="4070345"/>
          </a:xfrm>
          <a:prstGeom prst="rect">
            <a:avLst/>
          </a:prstGeom>
          <a:noFill/>
        </p:spPr>
        <p:txBody>
          <a:bodyPr wrap="square">
            <a:spAutoFit/>
          </a:bodyPr>
          <a:lstStyle/>
          <a:p>
            <a:r>
              <a:rPr lang="en-IN" sz="2000" b="1" dirty="0">
                <a:solidFill>
                  <a:srgbClr val="0070C0"/>
                </a:solidFill>
                <a:latin typeface="Trebuchet MS" panose="020B0603020202020204" pitchFamily="34" charset="0"/>
              </a:rPr>
              <a:t>Phase 4: Linking</a:t>
            </a:r>
          </a:p>
          <a:p>
            <a:pPr marL="285750" indent="-285750">
              <a:buFont typeface="Arial" panose="020B0604020202020204" pitchFamily="34" charset="0"/>
              <a:buChar char="•"/>
            </a:pPr>
            <a:r>
              <a:rPr lang="en-IN" sz="2000" dirty="0">
                <a:latin typeface="Trebuchet MS" panose="020B0603020202020204" pitchFamily="34" charset="0"/>
              </a:rPr>
              <a:t>A linker links the object code with the code for the missing functions  to produce an executable program.</a:t>
            </a:r>
          </a:p>
          <a:p>
            <a:pPr marL="12700">
              <a:lnSpc>
                <a:spcPct val="100000"/>
              </a:lnSpc>
              <a:spcBef>
                <a:spcPts val="1065"/>
              </a:spcBef>
            </a:pPr>
            <a:r>
              <a:rPr lang="en-IN" sz="2000" b="1" spc="-50" dirty="0">
                <a:solidFill>
                  <a:srgbClr val="0070C0"/>
                </a:solidFill>
                <a:latin typeface="Trebuchet MS" panose="020B0603020202020204" pitchFamily="34" charset="0"/>
                <a:cs typeface="Trebuchet MS"/>
              </a:rPr>
              <a:t>Phase</a:t>
            </a:r>
            <a:r>
              <a:rPr lang="en-IN" sz="2000" b="1" spc="-165" dirty="0">
                <a:solidFill>
                  <a:srgbClr val="0070C0"/>
                </a:solidFill>
                <a:latin typeface="Trebuchet MS" panose="020B0603020202020204" pitchFamily="34" charset="0"/>
                <a:cs typeface="Trebuchet MS"/>
              </a:rPr>
              <a:t> </a:t>
            </a:r>
            <a:r>
              <a:rPr lang="en-IN" sz="2000" b="1" spc="-170" dirty="0">
                <a:solidFill>
                  <a:srgbClr val="0070C0"/>
                </a:solidFill>
                <a:latin typeface="Trebuchet MS" panose="020B0603020202020204" pitchFamily="34" charset="0"/>
                <a:cs typeface="Trebuchet MS"/>
              </a:rPr>
              <a:t>5 :</a:t>
            </a:r>
            <a:r>
              <a:rPr lang="en-IN" sz="2000" b="1" spc="-200" dirty="0">
                <a:solidFill>
                  <a:srgbClr val="0070C0"/>
                </a:solidFill>
                <a:latin typeface="Trebuchet MS" panose="020B0603020202020204" pitchFamily="34" charset="0"/>
                <a:cs typeface="Trebuchet MS"/>
              </a:rPr>
              <a:t> </a:t>
            </a:r>
            <a:r>
              <a:rPr lang="en-IN" sz="2000" b="1" spc="-35" dirty="0">
                <a:solidFill>
                  <a:srgbClr val="0070C0"/>
                </a:solidFill>
                <a:latin typeface="Trebuchet MS" panose="020B0603020202020204" pitchFamily="34" charset="0"/>
                <a:cs typeface="Trebuchet MS"/>
              </a:rPr>
              <a:t>Loading</a:t>
            </a:r>
            <a:endParaRPr lang="en-IN" sz="2000" dirty="0">
              <a:solidFill>
                <a:srgbClr val="0070C0"/>
              </a:solidFill>
              <a:latin typeface="Trebuchet MS" panose="020B0603020202020204" pitchFamily="34" charset="0"/>
              <a:cs typeface="Trebuchet MS"/>
            </a:endParaRPr>
          </a:p>
          <a:p>
            <a:pPr marL="298450" indent="-285750">
              <a:lnSpc>
                <a:spcPts val="2280"/>
              </a:lnSpc>
              <a:buFont typeface="Arial" panose="020B0604020202020204" pitchFamily="34" charset="0"/>
              <a:buChar char="•"/>
            </a:pPr>
            <a:r>
              <a:rPr lang="en-IN" sz="2000" spc="-45" dirty="0">
                <a:solidFill>
                  <a:schemeClr val="tx1"/>
                </a:solidFill>
                <a:latin typeface="Trebuchet MS" panose="020B0603020202020204" pitchFamily="34" charset="0"/>
              </a:rPr>
              <a:t>Before a program can be executed, it must first be placed in memory. This is done by the loader, which takes the executable program from disk and transfers it to memory. </a:t>
            </a:r>
          </a:p>
          <a:p>
            <a:pPr marL="298450" indent="-285750">
              <a:lnSpc>
                <a:spcPts val="2280"/>
              </a:lnSpc>
              <a:buFont typeface="Arial" panose="020B0604020202020204" pitchFamily="34" charset="0"/>
              <a:buChar char="•"/>
            </a:pPr>
            <a:r>
              <a:rPr lang="en-IN" sz="2000" spc="-45" dirty="0">
                <a:solidFill>
                  <a:schemeClr val="tx1"/>
                </a:solidFill>
                <a:latin typeface="Trebuchet MS" panose="020B0603020202020204" pitchFamily="34" charset="0"/>
              </a:rPr>
              <a:t>Additional components from shared libraries that support the program are also loaded.</a:t>
            </a:r>
          </a:p>
          <a:p>
            <a:pPr marL="12700">
              <a:lnSpc>
                <a:spcPts val="2280"/>
              </a:lnSpc>
            </a:pPr>
            <a:r>
              <a:rPr lang="en-IN" sz="2000" b="1" spc="-50" dirty="0">
                <a:solidFill>
                  <a:srgbClr val="0070C0"/>
                </a:solidFill>
                <a:latin typeface="Trebuchet MS" panose="020B0603020202020204" pitchFamily="34" charset="0"/>
                <a:cs typeface="Trebuchet MS"/>
              </a:rPr>
              <a:t>Phase</a:t>
            </a:r>
            <a:r>
              <a:rPr lang="en-IN" sz="2000" b="1" spc="-165" dirty="0">
                <a:solidFill>
                  <a:srgbClr val="0070C0"/>
                </a:solidFill>
                <a:latin typeface="Trebuchet MS" panose="020B0603020202020204" pitchFamily="34" charset="0"/>
                <a:cs typeface="Trebuchet MS"/>
              </a:rPr>
              <a:t> </a:t>
            </a:r>
            <a:r>
              <a:rPr lang="en-IN" sz="2000" b="1" spc="-170" dirty="0">
                <a:solidFill>
                  <a:srgbClr val="0070C0"/>
                </a:solidFill>
                <a:latin typeface="Trebuchet MS" panose="020B0603020202020204" pitchFamily="34" charset="0"/>
                <a:cs typeface="Trebuchet MS"/>
              </a:rPr>
              <a:t>6 :</a:t>
            </a:r>
            <a:r>
              <a:rPr lang="en-IN" sz="2000" b="1" spc="-50" dirty="0">
                <a:solidFill>
                  <a:srgbClr val="0070C0"/>
                </a:solidFill>
                <a:latin typeface="Trebuchet MS" panose="020B0603020202020204" pitchFamily="34" charset="0"/>
                <a:cs typeface="Trebuchet MS"/>
              </a:rPr>
              <a:t> </a:t>
            </a:r>
            <a:r>
              <a:rPr lang="en-IN" sz="2000" b="1" spc="-85" dirty="0">
                <a:solidFill>
                  <a:srgbClr val="0070C0"/>
                </a:solidFill>
                <a:latin typeface="Trebuchet MS" panose="020B0603020202020204" pitchFamily="34" charset="0"/>
                <a:cs typeface="Trebuchet MS"/>
              </a:rPr>
              <a:t>Execution</a:t>
            </a:r>
          </a:p>
          <a:p>
            <a:pPr marL="298450" indent="-285750">
              <a:lnSpc>
                <a:spcPts val="2280"/>
              </a:lnSpc>
              <a:buFont typeface="Arial" panose="020B0604020202020204" pitchFamily="34" charset="0"/>
              <a:buChar char="•"/>
            </a:pPr>
            <a:r>
              <a:rPr lang="en-IN" sz="2000" spc="-45" dirty="0">
                <a:solidFill>
                  <a:schemeClr val="tx1"/>
                </a:solidFill>
                <a:latin typeface="Trebuchet MS" panose="020B0603020202020204" pitchFamily="34" charset="0"/>
              </a:rPr>
              <a:t>Finally, the computer, under the control of its CPU, executes the program one instruction at a time.</a:t>
            </a:r>
          </a:p>
          <a:p>
            <a:endParaRPr lang="en-IN" sz="1600" dirty="0">
              <a:latin typeface="Trebuchet MS" panose="020B0603020202020204" pitchFamily="34" charset="0"/>
            </a:endParaRPr>
          </a:p>
        </p:txBody>
      </p:sp>
    </p:spTree>
    <p:extLst>
      <p:ext uri="{BB962C8B-B14F-4D97-AF65-F5344CB8AC3E}">
        <p14:creationId xmlns:p14="http://schemas.microsoft.com/office/powerpoint/2010/main" val="32176090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kern="0" dirty="0">
                <a:solidFill>
                  <a:srgbClr val="FFFFFF"/>
                </a:solidFill>
                <a:latin typeface="Trebuchet MS" panose="020B0603020202020204" pitchFamily="34" charset="0"/>
                <a:cs typeface="Arial"/>
                <a:sym typeface="Arial"/>
              </a:rPr>
              <a:t>Preprocessor directives </a:t>
            </a:r>
            <a:br>
              <a:rPr lang="en-IN" sz="2800" b="1" kern="0" dirty="0">
                <a:solidFill>
                  <a:srgbClr val="FFFFFF"/>
                </a:solidFill>
                <a:latin typeface="Trebuchet MS" panose="020B0603020202020204" pitchFamily="34" charset="0"/>
                <a:cs typeface="Arial"/>
                <a:sym typeface="Arial"/>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1A516791-5E6B-443B-9058-EFFE5F619414}"/>
              </a:ext>
            </a:extLst>
          </p:cNvPr>
          <p:cNvSpPr txBox="1"/>
          <p:nvPr/>
        </p:nvSpPr>
        <p:spPr>
          <a:xfrm>
            <a:off x="1129521" y="1596223"/>
            <a:ext cx="10018770" cy="4652492"/>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The </a:t>
            </a:r>
            <a:r>
              <a:rPr kumimoji="0" lang="en-IN" sz="20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preprocessor</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is a </a:t>
            </a:r>
            <a:r>
              <a:rPr kumimoji="0" lang="en-IN" sz="20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program that is invoked by the compiler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to process code before compilation.</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Commands for that program, known as directives, are lines of the source file beginning with the </a:t>
            </a:r>
            <a:r>
              <a:rPr kumimoji="0" lang="en-IN" sz="20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character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which distinguishes them from lines of source program text. </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The effect of each </a:t>
            </a:r>
            <a:r>
              <a:rPr kumimoji="0" lang="en-IN" sz="20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preprocessor</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directive is a change to the text of the source code, and the result is a new source code file, which does not contain the directives. </a:t>
            </a:r>
          </a:p>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The </a:t>
            </a:r>
            <a:r>
              <a:rPr kumimoji="0" lang="en-IN" sz="2000" b="0" i="0" u="none" strike="noStrike" kern="0" cap="none" spc="0" normalizeH="0" baseline="0" noProof="0" dirty="0" err="1">
                <a:ln>
                  <a:noFill/>
                </a:ln>
                <a:solidFill>
                  <a:srgbClr val="000000"/>
                </a:solidFill>
                <a:effectLst/>
                <a:uLnTx/>
                <a:uFillTx/>
                <a:latin typeface="Trebuchet MS" panose="020B0603020202020204" pitchFamily="34" charset="0"/>
                <a:cs typeface="Arial"/>
                <a:sym typeface="Arial"/>
              </a:rPr>
              <a:t>preprocessed</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source code, an intermediate file, must be a valid C or C++ program, because it becomes the input to the compiler.</a:t>
            </a:r>
          </a:p>
        </p:txBody>
      </p:sp>
    </p:spTree>
    <p:extLst>
      <p:ext uri="{BB962C8B-B14F-4D97-AF65-F5344CB8AC3E}">
        <p14:creationId xmlns:p14="http://schemas.microsoft.com/office/powerpoint/2010/main" val="2570885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kern="0" dirty="0">
                <a:solidFill>
                  <a:srgbClr val="FFFFFF"/>
                </a:solidFill>
                <a:latin typeface="Trebuchet MS" panose="020B0603020202020204" pitchFamily="34" charset="0"/>
                <a:cs typeface="Arial"/>
                <a:sym typeface="Arial"/>
              </a:rPr>
              <a:t>Preprocessor directives </a:t>
            </a:r>
            <a:br>
              <a:rPr lang="en-IN" sz="2800" b="1" kern="0" dirty="0">
                <a:solidFill>
                  <a:srgbClr val="FFFFFF"/>
                </a:solidFill>
                <a:latin typeface="Trebuchet MS" panose="020B0603020202020204" pitchFamily="34" charset="0"/>
                <a:cs typeface="Arial"/>
                <a:sym typeface="Arial"/>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CA1342AE-13DD-48FA-9BE8-97227BD0DFC2}"/>
              </a:ext>
            </a:extLst>
          </p:cNvPr>
          <p:cNvSpPr txBox="1"/>
          <p:nvPr/>
        </p:nvSpPr>
        <p:spPr>
          <a:xfrm>
            <a:off x="941401" y="1553195"/>
            <a:ext cx="10040635" cy="4652492"/>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There are 4 Main Types of Preprocessor Directives:  </a:t>
            </a:r>
          </a:p>
          <a:p>
            <a:pPr marL="712788" marR="0" lvl="0" indent="-350838"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ü"/>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Macros</a:t>
            </a:r>
          </a:p>
          <a:p>
            <a:pPr marL="712788" marR="0" lvl="0" indent="-350838"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ü"/>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File Inclusion</a:t>
            </a:r>
          </a:p>
          <a:p>
            <a:pPr marL="712788" marR="0" lvl="0" indent="-350838"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ü"/>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Conditional Compilation</a:t>
            </a:r>
          </a:p>
          <a:p>
            <a:pPr marL="712788" marR="0" lvl="0" indent="-350838" algn="l" defTabSz="914400" rtl="0" eaLnBrk="1" fontAlgn="auto" latinLnBrk="0" hangingPunct="1">
              <a:lnSpc>
                <a:spcPct val="150000"/>
              </a:lnSpc>
              <a:spcBef>
                <a:spcPts val="0"/>
              </a:spcBef>
              <a:spcAft>
                <a:spcPts val="0"/>
              </a:spcAft>
              <a:buClr>
                <a:srgbClr val="000000"/>
              </a:buClr>
              <a:buSzTx/>
              <a:buFont typeface="Wingdings" panose="05000000000000000000" pitchFamily="2" charset="2"/>
              <a:buChar char="ü"/>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Other directives</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Macros</a:t>
            </a:r>
          </a:p>
          <a:p>
            <a:pPr marL="64770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Macros are pieces of code in a program that is given some name.</a:t>
            </a:r>
          </a:p>
          <a:p>
            <a:pPr marL="64770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 Whenever this name is encountered by the compiler, the compiler replaces the name with the actual piece of code. </a:t>
            </a:r>
          </a:p>
          <a:p>
            <a:pPr marL="64770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The </a:t>
            </a:r>
            <a:r>
              <a:rPr kumimoji="0" lang="en-IN" sz="20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‘#define’ </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rPr>
              <a:t>directive is used to define a macro.</a:t>
            </a:r>
          </a:p>
        </p:txBody>
      </p:sp>
    </p:spTree>
    <p:extLst>
      <p:ext uri="{BB962C8B-B14F-4D97-AF65-F5344CB8AC3E}">
        <p14:creationId xmlns:p14="http://schemas.microsoft.com/office/powerpoint/2010/main" val="126350203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kern="0" dirty="0">
                <a:solidFill>
                  <a:srgbClr val="FFFFFF"/>
                </a:solidFill>
                <a:latin typeface="Trebuchet MS" panose="020B0603020202020204" pitchFamily="34" charset="0"/>
                <a:cs typeface="Arial"/>
                <a:sym typeface="Arial"/>
              </a:rPr>
              <a:t>Preprocessor directives </a:t>
            </a:r>
            <a:br>
              <a:rPr lang="en-IN" sz="2800" b="1" kern="0" dirty="0">
                <a:solidFill>
                  <a:srgbClr val="FFFFFF"/>
                </a:solidFill>
                <a:latin typeface="Trebuchet MS" panose="020B0603020202020204" pitchFamily="34" charset="0"/>
                <a:cs typeface="Arial"/>
                <a:sym typeface="Arial"/>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02A0923D-80FB-4880-81AE-8CBB7DB944FF}"/>
              </a:ext>
            </a:extLst>
          </p:cNvPr>
          <p:cNvSpPr txBox="1"/>
          <p:nvPr/>
        </p:nvSpPr>
        <p:spPr>
          <a:xfrm>
            <a:off x="1107656" y="1553195"/>
            <a:ext cx="9772780" cy="4069256"/>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FF0000"/>
                </a:solidFill>
                <a:effectLst/>
                <a:uLnTx/>
                <a:uFillTx/>
                <a:latin typeface="Trebuchet MS" panose="020B0603020202020204" pitchFamily="34" charset="0"/>
                <a:cs typeface="Arial"/>
                <a:sym typeface="Arial"/>
              </a:rPr>
              <a:t>File Inclusion</a:t>
            </a:r>
          </a:p>
          <a:p>
            <a:pPr marL="64770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273239"/>
                </a:solidFill>
                <a:effectLst/>
                <a:uLnTx/>
                <a:uFillTx/>
                <a:latin typeface="Trebuchet MS" panose="020B0603020202020204" pitchFamily="34" charset="0"/>
                <a:cs typeface="Arial"/>
                <a:sym typeface="Arial"/>
              </a:rPr>
              <a:t>This type of preprocessor directive tells the compiler to include a file in the source code program. </a:t>
            </a:r>
          </a:p>
          <a:p>
            <a:pPr marL="64770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273239"/>
                </a:solidFill>
                <a:effectLst/>
                <a:uLnTx/>
                <a:uFillTx/>
                <a:latin typeface="Trebuchet MS" panose="020B0603020202020204" pitchFamily="34" charset="0"/>
                <a:cs typeface="Arial"/>
                <a:sym typeface="Arial"/>
              </a:rPr>
              <a:t>There are two types of files that can be included by the user in the program: </a:t>
            </a:r>
          </a:p>
          <a:p>
            <a:pPr marL="704850" marR="0" lvl="0" indent="-342900" algn="l" defTabSz="914400" rtl="0" eaLnBrk="1" fontAlgn="auto" latinLnBrk="0" hangingPunct="1">
              <a:lnSpc>
                <a:spcPct val="150000"/>
              </a:lnSpc>
              <a:spcBef>
                <a:spcPts val="0"/>
              </a:spcBef>
              <a:spcAft>
                <a:spcPts val="0"/>
              </a:spcAft>
              <a:buClr>
                <a:srgbClr val="000000"/>
              </a:buClr>
              <a:buSzTx/>
              <a:buFont typeface="+mj-lt"/>
              <a:buAutoNum type="arabicParenR"/>
              <a:tabLst/>
              <a:defRPr/>
            </a:pPr>
            <a:r>
              <a:rPr kumimoji="0" lang="en-IN" sz="2000" b="0" i="0" u="sng" strike="noStrike" kern="0" cap="none" spc="0" normalizeH="0" baseline="0" noProof="0" dirty="0">
                <a:ln>
                  <a:noFill/>
                </a:ln>
                <a:solidFill>
                  <a:srgbClr val="000000"/>
                </a:solidFill>
                <a:effectLst/>
                <a:uLnTx/>
                <a:uFillTx/>
                <a:latin typeface="Trebuchet MS" panose="020B0603020202020204" pitchFamily="34" charset="0"/>
                <a:cs typeface="Arial"/>
                <a:sym typeface="Arial"/>
              </a:rPr>
              <a:t>Header files or Standard files: </a:t>
            </a:r>
          </a:p>
          <a:p>
            <a:pPr marL="64770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273239"/>
                </a:solidFill>
                <a:effectLst/>
                <a:uLnTx/>
                <a:uFillTx/>
                <a:latin typeface="Trebuchet MS" panose="020B0603020202020204" pitchFamily="34" charset="0"/>
                <a:cs typeface="Arial"/>
                <a:sym typeface="Arial"/>
              </a:rPr>
              <a:t>These files contain definitions of pre-defined functions like </a:t>
            </a:r>
            <a:r>
              <a:rPr kumimoji="0" lang="en-IN" sz="2000" b="1" i="0" u="none" strike="noStrike" kern="0" cap="none" spc="0" normalizeH="0" baseline="0" noProof="0" dirty="0" err="1">
                <a:ln>
                  <a:noFill/>
                </a:ln>
                <a:solidFill>
                  <a:srgbClr val="273239"/>
                </a:solidFill>
                <a:effectLst/>
                <a:uLnTx/>
                <a:uFillTx/>
                <a:latin typeface="Trebuchet MS" panose="020B0603020202020204" pitchFamily="34" charset="0"/>
                <a:cs typeface="Arial"/>
                <a:sym typeface="Arial"/>
              </a:rPr>
              <a:t>cout</a:t>
            </a:r>
            <a:r>
              <a:rPr kumimoji="0" lang="en-IN" sz="2000" b="1" i="0" u="none" strike="noStrike" kern="0" cap="none" spc="0" normalizeH="0" baseline="0" noProof="0" dirty="0">
                <a:ln>
                  <a:noFill/>
                </a:ln>
                <a:solidFill>
                  <a:srgbClr val="273239"/>
                </a:solidFill>
                <a:effectLst/>
                <a:uLnTx/>
                <a:uFillTx/>
                <a:latin typeface="Trebuchet MS" panose="020B0603020202020204" pitchFamily="34" charset="0"/>
                <a:cs typeface="Arial"/>
                <a:sym typeface="Arial"/>
              </a:rPr>
              <a:t>(), </a:t>
            </a:r>
            <a:r>
              <a:rPr kumimoji="0" lang="en-IN" sz="2000" b="1" i="0" u="none" strike="noStrike" kern="0" cap="none" spc="0" normalizeH="0" baseline="0" noProof="0" dirty="0" err="1">
                <a:ln>
                  <a:noFill/>
                </a:ln>
                <a:solidFill>
                  <a:srgbClr val="273239"/>
                </a:solidFill>
                <a:effectLst/>
                <a:uLnTx/>
                <a:uFillTx/>
                <a:latin typeface="Trebuchet MS" panose="020B0603020202020204" pitchFamily="34" charset="0"/>
                <a:cs typeface="Arial"/>
                <a:sym typeface="Arial"/>
              </a:rPr>
              <a:t>cin</a:t>
            </a:r>
            <a:r>
              <a:rPr kumimoji="0" lang="en-IN" sz="2000" b="1" i="0" u="none" strike="noStrike" kern="0" cap="none" spc="0" normalizeH="0" baseline="0" noProof="0" dirty="0">
                <a:ln>
                  <a:noFill/>
                </a:ln>
                <a:solidFill>
                  <a:srgbClr val="273239"/>
                </a:solidFill>
                <a:effectLst/>
                <a:uLnTx/>
                <a:uFillTx/>
                <a:latin typeface="Trebuchet MS" panose="020B0603020202020204" pitchFamily="34" charset="0"/>
                <a:cs typeface="Arial"/>
                <a:sym typeface="Arial"/>
              </a:rPr>
              <a:t>(), </a:t>
            </a:r>
            <a:r>
              <a:rPr kumimoji="0" lang="en-IN" sz="2000" b="0" i="0" u="none" strike="noStrike" kern="0" cap="none" spc="0" normalizeH="0" baseline="0" noProof="0" dirty="0">
                <a:ln>
                  <a:noFill/>
                </a:ln>
                <a:solidFill>
                  <a:srgbClr val="273239"/>
                </a:solidFill>
                <a:effectLst/>
                <a:uLnTx/>
                <a:uFillTx/>
                <a:latin typeface="Trebuchet MS" panose="020B0603020202020204" pitchFamily="34" charset="0"/>
                <a:cs typeface="Arial"/>
                <a:sym typeface="Arial"/>
              </a:rPr>
              <a:t>etc. </a:t>
            </a:r>
          </a:p>
          <a:p>
            <a:pPr marL="647700" marR="0" lvl="0" indent="-285750" algn="l" defTabSz="914400" rtl="0" eaLnBrk="1" fontAlgn="auto" latinLnBrk="0" hangingPunct="1">
              <a:lnSpc>
                <a:spcPct val="150000"/>
              </a:lnSpc>
              <a:spcBef>
                <a:spcPts val="0"/>
              </a:spcBef>
              <a:spcAft>
                <a:spcPts val="0"/>
              </a:spcAft>
              <a:buClr>
                <a:srgbClr val="000000"/>
              </a:buClr>
              <a:buSzTx/>
              <a:buFont typeface="Arial" panose="020B0604020202020204" pitchFamily="34" charset="0"/>
              <a:buChar char="•"/>
              <a:tabLst/>
              <a:defRPr/>
            </a:pPr>
            <a:r>
              <a:rPr kumimoji="0" lang="en-IN" sz="2000" b="0" i="0" u="none" strike="noStrike" kern="0" cap="none" spc="0" normalizeH="0" baseline="0" noProof="0" dirty="0">
                <a:ln>
                  <a:noFill/>
                </a:ln>
                <a:solidFill>
                  <a:srgbClr val="273239"/>
                </a:solidFill>
                <a:effectLst/>
                <a:uLnTx/>
                <a:uFillTx/>
                <a:latin typeface="Trebuchet MS" panose="020B0603020202020204" pitchFamily="34" charset="0"/>
                <a:cs typeface="Arial"/>
                <a:sym typeface="Arial"/>
              </a:rPr>
              <a:t>These files must be included to work with these functions. Different functions are declared in different header files.</a:t>
            </a:r>
          </a:p>
          <a:p>
            <a:pPr marL="704850" marR="0" lvl="0" indent="-342900" algn="l" defTabSz="914400" rtl="0" eaLnBrk="1" fontAlgn="auto" latinLnBrk="0" hangingPunct="1">
              <a:lnSpc>
                <a:spcPct val="150000"/>
              </a:lnSpc>
              <a:spcBef>
                <a:spcPts val="0"/>
              </a:spcBef>
              <a:spcAft>
                <a:spcPts val="0"/>
              </a:spcAft>
              <a:buClr>
                <a:srgbClr val="000000"/>
              </a:buClr>
              <a:buSzTx/>
              <a:buFont typeface="+mj-lt"/>
              <a:buAutoNum type="arabicParenR"/>
              <a:tabLst/>
              <a:defRPr/>
            </a:pPr>
            <a:endParaRPr kumimoji="0" lang="en-IN" sz="1400" b="0" i="0" u="none" strike="noStrike" kern="0" cap="none" spc="0" normalizeH="0" baseline="0" noProof="0" dirty="0">
              <a:ln>
                <a:noFill/>
              </a:ln>
              <a:solidFill>
                <a:srgbClr val="000000"/>
              </a:solidFill>
              <a:effectLst/>
              <a:uLnTx/>
              <a:uFillTx/>
              <a:latin typeface="Trebuchet MS" panose="020B0603020202020204" pitchFamily="34" charset="0"/>
              <a:cs typeface="Arial"/>
              <a:sym typeface="Arial"/>
            </a:endParaRPr>
          </a:p>
        </p:txBody>
      </p:sp>
    </p:spTree>
    <p:extLst>
      <p:ext uri="{BB962C8B-B14F-4D97-AF65-F5344CB8AC3E}">
        <p14:creationId xmlns:p14="http://schemas.microsoft.com/office/powerpoint/2010/main" val="15759127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kern="0" dirty="0">
                <a:solidFill>
                  <a:srgbClr val="FFFFFF"/>
                </a:solidFill>
                <a:latin typeface="Trebuchet MS" panose="020B0603020202020204" pitchFamily="34" charset="0"/>
                <a:cs typeface="Arial"/>
                <a:sym typeface="Arial"/>
              </a:rPr>
              <a:t>Preprocessor directives </a:t>
            </a:r>
            <a:br>
              <a:rPr lang="en-IN" sz="2800" b="1" kern="0" dirty="0">
                <a:solidFill>
                  <a:srgbClr val="FFFFFF"/>
                </a:solidFill>
                <a:latin typeface="Trebuchet MS" panose="020B0603020202020204" pitchFamily="34" charset="0"/>
                <a:cs typeface="Arial"/>
                <a:sym typeface="Arial"/>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1AED96B7-BB1F-42F6-B76D-3B6C5E210378}"/>
              </a:ext>
            </a:extLst>
          </p:cNvPr>
          <p:cNvSpPr txBox="1"/>
          <p:nvPr/>
        </p:nvSpPr>
        <p:spPr>
          <a:xfrm>
            <a:off x="969110" y="1737923"/>
            <a:ext cx="9939035" cy="415030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marL="36195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ea typeface="+mn-ea"/>
                <a:cs typeface="+mn-cs"/>
                <a:sym typeface="Arial"/>
              </a:rPr>
              <a:t>Syntax:</a:t>
            </a:r>
          </a:p>
          <a:p>
            <a:pPr marL="36195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ea typeface="+mn-ea"/>
                <a:cs typeface="+mn-cs"/>
                <a:sym typeface="Arial"/>
              </a:rPr>
              <a:t>	#include&lt; </a:t>
            </a:r>
            <a:r>
              <a:rPr kumimoji="0" lang="en-IN" sz="2000" b="0" i="0" u="none" strike="noStrike" kern="0" cap="none" spc="0" normalizeH="0" baseline="0" noProof="0" dirty="0" err="1">
                <a:ln>
                  <a:noFill/>
                </a:ln>
                <a:solidFill>
                  <a:srgbClr val="000000"/>
                </a:solidFill>
                <a:effectLst/>
                <a:uLnTx/>
                <a:uFillTx/>
                <a:latin typeface="Trebuchet MS" panose="020B0603020202020204" pitchFamily="34" charset="0"/>
                <a:ea typeface="+mn-ea"/>
                <a:cs typeface="+mn-cs"/>
                <a:sym typeface="Arial"/>
              </a:rPr>
              <a:t>file_name</a:t>
            </a: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ea typeface="+mn-ea"/>
                <a:cs typeface="+mn-cs"/>
                <a:sym typeface="Arial"/>
              </a:rPr>
              <a:t> &gt;</a:t>
            </a:r>
          </a:p>
          <a:p>
            <a:pPr marL="36195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ea typeface="+mn-ea"/>
                <a:cs typeface="+mn-cs"/>
                <a:sym typeface="Arial"/>
              </a:rPr>
              <a:t>2) User-defined files:</a:t>
            </a:r>
          </a:p>
          <a:p>
            <a:pPr marL="36195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ea typeface="+mn-ea"/>
                <a:cs typeface="+mn-cs"/>
                <a:sym typeface="Arial"/>
              </a:rPr>
              <a:t> When a program becomes very large, it is a good practice to divide it into smaller files and include them whenever needed. These types of files are user-defined files. </a:t>
            </a:r>
          </a:p>
          <a:p>
            <a:pPr marL="36195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ea typeface="+mn-ea"/>
                <a:cs typeface="+mn-cs"/>
                <a:sym typeface="Arial"/>
              </a:rPr>
              <a:t>Syntax: </a:t>
            </a:r>
          </a:p>
          <a:p>
            <a:pPr marL="36195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000000"/>
                </a:solidFill>
                <a:effectLst/>
                <a:uLnTx/>
                <a:uFillTx/>
                <a:latin typeface="Trebuchet MS" panose="020B0603020202020204" pitchFamily="34" charset="0"/>
                <a:ea typeface="+mn-ea"/>
                <a:cs typeface="+mn-cs"/>
                <a:sym typeface="Arial"/>
              </a:rPr>
              <a:t>	#include "filename“</a:t>
            </a:r>
          </a:p>
          <a:p>
            <a:pPr marL="361950" marR="0" lvl="0" indent="0" algn="l" defTabSz="914400" rtl="0" eaLnBrk="1" fontAlgn="auto" latinLnBrk="0" hangingPunct="1">
              <a:lnSpc>
                <a:spcPct val="150000"/>
              </a:lnSpc>
              <a:spcBef>
                <a:spcPts val="0"/>
              </a:spcBef>
              <a:spcAft>
                <a:spcPts val="0"/>
              </a:spcAft>
              <a:buClr>
                <a:srgbClr val="000000"/>
              </a:buClr>
              <a:buSzTx/>
              <a:buFont typeface="Arial"/>
              <a:buNone/>
              <a:tabLst/>
              <a:defRPr/>
            </a:pPr>
            <a:endParaRPr kumimoji="0" lang="en-IN" sz="1800" b="0" i="0" u="none" strike="noStrike" kern="0" cap="none" spc="0" normalizeH="0" baseline="0" noProof="0" dirty="0">
              <a:ln>
                <a:noFill/>
              </a:ln>
              <a:solidFill>
                <a:srgbClr val="000000"/>
              </a:solidFill>
              <a:effectLst/>
              <a:uLnTx/>
              <a:uFillTx/>
              <a:latin typeface="Trebuchet MS" panose="020B0603020202020204" pitchFamily="34" charset="0"/>
              <a:ea typeface="+mn-ea"/>
              <a:cs typeface="+mn-cs"/>
              <a:sym typeface="Arial"/>
            </a:endParaRPr>
          </a:p>
        </p:txBody>
      </p:sp>
    </p:spTree>
    <p:extLst>
      <p:ext uri="{BB962C8B-B14F-4D97-AF65-F5344CB8AC3E}">
        <p14:creationId xmlns:p14="http://schemas.microsoft.com/office/powerpoint/2010/main" val="39331094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C++ Program Structure</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pic>
        <p:nvPicPr>
          <p:cNvPr id="3" name="Picture 2">
            <a:extLst>
              <a:ext uri="{FF2B5EF4-FFF2-40B4-BE49-F238E27FC236}">
                <a16:creationId xmlns:a16="http://schemas.microsoft.com/office/drawing/2014/main" id="{CEDCBA50-4235-48AB-A79B-B7EE1E575DA7}"/>
              </a:ext>
            </a:extLst>
          </p:cNvPr>
          <p:cNvPicPr>
            <a:picLocks noChangeAspect="1"/>
          </p:cNvPicPr>
          <p:nvPr/>
        </p:nvPicPr>
        <p:blipFill rotWithShape="1">
          <a:blip r:embed="rId3"/>
          <a:srcRect t="2054" b="13728"/>
          <a:stretch/>
        </p:blipFill>
        <p:spPr>
          <a:xfrm>
            <a:off x="1911928" y="2008479"/>
            <a:ext cx="7693890" cy="4253776"/>
          </a:xfrm>
          <a:prstGeom prst="rect">
            <a:avLst/>
          </a:prstGeom>
        </p:spPr>
      </p:pic>
    </p:spTree>
    <p:extLst>
      <p:ext uri="{BB962C8B-B14F-4D97-AF65-F5344CB8AC3E}">
        <p14:creationId xmlns:p14="http://schemas.microsoft.com/office/powerpoint/2010/main" val="35936280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42150"/>
            <a:ext cx="8407107" cy="1859483"/>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rgbClr val="FFFFFF"/>
                </a:solidFill>
                <a:latin typeface="Trebuchet MS" panose="020B0603020202020204" pitchFamily="34" charset="0"/>
              </a:rPr>
            </a:br>
            <a:br>
              <a:rPr lang="en-IN" sz="2400" b="1" dirty="0">
                <a:solidFill>
                  <a:srgbClr val="FFFFFF"/>
                </a:solidFill>
                <a:latin typeface="Trebuchet MS" panose="020B0603020202020204" pitchFamily="34" charset="0"/>
              </a:rPr>
            </a:br>
            <a:r>
              <a:rPr lang="en-IN" sz="2400" b="1" dirty="0">
                <a:solidFill>
                  <a:srgbClr val="FFFFFF"/>
                </a:solidFill>
                <a:latin typeface="Trebuchet MS" panose="020B0603020202020204" pitchFamily="34" charset="0"/>
              </a:rPr>
              <a:t>C++ Program Structure</a:t>
            </a:r>
            <a:br>
              <a:rPr lang="en-IN" sz="24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5">
            <a:extLst>
              <a:ext uri="{FF2B5EF4-FFF2-40B4-BE49-F238E27FC236}">
                <a16:creationId xmlns:a16="http://schemas.microsoft.com/office/drawing/2014/main" id="{43656CDC-71AD-4438-BB8F-8493792FDC9C}"/>
              </a:ext>
            </a:extLst>
          </p:cNvPr>
          <p:cNvSpPr txBox="1"/>
          <p:nvPr/>
        </p:nvSpPr>
        <p:spPr>
          <a:xfrm>
            <a:off x="943617" y="1641890"/>
            <a:ext cx="10093838" cy="3267498"/>
          </a:xfrm>
          <a:prstGeom prst="rect">
            <a:avLst/>
          </a:prstGeom>
          <a:noFill/>
        </p:spPr>
        <p:txBody>
          <a:bodyPr wrap="square">
            <a:spAutoFit/>
          </a:bodyPr>
          <a:lstStyle/>
          <a:p>
            <a:pPr>
              <a:lnSpc>
                <a:spcPct val="150000"/>
              </a:lnSpc>
            </a:pPr>
            <a:r>
              <a:rPr lang="en-IN" sz="2000" b="1" dirty="0">
                <a:solidFill>
                  <a:srgbClr val="0070C0"/>
                </a:solidFill>
                <a:latin typeface="Trebuchet MS" panose="020B0603020202020204" pitchFamily="34" charset="0"/>
              </a:rPr>
              <a:t>Documentation Section:</a:t>
            </a:r>
          </a:p>
          <a:p>
            <a:pPr marL="446088" indent="-265113">
              <a:lnSpc>
                <a:spcPct val="150000"/>
              </a:lnSpc>
              <a:buFont typeface="Arial" panose="020B0604020202020204" pitchFamily="34" charset="0"/>
              <a:buChar char="•"/>
            </a:pPr>
            <a:r>
              <a:rPr lang="en-IN" sz="2000" dirty="0">
                <a:latin typeface="Trebuchet MS" panose="020B0603020202020204" pitchFamily="34" charset="0"/>
              </a:rPr>
              <a:t>This section comes first and is used to document the logic of the program that the programmer going to code.</a:t>
            </a:r>
          </a:p>
          <a:p>
            <a:pPr marL="446088" indent="-265113">
              <a:lnSpc>
                <a:spcPct val="150000"/>
              </a:lnSpc>
              <a:buFont typeface="Arial" panose="020B0604020202020204" pitchFamily="34" charset="0"/>
              <a:buChar char="•"/>
            </a:pPr>
            <a:r>
              <a:rPr lang="en-IN" sz="2000" dirty="0">
                <a:latin typeface="Trebuchet MS" panose="020B0603020202020204" pitchFamily="34" charset="0"/>
              </a:rPr>
              <a:t>It can be also used to write for purpose of the program.</a:t>
            </a:r>
          </a:p>
          <a:p>
            <a:pPr marL="446088" indent="-265113">
              <a:lnSpc>
                <a:spcPct val="150000"/>
              </a:lnSpc>
              <a:buFont typeface="Arial" panose="020B0604020202020204" pitchFamily="34" charset="0"/>
              <a:buChar char="•"/>
            </a:pPr>
            <a:r>
              <a:rPr lang="en-IN" sz="2000" dirty="0">
                <a:latin typeface="Trebuchet MS" panose="020B0603020202020204" pitchFamily="34" charset="0"/>
              </a:rPr>
              <a:t>Whatever written in the documentation section is the comment and is not compiled by the compiler.</a:t>
            </a:r>
          </a:p>
          <a:p>
            <a:pPr marL="446088" indent="-265113">
              <a:lnSpc>
                <a:spcPct val="150000"/>
              </a:lnSpc>
              <a:buFont typeface="Arial" panose="020B0604020202020204" pitchFamily="34" charset="0"/>
              <a:buChar char="•"/>
            </a:pPr>
            <a:r>
              <a:rPr lang="en-IN" sz="2000" dirty="0">
                <a:latin typeface="Trebuchet MS" panose="020B0603020202020204" pitchFamily="34" charset="0"/>
              </a:rPr>
              <a:t>Documentation Section is optional since the program can execute without them. </a:t>
            </a:r>
          </a:p>
        </p:txBody>
      </p:sp>
    </p:spTree>
    <p:extLst>
      <p:ext uri="{BB962C8B-B14F-4D97-AF65-F5344CB8AC3E}">
        <p14:creationId xmlns:p14="http://schemas.microsoft.com/office/powerpoint/2010/main" val="18716556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C++ Program Structure</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5">
            <a:extLst>
              <a:ext uri="{FF2B5EF4-FFF2-40B4-BE49-F238E27FC236}">
                <a16:creationId xmlns:a16="http://schemas.microsoft.com/office/drawing/2014/main" id="{4512A9D1-041B-4623-903F-2D9FB54F3A23}"/>
              </a:ext>
            </a:extLst>
          </p:cNvPr>
          <p:cNvSpPr txBox="1"/>
          <p:nvPr/>
        </p:nvSpPr>
        <p:spPr>
          <a:xfrm>
            <a:off x="1477040" y="1950683"/>
            <a:ext cx="9495760" cy="4062651"/>
          </a:xfrm>
          <a:prstGeom prst="rect">
            <a:avLst/>
          </a:prstGeom>
          <a:noFill/>
        </p:spPr>
        <p:txBody>
          <a:bodyPr wrap="square">
            <a:spAutoFit/>
          </a:bodyPr>
          <a:lstStyle/>
          <a:p>
            <a:pPr>
              <a:lnSpc>
                <a:spcPct val="150000"/>
              </a:lnSpc>
            </a:pPr>
            <a:r>
              <a:rPr lang="en-IN" sz="2000" b="1" dirty="0">
                <a:solidFill>
                  <a:srgbClr val="0070C0"/>
                </a:solidFill>
                <a:latin typeface="Trebuchet MS" panose="020B0603020202020204" pitchFamily="34" charset="0"/>
              </a:rPr>
              <a:t>Documentation Section</a:t>
            </a:r>
            <a:r>
              <a:rPr lang="en-IN" sz="2000" b="1" dirty="0">
                <a:solidFill>
                  <a:srgbClr val="0070C0"/>
                </a:solidFill>
                <a:latin typeface="Trebuchet MS" panose="020B0603020202020204" pitchFamily="34" charset="0"/>
                <a:sym typeface="Wingdings" panose="05000000000000000000" pitchFamily="2" charset="2"/>
              </a:rPr>
              <a:t>: (Contin..)</a:t>
            </a:r>
          </a:p>
          <a:p>
            <a:pPr marL="285750" indent="-285750">
              <a:lnSpc>
                <a:spcPct val="150000"/>
              </a:lnSpc>
              <a:buFont typeface="Arial" panose="020B0604020202020204" pitchFamily="34" charset="0"/>
              <a:buChar char="•"/>
            </a:pPr>
            <a:r>
              <a:rPr lang="en-IN" sz="2000" dirty="0">
                <a:latin typeface="Trebuchet MS" panose="020B0603020202020204" pitchFamily="34" charset="0"/>
                <a:sym typeface="Wingdings" panose="05000000000000000000" pitchFamily="2" charset="2"/>
              </a:rPr>
              <a:t>Comment lines are used to create the documentation.</a:t>
            </a:r>
            <a:endParaRPr lang="en-IN" sz="2000" dirty="0">
              <a:latin typeface="Trebuchet MS" panose="020B0603020202020204" pitchFamily="34" charset="0"/>
            </a:endParaRPr>
          </a:p>
          <a:p>
            <a:pPr marL="712788" indent="-350838">
              <a:lnSpc>
                <a:spcPct val="150000"/>
              </a:lnSpc>
              <a:buFont typeface="Wingdings" panose="05000000000000000000" pitchFamily="2" charset="2"/>
              <a:buChar char="ü"/>
            </a:pPr>
            <a:r>
              <a:rPr lang="en-IN" sz="2000" dirty="0">
                <a:latin typeface="Trebuchet MS" panose="020B0603020202020204" pitchFamily="34" charset="0"/>
              </a:rPr>
              <a:t>Multiple line comment - /*……*/</a:t>
            </a:r>
          </a:p>
          <a:p>
            <a:pPr marL="712788" indent="-350838">
              <a:lnSpc>
                <a:spcPct val="150000"/>
              </a:lnSpc>
              <a:buFont typeface="Wingdings" panose="05000000000000000000" pitchFamily="2" charset="2"/>
              <a:buChar char="ü"/>
            </a:pPr>
            <a:r>
              <a:rPr lang="en-IN" sz="2000" dirty="0">
                <a:latin typeface="Trebuchet MS" panose="020B0603020202020204" pitchFamily="34" charset="0"/>
              </a:rPr>
              <a:t>Single line comment - //</a:t>
            </a:r>
          </a:p>
          <a:p>
            <a:pPr>
              <a:lnSpc>
                <a:spcPct val="150000"/>
              </a:lnSpc>
            </a:pPr>
            <a:r>
              <a:rPr lang="en-IN" sz="2000" dirty="0">
                <a:solidFill>
                  <a:srgbClr val="0070C0"/>
                </a:solidFill>
                <a:latin typeface="Trebuchet MS" panose="020B0603020202020204" pitchFamily="34" charset="0"/>
              </a:rPr>
              <a:t>Example:</a:t>
            </a:r>
          </a:p>
          <a:p>
            <a:pPr marL="446088" indent="-265113">
              <a:lnSpc>
                <a:spcPct val="150000"/>
              </a:lnSpc>
              <a:buFont typeface="Arial" panose="020B0604020202020204" pitchFamily="34" charset="0"/>
              <a:buChar char="•"/>
            </a:pPr>
            <a:r>
              <a:rPr lang="en-IN" sz="2000" dirty="0">
                <a:latin typeface="Trebuchet MS" panose="020B0603020202020204" pitchFamily="34" charset="0"/>
              </a:rPr>
              <a:t>/* This is a C++ program to find the factorial of a number. The basic</a:t>
            </a:r>
          </a:p>
          <a:p>
            <a:pPr marL="180975">
              <a:lnSpc>
                <a:spcPct val="150000"/>
              </a:lnSpc>
            </a:pPr>
            <a:r>
              <a:rPr lang="en-IN" sz="2000" dirty="0">
                <a:latin typeface="Trebuchet MS" panose="020B0603020202020204" pitchFamily="34" charset="0"/>
              </a:rPr>
              <a:t>          requirement for writing this program is to have knowledge of loops*/</a:t>
            </a:r>
          </a:p>
          <a:p>
            <a:pPr marL="466725" indent="-285750">
              <a:lnSpc>
                <a:spcPct val="150000"/>
              </a:lnSpc>
              <a:buFont typeface="Arial" panose="020B0604020202020204" pitchFamily="34" charset="0"/>
              <a:buChar char="•"/>
            </a:pPr>
            <a:r>
              <a:rPr lang="en-IN" sz="2000" dirty="0">
                <a:latin typeface="Trebuchet MS" panose="020B0603020202020204" pitchFamily="34" charset="0"/>
              </a:rPr>
              <a:t>// Factorial program</a:t>
            </a:r>
          </a:p>
          <a:p>
            <a:pPr marL="180975"/>
            <a:endParaRPr lang="en-IN" sz="1800" dirty="0">
              <a:latin typeface="Trebuchet MS" panose="020B0603020202020204" pitchFamily="34" charset="0"/>
            </a:endParaRPr>
          </a:p>
        </p:txBody>
      </p:sp>
    </p:spTree>
    <p:extLst>
      <p:ext uri="{BB962C8B-B14F-4D97-AF65-F5344CB8AC3E}">
        <p14:creationId xmlns:p14="http://schemas.microsoft.com/office/powerpoint/2010/main" val="4040795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C++ Program Structure</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5">
            <a:extLst>
              <a:ext uri="{FF2B5EF4-FFF2-40B4-BE49-F238E27FC236}">
                <a16:creationId xmlns:a16="http://schemas.microsoft.com/office/drawing/2014/main" id="{876A2CED-E176-4DAD-AAB5-56EEE4B6CE0F}"/>
              </a:ext>
            </a:extLst>
          </p:cNvPr>
          <p:cNvSpPr txBox="1"/>
          <p:nvPr/>
        </p:nvSpPr>
        <p:spPr>
          <a:xfrm>
            <a:off x="1062181" y="1646382"/>
            <a:ext cx="10196945" cy="4401205"/>
          </a:xfrm>
          <a:prstGeom prst="rect">
            <a:avLst/>
          </a:prstGeom>
          <a:noFill/>
        </p:spPr>
        <p:txBody>
          <a:bodyPr wrap="square">
            <a:spAutoFit/>
          </a:bodyPr>
          <a:lstStyle/>
          <a:p>
            <a:pPr marL="180975">
              <a:spcBef>
                <a:spcPts val="600"/>
              </a:spcBef>
              <a:spcAft>
                <a:spcPts val="600"/>
              </a:spcAft>
            </a:pPr>
            <a:r>
              <a:rPr lang="en-IN" sz="2000" b="1" dirty="0">
                <a:solidFill>
                  <a:srgbClr val="0070C0"/>
                </a:solidFill>
                <a:latin typeface="Trebuchet MS" panose="020B0603020202020204" pitchFamily="34" charset="0"/>
              </a:rPr>
              <a:t>Header Files:</a:t>
            </a:r>
          </a:p>
          <a:p>
            <a:pPr marL="466725" indent="-285750">
              <a:spcBef>
                <a:spcPts val="600"/>
              </a:spcBef>
              <a:spcAft>
                <a:spcPts val="600"/>
              </a:spcAft>
              <a:buFont typeface="Arial" panose="020B0604020202020204" pitchFamily="34" charset="0"/>
              <a:buChar char="•"/>
            </a:pPr>
            <a:r>
              <a:rPr lang="en-IN" sz="2000" dirty="0">
                <a:latin typeface="Trebuchet MS" panose="020B0603020202020204" pitchFamily="34" charset="0"/>
              </a:rPr>
              <a:t>Generally, a program includes various programming elements like built-in functions, classes, keywords, constants, operators, etc. that are already defined in the standard C++ library.</a:t>
            </a:r>
          </a:p>
          <a:p>
            <a:pPr marL="466725" indent="-285750">
              <a:spcBef>
                <a:spcPts val="600"/>
              </a:spcBef>
              <a:spcAft>
                <a:spcPts val="600"/>
              </a:spcAft>
              <a:buFont typeface="Arial" panose="020B0604020202020204" pitchFamily="34" charset="0"/>
              <a:buChar char="•"/>
            </a:pPr>
            <a:r>
              <a:rPr lang="en-IN" sz="2000" dirty="0">
                <a:latin typeface="Trebuchet MS" panose="020B0603020202020204" pitchFamily="34" charset="0"/>
              </a:rPr>
              <a:t>In order to use such pre-defined elements in a program, an appropriate header must be included in the program.</a:t>
            </a:r>
          </a:p>
          <a:p>
            <a:pPr marL="466725" indent="-285750">
              <a:spcBef>
                <a:spcPts val="600"/>
              </a:spcBef>
              <a:spcAft>
                <a:spcPts val="600"/>
              </a:spcAft>
              <a:buFont typeface="Arial" panose="020B0604020202020204" pitchFamily="34" charset="0"/>
              <a:buChar char="•"/>
            </a:pPr>
            <a:r>
              <a:rPr lang="en-IN" sz="2000" dirty="0">
                <a:latin typeface="Trebuchet MS" panose="020B0603020202020204" pitchFamily="34" charset="0"/>
              </a:rPr>
              <a:t>Standard headers are specified in a program through the preprocessor directive #include. </a:t>
            </a:r>
          </a:p>
          <a:p>
            <a:pPr marL="466725" indent="-285750">
              <a:spcBef>
                <a:spcPts val="600"/>
              </a:spcBef>
              <a:spcAft>
                <a:spcPts val="600"/>
              </a:spcAft>
              <a:buFont typeface="Arial" panose="020B0604020202020204" pitchFamily="34" charset="0"/>
              <a:buChar char="•"/>
            </a:pPr>
            <a:r>
              <a:rPr lang="en-IN" sz="2000" dirty="0">
                <a:latin typeface="Trebuchet MS" panose="020B0603020202020204" pitchFamily="34" charset="0"/>
              </a:rPr>
              <a:t>When the compiler processes the instruction #include&lt;iostream&gt;, it includes the contents of the stream in the program. This enables the programmer to use standard input, output, and error facilities that are provided only through the standard streams defined in &lt;iostream&gt;.</a:t>
            </a:r>
          </a:p>
        </p:txBody>
      </p:sp>
    </p:spTree>
    <p:extLst>
      <p:ext uri="{BB962C8B-B14F-4D97-AF65-F5344CB8AC3E}">
        <p14:creationId xmlns:p14="http://schemas.microsoft.com/office/powerpoint/2010/main" val="268762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C++ Program Structure</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F6177E26-7410-4E27-8B6F-8C53C2B4692A}"/>
              </a:ext>
            </a:extLst>
          </p:cNvPr>
          <p:cNvSpPr txBox="1"/>
          <p:nvPr/>
        </p:nvSpPr>
        <p:spPr>
          <a:xfrm>
            <a:off x="1125333" y="1433447"/>
            <a:ext cx="10069139" cy="3729162"/>
          </a:xfrm>
          <a:prstGeom prst="rect">
            <a:avLst/>
          </a:prstGeom>
          <a:noFill/>
        </p:spPr>
        <p:txBody>
          <a:bodyPr wrap="square">
            <a:spAutoFit/>
          </a:bodyPr>
          <a:lstStyle/>
          <a:p>
            <a:pPr>
              <a:lnSpc>
                <a:spcPct val="150000"/>
              </a:lnSpc>
            </a:pPr>
            <a:r>
              <a:rPr lang="en-IN" sz="2000" b="1" dirty="0">
                <a:solidFill>
                  <a:srgbClr val="0070C0"/>
                </a:solidFill>
                <a:latin typeface="Trebuchet MS" panose="020B0603020202020204" pitchFamily="34" charset="0"/>
              </a:rPr>
              <a:t>Namespaces:</a:t>
            </a:r>
          </a:p>
          <a:p>
            <a:pPr marL="285750" indent="-285750">
              <a:lnSpc>
                <a:spcPct val="150000"/>
              </a:lnSpc>
              <a:buFont typeface="Arial" panose="020B0604020202020204" pitchFamily="34" charset="0"/>
              <a:buChar char="•"/>
            </a:pPr>
            <a:r>
              <a:rPr lang="en-IN" sz="2000" dirty="0">
                <a:latin typeface="Trebuchet MS" panose="020B0603020202020204" pitchFamily="34" charset="0"/>
              </a:rPr>
              <a:t>A namespace permits grouping of various entities like classes, objects, functions, and various C++ tokens, etc. under a single name.</a:t>
            </a:r>
          </a:p>
          <a:p>
            <a:pPr marL="285750" indent="-285750">
              <a:lnSpc>
                <a:spcPct val="150000"/>
              </a:lnSpc>
              <a:buFont typeface="Arial" panose="020B0604020202020204" pitchFamily="34" charset="0"/>
              <a:buChar char="•"/>
            </a:pPr>
            <a:r>
              <a:rPr lang="en-IN" sz="2000" dirty="0">
                <a:latin typeface="Trebuchet MS" panose="020B0603020202020204" pitchFamily="34" charset="0"/>
              </a:rPr>
              <a:t>Any user can create separate namespaces of its own and can use them in any other program.</a:t>
            </a:r>
          </a:p>
          <a:p>
            <a:pPr marL="285750" indent="-285750">
              <a:lnSpc>
                <a:spcPct val="150000"/>
              </a:lnSpc>
              <a:buFont typeface="Arial" panose="020B0604020202020204" pitchFamily="34" charset="0"/>
              <a:buChar char="•"/>
            </a:pPr>
            <a:r>
              <a:rPr lang="en-IN" sz="2000" dirty="0">
                <a:latin typeface="Trebuchet MS" panose="020B0603020202020204" pitchFamily="34" charset="0"/>
              </a:rPr>
              <a:t>In the below snippets, namespace std contains declarations for </a:t>
            </a:r>
            <a:r>
              <a:rPr lang="en-IN" sz="2000" dirty="0" err="1">
                <a:latin typeface="Trebuchet MS" panose="020B0603020202020204" pitchFamily="34" charset="0"/>
              </a:rPr>
              <a:t>cout</a:t>
            </a:r>
            <a:r>
              <a:rPr lang="en-IN" sz="2000" dirty="0">
                <a:latin typeface="Trebuchet MS" panose="020B0603020202020204" pitchFamily="34" charset="0"/>
              </a:rPr>
              <a:t>, </a:t>
            </a:r>
            <a:r>
              <a:rPr lang="en-IN" sz="2000" dirty="0" err="1">
                <a:latin typeface="Trebuchet MS" panose="020B0603020202020204" pitchFamily="34" charset="0"/>
              </a:rPr>
              <a:t>cin</a:t>
            </a:r>
            <a:r>
              <a:rPr lang="en-IN" sz="2000" dirty="0">
                <a:latin typeface="Trebuchet MS" panose="020B0603020202020204" pitchFamily="34" charset="0"/>
              </a:rPr>
              <a:t>, </a:t>
            </a:r>
            <a:r>
              <a:rPr lang="en-IN" sz="2000" dirty="0" err="1">
                <a:latin typeface="Trebuchet MS" panose="020B0603020202020204" pitchFamily="34" charset="0"/>
              </a:rPr>
              <a:t>endl</a:t>
            </a:r>
            <a:r>
              <a:rPr lang="en-IN" sz="2000" dirty="0">
                <a:latin typeface="Trebuchet MS" panose="020B0603020202020204" pitchFamily="34" charset="0"/>
              </a:rPr>
              <a:t>, etc. statements.</a:t>
            </a:r>
          </a:p>
          <a:p>
            <a:pPr>
              <a:lnSpc>
                <a:spcPct val="150000"/>
              </a:lnSpc>
            </a:pPr>
            <a:r>
              <a:rPr lang="en-IN" sz="2000" dirty="0">
                <a:latin typeface="Trebuchet MS" panose="020B0603020202020204" pitchFamily="34" charset="0"/>
              </a:rPr>
              <a:t>	</a:t>
            </a:r>
            <a:r>
              <a:rPr lang="en-IN" sz="2000" dirty="0">
                <a:solidFill>
                  <a:srgbClr val="0070C0"/>
                </a:solidFill>
                <a:latin typeface="Trebuchet MS" panose="020B0603020202020204" pitchFamily="34" charset="0"/>
              </a:rPr>
              <a:t>using namespace std;</a:t>
            </a:r>
          </a:p>
        </p:txBody>
      </p:sp>
    </p:spTree>
    <p:extLst>
      <p:ext uri="{BB962C8B-B14F-4D97-AF65-F5344CB8AC3E}">
        <p14:creationId xmlns:p14="http://schemas.microsoft.com/office/powerpoint/2010/main" val="4230102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C++ Program Structure</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97FB62EC-5BFB-4F28-BD72-D7EE52ED24E0}"/>
              </a:ext>
            </a:extLst>
          </p:cNvPr>
          <p:cNvSpPr txBox="1"/>
          <p:nvPr/>
        </p:nvSpPr>
        <p:spPr>
          <a:xfrm>
            <a:off x="630085" y="1901270"/>
            <a:ext cx="10619805" cy="3729162"/>
          </a:xfrm>
          <a:prstGeom prst="rect">
            <a:avLst/>
          </a:prstGeom>
          <a:noFill/>
        </p:spPr>
        <p:txBody>
          <a:bodyPr wrap="square">
            <a:spAutoFit/>
          </a:bodyPr>
          <a:lstStyle/>
          <a:p>
            <a:pPr fontAlgn="base">
              <a:lnSpc>
                <a:spcPct val="150000"/>
              </a:lnSpc>
            </a:pPr>
            <a:r>
              <a:rPr lang="en-IN" sz="2000" b="1" i="0" dirty="0">
                <a:solidFill>
                  <a:srgbClr val="0070C0"/>
                </a:solidFill>
                <a:effectLst/>
                <a:latin typeface="Trebuchet MS" panose="020B0603020202020204" pitchFamily="34" charset="0"/>
              </a:rPr>
              <a:t>Definition Section:</a:t>
            </a:r>
          </a:p>
          <a:p>
            <a:pPr marL="285750" indent="-285750" algn="l" fontAlgn="base">
              <a:lnSpc>
                <a:spcPct val="150000"/>
              </a:lnSpc>
              <a:buFont typeface="Arial" panose="020B0604020202020204" pitchFamily="34" charset="0"/>
              <a:buChar char="•"/>
            </a:pPr>
            <a:r>
              <a:rPr lang="en-IN" sz="2000" b="0" i="0" dirty="0">
                <a:solidFill>
                  <a:srgbClr val="273239"/>
                </a:solidFill>
                <a:effectLst/>
                <a:latin typeface="Trebuchet MS" panose="020B0603020202020204" pitchFamily="34" charset="0"/>
              </a:rPr>
              <a:t>It is used to declare some constants and assign them some value.</a:t>
            </a:r>
          </a:p>
          <a:p>
            <a:pPr marL="285750" indent="-285750" algn="l" fontAlgn="base">
              <a:lnSpc>
                <a:spcPct val="150000"/>
              </a:lnSpc>
              <a:buFont typeface="Arial" panose="020B0604020202020204" pitchFamily="34" charset="0"/>
              <a:buChar char="•"/>
            </a:pPr>
            <a:r>
              <a:rPr lang="en-IN" sz="2000" b="0" i="0" dirty="0">
                <a:solidFill>
                  <a:srgbClr val="273239"/>
                </a:solidFill>
                <a:effectLst/>
                <a:latin typeface="Trebuchet MS" panose="020B0603020202020204" pitchFamily="34" charset="0"/>
              </a:rPr>
              <a:t>In this section, anyone can define your own datatype using primitive data types.</a:t>
            </a:r>
          </a:p>
          <a:p>
            <a:pPr marL="285750" indent="-285750" algn="l" fontAlgn="base">
              <a:lnSpc>
                <a:spcPct val="150000"/>
              </a:lnSpc>
              <a:buFont typeface="Arial" panose="020B0604020202020204" pitchFamily="34" charset="0"/>
              <a:buChar char="•"/>
            </a:pPr>
            <a:r>
              <a:rPr lang="en-IN" sz="2000" b="0" i="0" dirty="0">
                <a:solidFill>
                  <a:srgbClr val="273239"/>
                </a:solidFill>
                <a:effectLst/>
                <a:latin typeface="Trebuchet MS" panose="020B0603020202020204" pitchFamily="34" charset="0"/>
              </a:rPr>
              <a:t>In  </a:t>
            </a:r>
            <a:r>
              <a:rPr lang="en-IN" sz="2000" b="1" i="0" dirty="0">
                <a:solidFill>
                  <a:srgbClr val="273239"/>
                </a:solidFill>
                <a:effectLst/>
                <a:latin typeface="Trebuchet MS" panose="020B0603020202020204" pitchFamily="34" charset="0"/>
              </a:rPr>
              <a:t>#define</a:t>
            </a:r>
            <a:r>
              <a:rPr lang="en-IN" sz="2000" b="0" i="0" dirty="0">
                <a:solidFill>
                  <a:srgbClr val="273239"/>
                </a:solidFill>
                <a:effectLst/>
                <a:latin typeface="Trebuchet MS" panose="020B0603020202020204" pitchFamily="34" charset="0"/>
              </a:rPr>
              <a:t> is a compiler directive which tells the compiler whenever the message is found to replace it with “Factorial\n”.</a:t>
            </a:r>
          </a:p>
          <a:p>
            <a:pPr marL="285750" indent="-285750" algn="l" fontAlgn="base">
              <a:lnSpc>
                <a:spcPct val="150000"/>
              </a:lnSpc>
              <a:buFont typeface="Arial" panose="020B0604020202020204" pitchFamily="34" charset="0"/>
              <a:buChar char="•"/>
            </a:pPr>
            <a:r>
              <a:rPr lang="en-IN" sz="2000" b="1" i="0" dirty="0">
                <a:solidFill>
                  <a:srgbClr val="273239"/>
                </a:solidFill>
                <a:effectLst/>
                <a:latin typeface="Trebuchet MS" panose="020B0603020202020204" pitchFamily="34" charset="0"/>
              </a:rPr>
              <a:t>typedef int INTEGER;</a:t>
            </a:r>
            <a:r>
              <a:rPr lang="en-IN" sz="2000" b="0" i="0" dirty="0">
                <a:solidFill>
                  <a:srgbClr val="273239"/>
                </a:solidFill>
                <a:effectLst/>
                <a:latin typeface="Trebuchet MS" panose="020B0603020202020204" pitchFamily="34" charset="0"/>
              </a:rPr>
              <a:t> this statement tells the compiler that whenever you will encounter INTEGER replace it by int and as you have declared INTEGER as datatype you cannot use it as an identifier.</a:t>
            </a:r>
          </a:p>
        </p:txBody>
      </p:sp>
    </p:spTree>
    <p:extLst>
      <p:ext uri="{BB962C8B-B14F-4D97-AF65-F5344CB8AC3E}">
        <p14:creationId xmlns:p14="http://schemas.microsoft.com/office/powerpoint/2010/main" val="109997655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C++ Program Structure</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293BC46D-D390-45E0-BEBC-7F27AEE791D3}"/>
              </a:ext>
            </a:extLst>
          </p:cNvPr>
          <p:cNvSpPr txBox="1"/>
          <p:nvPr/>
        </p:nvSpPr>
        <p:spPr>
          <a:xfrm>
            <a:off x="581325" y="1743295"/>
            <a:ext cx="10105147" cy="3348481"/>
          </a:xfrm>
          <a:prstGeom prst="rect">
            <a:avLst/>
          </a:prstGeom>
          <a:noFill/>
        </p:spPr>
        <p:txBody>
          <a:bodyPr wrap="square">
            <a:spAutoFit/>
          </a:bodyPr>
          <a:lstStyle/>
          <a:p>
            <a:pPr fontAlgn="base">
              <a:lnSpc>
                <a:spcPct val="150000"/>
              </a:lnSpc>
            </a:pPr>
            <a:r>
              <a:rPr lang="en-IN" sz="2400" b="1" i="0" dirty="0">
                <a:solidFill>
                  <a:srgbClr val="0070C0"/>
                </a:solidFill>
                <a:effectLst/>
                <a:latin typeface="Trebuchet MS" panose="020B0603020202020204" pitchFamily="34" charset="0"/>
              </a:rPr>
              <a:t>Global Declaration Section:</a:t>
            </a:r>
          </a:p>
          <a:p>
            <a:pPr marL="285750" indent="-285750" algn="l" fontAlgn="base">
              <a:lnSpc>
                <a:spcPct val="150000"/>
              </a:lnSpc>
              <a:buFont typeface="Arial" panose="020B0604020202020204" pitchFamily="34" charset="0"/>
              <a:buChar char="•"/>
            </a:pPr>
            <a:r>
              <a:rPr lang="en-IN" sz="2400" b="0" i="0" dirty="0">
                <a:solidFill>
                  <a:srgbClr val="273239"/>
                </a:solidFill>
                <a:effectLst/>
                <a:latin typeface="Trebuchet MS" panose="020B0603020202020204" pitchFamily="34" charset="0"/>
              </a:rPr>
              <a:t>Here, the variables and the class definitions which are going to be used in the program are declared to make them global.</a:t>
            </a:r>
          </a:p>
          <a:p>
            <a:pPr marL="285750" indent="-285750" algn="l" fontAlgn="base">
              <a:lnSpc>
                <a:spcPct val="150000"/>
              </a:lnSpc>
              <a:buFont typeface="Arial" panose="020B0604020202020204" pitchFamily="34" charset="0"/>
              <a:buChar char="•"/>
            </a:pPr>
            <a:r>
              <a:rPr lang="en-IN" sz="2400" b="0" i="0" dirty="0">
                <a:solidFill>
                  <a:srgbClr val="273239"/>
                </a:solidFill>
                <a:effectLst/>
                <a:latin typeface="Trebuchet MS" panose="020B0603020202020204" pitchFamily="34" charset="0"/>
              </a:rPr>
              <a:t>The scope of the variable declared in this section lasts until the entire program terminates.</a:t>
            </a:r>
          </a:p>
          <a:p>
            <a:pPr marL="285750" indent="-285750" algn="l" fontAlgn="base">
              <a:lnSpc>
                <a:spcPct val="150000"/>
              </a:lnSpc>
              <a:buFont typeface="Arial" panose="020B0604020202020204" pitchFamily="34" charset="0"/>
              <a:buChar char="•"/>
            </a:pPr>
            <a:r>
              <a:rPr lang="en-IN" sz="2400" b="0" i="0" dirty="0">
                <a:solidFill>
                  <a:srgbClr val="273239"/>
                </a:solidFill>
                <a:effectLst/>
                <a:latin typeface="Trebuchet MS" panose="020B0603020202020204" pitchFamily="34" charset="0"/>
              </a:rPr>
              <a:t>These variables are accessible within the </a:t>
            </a:r>
            <a:r>
              <a:rPr lang="en-IN" sz="2400" b="0" i="0" u="sng" dirty="0">
                <a:solidFill>
                  <a:srgbClr val="273239"/>
                </a:solidFill>
                <a:effectLst/>
                <a:latin typeface="Trebuchet MS" panose="020B0603020202020204" pitchFamily="34" charset="0"/>
              </a:rPr>
              <a:t>user-defined functions</a:t>
            </a:r>
            <a:r>
              <a:rPr lang="en-IN" sz="2400" b="0" i="0" dirty="0">
                <a:solidFill>
                  <a:srgbClr val="273239"/>
                </a:solidFill>
                <a:effectLst/>
                <a:latin typeface="Trebuchet MS" panose="020B0603020202020204" pitchFamily="34" charset="0"/>
              </a:rPr>
              <a:t> also.</a:t>
            </a:r>
          </a:p>
        </p:txBody>
      </p:sp>
    </p:spTree>
    <p:extLst>
      <p:ext uri="{BB962C8B-B14F-4D97-AF65-F5344CB8AC3E}">
        <p14:creationId xmlns:p14="http://schemas.microsoft.com/office/powerpoint/2010/main" val="35180830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C++ Program Structure</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3">
            <a:extLst>
              <a:ext uri="{FF2B5EF4-FFF2-40B4-BE49-F238E27FC236}">
                <a16:creationId xmlns:a16="http://schemas.microsoft.com/office/drawing/2014/main" id="{996566CF-0585-4CA1-B90C-99E962F834C5}"/>
              </a:ext>
            </a:extLst>
          </p:cNvPr>
          <p:cNvSpPr txBox="1"/>
          <p:nvPr/>
        </p:nvSpPr>
        <p:spPr>
          <a:xfrm>
            <a:off x="1131078" y="2161762"/>
            <a:ext cx="9823249" cy="2805833"/>
          </a:xfrm>
          <a:prstGeom prst="rect">
            <a:avLst/>
          </a:prstGeom>
          <a:noFill/>
        </p:spPr>
        <p:txBody>
          <a:bodyPr wrap="square">
            <a:spAutoFit/>
          </a:bodyPr>
          <a:lstStyle/>
          <a:p>
            <a:pPr fontAlgn="base">
              <a:lnSpc>
                <a:spcPct val="150000"/>
              </a:lnSpc>
            </a:pPr>
            <a:r>
              <a:rPr lang="en-IN" sz="2000" b="1" i="0" dirty="0">
                <a:solidFill>
                  <a:srgbClr val="0070C0"/>
                </a:solidFill>
                <a:effectLst/>
                <a:latin typeface="Trebuchet MS" panose="020B0603020202020204" pitchFamily="34" charset="0"/>
              </a:rPr>
              <a:t>Function Declaration Section:</a:t>
            </a:r>
          </a:p>
          <a:p>
            <a:pPr marL="446088" indent="-265113" algn="l" fontAlgn="base">
              <a:lnSpc>
                <a:spcPct val="150000"/>
              </a:lnSpc>
              <a:buFont typeface="Arial" panose="020B0604020202020204" pitchFamily="34" charset="0"/>
              <a:buChar char="•"/>
            </a:pPr>
            <a:r>
              <a:rPr lang="en-IN" sz="2000" b="0" i="0" dirty="0">
                <a:solidFill>
                  <a:srgbClr val="273239"/>
                </a:solidFill>
                <a:effectLst/>
                <a:latin typeface="Trebuchet MS" panose="020B0603020202020204" pitchFamily="34" charset="0"/>
              </a:rPr>
              <a:t>It contains all the functions which our main functions need.</a:t>
            </a:r>
          </a:p>
          <a:p>
            <a:pPr marL="446088" indent="-265113" algn="l" fontAlgn="base">
              <a:lnSpc>
                <a:spcPct val="150000"/>
              </a:lnSpc>
              <a:buFont typeface="Arial" panose="020B0604020202020204" pitchFamily="34" charset="0"/>
              <a:buChar char="•"/>
            </a:pPr>
            <a:r>
              <a:rPr lang="en-IN" sz="2000" b="0" i="0" dirty="0">
                <a:solidFill>
                  <a:srgbClr val="273239"/>
                </a:solidFill>
                <a:effectLst/>
                <a:latin typeface="Trebuchet MS" panose="020B0603020202020204" pitchFamily="34" charset="0"/>
              </a:rPr>
              <a:t>Usually, this section contains the User-defined functions.</a:t>
            </a:r>
          </a:p>
          <a:p>
            <a:pPr marL="446088" indent="-265113" algn="l" fontAlgn="base">
              <a:lnSpc>
                <a:spcPct val="150000"/>
              </a:lnSpc>
              <a:buFont typeface="Arial" panose="020B0604020202020204" pitchFamily="34" charset="0"/>
              <a:buChar char="•"/>
            </a:pPr>
            <a:r>
              <a:rPr lang="en-IN" sz="2000" b="0" i="0" dirty="0">
                <a:solidFill>
                  <a:srgbClr val="273239"/>
                </a:solidFill>
                <a:effectLst/>
                <a:latin typeface="Trebuchet MS" panose="020B0603020202020204" pitchFamily="34" charset="0"/>
              </a:rPr>
              <a:t>This part of the program can be written after the main function but for this, write the function prototype in this section for the function which for you are going to write code after the </a:t>
            </a:r>
            <a:r>
              <a:rPr lang="en-IN" sz="2000" b="0" i="0" u="sng" dirty="0">
                <a:solidFill>
                  <a:srgbClr val="273239"/>
                </a:solidFill>
                <a:effectLst/>
                <a:latin typeface="Trebuchet MS" panose="020B0603020202020204" pitchFamily="34" charset="0"/>
              </a:rPr>
              <a:t>main function</a:t>
            </a:r>
            <a:r>
              <a:rPr lang="en-IN" sz="2000" b="0" i="0" dirty="0">
                <a:solidFill>
                  <a:srgbClr val="273239"/>
                </a:solidFill>
                <a:effectLst/>
                <a:latin typeface="Trebuchet MS" panose="020B0603020202020204" pitchFamily="34" charset="0"/>
              </a:rPr>
              <a:t>.</a:t>
            </a:r>
          </a:p>
        </p:txBody>
      </p:sp>
    </p:spTree>
    <p:extLst>
      <p:ext uri="{BB962C8B-B14F-4D97-AF65-F5344CB8AC3E}">
        <p14:creationId xmlns:p14="http://schemas.microsoft.com/office/powerpoint/2010/main" val="245439716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C++ Program Structure</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sp>
        <p:nvSpPr>
          <p:cNvPr id="3" name="TextBox 2">
            <a:extLst>
              <a:ext uri="{FF2B5EF4-FFF2-40B4-BE49-F238E27FC236}">
                <a16:creationId xmlns:a16="http://schemas.microsoft.com/office/drawing/2014/main" id="{E274B8DF-EBD9-4BD9-A9F0-62BBBD16E8CA}"/>
              </a:ext>
            </a:extLst>
          </p:cNvPr>
          <p:cNvSpPr txBox="1"/>
          <p:nvPr/>
        </p:nvSpPr>
        <p:spPr>
          <a:xfrm>
            <a:off x="1488208" y="1796450"/>
            <a:ext cx="9512301" cy="4498604"/>
          </a:xfrm>
          <a:prstGeom prst="rect">
            <a:avLst/>
          </a:prstGeom>
          <a:noFill/>
        </p:spPr>
        <p:txBody>
          <a:bodyPr wrap="square">
            <a:spAutoFit/>
          </a:bodyPr>
          <a:lstStyle/>
          <a:p>
            <a:pPr fontAlgn="base"/>
            <a:r>
              <a:rPr lang="en-IN" sz="2000" b="1" i="0" dirty="0">
                <a:solidFill>
                  <a:srgbClr val="0070C0"/>
                </a:solidFill>
                <a:effectLst/>
                <a:latin typeface="Trebuchet MS" panose="020B0603020202020204" pitchFamily="34" charset="0"/>
              </a:rPr>
              <a:t>Main Function:</a:t>
            </a:r>
          </a:p>
          <a:p>
            <a:pPr marL="285750" indent="-285750" algn="l" fontAlgn="base">
              <a:lnSpc>
                <a:spcPct val="150000"/>
              </a:lnSpc>
              <a:buFont typeface="Arial" panose="020B0604020202020204" pitchFamily="34" charset="0"/>
              <a:buChar char="•"/>
            </a:pPr>
            <a:r>
              <a:rPr lang="en-IN" sz="2000" b="0" i="0" dirty="0">
                <a:solidFill>
                  <a:srgbClr val="273239"/>
                </a:solidFill>
                <a:effectLst/>
                <a:latin typeface="Trebuchet MS" panose="020B0603020202020204" pitchFamily="34" charset="0"/>
              </a:rPr>
              <a:t>The main function tells the compiler </a:t>
            </a:r>
            <a:r>
              <a:rPr lang="en-IN" sz="2000" b="0" i="0" dirty="0">
                <a:solidFill>
                  <a:srgbClr val="FF0000"/>
                </a:solidFill>
                <a:effectLst/>
                <a:latin typeface="Trebuchet MS" panose="020B0603020202020204" pitchFamily="34" charset="0"/>
              </a:rPr>
              <a:t>where to start the execution </a:t>
            </a:r>
            <a:r>
              <a:rPr lang="en-IN" sz="2000" b="0" i="0" dirty="0">
                <a:solidFill>
                  <a:srgbClr val="273239"/>
                </a:solidFill>
                <a:effectLst/>
                <a:latin typeface="Trebuchet MS" panose="020B0603020202020204" pitchFamily="34" charset="0"/>
              </a:rPr>
              <a:t>of the program. </a:t>
            </a:r>
          </a:p>
          <a:p>
            <a:pPr marL="285750" indent="-285750" algn="l" fontAlgn="base">
              <a:lnSpc>
                <a:spcPct val="150000"/>
              </a:lnSpc>
              <a:buFont typeface="Arial" panose="020B0604020202020204" pitchFamily="34" charset="0"/>
              <a:buChar char="•"/>
            </a:pPr>
            <a:r>
              <a:rPr lang="en-IN" sz="2000" b="0" i="0" dirty="0">
                <a:solidFill>
                  <a:srgbClr val="273239"/>
                </a:solidFill>
                <a:effectLst/>
                <a:latin typeface="Trebuchet MS" panose="020B0603020202020204" pitchFamily="34" charset="0"/>
              </a:rPr>
              <a:t>The execution of the program </a:t>
            </a:r>
            <a:r>
              <a:rPr lang="en-IN" sz="2000" b="0" i="0" dirty="0">
                <a:solidFill>
                  <a:srgbClr val="FF0000"/>
                </a:solidFill>
                <a:effectLst/>
                <a:latin typeface="Trebuchet MS" panose="020B0603020202020204" pitchFamily="34" charset="0"/>
              </a:rPr>
              <a:t>starts with the main function</a:t>
            </a:r>
            <a:r>
              <a:rPr lang="en-IN" sz="2000" b="0" i="0" dirty="0">
                <a:solidFill>
                  <a:srgbClr val="273239"/>
                </a:solidFill>
                <a:effectLst/>
                <a:latin typeface="Trebuchet MS" panose="020B0603020202020204" pitchFamily="34" charset="0"/>
              </a:rPr>
              <a:t>.</a:t>
            </a:r>
          </a:p>
          <a:p>
            <a:pPr marL="285750" indent="-285750" algn="l" fontAlgn="base">
              <a:lnSpc>
                <a:spcPct val="150000"/>
              </a:lnSpc>
              <a:buFont typeface="Arial" panose="020B0604020202020204" pitchFamily="34" charset="0"/>
              <a:buChar char="•"/>
            </a:pPr>
            <a:r>
              <a:rPr lang="en-IN" sz="2000" b="0" i="0" dirty="0">
                <a:solidFill>
                  <a:srgbClr val="FF0000"/>
                </a:solidFill>
                <a:effectLst/>
                <a:latin typeface="Trebuchet MS" panose="020B0603020202020204" pitchFamily="34" charset="0"/>
              </a:rPr>
              <a:t>All the statements</a:t>
            </a:r>
            <a:r>
              <a:rPr lang="en-IN" sz="2000" b="0" i="0" dirty="0">
                <a:solidFill>
                  <a:srgbClr val="273239"/>
                </a:solidFill>
                <a:effectLst/>
                <a:latin typeface="Trebuchet MS" panose="020B0603020202020204" pitchFamily="34" charset="0"/>
              </a:rPr>
              <a:t> that are to be executed are written in the main function.</a:t>
            </a:r>
          </a:p>
          <a:p>
            <a:pPr marL="285750" indent="-285750" algn="l" fontAlgn="base">
              <a:lnSpc>
                <a:spcPct val="150000"/>
              </a:lnSpc>
              <a:buFont typeface="Arial" panose="020B0604020202020204" pitchFamily="34" charset="0"/>
              <a:buChar char="•"/>
            </a:pPr>
            <a:r>
              <a:rPr lang="en-IN" sz="2000" b="0" i="0" dirty="0">
                <a:solidFill>
                  <a:srgbClr val="273239"/>
                </a:solidFill>
                <a:effectLst/>
                <a:latin typeface="Trebuchet MS" panose="020B0603020202020204" pitchFamily="34" charset="0"/>
              </a:rPr>
              <a:t>The compiler executes all the instructions which are written in the curly </a:t>
            </a:r>
            <a:r>
              <a:rPr lang="en-IN" sz="2000" b="0" i="0" dirty="0">
                <a:solidFill>
                  <a:srgbClr val="FF0000"/>
                </a:solidFill>
                <a:effectLst/>
                <a:latin typeface="Trebuchet MS" panose="020B0603020202020204" pitchFamily="34" charset="0"/>
              </a:rPr>
              <a:t>braces </a:t>
            </a:r>
            <a:r>
              <a:rPr lang="en-IN" sz="2000" b="1" i="0" dirty="0">
                <a:solidFill>
                  <a:srgbClr val="FF0000"/>
                </a:solidFill>
                <a:effectLst/>
                <a:latin typeface="Trebuchet MS" panose="020B0603020202020204" pitchFamily="34" charset="0"/>
              </a:rPr>
              <a:t>{}</a:t>
            </a:r>
            <a:r>
              <a:rPr lang="en-IN" sz="2000" b="0" i="0" dirty="0">
                <a:solidFill>
                  <a:srgbClr val="FF0000"/>
                </a:solidFill>
                <a:effectLst/>
                <a:latin typeface="Trebuchet MS" panose="020B0603020202020204" pitchFamily="34" charset="0"/>
              </a:rPr>
              <a:t> which encloses </a:t>
            </a:r>
            <a:r>
              <a:rPr lang="en-IN" sz="2000" b="0" i="0" dirty="0">
                <a:solidFill>
                  <a:srgbClr val="273239"/>
                </a:solidFill>
                <a:effectLst/>
                <a:latin typeface="Trebuchet MS" panose="020B0603020202020204" pitchFamily="34" charset="0"/>
              </a:rPr>
              <a:t>the body of the main function.</a:t>
            </a:r>
          </a:p>
          <a:p>
            <a:pPr marL="285750" indent="-285750" algn="l" fontAlgn="base">
              <a:lnSpc>
                <a:spcPct val="150000"/>
              </a:lnSpc>
              <a:buFont typeface="Arial" panose="020B0604020202020204" pitchFamily="34" charset="0"/>
              <a:buChar char="•"/>
            </a:pPr>
            <a:r>
              <a:rPr lang="en-IN" sz="2000" b="0" i="0" dirty="0">
                <a:solidFill>
                  <a:srgbClr val="273239"/>
                </a:solidFill>
                <a:effectLst/>
                <a:latin typeface="Trebuchet MS" panose="020B0603020202020204" pitchFamily="34" charset="0"/>
              </a:rPr>
              <a:t>Once all instructions from the main function are executed, control comes out of the main function and the program terminates and no further execution occur.</a:t>
            </a:r>
          </a:p>
        </p:txBody>
      </p:sp>
    </p:spTree>
    <p:extLst>
      <p:ext uri="{BB962C8B-B14F-4D97-AF65-F5344CB8AC3E}">
        <p14:creationId xmlns:p14="http://schemas.microsoft.com/office/powerpoint/2010/main" val="25244750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Library functions in C++</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graphicFrame>
        <p:nvGraphicFramePr>
          <p:cNvPr id="3" name="Table 7">
            <a:extLst>
              <a:ext uri="{FF2B5EF4-FFF2-40B4-BE49-F238E27FC236}">
                <a16:creationId xmlns:a16="http://schemas.microsoft.com/office/drawing/2014/main" id="{4979EFC4-99E1-48B5-B1F0-63B715BF7A86}"/>
              </a:ext>
            </a:extLst>
          </p:cNvPr>
          <p:cNvGraphicFramePr>
            <a:graphicFrameLocks noGrp="1"/>
          </p:cNvGraphicFramePr>
          <p:nvPr>
            <p:extLst>
              <p:ext uri="{D42A27DB-BD31-4B8C-83A1-F6EECF244321}">
                <p14:modId xmlns:p14="http://schemas.microsoft.com/office/powerpoint/2010/main" val="3280333238"/>
              </p:ext>
            </p:extLst>
          </p:nvPr>
        </p:nvGraphicFramePr>
        <p:xfrm>
          <a:off x="812800" y="1771349"/>
          <a:ext cx="10058399" cy="4361597"/>
        </p:xfrm>
        <a:graphic>
          <a:graphicData uri="http://schemas.openxmlformats.org/drawingml/2006/table">
            <a:tbl>
              <a:tblPr/>
              <a:tblGrid>
                <a:gridCol w="2004921">
                  <a:extLst>
                    <a:ext uri="{9D8B030D-6E8A-4147-A177-3AD203B41FA5}">
                      <a16:colId xmlns:a16="http://schemas.microsoft.com/office/drawing/2014/main" val="2984464297"/>
                    </a:ext>
                  </a:extLst>
                </a:gridCol>
                <a:gridCol w="8053478">
                  <a:extLst>
                    <a:ext uri="{9D8B030D-6E8A-4147-A177-3AD203B41FA5}">
                      <a16:colId xmlns:a16="http://schemas.microsoft.com/office/drawing/2014/main" val="618816752"/>
                    </a:ext>
                  </a:extLst>
                </a:gridCol>
              </a:tblGrid>
              <a:tr h="354213">
                <a:tc>
                  <a:txBody>
                    <a:bodyPr/>
                    <a:lstStyle/>
                    <a:p>
                      <a:pPr algn="l" fontAlgn="ctr" latinLnBrk="0"/>
                      <a:r>
                        <a:rPr lang="en-IN" sz="1600" b="1" dirty="0">
                          <a:effectLst/>
                          <a:latin typeface="Trebuchet MS" panose="020B0603020202020204" pitchFamily="34" charset="0"/>
                        </a:rPr>
                        <a:t>Headers</a:t>
                      </a:r>
                    </a:p>
                  </a:txBody>
                  <a:tcPr marL="63658" marR="63658" marT="31829" marB="31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r>
                        <a:rPr lang="en-IN" sz="1600" b="1">
                          <a:effectLst/>
                          <a:latin typeface="Trebuchet MS" panose="020B0603020202020204" pitchFamily="34" charset="0"/>
                        </a:rPr>
                        <a:t>Description</a:t>
                      </a:r>
                    </a:p>
                  </a:txBody>
                  <a:tcPr marL="63658" marR="63658" marT="31829" marB="31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72362774"/>
                  </a:ext>
                </a:extLst>
              </a:tr>
              <a:tr h="635098">
                <a:tc>
                  <a:txBody>
                    <a:bodyPr/>
                    <a:lstStyle/>
                    <a:p>
                      <a:pPr algn="l" fontAlgn="t" latinLnBrk="0"/>
                      <a:r>
                        <a:rPr lang="en-IN" sz="1600" b="0" dirty="0">
                          <a:effectLst/>
                          <a:latin typeface="Trebuchet MS" panose="020B0603020202020204" pitchFamily="34" charset="0"/>
                        </a:rPr>
                        <a:t>iostream</a:t>
                      </a:r>
                    </a:p>
                  </a:txBody>
                  <a:tcPr marL="63658" marR="63658" marT="31829" marB="318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latinLnBrk="0"/>
                      <a:r>
                        <a:rPr lang="en-IN" sz="1600" b="0" dirty="0">
                          <a:effectLst/>
                          <a:latin typeface="Trebuchet MS" panose="020B0603020202020204" pitchFamily="34" charset="0"/>
                        </a:rPr>
                        <a:t>This header contains the prototype for standard input and output functions used in C++ like </a:t>
                      </a:r>
                      <a:r>
                        <a:rPr lang="en-IN" sz="1600" b="0" dirty="0" err="1">
                          <a:effectLst/>
                          <a:latin typeface="Trebuchet MS" panose="020B0603020202020204" pitchFamily="34" charset="0"/>
                        </a:rPr>
                        <a:t>cin</a:t>
                      </a:r>
                      <a:r>
                        <a:rPr lang="en-IN" sz="1600" b="0" dirty="0">
                          <a:effectLst/>
                          <a:latin typeface="Trebuchet MS" panose="020B0603020202020204" pitchFamily="34" charset="0"/>
                        </a:rPr>
                        <a:t>, </a:t>
                      </a:r>
                      <a:r>
                        <a:rPr lang="en-IN" sz="1600" b="0" dirty="0" err="1">
                          <a:effectLst/>
                          <a:latin typeface="Trebuchet MS" panose="020B0603020202020204" pitchFamily="34" charset="0"/>
                        </a:rPr>
                        <a:t>cout</a:t>
                      </a:r>
                      <a:r>
                        <a:rPr lang="en-IN" sz="1600" b="0" dirty="0">
                          <a:effectLst/>
                          <a:latin typeface="Trebuchet MS" panose="020B0603020202020204" pitchFamily="34" charset="0"/>
                        </a:rPr>
                        <a:t>, etc.</a:t>
                      </a:r>
                    </a:p>
                  </a:txBody>
                  <a:tcPr marL="63658" marR="63658" marT="31829" marB="318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68111093"/>
                  </a:ext>
                </a:extLst>
              </a:tr>
              <a:tr h="415529">
                <a:tc>
                  <a:txBody>
                    <a:bodyPr/>
                    <a:lstStyle/>
                    <a:p>
                      <a:pPr algn="l" fontAlgn="t" latinLnBrk="0"/>
                      <a:r>
                        <a:rPr lang="en-IN" sz="1600" b="0">
                          <a:effectLst/>
                          <a:latin typeface="Trebuchet MS" panose="020B0603020202020204" pitchFamily="34" charset="0"/>
                        </a:rPr>
                        <a:t>cmath</a:t>
                      </a:r>
                    </a:p>
                  </a:txBody>
                  <a:tcPr marL="63658" marR="63658" marT="31829" marB="318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latinLnBrk="0"/>
                      <a:r>
                        <a:rPr lang="en-IN" sz="1600" b="0" dirty="0">
                          <a:effectLst/>
                          <a:latin typeface="Trebuchet MS" panose="020B0603020202020204" pitchFamily="34" charset="0"/>
                        </a:rPr>
                        <a:t>This is the header containing various math library functions.</a:t>
                      </a:r>
                    </a:p>
                  </a:txBody>
                  <a:tcPr marL="63658" marR="63658" marT="31829" marB="318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77776116"/>
                  </a:ext>
                </a:extLst>
              </a:tr>
              <a:tr h="635098">
                <a:tc>
                  <a:txBody>
                    <a:bodyPr/>
                    <a:lstStyle/>
                    <a:p>
                      <a:pPr algn="l" fontAlgn="t" latinLnBrk="0"/>
                      <a:r>
                        <a:rPr lang="en-IN" sz="1600" b="0">
                          <a:effectLst/>
                          <a:latin typeface="Trebuchet MS" panose="020B0603020202020204" pitchFamily="34" charset="0"/>
                        </a:rPr>
                        <a:t>iomanip</a:t>
                      </a:r>
                    </a:p>
                  </a:txBody>
                  <a:tcPr marL="63658" marR="63658" marT="31829" marB="318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latinLnBrk="0"/>
                      <a:r>
                        <a:rPr lang="en-IN" sz="1600" b="0" dirty="0">
                          <a:effectLst/>
                          <a:latin typeface="Trebuchet MS" panose="020B0603020202020204" pitchFamily="34" charset="0"/>
                        </a:rPr>
                        <a:t>This header contains stream manipulator functions that allow us to format the stream of data.</a:t>
                      </a:r>
                    </a:p>
                  </a:txBody>
                  <a:tcPr marL="63658" marR="63658" marT="31829" marB="318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82510553"/>
                  </a:ext>
                </a:extLst>
              </a:tr>
              <a:tr h="757730">
                <a:tc>
                  <a:txBody>
                    <a:bodyPr/>
                    <a:lstStyle/>
                    <a:p>
                      <a:pPr algn="l" fontAlgn="t" latinLnBrk="0"/>
                      <a:r>
                        <a:rPr lang="en-IN" sz="1600" b="0">
                          <a:effectLst/>
                          <a:latin typeface="Trebuchet MS" panose="020B0603020202020204" pitchFamily="34" charset="0"/>
                        </a:rPr>
                        <a:t>cstdlib</a:t>
                      </a:r>
                    </a:p>
                  </a:txBody>
                  <a:tcPr marL="63658" marR="63658" marT="31829" marB="318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latinLnBrk="0"/>
                      <a:r>
                        <a:rPr lang="en-IN" sz="1600" b="0" dirty="0">
                          <a:effectLst/>
                          <a:latin typeface="Trebuchet MS" panose="020B0603020202020204" pitchFamily="34" charset="0"/>
                        </a:rPr>
                        <a:t>The header </a:t>
                      </a:r>
                      <a:r>
                        <a:rPr lang="en-IN" sz="1600" b="0" dirty="0" err="1">
                          <a:effectLst/>
                          <a:latin typeface="Trebuchet MS" panose="020B0603020202020204" pitchFamily="34" charset="0"/>
                        </a:rPr>
                        <a:t>cstdlib</a:t>
                      </a:r>
                      <a:r>
                        <a:rPr lang="en-IN" sz="1600" b="0" dirty="0">
                          <a:effectLst/>
                          <a:latin typeface="Trebuchet MS" panose="020B0603020202020204" pitchFamily="34" charset="0"/>
                        </a:rPr>
                        <a:t> contains various functions related to conversion between text and numbers, memory allocation, random numbers, and other utility functions.</a:t>
                      </a:r>
                    </a:p>
                  </a:txBody>
                  <a:tcPr marL="63658" marR="63658" marT="31829" marB="318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24256207"/>
                  </a:ext>
                </a:extLst>
              </a:tr>
              <a:tr h="635098">
                <a:tc>
                  <a:txBody>
                    <a:bodyPr/>
                    <a:lstStyle/>
                    <a:p>
                      <a:pPr algn="l" fontAlgn="t" latinLnBrk="0"/>
                      <a:r>
                        <a:rPr lang="en-IN" sz="1600" b="0">
                          <a:effectLst/>
                          <a:latin typeface="Trebuchet MS" panose="020B0603020202020204" pitchFamily="34" charset="0"/>
                        </a:rPr>
                        <a:t>ctime</a:t>
                      </a:r>
                    </a:p>
                  </a:txBody>
                  <a:tcPr marL="63658" marR="63658" marT="31829" marB="318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latinLnBrk="0"/>
                      <a:r>
                        <a:rPr lang="en-IN" sz="1600" b="0" dirty="0" err="1">
                          <a:effectLst/>
                          <a:latin typeface="Trebuchet MS" panose="020B0603020202020204" pitchFamily="34" charset="0"/>
                        </a:rPr>
                        <a:t>ctime</a:t>
                      </a:r>
                      <a:r>
                        <a:rPr lang="en-IN" sz="1600" b="0" dirty="0">
                          <a:effectLst/>
                          <a:latin typeface="Trebuchet MS" panose="020B0603020202020204" pitchFamily="34" charset="0"/>
                        </a:rPr>
                        <a:t> contains function prototypes related to date and time manipulations in C++.</a:t>
                      </a:r>
                    </a:p>
                  </a:txBody>
                  <a:tcPr marL="63658" marR="63658" marT="31829" marB="318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5603157"/>
                  </a:ext>
                </a:extLst>
              </a:tr>
              <a:tr h="928831">
                <a:tc>
                  <a:txBody>
                    <a:bodyPr/>
                    <a:lstStyle/>
                    <a:p>
                      <a:pPr algn="l" fontAlgn="t" latinLnBrk="0"/>
                      <a:r>
                        <a:rPr lang="en-IN" sz="1600" b="0">
                          <a:effectLst/>
                          <a:latin typeface="Trebuchet MS" panose="020B0603020202020204" pitchFamily="34" charset="0"/>
                        </a:rPr>
                        <a:t>cctype</a:t>
                      </a:r>
                    </a:p>
                  </a:txBody>
                  <a:tcPr marL="63658" marR="63658" marT="31829" marB="318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latinLnBrk="0"/>
                      <a:r>
                        <a:rPr lang="en-IN" sz="1600" b="0" dirty="0">
                          <a:effectLst/>
                          <a:latin typeface="Trebuchet MS" panose="020B0603020202020204" pitchFamily="34" charset="0"/>
                        </a:rPr>
                        <a:t>This header includes function prototypes that test the type of characters (digit, punctuation, etc.). It also has prototypes that are used to convert from uppercase to lowercase and another way around.</a:t>
                      </a:r>
                    </a:p>
                  </a:txBody>
                  <a:tcPr marL="63658" marR="63658" marT="31829" marB="318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120587036"/>
                  </a:ext>
                </a:extLst>
              </a:tr>
            </a:tbl>
          </a:graphicData>
        </a:graphic>
      </p:graphicFrame>
    </p:spTree>
    <p:extLst>
      <p:ext uri="{BB962C8B-B14F-4D97-AF65-F5344CB8AC3E}">
        <p14:creationId xmlns:p14="http://schemas.microsoft.com/office/powerpoint/2010/main" val="35908768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object 3"/>
          <p:cNvSpPr txBox="1">
            <a:spLocks noGrp="1"/>
          </p:cNvSpPr>
          <p:nvPr>
            <p:ph type="title"/>
          </p:nvPr>
        </p:nvSpPr>
        <p:spPr>
          <a:xfrm>
            <a:off x="478275" y="-572928"/>
            <a:ext cx="8407107" cy="1921039"/>
          </a:xfrm>
          <a:prstGeom prst="rect">
            <a:avLst/>
          </a:prstGeom>
        </p:spPr>
        <p:txBody>
          <a:bodyPr vert="horz" wrap="square" lIns="0" tIns="12700" rIns="0" bIns="0" rtlCol="0">
            <a:spAutoFit/>
          </a:bodyPr>
          <a:lstStyle/>
          <a:p>
            <a:pPr marL="12700">
              <a:lnSpc>
                <a:spcPct val="100000"/>
              </a:lnSpc>
              <a:spcBef>
                <a:spcPts val="100"/>
              </a:spcBef>
            </a:pPr>
            <a:br>
              <a:rPr lang="en-IN" sz="2400" b="1" dirty="0">
                <a:solidFill>
                  <a:schemeClr val="bg1"/>
                </a:solidFill>
                <a:latin typeface="Cambria" panose="02040503050406030204" pitchFamily="18" charset="0"/>
              </a:rPr>
            </a:br>
            <a:br>
              <a:rPr lang="en-IN" sz="2400" b="1" dirty="0">
                <a:solidFill>
                  <a:schemeClr val="bg1"/>
                </a:solidFill>
                <a:latin typeface="Cambria" panose="02040503050406030204" pitchFamily="18" charset="0"/>
              </a:rPr>
            </a:br>
            <a:r>
              <a:rPr lang="en-IN" sz="2800" b="1" dirty="0">
                <a:solidFill>
                  <a:srgbClr val="FFFFFF"/>
                </a:solidFill>
                <a:latin typeface="Trebuchet MS" panose="020B0603020202020204" pitchFamily="34" charset="0"/>
              </a:rPr>
              <a:t>Library functions in C++</a:t>
            </a:r>
            <a:br>
              <a:rPr lang="en-IN" sz="2800" b="1" dirty="0">
                <a:solidFill>
                  <a:srgbClr val="FFFFFF"/>
                </a:solidFill>
                <a:latin typeface="Trebuchet MS" panose="020B0603020202020204" pitchFamily="34" charset="0"/>
              </a:rPr>
            </a:br>
            <a:br>
              <a:rPr lang="en-IN" sz="2400" b="1" dirty="0">
                <a:solidFill>
                  <a:schemeClr val="bg1"/>
                </a:solidFill>
                <a:latin typeface="Cambria" panose="02040503050406030204" pitchFamily="18" charset="0"/>
              </a:rPr>
            </a:br>
            <a:endParaRPr sz="2400" dirty="0"/>
          </a:p>
        </p:txBody>
      </p:sp>
      <p:graphicFrame>
        <p:nvGraphicFramePr>
          <p:cNvPr id="3" name="Table 7">
            <a:extLst>
              <a:ext uri="{FF2B5EF4-FFF2-40B4-BE49-F238E27FC236}">
                <a16:creationId xmlns:a16="http://schemas.microsoft.com/office/drawing/2014/main" id="{BBD4A450-2233-4EDE-9479-48BFDF78CF4B}"/>
              </a:ext>
            </a:extLst>
          </p:cNvPr>
          <p:cNvGraphicFramePr>
            <a:graphicFrameLocks noGrp="1"/>
          </p:cNvGraphicFramePr>
          <p:nvPr>
            <p:extLst>
              <p:ext uri="{D42A27DB-BD31-4B8C-83A1-F6EECF244321}">
                <p14:modId xmlns:p14="http://schemas.microsoft.com/office/powerpoint/2010/main" val="2248646217"/>
              </p:ext>
            </p:extLst>
          </p:nvPr>
        </p:nvGraphicFramePr>
        <p:xfrm>
          <a:off x="478276" y="1652864"/>
          <a:ext cx="10503760" cy="4821828"/>
        </p:xfrm>
        <a:graphic>
          <a:graphicData uri="http://schemas.openxmlformats.org/drawingml/2006/table">
            <a:tbl>
              <a:tblPr/>
              <a:tblGrid>
                <a:gridCol w="2093694">
                  <a:extLst>
                    <a:ext uri="{9D8B030D-6E8A-4147-A177-3AD203B41FA5}">
                      <a16:colId xmlns:a16="http://schemas.microsoft.com/office/drawing/2014/main" val="2984464297"/>
                    </a:ext>
                  </a:extLst>
                </a:gridCol>
                <a:gridCol w="8410066">
                  <a:extLst>
                    <a:ext uri="{9D8B030D-6E8A-4147-A177-3AD203B41FA5}">
                      <a16:colId xmlns:a16="http://schemas.microsoft.com/office/drawing/2014/main" val="618816752"/>
                    </a:ext>
                  </a:extLst>
                </a:gridCol>
              </a:tblGrid>
              <a:tr h="398575">
                <a:tc>
                  <a:txBody>
                    <a:bodyPr/>
                    <a:lstStyle/>
                    <a:p>
                      <a:pPr algn="l" fontAlgn="ctr" latinLnBrk="0"/>
                      <a:r>
                        <a:rPr lang="en-IN" sz="1600" b="1" dirty="0">
                          <a:effectLst/>
                          <a:latin typeface="Trebuchet MS" panose="020B0603020202020204" pitchFamily="34" charset="0"/>
                        </a:rPr>
                        <a:t>Headers</a:t>
                      </a:r>
                    </a:p>
                  </a:txBody>
                  <a:tcPr marL="63658" marR="63658" marT="31829" marB="31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ctr" latinLnBrk="0"/>
                      <a:r>
                        <a:rPr lang="en-IN" sz="1600" b="1">
                          <a:effectLst/>
                          <a:latin typeface="Trebuchet MS" panose="020B0603020202020204" pitchFamily="34" charset="0"/>
                        </a:rPr>
                        <a:t>Description</a:t>
                      </a:r>
                    </a:p>
                  </a:txBody>
                  <a:tcPr marL="63658" marR="63658" marT="31829" marB="318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72362774"/>
                  </a:ext>
                </a:extLst>
              </a:tr>
              <a:tr h="614940">
                <a:tc>
                  <a:txBody>
                    <a:bodyPr/>
                    <a:lstStyle/>
                    <a:p>
                      <a:pPr algn="l" fontAlgn="t" latinLnBrk="0"/>
                      <a:r>
                        <a:rPr lang="en-IN" sz="1600" b="0" dirty="0" err="1">
                          <a:effectLst/>
                        </a:rPr>
                        <a:t>cstring</a:t>
                      </a:r>
                      <a:endParaRPr lang="en-IN" sz="1600" b="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latinLnBrk="0"/>
                      <a:r>
                        <a:rPr lang="en-IN" sz="1600" b="0">
                          <a:effectLst/>
                        </a:rPr>
                        <a:t>cstring header includes function prototypes for C-style string-processing functions.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68111093"/>
                  </a:ext>
                </a:extLst>
              </a:tr>
              <a:tr h="648059">
                <a:tc>
                  <a:txBody>
                    <a:bodyPr/>
                    <a:lstStyle/>
                    <a:p>
                      <a:pPr algn="l" fontAlgn="t" latinLnBrk="0"/>
                      <a:r>
                        <a:rPr lang="en-IN" sz="1600" b="0" dirty="0" err="1">
                          <a:effectLst/>
                        </a:rPr>
                        <a:t>cstdio</a:t>
                      </a:r>
                      <a:endParaRPr lang="en-IN" sz="1600" b="0" dirty="0">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latinLnBrk="0"/>
                      <a:r>
                        <a:rPr lang="en-IN" sz="1600" b="0">
                          <a:effectLst/>
                        </a:rPr>
                        <a:t>This header contains function prototypes for the C-style standard input/output library functions which we included initially in stdio.h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10584449"/>
                  </a:ext>
                </a:extLst>
              </a:tr>
              <a:tr h="648059">
                <a:tc>
                  <a:txBody>
                    <a:bodyPr/>
                    <a:lstStyle/>
                    <a:p>
                      <a:pPr algn="l" fontAlgn="t" latinLnBrk="0"/>
                      <a:r>
                        <a:rPr lang="en-IN" sz="1600" b="0">
                          <a:effectLst/>
                        </a:rPr>
                        <a:t>fstream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latinLnBrk="0"/>
                      <a:r>
                        <a:rPr lang="en-IN" sz="1600" b="0" dirty="0">
                          <a:effectLst/>
                        </a:rPr>
                        <a:t>Function prototypes for functions that perform input/output from/to files on disk are included in </a:t>
                      </a:r>
                      <a:r>
                        <a:rPr lang="en-IN" sz="1600" b="0" dirty="0" err="1">
                          <a:effectLst/>
                        </a:rPr>
                        <a:t>fstream</a:t>
                      </a:r>
                      <a:r>
                        <a:rPr lang="en-IN" sz="1600" b="0" dirty="0">
                          <a:effectLst/>
                        </a:rPr>
                        <a:t> header.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77776116"/>
                  </a:ext>
                </a:extLst>
              </a:tr>
              <a:tr h="483559">
                <a:tc>
                  <a:txBody>
                    <a:bodyPr/>
                    <a:lstStyle/>
                    <a:p>
                      <a:pPr algn="l" fontAlgn="t" latinLnBrk="0"/>
                      <a:r>
                        <a:rPr lang="en-IN" sz="1600" b="0">
                          <a:effectLst/>
                        </a:rPr>
                        <a:t>climits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latinLnBrk="0"/>
                      <a:r>
                        <a:rPr lang="en-IN" sz="1600" b="0" dirty="0" err="1">
                          <a:effectLst/>
                        </a:rPr>
                        <a:t>climits</a:t>
                      </a:r>
                      <a:r>
                        <a:rPr lang="en-IN" sz="1600" b="0" dirty="0">
                          <a:effectLst/>
                        </a:rPr>
                        <a:t> header has the integral size limits of the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82510553"/>
                  </a:ext>
                </a:extLst>
              </a:tr>
              <a:tr h="648059">
                <a:tc>
                  <a:txBody>
                    <a:bodyPr/>
                    <a:lstStyle/>
                    <a:p>
                      <a:pPr algn="l" fontAlgn="t" latinLnBrk="0"/>
                      <a:r>
                        <a:rPr lang="en-IN" sz="1600" b="0">
                          <a:effectLst/>
                        </a:rPr>
                        <a:t>cassert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latinLnBrk="0"/>
                      <a:r>
                        <a:rPr lang="en-IN" sz="1600" b="0" dirty="0" err="1">
                          <a:effectLst/>
                        </a:rPr>
                        <a:t>cassert</a:t>
                      </a:r>
                      <a:r>
                        <a:rPr lang="en-IN" sz="1600" b="0" dirty="0">
                          <a:effectLst/>
                        </a:rPr>
                        <a:t> header contains macros and variables for adding diagnostics that help us in program debugging.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24256207"/>
                  </a:ext>
                </a:extLst>
              </a:tr>
              <a:tr h="614940">
                <a:tc>
                  <a:txBody>
                    <a:bodyPr/>
                    <a:lstStyle/>
                    <a:p>
                      <a:pPr algn="l" fontAlgn="t" latinLnBrk="0"/>
                      <a:r>
                        <a:rPr lang="en-IN" sz="1600" b="0">
                          <a:effectLst/>
                        </a:rPr>
                        <a:t>cfloat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latinLnBrk="0"/>
                      <a:r>
                        <a:rPr lang="en-IN" sz="1600" b="0" dirty="0">
                          <a:effectLst/>
                        </a:rPr>
                        <a:t>This header file contains the size limits for floating-point numbers on the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5603157"/>
                  </a:ext>
                </a:extLst>
              </a:tr>
              <a:tr h="765637">
                <a:tc>
                  <a:txBody>
                    <a:bodyPr/>
                    <a:lstStyle/>
                    <a:p>
                      <a:pPr algn="l" fontAlgn="t" latinLnBrk="0"/>
                      <a:r>
                        <a:rPr lang="en-IN" sz="1600" b="0" dirty="0">
                          <a:effectLst/>
                        </a:rPr>
                        <a:t>string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latinLnBrk="0"/>
                      <a:r>
                        <a:rPr lang="en-IN" sz="1600" b="0" dirty="0">
                          <a:effectLst/>
                        </a:rPr>
                        <a:t>The header string defines the class string of the C++ Standard Library.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120587036"/>
                  </a:ext>
                </a:extLst>
              </a:tr>
            </a:tbl>
          </a:graphicData>
        </a:graphic>
      </p:graphicFrame>
    </p:spTree>
    <p:extLst>
      <p:ext uri="{BB962C8B-B14F-4D97-AF65-F5344CB8AC3E}">
        <p14:creationId xmlns:p14="http://schemas.microsoft.com/office/powerpoint/2010/main" val="34284969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11457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TotalTime>
  <Words>4486</Words>
  <Application>Microsoft Office PowerPoint</Application>
  <PresentationFormat>Widescreen</PresentationFormat>
  <Paragraphs>484</Paragraphs>
  <Slides>68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68</vt:i4>
      </vt:variant>
    </vt:vector>
  </HeadingPairs>
  <TitlesOfParts>
    <vt:vector size="77" baseType="lpstr">
      <vt:lpstr>arial</vt:lpstr>
      <vt:lpstr>arial</vt:lpstr>
      <vt:lpstr>Calibri</vt:lpstr>
      <vt:lpstr>Calibri Light</vt:lpstr>
      <vt:lpstr>Cambria</vt:lpstr>
      <vt:lpstr>Proxima Nova</vt:lpstr>
      <vt:lpstr>Trebuchet MS</vt:lpstr>
      <vt:lpstr>Wingdings</vt:lpstr>
      <vt:lpstr>Office Theme</vt:lpstr>
      <vt:lpstr>PowerPoint Presentation</vt:lpstr>
      <vt:lpstr>  </vt:lpstr>
      <vt:lpstr> OUTLINE  </vt:lpstr>
      <vt:lpstr> Introduction to Object Oriented Programming  </vt:lpstr>
      <vt:lpstr> Applications  </vt:lpstr>
      <vt:lpstr> Applications  </vt:lpstr>
      <vt:lpstr> Applications  </vt:lpstr>
      <vt:lpstr> Applications  </vt:lpstr>
      <vt:lpstr>  Introduction  </vt:lpstr>
      <vt:lpstr> Introduction   </vt:lpstr>
      <vt:lpstr> Introduction  </vt:lpstr>
      <vt:lpstr>Introduction</vt:lpstr>
      <vt:lpstr>  Procedural Vs. Object Oriented Programming  </vt:lpstr>
      <vt:lpstr>  Procedural Vs. Object Oriented Programming  </vt:lpstr>
      <vt:lpstr>  Procedural Vs. Object Oriented Programming   </vt:lpstr>
      <vt:lpstr>  Procedural Vs. Object Oriented Programming  </vt:lpstr>
      <vt:lpstr>  Procedural Vs. Object Oriented Programming  </vt:lpstr>
      <vt:lpstr>  Procedural Vs. Object Oriented Programming   </vt:lpstr>
      <vt:lpstr>  Procedural Vs. Object Oriented Programming  </vt:lpstr>
      <vt:lpstr>  Procedural Vs. Object Oriented Programming  </vt:lpstr>
      <vt:lpstr>  Procedural Vs. Object Oriented Programming  </vt:lpstr>
      <vt:lpstr>   Difference  between POP and OOP    </vt:lpstr>
      <vt:lpstr>  Difference  between POP and OOP   </vt:lpstr>
      <vt:lpstr>  Object Oriented Programming Concepts  </vt:lpstr>
      <vt:lpstr>  Class and objects   </vt:lpstr>
      <vt:lpstr>  Class and objects   </vt:lpstr>
      <vt:lpstr>  Class and objects   </vt:lpstr>
      <vt:lpstr>  Class and objects – Example    </vt:lpstr>
      <vt:lpstr>  Class and objects – Example    </vt:lpstr>
      <vt:lpstr>  Abstraction  </vt:lpstr>
      <vt:lpstr>  Abstraction – Example   </vt:lpstr>
      <vt:lpstr>  Encapsulation   </vt:lpstr>
      <vt:lpstr>  Inheritance  </vt:lpstr>
      <vt:lpstr>  Inheritance  </vt:lpstr>
      <vt:lpstr>  Inheritance – Example   </vt:lpstr>
      <vt:lpstr>  Polymorphism  </vt:lpstr>
      <vt:lpstr>  Polymorphism – Example   </vt:lpstr>
      <vt:lpstr>  Polymorphism – Types   </vt:lpstr>
      <vt:lpstr>  Polymorphism – Types   </vt:lpstr>
      <vt:lpstr>  Polymorphism – Types   </vt:lpstr>
      <vt:lpstr>  Dynamic Binding  </vt:lpstr>
      <vt:lpstr>  Message Passing  </vt:lpstr>
      <vt:lpstr>  Benefits of OOPs  </vt:lpstr>
      <vt:lpstr>  Benefits of OOPs  </vt:lpstr>
      <vt:lpstr>  Access Modifiers  </vt:lpstr>
      <vt:lpstr>  Access Modifiers  </vt:lpstr>
      <vt:lpstr>  Access Modifiers  </vt:lpstr>
      <vt:lpstr>  Access Modifiers  </vt:lpstr>
      <vt:lpstr>  Basics of a Typical C++ Environment  </vt:lpstr>
      <vt:lpstr>  Basics of a Typical C++ Environment  </vt:lpstr>
      <vt:lpstr>  Basics of a Typical C++ Environment  </vt:lpstr>
      <vt:lpstr>  Basics of a Typical C++ Environment  </vt:lpstr>
      <vt:lpstr>  Preprocessor directives   </vt:lpstr>
      <vt:lpstr>  Preprocessor directives   </vt:lpstr>
      <vt:lpstr>  Preprocessor directives   </vt:lpstr>
      <vt:lpstr>  Preprocessor directives   </vt:lpstr>
      <vt:lpstr>  C++ Program Structure  </vt:lpstr>
      <vt:lpstr>  C++ Program Structure  </vt:lpstr>
      <vt:lpstr>  C++ Program Structure  </vt:lpstr>
      <vt:lpstr>  C++ Program Structure  </vt:lpstr>
      <vt:lpstr>  C++ Program Structure  </vt:lpstr>
      <vt:lpstr>  C++ Program Structure  </vt:lpstr>
      <vt:lpstr>  C++ Program Structure  </vt:lpstr>
      <vt:lpstr>  C++ Program Structure  </vt:lpstr>
      <vt:lpstr>  C++ Program Structure  </vt:lpstr>
      <vt:lpstr>  Library functions in C++  </vt:lpstr>
      <vt:lpstr>  Library functions in C++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Ayush Gour</cp:lastModifiedBy>
  <cp:revision>99</cp:revision>
  <dcterms:created xsi:type="dcterms:W3CDTF">2023-12-05T07:58:57Z</dcterms:created>
  <dcterms:modified xsi:type="dcterms:W3CDTF">2025-02-06T10:50:39Z</dcterms:modified>
</cp:coreProperties>
</file>
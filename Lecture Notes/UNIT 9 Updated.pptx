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54"/>
  </p:notesMasterIdLst>
  <p:sldIdLst>
    <p:sldId id="260" r:id="rId7"/>
    <p:sldId id="261" r:id="rId8"/>
    <p:sldId id="280" r:id="rId9"/>
    <p:sldId id="314" r:id="rId10"/>
    <p:sldId id="315" r:id="rId11"/>
    <p:sldId id="316" r:id="rId12"/>
    <p:sldId id="262" r:id="rId13"/>
    <p:sldId id="281" r:id="rId14"/>
    <p:sldId id="317" r:id="rId15"/>
    <p:sldId id="325" r:id="rId16"/>
    <p:sldId id="318" r:id="rId17"/>
    <p:sldId id="324" r:id="rId18"/>
    <p:sldId id="263" r:id="rId19"/>
    <p:sldId id="284" r:id="rId20"/>
    <p:sldId id="319" r:id="rId21"/>
    <p:sldId id="320" r:id="rId22"/>
    <p:sldId id="321" r:id="rId23"/>
    <p:sldId id="322" r:id="rId24"/>
    <p:sldId id="266" r:id="rId25"/>
    <p:sldId id="287" r:id="rId26"/>
    <p:sldId id="326" r:id="rId27"/>
    <p:sldId id="327" r:id="rId28"/>
    <p:sldId id="265" r:id="rId29"/>
    <p:sldId id="267" r:id="rId30"/>
    <p:sldId id="288" r:id="rId31"/>
    <p:sldId id="289" r:id="rId32"/>
    <p:sldId id="290" r:id="rId33"/>
    <p:sldId id="328" r:id="rId34"/>
    <p:sldId id="291" r:id="rId35"/>
    <p:sldId id="329" r:id="rId36"/>
    <p:sldId id="331" r:id="rId37"/>
    <p:sldId id="341" r:id="rId38"/>
    <p:sldId id="342" r:id="rId39"/>
    <p:sldId id="330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09" r:id="rId50"/>
    <p:sldId id="310" r:id="rId51"/>
    <p:sldId id="311" r:id="rId52"/>
    <p:sldId id="258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27F7"/>
    <a:srgbClr val="8A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547" y="62"/>
      </p:cViewPr>
      <p:guideLst>
        <p:guide orient="horz" pos="2160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presProps" Target="pres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theme" Target="theme/theme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6CA0B4-1D4D-4AD2-8119-3E548C36165F}" type="doc">
      <dgm:prSet loTypeId="urn:microsoft.com/office/officeart/2005/8/layout/orgChart1#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C9F6C31B-FB9E-41F5-B4B8-F815CB8779DD}">
      <dgm:prSet phldrT="[Text]"/>
      <dgm:spPr/>
      <dgm:t>
        <a:bodyPr/>
        <a:lstStyle/>
        <a:p>
          <a:r>
            <a:rPr lang="en-US" dirty="0"/>
            <a:t>Templates</a:t>
          </a:r>
        </a:p>
      </dgm:t>
    </dgm:pt>
    <dgm:pt modelId="{9EC03437-EE1D-4CBD-9125-2D7A9BDE3615}" type="parTrans" cxnId="{5399E255-CDEE-4830-A43E-4777A6E06B99}">
      <dgm:prSet/>
      <dgm:spPr/>
      <dgm:t>
        <a:bodyPr/>
        <a:lstStyle/>
        <a:p>
          <a:endParaRPr lang="en-US"/>
        </a:p>
      </dgm:t>
    </dgm:pt>
    <dgm:pt modelId="{C70FD851-0C9C-4A23-8D58-DAA9EABF4339}" type="sibTrans" cxnId="{5399E255-CDEE-4830-A43E-4777A6E06B99}">
      <dgm:prSet/>
      <dgm:spPr/>
      <dgm:t>
        <a:bodyPr/>
        <a:lstStyle/>
        <a:p>
          <a:endParaRPr lang="en-US"/>
        </a:p>
      </dgm:t>
    </dgm:pt>
    <dgm:pt modelId="{A452E743-440B-4D9D-9F0B-E2479B6CC5DB}">
      <dgm:prSet phldrT="[Text]"/>
      <dgm:spPr/>
      <dgm:t>
        <a:bodyPr/>
        <a:lstStyle/>
        <a:p>
          <a:r>
            <a:rPr lang="en-US" dirty="0"/>
            <a:t>Function Template</a:t>
          </a:r>
        </a:p>
      </dgm:t>
    </dgm:pt>
    <dgm:pt modelId="{B0C72AE5-1E8A-4F6B-8560-003E041072B2}" type="parTrans" cxnId="{CE3AEF24-7217-4380-B3D0-55E0ACF9A205}">
      <dgm:prSet/>
      <dgm:spPr/>
      <dgm:t>
        <a:bodyPr/>
        <a:lstStyle/>
        <a:p>
          <a:endParaRPr lang="en-US"/>
        </a:p>
      </dgm:t>
    </dgm:pt>
    <dgm:pt modelId="{9C2CECD8-18E1-4CB3-B432-6231138F0127}" type="sibTrans" cxnId="{CE3AEF24-7217-4380-B3D0-55E0ACF9A205}">
      <dgm:prSet/>
      <dgm:spPr/>
      <dgm:t>
        <a:bodyPr/>
        <a:lstStyle/>
        <a:p>
          <a:endParaRPr lang="en-US"/>
        </a:p>
      </dgm:t>
    </dgm:pt>
    <dgm:pt modelId="{FE7F7516-0FE7-4558-BD12-423BA468E539}">
      <dgm:prSet phldrT="[Text]"/>
      <dgm:spPr/>
      <dgm:t>
        <a:bodyPr/>
        <a:lstStyle/>
        <a:p>
          <a:r>
            <a:rPr lang="en-US" dirty="0"/>
            <a:t>Class Template</a:t>
          </a:r>
        </a:p>
      </dgm:t>
    </dgm:pt>
    <dgm:pt modelId="{E01A9BC4-8238-4D2E-9FA0-415C0D14F4DC}" type="parTrans" cxnId="{897D6011-4AD1-4BC4-B15E-1EE1030C7E91}">
      <dgm:prSet/>
      <dgm:spPr/>
      <dgm:t>
        <a:bodyPr/>
        <a:lstStyle/>
        <a:p>
          <a:endParaRPr lang="en-US"/>
        </a:p>
      </dgm:t>
    </dgm:pt>
    <dgm:pt modelId="{3677E663-C119-4C49-AE4B-81954976ACCC}" type="sibTrans" cxnId="{897D6011-4AD1-4BC4-B15E-1EE1030C7E91}">
      <dgm:prSet/>
      <dgm:spPr/>
      <dgm:t>
        <a:bodyPr/>
        <a:lstStyle/>
        <a:p>
          <a:endParaRPr lang="en-US"/>
        </a:p>
      </dgm:t>
    </dgm:pt>
    <dgm:pt modelId="{42A57EC0-B384-431E-838D-4C4A22881E4F}" type="pres">
      <dgm:prSet presAssocID="{606CA0B4-1D4D-4AD2-8119-3E548C36165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535805F-9730-4B87-8E69-00D5EA31FF00}" type="pres">
      <dgm:prSet presAssocID="{C9F6C31B-FB9E-41F5-B4B8-F815CB8779DD}" presName="hierRoot1" presStyleCnt="0">
        <dgm:presLayoutVars>
          <dgm:hierBranch val="init"/>
        </dgm:presLayoutVars>
      </dgm:prSet>
      <dgm:spPr/>
    </dgm:pt>
    <dgm:pt modelId="{C3412F8C-D047-4E14-B8EC-7D1FFEFE45A9}" type="pres">
      <dgm:prSet presAssocID="{C9F6C31B-FB9E-41F5-B4B8-F815CB8779DD}" presName="rootComposite1" presStyleCnt="0"/>
      <dgm:spPr/>
    </dgm:pt>
    <dgm:pt modelId="{F52D807C-D03E-4A69-B1FA-E77F46622177}" type="pres">
      <dgm:prSet presAssocID="{C9F6C31B-FB9E-41F5-B4B8-F815CB8779DD}" presName="rootText1" presStyleLbl="node0" presStyleIdx="0" presStyleCnt="1">
        <dgm:presLayoutVars>
          <dgm:chPref val="3"/>
        </dgm:presLayoutVars>
      </dgm:prSet>
      <dgm:spPr/>
    </dgm:pt>
    <dgm:pt modelId="{B9B72A62-91A9-4507-8748-9DA61A99A8D8}" type="pres">
      <dgm:prSet presAssocID="{C9F6C31B-FB9E-41F5-B4B8-F815CB8779DD}" presName="rootConnector1" presStyleLbl="node1" presStyleIdx="0" presStyleCnt="0"/>
      <dgm:spPr/>
    </dgm:pt>
    <dgm:pt modelId="{806DF9C4-51C9-47A0-A57A-0AD3080AFAC6}" type="pres">
      <dgm:prSet presAssocID="{C9F6C31B-FB9E-41F5-B4B8-F815CB8779DD}" presName="hierChild2" presStyleCnt="0"/>
      <dgm:spPr/>
    </dgm:pt>
    <dgm:pt modelId="{21B0FD5B-D737-4C77-BAA1-E596E417660C}" type="pres">
      <dgm:prSet presAssocID="{B0C72AE5-1E8A-4F6B-8560-003E041072B2}" presName="Name37" presStyleLbl="parChTrans1D2" presStyleIdx="0" presStyleCnt="2"/>
      <dgm:spPr/>
    </dgm:pt>
    <dgm:pt modelId="{1C810342-C7F2-478D-A5EC-5ADEA531E150}" type="pres">
      <dgm:prSet presAssocID="{A452E743-440B-4D9D-9F0B-E2479B6CC5DB}" presName="hierRoot2" presStyleCnt="0">
        <dgm:presLayoutVars>
          <dgm:hierBranch val="init"/>
        </dgm:presLayoutVars>
      </dgm:prSet>
      <dgm:spPr/>
    </dgm:pt>
    <dgm:pt modelId="{4E5361CA-596A-4631-80BF-D0CC81FEBF7B}" type="pres">
      <dgm:prSet presAssocID="{A452E743-440B-4D9D-9F0B-E2479B6CC5DB}" presName="rootComposite" presStyleCnt="0"/>
      <dgm:spPr/>
    </dgm:pt>
    <dgm:pt modelId="{973F262F-07C2-4A0C-9174-1A9ADE58DDEE}" type="pres">
      <dgm:prSet presAssocID="{A452E743-440B-4D9D-9F0B-E2479B6CC5DB}" presName="rootText" presStyleLbl="node2" presStyleIdx="0" presStyleCnt="2">
        <dgm:presLayoutVars>
          <dgm:chPref val="3"/>
        </dgm:presLayoutVars>
      </dgm:prSet>
      <dgm:spPr/>
    </dgm:pt>
    <dgm:pt modelId="{AD7790BA-FBD5-4F5F-B372-6E3E5B530959}" type="pres">
      <dgm:prSet presAssocID="{A452E743-440B-4D9D-9F0B-E2479B6CC5DB}" presName="rootConnector" presStyleLbl="node2" presStyleIdx="0" presStyleCnt="2"/>
      <dgm:spPr/>
    </dgm:pt>
    <dgm:pt modelId="{1BE43CBC-B2FA-4E46-BE45-287A14B22DF5}" type="pres">
      <dgm:prSet presAssocID="{A452E743-440B-4D9D-9F0B-E2479B6CC5DB}" presName="hierChild4" presStyleCnt="0"/>
      <dgm:spPr/>
    </dgm:pt>
    <dgm:pt modelId="{116E028E-41C3-4B1E-A37B-248A5CA4F906}" type="pres">
      <dgm:prSet presAssocID="{A452E743-440B-4D9D-9F0B-E2479B6CC5DB}" presName="hierChild5" presStyleCnt="0"/>
      <dgm:spPr/>
    </dgm:pt>
    <dgm:pt modelId="{DD6CCD8B-0F2E-432D-9369-4862B919A501}" type="pres">
      <dgm:prSet presAssocID="{E01A9BC4-8238-4D2E-9FA0-415C0D14F4DC}" presName="Name37" presStyleLbl="parChTrans1D2" presStyleIdx="1" presStyleCnt="2"/>
      <dgm:spPr/>
    </dgm:pt>
    <dgm:pt modelId="{E6A72BF2-63D9-4BF6-9B3C-B7F167F1857F}" type="pres">
      <dgm:prSet presAssocID="{FE7F7516-0FE7-4558-BD12-423BA468E539}" presName="hierRoot2" presStyleCnt="0">
        <dgm:presLayoutVars>
          <dgm:hierBranch val="init"/>
        </dgm:presLayoutVars>
      </dgm:prSet>
      <dgm:spPr/>
    </dgm:pt>
    <dgm:pt modelId="{9E6F6CA2-A96F-43EC-9439-EDDCBDA43E6D}" type="pres">
      <dgm:prSet presAssocID="{FE7F7516-0FE7-4558-BD12-423BA468E539}" presName="rootComposite" presStyleCnt="0"/>
      <dgm:spPr/>
    </dgm:pt>
    <dgm:pt modelId="{7FAB8AC1-992F-45EA-8E0F-7D90A91F8AF7}" type="pres">
      <dgm:prSet presAssocID="{FE7F7516-0FE7-4558-BD12-423BA468E539}" presName="rootText" presStyleLbl="node2" presStyleIdx="1" presStyleCnt="2">
        <dgm:presLayoutVars>
          <dgm:chPref val="3"/>
        </dgm:presLayoutVars>
      </dgm:prSet>
      <dgm:spPr/>
    </dgm:pt>
    <dgm:pt modelId="{EF821C26-883A-4361-BE53-9818ED3B58D5}" type="pres">
      <dgm:prSet presAssocID="{FE7F7516-0FE7-4558-BD12-423BA468E539}" presName="rootConnector" presStyleLbl="node2" presStyleIdx="1" presStyleCnt="2"/>
      <dgm:spPr/>
    </dgm:pt>
    <dgm:pt modelId="{D39CD80E-9136-4674-8E5B-67EA3D26FEAE}" type="pres">
      <dgm:prSet presAssocID="{FE7F7516-0FE7-4558-BD12-423BA468E539}" presName="hierChild4" presStyleCnt="0"/>
      <dgm:spPr/>
    </dgm:pt>
    <dgm:pt modelId="{69B7A083-7C71-4102-B0D6-46B34A05A57A}" type="pres">
      <dgm:prSet presAssocID="{FE7F7516-0FE7-4558-BD12-423BA468E539}" presName="hierChild5" presStyleCnt="0"/>
      <dgm:spPr/>
    </dgm:pt>
    <dgm:pt modelId="{ED188278-E459-4EFC-8042-C3800F34E950}" type="pres">
      <dgm:prSet presAssocID="{C9F6C31B-FB9E-41F5-B4B8-F815CB8779DD}" presName="hierChild3" presStyleCnt="0"/>
      <dgm:spPr/>
    </dgm:pt>
  </dgm:ptLst>
  <dgm:cxnLst>
    <dgm:cxn modelId="{013CAC06-B6FF-445D-BCD8-73B11D8A9A29}" type="presOf" srcId="{606CA0B4-1D4D-4AD2-8119-3E548C36165F}" destId="{42A57EC0-B384-431E-838D-4C4A22881E4F}" srcOrd="0" destOrd="0" presId="urn:microsoft.com/office/officeart/2005/8/layout/orgChart1#1"/>
    <dgm:cxn modelId="{897D6011-4AD1-4BC4-B15E-1EE1030C7E91}" srcId="{C9F6C31B-FB9E-41F5-B4B8-F815CB8779DD}" destId="{FE7F7516-0FE7-4558-BD12-423BA468E539}" srcOrd="1" destOrd="0" parTransId="{E01A9BC4-8238-4D2E-9FA0-415C0D14F4DC}" sibTransId="{3677E663-C119-4C49-AE4B-81954976ACCC}"/>
    <dgm:cxn modelId="{E6516E1F-3076-402D-B666-62D48687D53B}" type="presOf" srcId="{FE7F7516-0FE7-4558-BD12-423BA468E539}" destId="{EF821C26-883A-4361-BE53-9818ED3B58D5}" srcOrd="1" destOrd="0" presId="urn:microsoft.com/office/officeart/2005/8/layout/orgChart1#1"/>
    <dgm:cxn modelId="{6EA1C021-FDBC-4213-AC06-35531E3E6BBD}" type="presOf" srcId="{E01A9BC4-8238-4D2E-9FA0-415C0D14F4DC}" destId="{DD6CCD8B-0F2E-432D-9369-4862B919A501}" srcOrd="0" destOrd="0" presId="urn:microsoft.com/office/officeart/2005/8/layout/orgChart1#1"/>
    <dgm:cxn modelId="{CE3AEF24-7217-4380-B3D0-55E0ACF9A205}" srcId="{C9F6C31B-FB9E-41F5-B4B8-F815CB8779DD}" destId="{A452E743-440B-4D9D-9F0B-E2479B6CC5DB}" srcOrd="0" destOrd="0" parTransId="{B0C72AE5-1E8A-4F6B-8560-003E041072B2}" sibTransId="{9C2CECD8-18E1-4CB3-B432-6231138F0127}"/>
    <dgm:cxn modelId="{8000092C-5E5B-4A37-8D30-37D7D29602DB}" type="presOf" srcId="{A452E743-440B-4D9D-9F0B-E2479B6CC5DB}" destId="{AD7790BA-FBD5-4F5F-B372-6E3E5B530959}" srcOrd="1" destOrd="0" presId="urn:microsoft.com/office/officeart/2005/8/layout/orgChart1#1"/>
    <dgm:cxn modelId="{62828A74-43BE-4981-8BD4-138B36A8DB24}" type="presOf" srcId="{B0C72AE5-1E8A-4F6B-8560-003E041072B2}" destId="{21B0FD5B-D737-4C77-BAA1-E596E417660C}" srcOrd="0" destOrd="0" presId="urn:microsoft.com/office/officeart/2005/8/layout/orgChart1#1"/>
    <dgm:cxn modelId="{5399E255-CDEE-4830-A43E-4777A6E06B99}" srcId="{606CA0B4-1D4D-4AD2-8119-3E548C36165F}" destId="{C9F6C31B-FB9E-41F5-B4B8-F815CB8779DD}" srcOrd="0" destOrd="0" parTransId="{9EC03437-EE1D-4CBD-9125-2D7A9BDE3615}" sibTransId="{C70FD851-0C9C-4A23-8D58-DAA9EABF4339}"/>
    <dgm:cxn modelId="{9E65037F-936E-437E-8A60-094B82974700}" type="presOf" srcId="{FE7F7516-0FE7-4558-BD12-423BA468E539}" destId="{7FAB8AC1-992F-45EA-8E0F-7D90A91F8AF7}" srcOrd="0" destOrd="0" presId="urn:microsoft.com/office/officeart/2005/8/layout/orgChart1#1"/>
    <dgm:cxn modelId="{FB91BE82-2BAD-4FDF-B0A6-F3415360B8F7}" type="presOf" srcId="{C9F6C31B-FB9E-41F5-B4B8-F815CB8779DD}" destId="{F52D807C-D03E-4A69-B1FA-E77F46622177}" srcOrd="0" destOrd="0" presId="urn:microsoft.com/office/officeart/2005/8/layout/orgChart1#1"/>
    <dgm:cxn modelId="{F109B9CF-F55F-4601-AC30-49ADD205AB43}" type="presOf" srcId="{C9F6C31B-FB9E-41F5-B4B8-F815CB8779DD}" destId="{B9B72A62-91A9-4507-8748-9DA61A99A8D8}" srcOrd="1" destOrd="0" presId="urn:microsoft.com/office/officeart/2005/8/layout/orgChart1#1"/>
    <dgm:cxn modelId="{260333ED-192E-4622-923B-EC779B2340A3}" type="presOf" srcId="{A452E743-440B-4D9D-9F0B-E2479B6CC5DB}" destId="{973F262F-07C2-4A0C-9174-1A9ADE58DDEE}" srcOrd="0" destOrd="0" presId="urn:microsoft.com/office/officeart/2005/8/layout/orgChart1#1"/>
    <dgm:cxn modelId="{2A510397-1904-46BF-90E8-3CD1358F532A}" type="presParOf" srcId="{42A57EC0-B384-431E-838D-4C4A22881E4F}" destId="{D535805F-9730-4B87-8E69-00D5EA31FF00}" srcOrd="0" destOrd="0" presId="urn:microsoft.com/office/officeart/2005/8/layout/orgChart1#1"/>
    <dgm:cxn modelId="{E399BADD-B8CD-49CC-A443-43847C4A5B68}" type="presParOf" srcId="{D535805F-9730-4B87-8E69-00D5EA31FF00}" destId="{C3412F8C-D047-4E14-B8EC-7D1FFEFE45A9}" srcOrd="0" destOrd="0" presId="urn:microsoft.com/office/officeart/2005/8/layout/orgChart1#1"/>
    <dgm:cxn modelId="{96A2BBA6-45B8-44AC-9AFD-CE5EF6AC853D}" type="presParOf" srcId="{C3412F8C-D047-4E14-B8EC-7D1FFEFE45A9}" destId="{F52D807C-D03E-4A69-B1FA-E77F46622177}" srcOrd="0" destOrd="0" presId="urn:microsoft.com/office/officeart/2005/8/layout/orgChart1#1"/>
    <dgm:cxn modelId="{D1C83CFB-8075-4252-AFCE-41BCBD602765}" type="presParOf" srcId="{C3412F8C-D047-4E14-B8EC-7D1FFEFE45A9}" destId="{B9B72A62-91A9-4507-8748-9DA61A99A8D8}" srcOrd="1" destOrd="0" presId="urn:microsoft.com/office/officeart/2005/8/layout/orgChart1#1"/>
    <dgm:cxn modelId="{523BF1B0-B595-4FD7-A03A-155A611D1E57}" type="presParOf" srcId="{D535805F-9730-4B87-8E69-00D5EA31FF00}" destId="{806DF9C4-51C9-47A0-A57A-0AD3080AFAC6}" srcOrd="1" destOrd="0" presId="urn:microsoft.com/office/officeart/2005/8/layout/orgChart1#1"/>
    <dgm:cxn modelId="{74A2E40F-2B7B-4702-B7E7-E28D50E694F0}" type="presParOf" srcId="{806DF9C4-51C9-47A0-A57A-0AD3080AFAC6}" destId="{21B0FD5B-D737-4C77-BAA1-E596E417660C}" srcOrd="0" destOrd="0" presId="urn:microsoft.com/office/officeart/2005/8/layout/orgChart1#1"/>
    <dgm:cxn modelId="{07597105-4BFC-42E1-A9B4-8FC571011F4B}" type="presParOf" srcId="{806DF9C4-51C9-47A0-A57A-0AD3080AFAC6}" destId="{1C810342-C7F2-478D-A5EC-5ADEA531E150}" srcOrd="1" destOrd="0" presId="urn:microsoft.com/office/officeart/2005/8/layout/orgChart1#1"/>
    <dgm:cxn modelId="{DE69EF92-A92B-4584-9A13-B5308A4586AD}" type="presParOf" srcId="{1C810342-C7F2-478D-A5EC-5ADEA531E150}" destId="{4E5361CA-596A-4631-80BF-D0CC81FEBF7B}" srcOrd="0" destOrd="0" presId="urn:microsoft.com/office/officeart/2005/8/layout/orgChart1#1"/>
    <dgm:cxn modelId="{5E5BA679-4CB9-4E7B-B0BF-5807E0895338}" type="presParOf" srcId="{4E5361CA-596A-4631-80BF-D0CC81FEBF7B}" destId="{973F262F-07C2-4A0C-9174-1A9ADE58DDEE}" srcOrd="0" destOrd="0" presId="urn:microsoft.com/office/officeart/2005/8/layout/orgChart1#1"/>
    <dgm:cxn modelId="{FCDDAF43-D640-4BE6-8069-67137132F023}" type="presParOf" srcId="{4E5361CA-596A-4631-80BF-D0CC81FEBF7B}" destId="{AD7790BA-FBD5-4F5F-B372-6E3E5B530959}" srcOrd="1" destOrd="0" presId="urn:microsoft.com/office/officeart/2005/8/layout/orgChart1#1"/>
    <dgm:cxn modelId="{BD284499-BAA7-4B7E-BF11-17FA452A10EE}" type="presParOf" srcId="{1C810342-C7F2-478D-A5EC-5ADEA531E150}" destId="{1BE43CBC-B2FA-4E46-BE45-287A14B22DF5}" srcOrd="1" destOrd="0" presId="urn:microsoft.com/office/officeart/2005/8/layout/orgChart1#1"/>
    <dgm:cxn modelId="{5D2D2486-2DF9-43B1-B506-0EEA55C7E828}" type="presParOf" srcId="{1C810342-C7F2-478D-A5EC-5ADEA531E150}" destId="{116E028E-41C3-4B1E-A37B-248A5CA4F906}" srcOrd="2" destOrd="0" presId="urn:microsoft.com/office/officeart/2005/8/layout/orgChart1#1"/>
    <dgm:cxn modelId="{79D125CC-54A2-4B6F-B489-F2E2411F29D3}" type="presParOf" srcId="{806DF9C4-51C9-47A0-A57A-0AD3080AFAC6}" destId="{DD6CCD8B-0F2E-432D-9369-4862B919A501}" srcOrd="2" destOrd="0" presId="urn:microsoft.com/office/officeart/2005/8/layout/orgChart1#1"/>
    <dgm:cxn modelId="{870E76DF-3A6E-423F-A34A-3707E13D79A3}" type="presParOf" srcId="{806DF9C4-51C9-47A0-A57A-0AD3080AFAC6}" destId="{E6A72BF2-63D9-4BF6-9B3C-B7F167F1857F}" srcOrd="3" destOrd="0" presId="urn:microsoft.com/office/officeart/2005/8/layout/orgChart1#1"/>
    <dgm:cxn modelId="{9A8B0EB4-F973-430D-9C6B-85E0FCAF5A89}" type="presParOf" srcId="{E6A72BF2-63D9-4BF6-9B3C-B7F167F1857F}" destId="{9E6F6CA2-A96F-43EC-9439-EDDCBDA43E6D}" srcOrd="0" destOrd="0" presId="urn:microsoft.com/office/officeart/2005/8/layout/orgChart1#1"/>
    <dgm:cxn modelId="{4DBB9938-083E-4142-84BF-8A70ABF09C9C}" type="presParOf" srcId="{9E6F6CA2-A96F-43EC-9439-EDDCBDA43E6D}" destId="{7FAB8AC1-992F-45EA-8E0F-7D90A91F8AF7}" srcOrd="0" destOrd="0" presId="urn:microsoft.com/office/officeart/2005/8/layout/orgChart1#1"/>
    <dgm:cxn modelId="{35D66C07-4C6A-4DAF-92DD-891868DCDAB0}" type="presParOf" srcId="{9E6F6CA2-A96F-43EC-9439-EDDCBDA43E6D}" destId="{EF821C26-883A-4361-BE53-9818ED3B58D5}" srcOrd="1" destOrd="0" presId="urn:microsoft.com/office/officeart/2005/8/layout/orgChart1#1"/>
    <dgm:cxn modelId="{1FA27F49-F1D0-429E-8F18-31663E135586}" type="presParOf" srcId="{E6A72BF2-63D9-4BF6-9B3C-B7F167F1857F}" destId="{D39CD80E-9136-4674-8E5B-67EA3D26FEAE}" srcOrd="1" destOrd="0" presId="urn:microsoft.com/office/officeart/2005/8/layout/orgChart1#1"/>
    <dgm:cxn modelId="{CE12551E-9A9C-4D12-A3A6-2A54D921C6B5}" type="presParOf" srcId="{E6A72BF2-63D9-4BF6-9B3C-B7F167F1857F}" destId="{69B7A083-7C71-4102-B0D6-46B34A05A57A}" srcOrd="2" destOrd="0" presId="urn:microsoft.com/office/officeart/2005/8/layout/orgChart1#1"/>
    <dgm:cxn modelId="{AB3CB650-E171-42C4-8F6A-D617E5C70EAA}" type="presParOf" srcId="{D535805F-9730-4B87-8E69-00D5EA31FF00}" destId="{ED188278-E459-4EFC-8042-C3800F34E950}" srcOrd="2" destOrd="0" presId="urn:microsoft.com/office/officeart/2005/8/layout/orgChar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CCD8B-0F2E-432D-9369-4862B919A501}">
      <dsp:nvSpPr>
        <dsp:cNvPr id="0" name=""/>
        <dsp:cNvSpPr/>
      </dsp:nvSpPr>
      <dsp:spPr>
        <a:xfrm>
          <a:off x="2628291" y="1262541"/>
          <a:ext cx="1438325" cy="4992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626"/>
              </a:lnTo>
              <a:lnTo>
                <a:pt x="1438325" y="249626"/>
              </a:lnTo>
              <a:lnTo>
                <a:pt x="1438325" y="499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B0FD5B-D737-4C77-BAA1-E596E417660C}">
      <dsp:nvSpPr>
        <dsp:cNvPr id="0" name=""/>
        <dsp:cNvSpPr/>
      </dsp:nvSpPr>
      <dsp:spPr>
        <a:xfrm>
          <a:off x="1189966" y="1262541"/>
          <a:ext cx="1438325" cy="499253"/>
        </a:xfrm>
        <a:custGeom>
          <a:avLst/>
          <a:gdLst/>
          <a:ahLst/>
          <a:cxnLst/>
          <a:rect l="0" t="0" r="0" b="0"/>
          <a:pathLst>
            <a:path>
              <a:moveTo>
                <a:pt x="1438325" y="0"/>
              </a:moveTo>
              <a:lnTo>
                <a:pt x="1438325" y="249626"/>
              </a:lnTo>
              <a:lnTo>
                <a:pt x="0" y="249626"/>
              </a:lnTo>
              <a:lnTo>
                <a:pt x="0" y="49925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2D807C-D03E-4A69-B1FA-E77F46622177}">
      <dsp:nvSpPr>
        <dsp:cNvPr id="0" name=""/>
        <dsp:cNvSpPr/>
      </dsp:nvSpPr>
      <dsp:spPr>
        <a:xfrm>
          <a:off x="1439593" y="73842"/>
          <a:ext cx="2377397" cy="11886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Templates</a:t>
          </a:r>
        </a:p>
      </dsp:txBody>
      <dsp:txXfrm>
        <a:off x="1439593" y="73842"/>
        <a:ext cx="2377397" cy="1188698"/>
      </dsp:txXfrm>
    </dsp:sp>
    <dsp:sp modelId="{973F262F-07C2-4A0C-9174-1A9ADE58DDEE}">
      <dsp:nvSpPr>
        <dsp:cNvPr id="0" name=""/>
        <dsp:cNvSpPr/>
      </dsp:nvSpPr>
      <dsp:spPr>
        <a:xfrm>
          <a:off x="1267" y="1761794"/>
          <a:ext cx="2377397" cy="11886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Function Template</a:t>
          </a:r>
        </a:p>
      </dsp:txBody>
      <dsp:txXfrm>
        <a:off x="1267" y="1761794"/>
        <a:ext cx="2377397" cy="1188698"/>
      </dsp:txXfrm>
    </dsp:sp>
    <dsp:sp modelId="{7FAB8AC1-992F-45EA-8E0F-7D90A91F8AF7}">
      <dsp:nvSpPr>
        <dsp:cNvPr id="0" name=""/>
        <dsp:cNvSpPr/>
      </dsp:nvSpPr>
      <dsp:spPr>
        <a:xfrm>
          <a:off x="2877918" y="1761794"/>
          <a:ext cx="2377397" cy="11886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Class Template</a:t>
          </a:r>
        </a:p>
      </dsp:txBody>
      <dsp:txXfrm>
        <a:off x="2877918" y="1761794"/>
        <a:ext cx="2377397" cy="11886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#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linDir" val="fromT"/>
                  <dgm:param type="chAlign" val="r"/>
                </dgm:alg>
              </dgm:if>
              <dgm:if name="Name23" func="var" arg="hierBranch" op="equ" val="r">
                <dgm:alg type="hierChild">
                  <dgm:param type="linDir" val="fromT"/>
                  <dgm:param type="chAlign" val="l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linDir" val="fromL"/>
                      <dgm:param type="chAlign" val="l"/>
                      <dgm:param type="secLinDir" val="fromT"/>
                      <dgm:param type="secChAlign" val="t"/>
                    </dgm:alg>
                  </dgm:if>
                  <dgm:else name="Name27">
                    <dgm:alg type="hierChild">
                      <dgm:param type="linDir" val="fromR"/>
                      <dgm:param type="chAlign" val="l"/>
                      <dgm:param type="secLinDir" val="fromT"/>
                      <dgm:param type="secChAlign" val="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srcNode" val="rootConnector"/>
                                    <dgm:param type="dim" val="1D"/>
                                    <dgm:param type="endSty" val="noArr"/>
                                    <dgm:param type="connRout" val="bend"/>
                                    <dgm:param type="begPts" val="bCtr"/>
                                    <dgm:param type="endPts" val="midL mid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srcNode" val="rootConnector1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srcNode" val="rootConnector"/>
                                <dgm:param type="dim" val="1D"/>
                                <dgm:param type="endSty" val="noArr"/>
                                <dgm:param type="connRout" val="bend"/>
                                <dgm:param type="begPts" val="bCtr"/>
                                <dgm:param type="endPts" val="midL mid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85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89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05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linDir" val="fromL"/>
                  <dgm:param type="chAlign" val="l"/>
                  <dgm:param type="secLinDir" val="fromT"/>
                  <dgm:param type="secChAlign" val="t"/>
                </dgm:alg>
              </dgm:if>
              <dgm:else name="Name109">
                <dgm:alg type="hierChild">
                  <dgm:param type="linDir" val="fromR"/>
                  <dgm:param type="chAlign" val="l"/>
                  <dgm:param type="secLinDir" val="fromT"/>
                  <dgm:param type="secChAlign" val="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linDir" val="fromT"/>
                        <dgm:param type="chAlign" val="r"/>
                      </dgm:alg>
                    </dgm:if>
                    <dgm:if name="Name129" func="var" arg="hierBranch" op="equ" val="r">
                      <dgm:alg type="hierChild">
                        <dgm:param type="linDir" val="fromT"/>
                        <dgm:param type="chAlign" val="l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linDir" val="fromL"/>
                            <dgm:param type="chAlign" val="l"/>
                            <dgm:param type="secLinDir" val="fromT"/>
                            <dgm:param type="secChAlign" val="t"/>
                          </dgm:alg>
                        </dgm:if>
                        <dgm:else name="Name133">
                          <dgm:alg type="hierChild">
                            <dgm:param type="linDir" val="fromR"/>
                            <dgm:param type="chAlign" val="l"/>
                            <dgm:param type="secLinDir" val="fromT"/>
                            <dgm:param type="secChAlign" val="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linDir" val="fromL"/>
                        <dgm:param type="chAlign" val="l"/>
                        <dgm:param type="secLinDir" val="fromT"/>
                        <dgm:param type="secChAlign" val="t"/>
                      </dgm:alg>
                    </dgm:if>
                    <dgm:else name="Name146">
                      <dgm:alg type="hierChild">
                        <dgm:param type="linDir" val="fromR"/>
                        <dgm:param type="chAlign" val="l"/>
                        <dgm:param type="secLinDir" val="fromT"/>
                        <dgm:param type="secChAlign" val="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DB692-36E8-483D-89B0-C7B3C9BF40D7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88AA3-D9C8-40A9-AB4F-4FB5B29104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0939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IN" dirty="0"/>
              <a:t>Imagine a datatype that will adjust itself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Rewriting the same function body over and over for different types is time-consuming and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wastes space in the listing. Also, if you find you’ve made an error in one such function, you’ll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811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567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Unit-8 </a:t>
            </a:r>
            <a:r>
              <a:rPr lang="en-IN" sz="1600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Templates, Exceptions and STL</a:t>
            </a:r>
            <a:r>
              <a:rPr lang="da-DK" sz="1600" noProof="1">
                <a:solidFill>
                  <a:srgbClr val="F8F8F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 C++ so much</a:t>
            </a:r>
          </a:p>
          <a:p>
            <a:r>
              <a:rPr lang="en-US" sz="4800" dirty="0">
                <a:solidFill>
                  <a:srgbClr val="FFFFFE"/>
                </a:solidFill>
              </a:rPr>
              <a:t>I like Rupesh sir</a:t>
            </a:r>
          </a:p>
        </p:txBody>
      </p:sp>
    </p:spTree>
    <p:extLst>
      <p:ext uri="{BB962C8B-B14F-4D97-AF65-F5344CB8AC3E}">
        <p14:creationId xmlns:p14="http://schemas.microsoft.com/office/powerpoint/2010/main" val="2537060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3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40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721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987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1998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3132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390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529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1678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8275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Unit-8 </a:t>
            </a:r>
            <a:r>
              <a:rPr lang="en-IN" sz="1600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Templates, Exceptions and STL</a:t>
            </a:r>
            <a:r>
              <a:rPr lang="da-DK" sz="1600" noProof="1">
                <a:solidFill>
                  <a:srgbClr val="F8F8F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 C++ so much</a:t>
            </a:r>
          </a:p>
          <a:p>
            <a:r>
              <a:rPr lang="en-US" sz="4800" dirty="0">
                <a:solidFill>
                  <a:srgbClr val="FFFFFE"/>
                </a:solidFill>
              </a:rPr>
              <a:t>I like Rupesh sir</a:t>
            </a:r>
          </a:p>
        </p:txBody>
      </p:sp>
    </p:spTree>
    <p:extLst>
      <p:ext uri="{BB962C8B-B14F-4D97-AF65-F5344CB8AC3E}">
        <p14:creationId xmlns:p14="http://schemas.microsoft.com/office/powerpoint/2010/main" val="6342918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2047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680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0162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0501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0157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5011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7799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218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493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516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Unit-8 </a:t>
            </a:r>
            <a:r>
              <a:rPr lang="en-IN" sz="1600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Templates, Exceptions and STL</a:t>
            </a:r>
            <a:r>
              <a:rPr lang="da-DK" sz="1600" noProof="1">
                <a:solidFill>
                  <a:srgbClr val="F8F8F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 C++ so much</a:t>
            </a:r>
          </a:p>
          <a:p>
            <a:r>
              <a:rPr lang="en-US" sz="4800" dirty="0">
                <a:solidFill>
                  <a:srgbClr val="FFFFFE"/>
                </a:solidFill>
              </a:rPr>
              <a:t>I like Rupesh sir</a:t>
            </a:r>
          </a:p>
        </p:txBody>
      </p:sp>
    </p:spTree>
    <p:extLst>
      <p:ext uri="{BB962C8B-B14F-4D97-AF65-F5344CB8AC3E}">
        <p14:creationId xmlns:p14="http://schemas.microsoft.com/office/powerpoint/2010/main" val="34302439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1931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5967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44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0578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8164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26811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6552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19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81837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0267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Unit-8 </a:t>
            </a:r>
            <a:r>
              <a:rPr lang="en-IN" sz="1600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Templates, Exceptions and STL</a:t>
            </a:r>
            <a:r>
              <a:rPr lang="da-DK" sz="1600" noProof="1">
                <a:solidFill>
                  <a:srgbClr val="F8F8F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 C++ so much</a:t>
            </a:r>
          </a:p>
          <a:p>
            <a:r>
              <a:rPr lang="en-US" sz="4800" dirty="0">
                <a:solidFill>
                  <a:srgbClr val="FFFFFE"/>
                </a:solidFill>
              </a:rPr>
              <a:t>I like Rupesh sir</a:t>
            </a:r>
          </a:p>
        </p:txBody>
      </p:sp>
    </p:spTree>
    <p:extLst>
      <p:ext uri="{BB962C8B-B14F-4D97-AF65-F5344CB8AC3E}">
        <p14:creationId xmlns:p14="http://schemas.microsoft.com/office/powerpoint/2010/main" val="1228254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79691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7677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8161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482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6398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9126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182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78214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70292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latin typeface="+mj-lt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890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Unit-8 </a:t>
            </a:r>
            <a:r>
              <a:rPr lang="en-IN" sz="1600" dirty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Templates, Exceptions and STL</a:t>
            </a:r>
            <a:r>
              <a:rPr lang="da-DK" sz="1600" noProof="1">
                <a:solidFill>
                  <a:srgbClr val="F8F8F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                          </a:t>
            </a:r>
            <a:r>
              <a:rPr lang="da-DK" sz="1600" noProof="1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Darshan Institute of Engineering &amp; Technology            </a:t>
            </a:r>
            <a:fld id="{6E8469F3-9EE8-43CF-BEDC-475B89412D1D}" type="slidenum">
              <a:rPr lang="da-DK" sz="1600" noProof="1" smtClean="0">
                <a:solidFill>
                  <a:srgbClr val="FFFFFF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pPr indent="-342900">
                <a:defRPr/>
              </a:pPr>
              <a:t>‹#›</a:t>
            </a:fld>
            <a:endParaRPr lang="da-DK" sz="1600" noProof="1">
              <a:solidFill>
                <a:srgbClr val="FFFFFF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2759630" y="2644170"/>
            <a:ext cx="66727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FFFE"/>
                </a:solidFill>
              </a:rPr>
              <a:t>I like C++ so much</a:t>
            </a:r>
          </a:p>
          <a:p>
            <a:r>
              <a:rPr lang="en-US" sz="4800" dirty="0">
                <a:solidFill>
                  <a:srgbClr val="FFFFFE"/>
                </a:solidFill>
              </a:rPr>
              <a:t>I like Rupesh sir</a:t>
            </a:r>
          </a:p>
        </p:txBody>
      </p:sp>
    </p:spTree>
    <p:extLst>
      <p:ext uri="{BB962C8B-B14F-4D97-AF65-F5344CB8AC3E}">
        <p14:creationId xmlns:p14="http://schemas.microsoft.com/office/powerpoint/2010/main" val="33605489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7641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3648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9091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6117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940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60514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87763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51831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86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3A372-BE42-451E-B14C-5FF9C6C0F46F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8729A-A80B-48B4-A1F8-161E6CCF101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03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92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85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64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9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OUTLINE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What is template?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Function templates and class templates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Overloading Template Functions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Inheritance and Templates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Templates and Friend Function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try-catch throw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Multiple catch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catch all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Re-throwing Exception</a:t>
            </a:r>
          </a:p>
          <a:p>
            <a:pPr marL="342900" indent="-342900">
              <a:buFont typeface="Wingdings" panose="05000000000000000000" pitchFamily="2" charset="2"/>
              <a:buChar char="Ø"/>
              <a:defRPr/>
            </a:pPr>
            <a:r>
              <a:rPr lang="en-US" altLang="en-US" sz="2400" b="1" dirty="0">
                <a:solidFill>
                  <a:prstClr val="black"/>
                </a:solidFill>
                <a:latin typeface="Corbel" panose="020B0503020204020204" pitchFamily="34" charset="0"/>
              </a:rPr>
              <a:t>Overview and use of Standard Template Library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pull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What is template?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C++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templates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are a powerful feature of the C++ programming language that allows for generic programming.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Templates provide a way to define generic classes or functions that can work with different data types without sacrificing type safety or performance.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Templates allow you to define parameterized types or functions, where one or more types can be specified as parameters.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These parameters can be used to define variables, classes, or functions that can work with any type specified when using the template.</a:t>
            </a:r>
          </a:p>
        </p:txBody>
      </p:sp>
    </p:spTree>
  </p:cSld>
  <p:clrMapOvr>
    <a:masterClrMapping/>
  </p:clrMapOvr>
  <p:transition>
    <p:pull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What is template?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Templates concept enables us to define </a:t>
            </a:r>
            <a:r>
              <a:rPr lang="en-US" altLang="en-US" sz="2400" b="1" dirty="0">
                <a:solidFill>
                  <a:prstClr val="black"/>
                </a:solidFill>
              </a:rPr>
              <a:t>generic classes </a:t>
            </a:r>
            <a:r>
              <a:rPr lang="en-US" altLang="en-US" sz="2400" dirty="0">
                <a:solidFill>
                  <a:prstClr val="black"/>
                </a:solidFill>
              </a:rPr>
              <a:t>and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This allows a function or class to work on many different data types without being rewritten for each one.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27735" y="3747018"/>
            <a:ext cx="2377397" cy="1188698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5400" tIns="25400" rIns="25400" bIns="25400" numCol="1" spcCol="1270" anchor="ctr" anchorCtr="0">
            <a:noAutofit/>
          </a:bodyPr>
          <a:lstStyle/>
          <a:p>
            <a:pPr lvl="0" algn="ctr" defTabSz="1778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kern="1200" dirty="0"/>
              <a:t>Templates</a:t>
            </a:r>
          </a:p>
        </p:txBody>
      </p:sp>
      <p:graphicFrame>
        <p:nvGraphicFramePr>
          <p:cNvPr id="10" name="Diagram 9"/>
          <p:cNvGraphicFramePr/>
          <p:nvPr/>
        </p:nvGraphicFramePr>
        <p:xfrm>
          <a:off x="1941543" y="3293215"/>
          <a:ext cx="5256584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of Templates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4499" y="954433"/>
            <a:ext cx="3790218" cy="1541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add(</a:t>
            </a: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x, </a:t>
            </a: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y)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{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x+y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}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50763" y="954432"/>
            <a:ext cx="4824536" cy="1541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float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add(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float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x,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float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y)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{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Consolas" panose="020B0609020204030204" pitchFamily="49" charset="0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FF"/>
                </a:solidFill>
                <a:ea typeface="Calibri" panose="020F0502020204030204" charset="0"/>
                <a:cs typeface="Consolas" panose="020B0609020204030204" pitchFamily="49" charset="0"/>
              </a:rPr>
              <a:t>     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x+y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}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50763" y="2643603"/>
            <a:ext cx="4824536" cy="1541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double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add(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double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x,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double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y)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{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x+y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}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99281" y="2643603"/>
            <a:ext cx="3805437" cy="15414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char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add(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char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x,</a:t>
            </a: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char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y)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{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	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return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x+y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}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</p:txBody>
      </p:sp>
      <p:sp>
        <p:nvSpPr>
          <p:cNvPr id="8" name="Oval 7"/>
          <p:cNvSpPr/>
          <p:nvPr/>
        </p:nvSpPr>
        <p:spPr>
          <a:xfrm>
            <a:off x="2996608" y="1004540"/>
            <a:ext cx="540060" cy="3689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3143672" y="2688195"/>
            <a:ext cx="684076" cy="3689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7248128" y="1001328"/>
            <a:ext cx="828092" cy="3689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392144" y="2695143"/>
            <a:ext cx="1044116" cy="3689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99281" y="4401108"/>
            <a:ext cx="8776019" cy="13681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prstClr val="white"/>
                </a:solidFill>
              </a:rPr>
              <a:t>We need a single function that will work for </a:t>
            </a:r>
            <a:r>
              <a:rPr lang="en-IN" sz="2400" dirty="0" err="1">
                <a:solidFill>
                  <a:prstClr val="white"/>
                </a:solidFill>
              </a:rPr>
              <a:t>int</a:t>
            </a:r>
            <a:r>
              <a:rPr lang="en-IN" sz="2400" dirty="0">
                <a:solidFill>
                  <a:prstClr val="white"/>
                </a:solidFill>
              </a:rPr>
              <a:t>, float, double etc…</a:t>
            </a:r>
          </a:p>
        </p:txBody>
      </p:sp>
    </p:spTree>
    <p:extLst>
      <p:ext uri="{BB962C8B-B14F-4D97-AF65-F5344CB8AC3E}">
        <p14:creationId xmlns:p14="http://schemas.microsoft.com/office/powerpoint/2010/main" val="347580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990600"/>
            <a:ext cx="8763000" cy="494184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Suppose you write a function </a:t>
            </a:r>
            <a:r>
              <a:rPr lang="en-US" dirty="0" err="1"/>
              <a:t>printData</a:t>
            </a:r>
            <a:r>
              <a:rPr lang="en-US" dirty="0"/>
              <a:t>: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171564" y="1448780"/>
            <a:ext cx="792088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printData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value){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"The value is 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&lt;&lt;value;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200" dirty="0">
              <a:solidFill>
                <a:prstClr val="black"/>
              </a:solidFill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1721417" y="2492896"/>
            <a:ext cx="8763000" cy="86409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3800" dirty="0">
                <a:solidFill>
                  <a:prstClr val="black"/>
                </a:solidFill>
              </a:rPr>
              <a:t>Now if you want to print double values or string values, then you have to overload the function:</a:t>
            </a:r>
          </a:p>
          <a:p>
            <a:pPr marL="0" indent="0">
              <a:buNone/>
            </a:pPr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71564" y="3212977"/>
            <a:ext cx="8312853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printData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float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value){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"The value is 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&lt;&lt;value;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printData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char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*value) 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"The value is 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&lt;&lt;*value;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21417" y="5373217"/>
            <a:ext cx="87629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prstClr val="black"/>
                </a:solidFill>
              </a:rPr>
              <a:t>To perform same operation with different data type, we have to write same code multiple time. </a:t>
            </a:r>
          </a:p>
        </p:txBody>
      </p:sp>
    </p:spTree>
    <p:extLst>
      <p:ext uri="{BB962C8B-B14F-4D97-AF65-F5344CB8AC3E}">
        <p14:creationId xmlns:p14="http://schemas.microsoft.com/office/powerpoint/2010/main" val="51108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833144"/>
            <a:ext cx="8763000" cy="530188"/>
          </a:xfrm>
        </p:spPr>
        <p:txBody>
          <a:bodyPr/>
          <a:lstStyle/>
          <a:p>
            <a:pPr lvl="0"/>
            <a:r>
              <a:rPr lang="en-US" dirty="0"/>
              <a:t>C++ provides templates to reduce this type of duplication of code.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171564" y="1291324"/>
            <a:ext cx="817290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template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typename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T&gt;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printData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(T value){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"The value is 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&lt;&lt;value;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702516" y="2717339"/>
            <a:ext cx="8762400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We can now use </a:t>
            </a:r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printData</a:t>
            </a:r>
            <a:r>
              <a:rPr lang="en-US" sz="2400" dirty="0">
                <a:solidFill>
                  <a:prstClr val="black"/>
                </a:solidFill>
              </a:rPr>
              <a:t> for any data type. Here </a:t>
            </a:r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prstClr val="black"/>
                </a:solidFill>
              </a:rPr>
              <a:t> is a template parameter that identifies a type.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Then, anywhere in the function where </a:t>
            </a:r>
            <a:r>
              <a:rPr lang="en-US" sz="2400" b="1" dirty="0">
                <a:solidFill>
                  <a:srgbClr val="C00000"/>
                </a:solidFill>
              </a:rPr>
              <a:t>T</a:t>
            </a:r>
            <a:r>
              <a:rPr lang="en-US" sz="2400" dirty="0">
                <a:solidFill>
                  <a:prstClr val="black"/>
                </a:solidFill>
              </a:rPr>
              <a:t> appears, it is replaced with whatever type the function is instantiated.</a:t>
            </a:r>
            <a:endParaRPr lang="en-IN" sz="2400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39470" y="4286999"/>
            <a:ext cx="840136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5760" indent="91440"/>
            <a:r>
              <a:rPr lang="en-US" sz="2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int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 i=3;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/>
              <a:cs typeface="Shruti"/>
            </a:endParaRPr>
          </a:p>
          <a:p>
            <a:pPr marL="365760" indent="91440"/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float d=4.75;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/>
              <a:cs typeface="Shruti"/>
            </a:endParaRPr>
          </a:p>
          <a:p>
            <a:pPr marL="365760" indent="91440"/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char *s="hello";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/>
              <a:cs typeface="Shruti"/>
            </a:endParaRPr>
          </a:p>
          <a:p>
            <a:pPr marL="365760" indent="91440"/>
            <a:r>
              <a:rPr lang="en-US" sz="2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printData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(i); // T is </a:t>
            </a:r>
            <a:r>
              <a:rPr lang="en-US" sz="2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int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/>
              <a:cs typeface="Shruti"/>
            </a:endParaRPr>
          </a:p>
          <a:p>
            <a:pPr marL="365760" indent="91440"/>
            <a:r>
              <a:rPr lang="en-US" sz="2200" dirty="0" err="1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printData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Times New Roman" panose="02020603050405020304"/>
                <a:cs typeface="Shruti"/>
              </a:rPr>
              <a:t>(d); // T is float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Times New Roman" panose="02020603050405020304"/>
              <a:cs typeface="Shruti"/>
            </a:endParaRPr>
          </a:p>
          <a:p>
            <a:pPr marL="457200"/>
            <a:r>
              <a:rPr lang="en-US" sz="2200" dirty="0" err="1">
                <a:solidFill>
                  <a:prstClr val="black"/>
                </a:solidFill>
                <a:latin typeface="Consolas" panose="020B0609020204030204" pitchFamily="49" charset="0"/>
                <a:ea typeface="Calibri" panose="020F0502020204030204"/>
                <a:cs typeface="Shruti"/>
              </a:rPr>
              <a:t>printData</a:t>
            </a:r>
            <a:r>
              <a:rPr lang="en-US" sz="2200" dirty="0">
                <a:solidFill>
                  <a:prstClr val="black"/>
                </a:solidFill>
                <a:latin typeface="Consolas" panose="020B0609020204030204" pitchFamily="49" charset="0"/>
                <a:ea typeface="Calibri" panose="020F0502020204030204"/>
                <a:cs typeface="Shruti"/>
              </a:rPr>
              <a:t>(s); // T is string</a:t>
            </a:r>
            <a:endParaRPr lang="en-IN" sz="2200" dirty="0">
              <a:solidFill>
                <a:prstClr val="black"/>
              </a:solidFill>
              <a:latin typeface="Consolas" panose="020B0609020204030204" pitchFamily="49" charset="0"/>
              <a:ea typeface="Calibri" panose="020F0502020204030204"/>
              <a:cs typeface="Shruti"/>
            </a:endParaRPr>
          </a:p>
        </p:txBody>
      </p:sp>
    </p:spTree>
    <p:extLst>
      <p:ext uri="{BB962C8B-B14F-4D97-AF65-F5344CB8AC3E}">
        <p14:creationId xmlns:p14="http://schemas.microsoft.com/office/powerpoint/2010/main" val="201179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Function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 function template specifies how an individual function can be constructed.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When defining a function template, you specify the function's signature and behavior using placeholders called type parameters or template parameters.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These parameters represent generic types and can be used throughout the function's code.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The actual types are determined when the function template is instantiated or called with specific types.</a:t>
            </a:r>
          </a:p>
        </p:txBody>
      </p:sp>
    </p:spTree>
  </p:cSld>
  <p:clrMapOvr>
    <a:masterClrMapping/>
  </p:clrMapOvr>
  <p:transition>
    <p:pull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Function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</a:rPr>
              <a:t>Syntax: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template &lt;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typename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T&gt;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return type functionname(T arg1,T arg2)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{ </a:t>
            </a:r>
          </a:p>
          <a:p>
            <a:pPr marR="0" lvl="1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//function body;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prstClr val="black"/>
              </a:solidFill>
            </a:endParaRPr>
          </a:p>
          <a:p>
            <a:pPr lvl="1">
              <a:defRPr/>
            </a:pPr>
            <a:r>
              <a:rPr lang="en-US" altLang="en-US" sz="2400" dirty="0">
                <a:solidFill>
                  <a:prstClr val="black"/>
                </a:solidFill>
              </a:rPr>
              <a:t>Note: template &lt;</a:t>
            </a:r>
            <a:r>
              <a:rPr lang="en-US" altLang="en-US" sz="2400" b="1" dirty="0">
                <a:solidFill>
                  <a:prstClr val="black"/>
                </a:solidFill>
              </a:rPr>
              <a:t>class</a:t>
            </a:r>
            <a:r>
              <a:rPr lang="en-US" altLang="en-US" sz="2400" dirty="0">
                <a:solidFill>
                  <a:prstClr val="black"/>
                </a:solidFill>
              </a:rPr>
              <a:t> T&gt; is also valid and mean the same for creating function template.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p:transition>
    <p:pull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9057" y="738055"/>
            <a:ext cx="8748972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#include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&lt;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iostream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&gt;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namespace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std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template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typename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T&gt;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 Large(T n1, T n2)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return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(n1 &gt; n2) ? n1 : n2;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main(){</a:t>
            </a:r>
          </a:p>
          <a:p>
            <a:pPr lvl="1"/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i1, i2; 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float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f1, f2; 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char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c1, c2;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"Enter two integers:\n"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&gt;&gt; i1 &gt;&gt; i2;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Large(i1, i2) 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 is larger."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endl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nEnter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 two floating-point numbers:\n"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&gt;&gt; f1 &gt;&gt; f2;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Large(f1, f2) 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 is larger."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endl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nEnter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 two characters:\n"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&gt;&gt; c1 &gt;&gt; c2;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&lt;&lt; Large(c1, c2) &lt;&lt;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 has larger ASCII value."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dirty="0"/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65786" y="155114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Largest of Two numbers using Function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797783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65786" y="155114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Largest of Two numbers using Function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23" y="2172358"/>
            <a:ext cx="8116433" cy="42201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423" y="1526704"/>
            <a:ext cx="3117668" cy="38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758822020"/>
      </p:ext>
    </p:extLst>
  </p:cSld>
  <p:clrMapOvr>
    <a:masterClrMapping/>
  </p:clrMapOvr>
  <p:transition>
    <p:pull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149" y="1226668"/>
            <a:ext cx="11544565" cy="7571303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#include &lt;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iostream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&gt;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using namespace 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std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template &lt;class T&gt;</a:t>
            </a:r>
          </a:p>
          <a:p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void Swap(T &amp;a, T &amp;b)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{T temp = a;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 a = b;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 b = temp;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dirty="0" err="1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 i1, i2;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float f1, f2;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char c1, c2;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&lt;&lt;"Enter two integers:\n";</a:t>
            </a:r>
          </a:p>
          <a:p>
            <a:r>
              <a:rPr lang="en-IN" dirty="0" err="1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 &gt;&gt;i1&gt;&gt;i2;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Swap(i1, i2);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&lt;&lt;"After swapping: "&lt;&lt;i1&lt;&lt;" "&lt;&lt;i2&lt;&lt;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endl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&lt;&lt;"\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nEnter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 two floating-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pointnumbers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:\n";</a:t>
            </a:r>
          </a:p>
          <a:p>
            <a:r>
              <a:rPr lang="en-IN" dirty="0" err="1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&gt;&gt; f1 &gt;&gt; f2;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Swap(f1, f2);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&lt;&lt;"After swapping: "&lt;&lt;f1&lt;&lt;" "&lt;&lt;f2&lt;&lt;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endl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&lt;&lt;"\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nEnter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 two characters:\n";</a:t>
            </a:r>
          </a:p>
          <a:p>
            <a:r>
              <a:rPr lang="en-IN" dirty="0" err="1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1D27F7"/>
                </a:solidFill>
                <a:highlight>
                  <a:srgbClr val="FFFFFF"/>
                </a:highlight>
                <a:latin typeface="Consolas" panose="020B0609020204030204"/>
              </a:rPr>
              <a:t>&gt;&gt;c1&gt;&gt;c2;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Swap(c1, c2);</a:t>
            </a:r>
          </a:p>
          <a:p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&lt;&lt;"After swapping: "&lt;&lt;c1&lt;&lt;" "&lt;&lt;c2&lt;&lt;</a:t>
            </a:r>
            <a:r>
              <a:rPr lang="en-IN" dirty="0" err="1">
                <a:highlight>
                  <a:srgbClr val="FFFFFF"/>
                </a:highlight>
                <a:latin typeface="Consolas" panose="020B0609020204030204"/>
              </a:rPr>
              <a:t>endl</a:t>
            </a:r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return 0;</a:t>
            </a:r>
          </a:p>
          <a:p>
            <a:r>
              <a:rPr lang="en-IN" dirty="0">
                <a:highlight>
                  <a:srgbClr val="FFFFFF"/>
                </a:highlight>
                <a:latin typeface="Consolas" panose="020B0609020204030204"/>
              </a:rPr>
              <a:t>}</a:t>
            </a: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65786" y="155114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Swap of Two numbers using Function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924074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65786" y="155114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Swap of Two numbers using Function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38" y="1503684"/>
            <a:ext cx="7623521" cy="47957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9953" y="1085988"/>
            <a:ext cx="3117668" cy="38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879181409"/>
      </p:ext>
    </p:extLst>
  </p:cSld>
  <p:clrMapOvr>
    <a:masterClrMapping/>
  </p:clrMapOvr>
  <p:transition>
    <p:pull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Class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class template in C++ is a blueprint for creating generic classes that can work with different data types.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 allows you to define a class that can be customized to work with various types without having to rewrite the class code for each type.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syntax for defining a class template is similar to that of a regular class, with the addition of one or more type parameters enclosed in angle brackets (&lt;&gt;).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These type parameters represent generic types and can be used throughout the class definition.</a:t>
            </a:r>
          </a:p>
        </p:txBody>
      </p:sp>
    </p:spTree>
  </p:cSld>
  <p:clrMapOvr>
    <a:masterClrMapping/>
  </p:clrMapOvr>
  <p:transition>
    <p:pull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Class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Syntax: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template &lt;class T&gt;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class classnm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private: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 member1;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 member2;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public: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 fun();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};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517515" y="2343785"/>
            <a:ext cx="5302250" cy="1198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chemeClr val="accent1">
                    <a:lumMod val="75000"/>
                  </a:schemeClr>
                </a:solidFill>
              </a:rPr>
              <a:t>objects for class template is created like:</a:t>
            </a:r>
          </a:p>
          <a:p>
            <a:endParaRPr lang="en-US" altLang="en-US" sz="24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classname &lt;datatype&gt; obj;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517515" y="3837940"/>
            <a:ext cx="5487035" cy="1568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chemeClr val="accent1">
                    <a:lumMod val="75000"/>
                  </a:schemeClr>
                </a:solidFill>
              </a:rPr>
              <a:t>Variable and function can be accessed like:</a:t>
            </a:r>
          </a:p>
          <a:p>
            <a:endParaRPr lang="en-US" altLang="en-US" sz="2400"/>
          </a:p>
          <a:p>
            <a:r>
              <a:rPr lang="en-US" altLang="en-US" sz="2400"/>
              <a:t>obj.variable;</a:t>
            </a:r>
          </a:p>
          <a:p>
            <a:r>
              <a:rPr lang="en-US" altLang="en-US" sz="2400"/>
              <a:t>obj.memberfunction();</a:t>
            </a:r>
          </a:p>
        </p:txBody>
      </p:sp>
    </p:spTree>
  </p:cSld>
  <p:clrMapOvr>
    <a:masterClrMapping/>
  </p:clrMapOvr>
  <p:transition>
    <p:pull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of template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685438" y="987236"/>
            <a:ext cx="8776019" cy="12176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prstClr val="black"/>
                </a:solidFill>
              </a:rPr>
              <a:t>The object of template class are created as follows</a:t>
            </a:r>
            <a:endParaRPr lang="en-IN" sz="2800" dirty="0">
              <a:solidFill>
                <a:prstClr val="white"/>
              </a:solidFill>
            </a:endParaRPr>
          </a:p>
          <a:p>
            <a:pPr algn="ctr"/>
            <a:endParaRPr lang="en-IN" sz="1600" dirty="0">
              <a:solidFill>
                <a:prstClr val="white"/>
              </a:solidFill>
            </a:endParaRPr>
          </a:p>
          <a:p>
            <a:pPr algn="ctr"/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class name &lt;data type&gt; object name;</a:t>
            </a:r>
          </a:p>
        </p:txBody>
      </p:sp>
      <p:sp>
        <p:nvSpPr>
          <p:cNvPr id="6" name="Rectangle 5"/>
          <p:cNvSpPr/>
          <p:nvPr/>
        </p:nvSpPr>
        <p:spPr>
          <a:xfrm>
            <a:off x="1685437" y="2360875"/>
            <a:ext cx="3831172" cy="3816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template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&lt;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class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T&gt;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class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sample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{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T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a,b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;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public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: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   void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getdata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()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   {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     </a:t>
            </a:r>
            <a:r>
              <a:rPr lang="en-IN" sz="22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cin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&gt;&gt;a&gt;&gt;b;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   }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     void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 sum();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Shruti"/>
              </a:rPr>
              <a:t>};</a:t>
            </a:r>
            <a:endParaRPr lang="en-IN" sz="2200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52790" y="2360875"/>
            <a:ext cx="3830400" cy="3336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</a:pP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main()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{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sample &lt;</a:t>
            </a:r>
            <a:r>
              <a:rPr lang="en-IN" sz="22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int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&gt;s1;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sample &lt;</a:t>
            </a:r>
            <a:r>
              <a:rPr lang="en-IN" sz="22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float</a:t>
            </a: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&gt;s2;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s1.getdata();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s1.sum();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s2.getdata();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  s2.sum();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charset="0"/>
                <a:cs typeface="Consolas" panose="020B0609020204030204" pitchFamily="49" charset="0"/>
              </a:rPr>
              <a:t>}</a:t>
            </a:r>
            <a:endParaRPr lang="en-IN" sz="2200" dirty="0">
              <a:solidFill>
                <a:prstClr val="black"/>
              </a:solidFill>
              <a:ea typeface="Calibri" panose="020F0502020204030204" charset="0"/>
              <a:cs typeface="Latha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095137" y="2306870"/>
            <a:ext cx="0" cy="39244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61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67508" y="152636"/>
            <a:ext cx="543660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template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class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T1,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class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T2&gt;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class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Sample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T1 a; T2 b;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public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: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Sample(T1 x,T2 y){</a:t>
            </a:r>
          </a:p>
          <a:p>
            <a:pPr lvl="2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a=x;</a:t>
            </a:r>
          </a:p>
          <a:p>
            <a:pPr lvl="2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b=y;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disp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(){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"\na="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&lt;&lt;a&lt;&lt;</a:t>
            </a:r>
            <a:r>
              <a:rPr lang="pl-PL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"\tb="</a:t>
            </a:r>
            <a:r>
              <a:rPr lang="pl-PL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&lt;&lt;b;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};</a:t>
            </a:r>
            <a:endParaRPr lang="en-IN" sz="2200" dirty="0">
              <a:solidFill>
                <a:prstClr val="black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51230" y="4581128"/>
            <a:ext cx="5308867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Sample &lt;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,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float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&gt; S1(12,23.3);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Sample &lt;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char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,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&gt; S2(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'N'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,12);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S1.disp();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S2.disp();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200" dirty="0">
              <a:solidFill>
                <a:prstClr val="black"/>
              </a:solidFill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6702474" y="3717032"/>
            <a:ext cx="3860816" cy="2690278"/>
          </a:xfrm>
          <a:prstGeom prst="wedgeRoundRectCallout">
            <a:avLst>
              <a:gd name="adj1" fmla="val -115439"/>
              <a:gd name="adj2" fmla="val -5626"/>
              <a:gd name="adj3" fmla="val 16667"/>
            </a:avLst>
          </a:prstGeom>
          <a:noFill/>
          <a:ln>
            <a:solidFill>
              <a:srgbClr val="385D8A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300" dirty="0">
                <a:solidFill>
                  <a:prstClr val="black"/>
                </a:solidFill>
              </a:rPr>
              <a:t>To create a class template object, </a:t>
            </a:r>
          </a:p>
          <a:p>
            <a:pPr marL="361950" indent="-361950"/>
            <a:r>
              <a:rPr lang="en-IN" sz="2300" dirty="0">
                <a:solidFill>
                  <a:prstClr val="black"/>
                </a:solidFill>
              </a:rPr>
              <a:t>     define the data type inside a </a:t>
            </a:r>
            <a:r>
              <a:rPr lang="en-IN" sz="2300" b="1" dirty="0">
                <a:solidFill>
                  <a:prstClr val="black"/>
                </a:solidFill>
              </a:rPr>
              <a:t>&lt; &gt;</a:t>
            </a:r>
            <a:r>
              <a:rPr lang="en-IN" sz="2300" dirty="0">
                <a:solidFill>
                  <a:prstClr val="black"/>
                </a:solidFill>
              </a:rPr>
              <a:t> at the time of object creation.</a:t>
            </a:r>
          </a:p>
          <a:p>
            <a:pPr marL="342900" indent="-342900">
              <a:buClr>
                <a:prstClr val="black"/>
              </a:buClr>
              <a:buFont typeface="Wingdings" panose="05000000000000000000" pitchFamily="2" charset="2"/>
              <a:buChar char="§"/>
            </a:pPr>
            <a:r>
              <a:rPr lang="en-IN" sz="2000" dirty="0" err="1">
                <a:solidFill>
                  <a:srgbClr val="FF0000"/>
                </a:solidFill>
              </a:rPr>
              <a:t>className</a:t>
            </a:r>
            <a:r>
              <a:rPr lang="en-IN" sz="2000" dirty="0">
                <a:solidFill>
                  <a:srgbClr val="FF0000"/>
                </a:solidFill>
              </a:rPr>
              <a:t>&lt;</a:t>
            </a:r>
            <a:r>
              <a:rPr lang="en-IN" sz="2000" dirty="0" err="1">
                <a:solidFill>
                  <a:srgbClr val="FF0000"/>
                </a:solidFill>
              </a:rPr>
              <a:t>int</a:t>
            </a:r>
            <a:r>
              <a:rPr lang="en-IN" sz="2000" dirty="0">
                <a:solidFill>
                  <a:srgbClr val="FF0000"/>
                </a:solidFill>
              </a:rPr>
              <a:t>&gt; </a:t>
            </a:r>
            <a:r>
              <a:rPr lang="en-IN" sz="2000" dirty="0" err="1">
                <a:solidFill>
                  <a:srgbClr val="FF0000"/>
                </a:solidFill>
              </a:rPr>
              <a:t>classObj</a:t>
            </a:r>
            <a:r>
              <a:rPr lang="en-IN" sz="2000" dirty="0">
                <a:solidFill>
                  <a:srgbClr val="FF0000"/>
                </a:solidFill>
              </a:rPr>
              <a:t>; </a:t>
            </a:r>
            <a:r>
              <a:rPr lang="en-IN" sz="2000" dirty="0" err="1">
                <a:solidFill>
                  <a:srgbClr val="FF0000"/>
                </a:solidFill>
              </a:rPr>
              <a:t>className</a:t>
            </a:r>
            <a:r>
              <a:rPr lang="en-IN" sz="2000" dirty="0">
                <a:solidFill>
                  <a:srgbClr val="FF0000"/>
                </a:solidFill>
              </a:rPr>
              <a:t>&lt;float&gt; </a:t>
            </a:r>
            <a:r>
              <a:rPr lang="en-IN" sz="2000" dirty="0" err="1">
                <a:solidFill>
                  <a:srgbClr val="FF0000"/>
                </a:solidFill>
              </a:rPr>
              <a:t>classObj</a:t>
            </a:r>
            <a:r>
              <a:rPr lang="en-IN" sz="2000" dirty="0">
                <a:solidFill>
                  <a:srgbClr val="FF0000"/>
                </a:solidFill>
              </a:rPr>
              <a:t>; </a:t>
            </a:r>
          </a:p>
        </p:txBody>
      </p:sp>
      <p:sp>
        <p:nvSpPr>
          <p:cNvPr id="8" name="Title 1"/>
          <p:cNvSpPr txBox="1"/>
          <p:nvPr/>
        </p:nvSpPr>
        <p:spPr>
          <a:xfrm>
            <a:off x="6276020" y="106364"/>
            <a:ext cx="4201480" cy="80803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prstClr val="black"/>
                </a:solidFill>
              </a:rPr>
              <a:t>Class Template Example</a:t>
            </a:r>
          </a:p>
        </p:txBody>
      </p:sp>
    </p:spTree>
    <p:extLst>
      <p:ext uri="{BB962C8B-B14F-4D97-AF65-F5344CB8AC3E}">
        <p14:creationId xmlns:p14="http://schemas.microsoft.com/office/powerpoint/2010/main" val="73913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30951" y="228206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Calculator using Class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64149" y="1149772"/>
            <a:ext cx="11582400" cy="10341293"/>
          </a:xfrm>
          <a:prstGeom prst="rect">
            <a:avLst/>
          </a:prstGeom>
        </p:spPr>
        <p:txBody>
          <a:bodyPr wrap="square" numCol="2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iostream</a:t>
            </a:r>
            <a:r>
              <a:rPr lang="en-IN" dirty="0"/>
              <a:t>&gt;</a:t>
            </a:r>
          </a:p>
          <a:p>
            <a:r>
              <a:rPr lang="en-IN" dirty="0"/>
              <a:t>using namespace </a:t>
            </a:r>
            <a:r>
              <a:rPr lang="en-IN" dirty="0" err="1"/>
              <a:t>std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1D27F7"/>
                </a:solidFill>
              </a:rPr>
              <a:t>template &lt;class T&gt;</a:t>
            </a:r>
          </a:p>
          <a:p>
            <a:r>
              <a:rPr lang="en-IN" dirty="0"/>
              <a:t>class </a:t>
            </a:r>
            <a:r>
              <a:rPr lang="en-IN" dirty="0">
                <a:solidFill>
                  <a:srgbClr val="1D27F7"/>
                </a:solidFill>
              </a:rPr>
              <a:t>Calculator</a:t>
            </a:r>
            <a:r>
              <a:rPr lang="en-IN" dirty="0"/>
              <a:t> {</a:t>
            </a:r>
          </a:p>
          <a:p>
            <a:r>
              <a:rPr lang="en-IN" dirty="0">
                <a:solidFill>
                  <a:srgbClr val="1D27F7"/>
                </a:solidFill>
              </a:rPr>
              <a:t>private:</a:t>
            </a:r>
          </a:p>
          <a:p>
            <a:r>
              <a:rPr lang="en-IN" dirty="0"/>
              <a:t>    T num1, num2;</a:t>
            </a:r>
          </a:p>
          <a:p>
            <a:r>
              <a:rPr lang="en-IN" dirty="0">
                <a:solidFill>
                  <a:srgbClr val="1D27F7"/>
                </a:solidFill>
              </a:rPr>
              <a:t>public:</a:t>
            </a:r>
          </a:p>
          <a:p>
            <a:r>
              <a:rPr lang="en-IN" dirty="0"/>
              <a:t>    Calculator(T a, T b) {</a:t>
            </a:r>
          </a:p>
          <a:p>
            <a:r>
              <a:rPr lang="en-IN" dirty="0"/>
              <a:t>        num1 = a;</a:t>
            </a:r>
          </a:p>
          <a:p>
            <a:r>
              <a:rPr lang="en-IN" dirty="0"/>
              <a:t>        num2 = b;    }</a:t>
            </a:r>
          </a:p>
          <a:p>
            <a:r>
              <a:rPr lang="en-IN" dirty="0"/>
              <a:t>    T </a:t>
            </a:r>
            <a:r>
              <a:rPr lang="en-IN" dirty="0">
                <a:solidFill>
                  <a:srgbClr val="1D27F7"/>
                </a:solidFill>
              </a:rPr>
              <a:t>add() </a:t>
            </a:r>
            <a:r>
              <a:rPr lang="en-IN" dirty="0"/>
              <a:t>{ </a:t>
            </a:r>
          </a:p>
          <a:p>
            <a:r>
              <a:rPr lang="en-IN" dirty="0"/>
              <a:t>        return num1 + num2;  }</a:t>
            </a:r>
          </a:p>
          <a:p>
            <a:r>
              <a:rPr lang="en-IN" dirty="0"/>
              <a:t>    T </a:t>
            </a:r>
            <a:r>
              <a:rPr lang="en-IN" dirty="0">
                <a:solidFill>
                  <a:srgbClr val="1D27F7"/>
                </a:solidFill>
              </a:rPr>
              <a:t>subtract() </a:t>
            </a:r>
            <a:r>
              <a:rPr lang="en-IN" dirty="0"/>
              <a:t>{</a:t>
            </a:r>
          </a:p>
          <a:p>
            <a:r>
              <a:rPr lang="en-IN" dirty="0"/>
              <a:t>        return num1 - num2;   }</a:t>
            </a:r>
          </a:p>
          <a:p>
            <a:r>
              <a:rPr lang="en-IN" dirty="0"/>
              <a:t>    T </a:t>
            </a:r>
            <a:r>
              <a:rPr lang="en-IN" dirty="0">
                <a:solidFill>
                  <a:srgbClr val="1D27F7"/>
                </a:solidFill>
              </a:rPr>
              <a:t>multiply() </a:t>
            </a:r>
            <a:r>
              <a:rPr lang="en-IN" dirty="0"/>
              <a:t>{</a:t>
            </a:r>
          </a:p>
          <a:p>
            <a:r>
              <a:rPr lang="en-IN" dirty="0"/>
              <a:t>        return num1 * num2;  }</a:t>
            </a:r>
          </a:p>
          <a:p>
            <a:r>
              <a:rPr lang="en-IN" dirty="0"/>
              <a:t>    T </a:t>
            </a:r>
            <a:r>
              <a:rPr lang="en-IN" dirty="0">
                <a:solidFill>
                  <a:srgbClr val="1D27F7"/>
                </a:solidFill>
              </a:rPr>
              <a:t>divide() </a:t>
            </a:r>
            <a:r>
              <a:rPr lang="en-IN" dirty="0"/>
              <a:t>{</a:t>
            </a:r>
          </a:p>
          <a:p>
            <a:r>
              <a:rPr lang="en-IN" dirty="0"/>
              <a:t>          return num1 / num2; }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int</a:t>
            </a:r>
            <a:r>
              <a:rPr lang="en-IN" dirty="0"/>
              <a:t> main()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a, b;</a:t>
            </a:r>
          </a:p>
          <a:p>
            <a:r>
              <a:rPr lang="en-IN" dirty="0"/>
              <a:t>    float </a:t>
            </a:r>
            <a:r>
              <a:rPr lang="en-IN" dirty="0" err="1"/>
              <a:t>x,y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"Enter two integers:\n";</a:t>
            </a:r>
          </a:p>
          <a:p>
            <a:r>
              <a:rPr lang="en-IN" dirty="0"/>
              <a:t>    </a:t>
            </a:r>
            <a:r>
              <a:rPr lang="en-IN" dirty="0" err="1">
                <a:solidFill>
                  <a:srgbClr val="1D27F7"/>
                </a:solidFill>
              </a:rPr>
              <a:t>cin</a:t>
            </a:r>
            <a:r>
              <a:rPr lang="en-IN" dirty="0">
                <a:solidFill>
                  <a:srgbClr val="1D27F7"/>
                </a:solidFill>
              </a:rPr>
              <a:t> &gt;&gt; a &gt;&gt; b;</a:t>
            </a:r>
          </a:p>
          <a:p>
            <a:r>
              <a:rPr lang="en-IN" dirty="0"/>
              <a:t>    Calculator</a:t>
            </a:r>
            <a:r>
              <a:rPr lang="en-IN" dirty="0">
                <a:solidFill>
                  <a:srgbClr val="1D27F7"/>
                </a:solidFill>
              </a:rPr>
              <a:t>&lt;</a:t>
            </a:r>
            <a:r>
              <a:rPr lang="en-IN" dirty="0" err="1">
                <a:solidFill>
                  <a:srgbClr val="1D27F7"/>
                </a:solidFill>
              </a:rPr>
              <a:t>int</a:t>
            </a:r>
            <a:r>
              <a:rPr lang="en-IN" dirty="0">
                <a:solidFill>
                  <a:srgbClr val="1D27F7"/>
                </a:solidFill>
              </a:rPr>
              <a:t>&gt; </a:t>
            </a:r>
            <a:r>
              <a:rPr lang="en-IN" dirty="0" err="1"/>
              <a:t>i</a:t>
            </a:r>
            <a:r>
              <a:rPr lang="en-IN" dirty="0"/>
              <a:t>(a, b);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"Addition: " &lt;&lt; </a:t>
            </a:r>
            <a:r>
              <a:rPr lang="en-IN" dirty="0" err="1"/>
              <a:t>i.add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"Subtraction: " &lt;&lt; </a:t>
            </a:r>
            <a:r>
              <a:rPr lang="en-IN" dirty="0" err="1"/>
              <a:t>i.subtract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"Multiplication: " &lt;&lt; </a:t>
            </a:r>
            <a:r>
              <a:rPr lang="en-IN" dirty="0" err="1"/>
              <a:t>i.multiply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"Division: " &lt;&lt; </a:t>
            </a:r>
            <a:r>
              <a:rPr lang="en-IN" dirty="0" err="1"/>
              <a:t>i.divide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nEnter</a:t>
            </a:r>
            <a:r>
              <a:rPr lang="en-IN" dirty="0"/>
              <a:t> two floating-point numbers:\n";</a:t>
            </a:r>
          </a:p>
          <a:p>
            <a:r>
              <a:rPr lang="en-IN" dirty="0"/>
              <a:t>    </a:t>
            </a:r>
            <a:r>
              <a:rPr lang="en-IN" dirty="0" err="1">
                <a:solidFill>
                  <a:srgbClr val="1D27F7"/>
                </a:solidFill>
              </a:rPr>
              <a:t>cin</a:t>
            </a:r>
            <a:r>
              <a:rPr lang="en-IN" dirty="0">
                <a:solidFill>
                  <a:srgbClr val="1D27F7"/>
                </a:solidFill>
              </a:rPr>
              <a:t> &gt;&gt; x &gt;&gt; y;</a:t>
            </a:r>
          </a:p>
          <a:p>
            <a:r>
              <a:rPr lang="en-IN" dirty="0"/>
              <a:t>    Calculator</a:t>
            </a:r>
            <a:r>
              <a:rPr lang="en-IN" dirty="0">
                <a:solidFill>
                  <a:srgbClr val="1D27F7"/>
                </a:solidFill>
              </a:rPr>
              <a:t>&lt;float&gt; </a:t>
            </a:r>
            <a:r>
              <a:rPr lang="en-IN" dirty="0"/>
              <a:t>f(x, y);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"Addition: " &lt;&lt; </a:t>
            </a:r>
            <a:r>
              <a:rPr lang="en-IN" dirty="0" err="1"/>
              <a:t>f.add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"Subtraction: " &lt;&lt; </a:t>
            </a:r>
            <a:r>
              <a:rPr lang="en-IN" dirty="0" err="1"/>
              <a:t>f.subtract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"Multiplication: " &lt;&lt; </a:t>
            </a:r>
            <a:r>
              <a:rPr lang="en-IN" dirty="0" err="1"/>
              <a:t>f.multiply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"Division: " &lt;&lt; </a:t>
            </a:r>
            <a:r>
              <a:rPr lang="en-IN" dirty="0" err="1"/>
              <a:t>f.divide</a:t>
            </a:r>
            <a:r>
              <a:rPr lang="en-IN" dirty="0"/>
              <a:t>()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7329833"/>
      </p:ext>
    </p:extLst>
  </p:cSld>
  <p:clrMapOvr>
    <a:masterClrMapping/>
  </p:clrMapOvr>
  <p:transition>
    <p:pull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8908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130951" y="228206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Calculator using Class Template</a:t>
            </a:r>
            <a:endParaRPr lang="en-IN" sz="2400" dirty="0">
              <a:latin typeface="Corbel" panose="020B0503020204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44" y="1818535"/>
            <a:ext cx="7725853" cy="47536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8444" y="1247268"/>
            <a:ext cx="3117668" cy="381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81032731"/>
      </p:ext>
    </p:extLst>
  </p:cSld>
  <p:clrMapOvr>
    <a:masterClrMapping/>
  </p:clrMapOvr>
  <p:transition>
    <p:pull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Overloading function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934" y="916214"/>
            <a:ext cx="11351895" cy="5490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You may overload a function template either by a non-template function or by another function template.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If you call the name of an overloaded function template, the compiler will try to deduce its template arguments and check its explicitly declared template arguments.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If successful, it will instantiate a function template specialization, then add this specialization to the set of candidate functions used in overload resolution.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The compiler proceeds with overload resolution, choosing the most appropriate function from the set of candidate functions. Non-template functions take precedence over template functions.</a:t>
            </a:r>
          </a:p>
        </p:txBody>
      </p:sp>
    </p:spTree>
  </p:cSld>
  <p:clrMapOvr>
    <a:masterClrMapping/>
  </p:clrMapOvr>
  <p:transition>
    <p:pull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Overloading function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85" y="1247140"/>
            <a:ext cx="11351895" cy="5490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#include &lt;iostream&gt;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using namespace std;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template&lt;class T&gt;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void f(T x, T y) {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cout &lt;&lt; "Template" &lt;&lt; endl;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void f(int w, int z) {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cout &lt;&lt; "Non-template" &lt;&lt; endl;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int main() {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f( 1 , 2 );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f('a', 'b’);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f( 1 , 'b’); 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827520" y="3134360"/>
            <a:ext cx="2670175" cy="15684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Output :</a:t>
            </a:r>
            <a:endParaRPr lang="en-US" altLang="en-US" sz="2400"/>
          </a:p>
          <a:p>
            <a:r>
              <a:rPr lang="en-US" altLang="en-US" sz="2400"/>
              <a:t>Non-template</a:t>
            </a:r>
          </a:p>
          <a:p>
            <a:r>
              <a:rPr lang="en-US" altLang="en-US" sz="2400"/>
              <a:t>Template</a:t>
            </a:r>
          </a:p>
          <a:p>
            <a:r>
              <a:rPr lang="en-US" altLang="en-US" sz="2400"/>
              <a:t>Non-template</a:t>
            </a:r>
          </a:p>
        </p:txBody>
      </p:sp>
    </p:spTree>
  </p:cSld>
  <p:clrMapOvr>
    <a:masterClrMapping/>
  </p:clrMapOvr>
  <p:transition>
    <p:pull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Inheritance and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8003" y="1064260"/>
            <a:ext cx="11351895" cy="5490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#include &lt;</a:t>
            </a:r>
            <a:r>
              <a:rPr lang="en-US" altLang="en-US" dirty="0" err="1">
                <a:solidFill>
                  <a:prstClr val="black"/>
                </a:solidFill>
              </a:rPr>
              <a:t>iostream</a:t>
            </a:r>
            <a:r>
              <a:rPr lang="en-US" altLang="en-US" dirty="0">
                <a:solidFill>
                  <a:prstClr val="black"/>
                </a:solidFill>
              </a:rPr>
              <a:t>&gt;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using namespace </a:t>
            </a:r>
            <a:r>
              <a:rPr lang="en-US" altLang="en-US" dirty="0" err="1">
                <a:solidFill>
                  <a:prstClr val="black"/>
                </a:solidFill>
              </a:rPr>
              <a:t>std</a:t>
            </a:r>
            <a:r>
              <a:rPr lang="en-US" altLang="en-US" dirty="0">
                <a:solidFill>
                  <a:prstClr val="black"/>
                </a:solidFill>
              </a:rPr>
              <a:t>;</a:t>
            </a:r>
          </a:p>
          <a:p>
            <a:pPr lvl="0">
              <a:defRPr/>
            </a:pPr>
            <a:r>
              <a:rPr lang="en-US" altLang="en-US" dirty="0">
                <a:solidFill>
                  <a:srgbClr val="1D27F7"/>
                </a:solidFill>
              </a:rPr>
              <a:t>template &lt;</a:t>
            </a:r>
            <a:r>
              <a:rPr lang="en-US" altLang="en-US" dirty="0" err="1">
                <a:solidFill>
                  <a:srgbClr val="1D27F7"/>
                </a:solidFill>
              </a:rPr>
              <a:t>typename</a:t>
            </a:r>
            <a:r>
              <a:rPr lang="en-US" altLang="en-US" dirty="0">
                <a:solidFill>
                  <a:srgbClr val="1D27F7"/>
                </a:solidFill>
              </a:rPr>
              <a:t> T&gt;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class Base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public: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T value;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};</a:t>
            </a:r>
          </a:p>
          <a:p>
            <a:pPr lvl="0">
              <a:defRPr/>
            </a:pPr>
            <a:r>
              <a:rPr lang="en-US" altLang="en-US" dirty="0">
                <a:solidFill>
                  <a:srgbClr val="1D27F7"/>
                </a:solidFill>
              </a:rPr>
              <a:t>template &lt;</a:t>
            </a:r>
            <a:r>
              <a:rPr lang="en-US" altLang="en-US" dirty="0" err="1">
                <a:solidFill>
                  <a:srgbClr val="1D27F7"/>
                </a:solidFill>
              </a:rPr>
              <a:t>typename</a:t>
            </a:r>
            <a:r>
              <a:rPr lang="en-US" altLang="en-US" dirty="0">
                <a:solidFill>
                  <a:srgbClr val="1D27F7"/>
                </a:solidFill>
              </a:rPr>
              <a:t> T&gt;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class Derived : public Base&lt;T&gt;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public: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void show()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    </a:t>
            </a:r>
            <a:r>
              <a:rPr lang="en-US" altLang="en-US" dirty="0" err="1">
                <a:solidFill>
                  <a:prstClr val="black"/>
                </a:solidFill>
              </a:rPr>
              <a:t>cout</a:t>
            </a:r>
            <a:r>
              <a:rPr lang="en-US" altLang="en-US" dirty="0">
                <a:solidFill>
                  <a:prstClr val="black"/>
                </a:solidFill>
              </a:rPr>
              <a:t> &lt;&lt; "Value: " &lt;&lt; this-&gt;value &lt;&lt; </a:t>
            </a:r>
            <a:r>
              <a:rPr lang="en-US" altLang="en-US" dirty="0" err="1">
                <a:solidFill>
                  <a:prstClr val="black"/>
                </a:solidFill>
              </a:rPr>
              <a:t>endl</a:t>
            </a:r>
            <a:r>
              <a:rPr lang="en-US" altLang="en-US" dirty="0">
                <a:solidFill>
                  <a:prstClr val="black"/>
                </a:solidFill>
              </a:rPr>
              <a:t>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}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};</a:t>
            </a:r>
          </a:p>
          <a:p>
            <a:pPr lvl="0">
              <a:defRPr/>
            </a:pPr>
            <a:r>
              <a:rPr lang="en-US" altLang="en-US" dirty="0" err="1">
                <a:solidFill>
                  <a:prstClr val="black"/>
                </a:solidFill>
              </a:rPr>
              <a:t>int</a:t>
            </a:r>
            <a:r>
              <a:rPr lang="en-US" altLang="en-US" dirty="0">
                <a:solidFill>
                  <a:prstClr val="black"/>
                </a:solidFill>
              </a:rPr>
              <a:t> main()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Derived&lt;</a:t>
            </a:r>
            <a:r>
              <a:rPr lang="en-US" altLang="en-US" dirty="0" err="1">
                <a:solidFill>
                  <a:prstClr val="black"/>
                </a:solidFill>
              </a:rPr>
              <a:t>int</a:t>
            </a:r>
            <a:r>
              <a:rPr lang="en-US" altLang="en-US" dirty="0">
                <a:solidFill>
                  <a:prstClr val="black"/>
                </a:solidFill>
              </a:rPr>
              <a:t>&gt; </a:t>
            </a:r>
            <a:r>
              <a:rPr lang="en-US" altLang="en-US" dirty="0" err="1">
                <a:solidFill>
                  <a:prstClr val="black"/>
                </a:solidFill>
              </a:rPr>
              <a:t>obj</a:t>
            </a:r>
            <a:r>
              <a:rPr lang="en-US" altLang="en-US" dirty="0">
                <a:solidFill>
                  <a:prstClr val="black"/>
                </a:solidFill>
              </a:rPr>
              <a:t>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</a:t>
            </a:r>
            <a:r>
              <a:rPr lang="en-US" altLang="en-US" dirty="0" err="1">
                <a:solidFill>
                  <a:prstClr val="black"/>
                </a:solidFill>
              </a:rPr>
              <a:t>obj.value</a:t>
            </a:r>
            <a:r>
              <a:rPr lang="en-US" altLang="en-US" dirty="0">
                <a:solidFill>
                  <a:prstClr val="black"/>
                </a:solidFill>
              </a:rPr>
              <a:t> = 5;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</a:t>
            </a:r>
            <a:r>
              <a:rPr lang="en-US" altLang="en-US" dirty="0" err="1">
                <a:solidFill>
                  <a:prstClr val="black"/>
                </a:solidFill>
              </a:rPr>
              <a:t>obj.show</a:t>
            </a:r>
            <a:r>
              <a:rPr lang="en-US" altLang="en-US" dirty="0">
                <a:solidFill>
                  <a:prstClr val="black"/>
                </a:solidFill>
              </a:rPr>
              <a:t>();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return 0;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}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27520" y="3134360"/>
            <a:ext cx="267017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</a:rPr>
              <a:t>Output :</a:t>
            </a:r>
            <a:endParaRPr lang="en-US" altLang="en-US" sz="2400" dirty="0"/>
          </a:p>
          <a:p>
            <a:r>
              <a:rPr lang="en-US" altLang="en-US" sz="2400" dirty="0"/>
              <a:t>Value: 5</a:t>
            </a:r>
          </a:p>
        </p:txBody>
      </p:sp>
    </p:spTree>
    <p:extLst>
      <p:ext uri="{BB962C8B-B14F-4D97-AF65-F5344CB8AC3E}">
        <p14:creationId xmlns:p14="http://schemas.microsoft.com/office/powerpoint/2010/main" val="2099025295"/>
      </p:ext>
    </p:extLst>
  </p:cSld>
  <p:clrMapOvr>
    <a:masterClrMapping/>
  </p:clrMapOvr>
  <p:transition>
    <p:pull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Template and Friend Function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88003" y="1064260"/>
            <a:ext cx="11351895" cy="54902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#include &lt;</a:t>
            </a:r>
            <a:r>
              <a:rPr lang="en-US" altLang="en-US" dirty="0" err="1">
                <a:solidFill>
                  <a:prstClr val="black"/>
                </a:solidFill>
              </a:rPr>
              <a:t>iostream</a:t>
            </a:r>
            <a:r>
              <a:rPr lang="en-US" altLang="en-US" dirty="0">
                <a:solidFill>
                  <a:prstClr val="black"/>
                </a:solidFill>
              </a:rPr>
              <a:t>&gt;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using namespace </a:t>
            </a:r>
            <a:r>
              <a:rPr lang="en-US" altLang="en-US" dirty="0" err="1">
                <a:solidFill>
                  <a:prstClr val="black"/>
                </a:solidFill>
              </a:rPr>
              <a:t>std</a:t>
            </a:r>
            <a:r>
              <a:rPr lang="en-US" altLang="en-US" dirty="0">
                <a:solidFill>
                  <a:prstClr val="black"/>
                </a:solidFill>
              </a:rPr>
              <a:t>;</a:t>
            </a:r>
          </a:p>
          <a:p>
            <a:pPr lvl="0">
              <a:defRPr/>
            </a:pPr>
            <a:r>
              <a:rPr lang="en-US" altLang="en-US" dirty="0">
                <a:solidFill>
                  <a:srgbClr val="1D27F7"/>
                </a:solidFill>
              </a:rPr>
              <a:t>template &lt;</a:t>
            </a:r>
            <a:r>
              <a:rPr lang="en-US" altLang="en-US" dirty="0" err="1">
                <a:solidFill>
                  <a:srgbClr val="1D27F7"/>
                </a:solidFill>
              </a:rPr>
              <a:t>typename</a:t>
            </a:r>
            <a:r>
              <a:rPr lang="en-US" altLang="en-US" dirty="0">
                <a:solidFill>
                  <a:srgbClr val="1D27F7"/>
                </a:solidFill>
              </a:rPr>
              <a:t> T&gt;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class Box {</a:t>
            </a:r>
          </a:p>
          <a:p>
            <a:pPr lvl="0">
              <a:defRPr/>
            </a:pPr>
            <a:r>
              <a:rPr lang="en-US" altLang="en-US" dirty="0">
                <a:solidFill>
                  <a:srgbClr val="1D27F7"/>
                </a:solidFill>
              </a:rPr>
              <a:t>private: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T value;</a:t>
            </a:r>
          </a:p>
          <a:p>
            <a:pPr lvl="0">
              <a:defRPr/>
            </a:pPr>
            <a:r>
              <a:rPr lang="en-US" altLang="en-US" dirty="0">
                <a:solidFill>
                  <a:srgbClr val="1D27F7"/>
                </a:solidFill>
              </a:rPr>
              <a:t>public: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Box(T </a:t>
            </a:r>
            <a:r>
              <a:rPr lang="en-US" altLang="en-US" dirty="0" err="1">
                <a:solidFill>
                  <a:prstClr val="black"/>
                </a:solidFill>
              </a:rPr>
              <a:t>val</a:t>
            </a:r>
            <a:r>
              <a:rPr lang="en-US" altLang="en-US" dirty="0">
                <a:solidFill>
                  <a:prstClr val="black"/>
                </a:solidFill>
              </a:rPr>
              <a:t>) {   // constructor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value = </a:t>
            </a:r>
            <a:r>
              <a:rPr lang="en-US" altLang="en-US" dirty="0" err="1">
                <a:solidFill>
                  <a:prstClr val="black"/>
                </a:solidFill>
              </a:rPr>
              <a:t>val</a:t>
            </a:r>
            <a:r>
              <a:rPr lang="en-US" altLang="en-US" dirty="0">
                <a:solidFill>
                  <a:prstClr val="black"/>
                </a:solidFill>
              </a:rPr>
              <a:t>;}    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// Friend function declaration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</a:t>
            </a:r>
            <a:r>
              <a:rPr lang="en-US" altLang="en-US" dirty="0">
                <a:solidFill>
                  <a:srgbClr val="1D27F7"/>
                </a:solidFill>
              </a:rPr>
              <a:t>friend void </a:t>
            </a:r>
            <a:r>
              <a:rPr lang="en-US" altLang="en-US" dirty="0" err="1">
                <a:solidFill>
                  <a:srgbClr val="1D27F7"/>
                </a:solidFill>
              </a:rPr>
              <a:t>showValue</a:t>
            </a:r>
            <a:r>
              <a:rPr lang="en-US" altLang="en-US" dirty="0">
                <a:solidFill>
                  <a:srgbClr val="1D27F7"/>
                </a:solidFill>
              </a:rPr>
              <a:t>(Box&lt;T&gt; b)</a:t>
            </a:r>
            <a:r>
              <a:rPr lang="en-US" altLang="en-US" dirty="0">
                <a:solidFill>
                  <a:prstClr val="black"/>
                </a:solidFill>
              </a:rPr>
              <a:t>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    </a:t>
            </a:r>
            <a:r>
              <a:rPr lang="en-US" altLang="en-US" dirty="0" err="1">
                <a:solidFill>
                  <a:prstClr val="black"/>
                </a:solidFill>
              </a:rPr>
              <a:t>cout</a:t>
            </a:r>
            <a:r>
              <a:rPr lang="en-US" altLang="en-US" dirty="0">
                <a:solidFill>
                  <a:prstClr val="black"/>
                </a:solidFill>
              </a:rPr>
              <a:t> &lt;&lt; "Value: " &lt;&lt; </a:t>
            </a:r>
            <a:r>
              <a:rPr lang="en-US" altLang="en-US" dirty="0" err="1">
                <a:solidFill>
                  <a:prstClr val="black"/>
                </a:solidFill>
              </a:rPr>
              <a:t>b.value</a:t>
            </a:r>
            <a:r>
              <a:rPr lang="en-US" altLang="en-US" dirty="0">
                <a:solidFill>
                  <a:prstClr val="black"/>
                </a:solidFill>
              </a:rPr>
              <a:t> &lt;&lt; </a:t>
            </a:r>
            <a:r>
              <a:rPr lang="en-US" altLang="en-US" dirty="0" err="1">
                <a:solidFill>
                  <a:prstClr val="black"/>
                </a:solidFill>
              </a:rPr>
              <a:t>endl</a:t>
            </a:r>
            <a:r>
              <a:rPr lang="en-US" altLang="en-US" dirty="0">
                <a:solidFill>
                  <a:prstClr val="black"/>
                </a:solidFill>
              </a:rPr>
              <a:t>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}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};</a:t>
            </a:r>
          </a:p>
          <a:p>
            <a:pPr lvl="0">
              <a:defRPr/>
            </a:pPr>
            <a:r>
              <a:rPr lang="en-US" altLang="en-US" dirty="0" err="1">
                <a:solidFill>
                  <a:prstClr val="black"/>
                </a:solidFill>
              </a:rPr>
              <a:t>int</a:t>
            </a:r>
            <a:r>
              <a:rPr lang="en-US" altLang="en-US" dirty="0">
                <a:solidFill>
                  <a:prstClr val="black"/>
                </a:solidFill>
              </a:rPr>
              <a:t> main() {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Box&lt;</a:t>
            </a:r>
            <a:r>
              <a:rPr lang="en-US" altLang="en-US" dirty="0" err="1">
                <a:solidFill>
                  <a:prstClr val="black"/>
                </a:solidFill>
              </a:rPr>
              <a:t>int</a:t>
            </a:r>
            <a:r>
              <a:rPr lang="en-US" altLang="en-US" dirty="0">
                <a:solidFill>
                  <a:prstClr val="black"/>
                </a:solidFill>
              </a:rPr>
              <a:t>&gt; b1(10);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Box&lt;string&gt; b2("Hello");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</a:t>
            </a:r>
            <a:r>
              <a:rPr lang="en-US" altLang="en-US" dirty="0" err="1">
                <a:solidFill>
                  <a:prstClr val="black"/>
                </a:solidFill>
              </a:rPr>
              <a:t>showValue</a:t>
            </a:r>
            <a:r>
              <a:rPr lang="en-US" altLang="en-US" dirty="0">
                <a:solidFill>
                  <a:prstClr val="black"/>
                </a:solidFill>
              </a:rPr>
              <a:t>(b1); 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</a:t>
            </a:r>
            <a:r>
              <a:rPr lang="en-US" altLang="en-US" dirty="0" err="1">
                <a:solidFill>
                  <a:prstClr val="black"/>
                </a:solidFill>
              </a:rPr>
              <a:t>showValue</a:t>
            </a:r>
            <a:r>
              <a:rPr lang="en-US" altLang="en-US" dirty="0">
                <a:solidFill>
                  <a:prstClr val="black"/>
                </a:solidFill>
              </a:rPr>
              <a:t>(b2);  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    return 0;</a:t>
            </a:r>
          </a:p>
          <a:p>
            <a:pPr lvl="0">
              <a:defRPr/>
            </a:pPr>
            <a:r>
              <a:rPr lang="en-US" altLang="en-US" dirty="0">
                <a:solidFill>
                  <a:prstClr val="black"/>
                </a:solidFill>
              </a:rPr>
              <a:t>}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27520" y="3134360"/>
            <a:ext cx="267017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</a:rPr>
              <a:t>Output :</a:t>
            </a:r>
            <a:endParaRPr lang="en-US" altLang="en-US" sz="2400" dirty="0"/>
          </a:p>
          <a:p>
            <a:r>
              <a:rPr lang="en-US" altLang="en-US" sz="2400" dirty="0"/>
              <a:t>Value: 10</a:t>
            </a:r>
          </a:p>
          <a:p>
            <a:r>
              <a:rPr lang="en-US" altLang="en-US" sz="2400" dirty="0" err="1"/>
              <a:t>Value:Hello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44248394"/>
      </p:ext>
    </p:extLst>
  </p:cSld>
  <p:clrMapOvr>
    <a:masterClrMapping/>
  </p:clrMapOvr>
  <p:transition>
    <p:pull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Exception Handling –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Errors are the problems that occur in the program due to an illegal operation performed by the user or by the fault of a programmer.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 Handling is the process of handling errors and exceptions such that the normal execution of the system is not halted.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 handling in C++ consists of three keywords namely- try, catch, and throw.</a:t>
            </a:r>
          </a:p>
        </p:txBody>
      </p:sp>
    </p:spTree>
  </p:cSld>
  <p:clrMapOvr>
    <a:masterClrMapping/>
  </p:clrMapOvr>
  <p:transition>
    <p:pull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Exception Handling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Errors in C++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879475" marR="0" lvl="2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Errors are the problems that occur in the program due to an illegal operation performed by the user or by the fault of a programmer, which halts the normal flow of the program. </a:t>
            </a:r>
          </a:p>
          <a:p>
            <a:pPr marL="879475" marR="0" lvl="2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879475" marR="0" lvl="2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Errors are also termed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</a:rPr>
              <a:t>bugs or faults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. </a:t>
            </a:r>
          </a:p>
          <a:p>
            <a:pPr marL="879475" marR="0" lvl="2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879475" marR="0" lvl="2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There are mainly two types of errors in programming. They are,</a:t>
            </a:r>
          </a:p>
          <a:p>
            <a:pPr marL="1336675" marR="0" lvl="3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Compile Time Errors</a:t>
            </a:r>
          </a:p>
          <a:p>
            <a:pPr marL="1336675" marR="0" lvl="3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Run-Time Errors</a:t>
            </a:r>
          </a:p>
        </p:txBody>
      </p:sp>
    </p:spTree>
  </p:cSld>
  <p:clrMapOvr>
    <a:masterClrMapping/>
  </p:clrMapOvr>
  <p:transition>
    <p:pull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Exception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Compile Time Errors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Compile Time Errors are those errors that are caught during compilation time.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Some of the most common compile-time errors are,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Syntax errors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Library references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Incorrect import of library functions and methods 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Uneven bracket pair(s), etc.</a:t>
            </a:r>
          </a:p>
        </p:txBody>
      </p:sp>
    </p:spTree>
  </p:cSld>
  <p:clrMapOvr>
    <a:masterClrMapping/>
  </p:clrMapOvr>
  <p:transition>
    <p:pull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Exception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Run-Time Errors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Run-Time Errors are those errors that cannot be caught during compilation time.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As we cannot check these errors during compile time, we name them Exceptions.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Exceptions can cause some serious issues so we should handle them effectively.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We use the exception handling in C++ is to separate the error handling code from the    normal code. For exception handling in C++, we use the try-catch finally block.</a:t>
            </a:r>
          </a:p>
        </p:txBody>
      </p:sp>
    </p:spTree>
  </p:cSld>
  <p:clrMapOvr>
    <a:masterClrMapping/>
  </p:clrMapOvr>
  <p:transition>
    <p:pull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Exception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Syntax: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try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throw exception;           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</a:rPr>
              <a:t>// Block of code to try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catch ()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{</a:t>
            </a: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</a:rPr>
              <a:t>// Block of code to handle errors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}</a:t>
            </a:r>
          </a:p>
        </p:txBody>
      </p:sp>
    </p:spTree>
  </p:cSld>
  <p:clrMapOvr>
    <a:masterClrMapping/>
  </p:clrMapOvr>
  <p:transition>
    <p:pull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Exception-Example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86968" y="1164778"/>
            <a:ext cx="65887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a,b,c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"Enter value a="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&gt;&gt;a;</a:t>
            </a:r>
          </a:p>
          <a:p>
            <a:pPr lvl="1"/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"Enter value b="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&gt;&gt;b;</a:t>
            </a:r>
          </a:p>
          <a:p>
            <a:pPr lvl="1"/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c=a/b;</a:t>
            </a:r>
          </a:p>
          <a:p>
            <a:pPr lvl="1"/>
            <a:r>
              <a:rPr lang="en-IN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"answer="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&lt;&lt;c;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1500600" y="4952001"/>
            <a:ext cx="3910804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Output:</a:t>
            </a:r>
          </a:p>
          <a:p>
            <a:r>
              <a:rPr lang="en-IN" sz="2400" dirty="0"/>
              <a:t>Enter value a=5</a:t>
            </a:r>
          </a:p>
          <a:p>
            <a:r>
              <a:rPr lang="en-IN" sz="2400" dirty="0"/>
              <a:t>Enter value b=2</a:t>
            </a:r>
          </a:p>
          <a:p>
            <a:r>
              <a:rPr lang="en-IN" sz="2400" dirty="0"/>
              <a:t>answer=2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59476" y="4952001"/>
            <a:ext cx="4165476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Output:</a:t>
            </a:r>
          </a:p>
          <a:p>
            <a:r>
              <a:rPr lang="en-IN" sz="2400" dirty="0"/>
              <a:t>Enter value a=5</a:t>
            </a:r>
          </a:p>
          <a:p>
            <a:r>
              <a:rPr lang="en-IN" sz="2400" dirty="0"/>
              <a:t>Enter value b=0</a:t>
            </a:r>
          </a:p>
          <a:p>
            <a:r>
              <a:rPr lang="en-IN" sz="2400" dirty="0"/>
              <a:t>Abnormal Termination occur</a:t>
            </a:r>
          </a:p>
        </p:txBody>
      </p:sp>
    </p:spTree>
    <p:extLst>
      <p:ext uri="{BB962C8B-B14F-4D97-AF65-F5344CB8AC3E}">
        <p14:creationId xmlns:p14="http://schemas.microsoft.com/office/powerpoint/2010/main" val="93593846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Why Exception Handling?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Exception handling in C++ separates error handling code from normal code to ensure that the normal execution of the program is not interrupted by errors or exceptions.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Unlike using multiple if-else conditions to handle errors, exception handling improves code readability and maintainability by allowing developers to easily manage exceptional situations.</a:t>
            </a:r>
          </a:p>
        </p:txBody>
      </p:sp>
    </p:spTree>
  </p:cSld>
  <p:clrMapOvr>
    <a:masterClrMapping/>
  </p:clrMapOvr>
  <p:transition>
    <p:pull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Try, Throw and Catch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26225" y="1424657"/>
            <a:ext cx="8763000" cy="89022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IN" dirty="0"/>
              <a:t>C++ exception handling mechanism is built upon three keywords </a:t>
            </a:r>
            <a:r>
              <a:rPr lang="en-IN" b="1" dirty="0">
                <a:solidFill>
                  <a:srgbClr val="C00000"/>
                </a:solidFill>
              </a:rPr>
              <a:t>try</a:t>
            </a:r>
            <a:r>
              <a:rPr lang="en-IN" dirty="0"/>
              <a:t>, </a:t>
            </a:r>
            <a:r>
              <a:rPr lang="en-IN" b="1" dirty="0">
                <a:solidFill>
                  <a:srgbClr val="C00000"/>
                </a:solidFill>
              </a:rPr>
              <a:t>throw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catch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158350"/>
              </p:ext>
            </p:extLst>
          </p:nvPr>
        </p:nvGraphicFramePr>
        <p:xfrm>
          <a:off x="2108601" y="2701584"/>
          <a:ext cx="3132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try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Detects and throws an 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8322430"/>
              </p:ext>
            </p:extLst>
          </p:nvPr>
        </p:nvGraphicFramePr>
        <p:xfrm>
          <a:off x="2144605" y="4897828"/>
          <a:ext cx="31323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catch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Catches and handles the exception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Elbow Connector 8"/>
          <p:cNvCxnSpPr>
            <a:stCxn id="6" idx="1"/>
            <a:endCxn id="7" idx="1"/>
          </p:cNvCxnSpPr>
          <p:nvPr/>
        </p:nvCxnSpPr>
        <p:spPr>
          <a:xfrm rot="10800000" flipH="1" flipV="1">
            <a:off x="2108601" y="3341664"/>
            <a:ext cx="36004" cy="2196244"/>
          </a:xfrm>
          <a:prstGeom prst="bentConnector3">
            <a:avLst>
              <a:gd name="adj1" fmla="val -3672947"/>
            </a:avLst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76453" y="3989736"/>
            <a:ext cx="1512168" cy="900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Exception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Object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23241" y="2454627"/>
            <a:ext cx="435648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.....</a:t>
            </a:r>
          </a:p>
          <a:p>
            <a:pPr marL="265430" indent="-265430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  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exception; </a:t>
            </a:r>
            <a:r>
              <a:rPr lang="en-I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/>
              </a:rPr>
              <a:t>//this block  detects and throws an exception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(type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arg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.....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... </a:t>
            </a:r>
            <a:r>
              <a:rPr lang="en-IN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/>
              </a:rPr>
              <a:t>//exception handling block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.....</a:t>
            </a:r>
          </a:p>
        </p:txBody>
      </p:sp>
    </p:spTree>
    <p:extLst>
      <p:ext uri="{BB962C8B-B14F-4D97-AF65-F5344CB8AC3E}">
        <p14:creationId xmlns:p14="http://schemas.microsoft.com/office/powerpoint/2010/main" val="610111347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531546" y="69375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Try-Catch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1546" y="1247268"/>
            <a:ext cx="784426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a,b,c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"Enter two values="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cin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&gt;&gt;a&gt;&gt;b;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2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(b!=0)</a:t>
            </a:r>
          </a:p>
          <a:p>
            <a:pPr lvl="2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c=a/b;</a:t>
            </a:r>
          </a:p>
          <a:p>
            <a:pPr lvl="3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"answer="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&lt;&lt;c;</a:t>
            </a:r>
          </a:p>
          <a:p>
            <a:pPr lvl="2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else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pPr lvl="3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	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(b);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x)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	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"Exception caught: Divide by zero\n"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557247" y="2563906"/>
            <a:ext cx="417060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/>
              <a:t>Output:</a:t>
            </a:r>
          </a:p>
          <a:p>
            <a:r>
              <a:rPr lang="en-IN" sz="2200" dirty="0"/>
              <a:t>Enter value a=5</a:t>
            </a:r>
          </a:p>
          <a:p>
            <a:r>
              <a:rPr lang="en-IN" sz="2200" dirty="0"/>
              <a:t>Enter value b=0</a:t>
            </a:r>
          </a:p>
          <a:p>
            <a:r>
              <a:rPr lang="en-IN" sz="2200" dirty="0"/>
              <a:t>Exception caught: Divide by zero</a:t>
            </a:r>
          </a:p>
        </p:txBody>
      </p:sp>
    </p:spTree>
    <p:extLst>
      <p:ext uri="{BB962C8B-B14F-4D97-AF65-F5344CB8AC3E}">
        <p14:creationId xmlns:p14="http://schemas.microsoft.com/office/powerpoint/2010/main" val="454622688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Exception Handling - Example 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#include &lt;iostream&gt;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using namespace std;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int division(int a, int b)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{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if (b == 0)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// checking if the denominator is 0 or not.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{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throw "Division by zero!"; 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/*if the denominator is 0, then we must throw an exception*/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} 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return int(a / b);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// if there is no exception, then we are returning the answer.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}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int main()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{</a:t>
            </a:r>
          </a:p>
        </p:txBody>
      </p:sp>
    </p:spTree>
    <p:extLst>
      <p:ext uri="{BB962C8B-B14F-4D97-AF65-F5344CB8AC3E}">
        <p14:creationId xmlns:p14="http://schemas.microsoft.com/office/powerpoint/2010/main" val="739006733"/>
      </p:ext>
    </p:extLst>
  </p:cSld>
  <p:clrMapOvr>
    <a:masterClrMapping/>
  </p:clrMapOvr>
  <p:transition>
    <p:pull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int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 x = 50, int y = 0, answer = 0;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/* Using a try catch block because in divison, the denominator can be 0. So, we must handle the 0 divion inside try block.*/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try {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answer = division(x, y);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cout &lt;&lt; " Output: " &lt;&lt; answer &lt;&lt; endl;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}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catch (const char *errorMessage)   </a:t>
            </a: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// printing the thrown exception from the function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{</a:t>
            </a: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cout &lt;&lt; errorMessage &lt;&lt; endl;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}</a:t>
            </a:r>
          </a:p>
          <a:p>
            <a:pPr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return 0;</a:t>
            </a:r>
          </a:p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cs typeface="Calibri" panose="020F0502020204030204" charset="0"/>
              </a:rPr>
              <a:t>}</a:t>
            </a:r>
          </a:p>
        </p:txBody>
      </p:sp>
      <p:sp>
        <p:nvSpPr>
          <p:cNvPr id="6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Exception Handling - Example </a:t>
            </a:r>
          </a:p>
        </p:txBody>
      </p:sp>
    </p:spTree>
    <p:extLst>
      <p:ext uri="{BB962C8B-B14F-4D97-AF65-F5344CB8AC3E}">
        <p14:creationId xmlns:p14="http://schemas.microsoft.com/office/powerpoint/2010/main" val="1802329202"/>
      </p:ext>
    </p:extLst>
  </p:cSld>
  <p:clrMapOvr>
    <a:masterClrMapping/>
  </p:clrMapOvr>
  <p:transition>
    <p:pull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74792" y="89219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400" b="1" dirty="0">
                <a:solidFill>
                  <a:schemeClr val="accent1">
                    <a:lumMod val="75000"/>
                  </a:schemeClr>
                </a:solidFill>
              </a:rPr>
              <a:t>Multiple Catch -Example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148" y="1102659"/>
            <a:ext cx="563527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test(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x){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	if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(x==1)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	  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x;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   else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(x==0)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     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'x'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	else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(x==-1)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	  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5.14;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i){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nCaught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 an integer"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char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){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nCaught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 a character"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double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i){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"\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nCaught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 a double"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1102659"/>
            <a:ext cx="49540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test(1);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test(0);</a:t>
            </a:r>
          </a:p>
          <a:p>
            <a:pPr lvl="1"/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test(-1);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140238" y="4001016"/>
            <a:ext cx="26282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/>
              <a:t>Output:</a:t>
            </a:r>
          </a:p>
          <a:p>
            <a:r>
              <a:rPr lang="en-IN" sz="2200" dirty="0"/>
              <a:t>Caught an integer</a:t>
            </a:r>
          </a:p>
          <a:p>
            <a:r>
              <a:rPr lang="en-IN" sz="2200" dirty="0"/>
              <a:t>Caught a character</a:t>
            </a:r>
          </a:p>
          <a:p>
            <a:r>
              <a:rPr lang="en-IN" sz="2200" dirty="0"/>
              <a:t>Caught a double</a:t>
            </a:r>
          </a:p>
        </p:txBody>
      </p:sp>
    </p:spTree>
    <p:extLst>
      <p:ext uri="{BB962C8B-B14F-4D97-AF65-F5344CB8AC3E}">
        <p14:creationId xmlns:p14="http://schemas.microsoft.com/office/powerpoint/2010/main" val="3214258297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66083" y="169107"/>
            <a:ext cx="67104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</a:rPr>
              <a:t>Catch All Exception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017814" y="1469571"/>
            <a:ext cx="8763000" cy="1502296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IN" dirty="0"/>
              <a:t>In some situations, we may not predict all possible types of exceptions and therefore may not be able to design independent catch handlers to catch them.</a:t>
            </a:r>
          </a:p>
          <a:p>
            <a:pPr marL="0" indent="0" algn="just">
              <a:buNone/>
            </a:pP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114838" y="3187891"/>
            <a:ext cx="84969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highlight>
                  <a:srgbClr val="FFFFFF"/>
                </a:highlight>
                <a:latin typeface="Consolas" panose="020B0609020204030204"/>
              </a:rPr>
              <a:t>Syntax:</a:t>
            </a:r>
          </a:p>
          <a:p>
            <a:r>
              <a:rPr lang="en-IN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(...)</a:t>
            </a: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/>
              </a:rPr>
              <a:t>	//statements for processing all exceptions</a:t>
            </a:r>
            <a:endParaRPr lang="en-IN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718956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66083" y="169107"/>
            <a:ext cx="67104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</a:rPr>
              <a:t>Catch All Exception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5672" y="1247268"/>
            <a:ext cx="670087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#include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&lt;</a:t>
            </a:r>
            <a:r>
              <a:rPr lang="en-IN" sz="2200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iostream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&gt;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using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namespace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std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test(</a:t>
            </a:r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x)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2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(x==0)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throw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x;</a:t>
            </a:r>
          </a:p>
          <a:p>
            <a:pPr lvl="2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(x==-1)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throw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'a'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2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(x==1)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throw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5.15;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(...)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"Caught an exception\n"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4580" y="1325939"/>
            <a:ext cx="2286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test(-1);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test(0);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test(1);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200" dirty="0"/>
          </a:p>
        </p:txBody>
      </p:sp>
      <p:sp>
        <p:nvSpPr>
          <p:cNvPr id="12" name="Rectangle 11"/>
          <p:cNvSpPr/>
          <p:nvPr/>
        </p:nvSpPr>
        <p:spPr>
          <a:xfrm>
            <a:off x="7076547" y="3747247"/>
            <a:ext cx="43713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Output:</a:t>
            </a:r>
          </a:p>
          <a:p>
            <a:r>
              <a:rPr lang="en-IN" sz="2400" dirty="0"/>
              <a:t>Caught an exception</a:t>
            </a:r>
          </a:p>
          <a:p>
            <a:r>
              <a:rPr lang="en-IN" sz="2400" dirty="0"/>
              <a:t>Caught an exception</a:t>
            </a:r>
          </a:p>
          <a:p>
            <a:r>
              <a:rPr lang="en-IN" sz="2400" dirty="0"/>
              <a:t>Caught an exception</a:t>
            </a:r>
          </a:p>
        </p:txBody>
      </p:sp>
    </p:spTree>
    <p:extLst>
      <p:ext uri="{BB962C8B-B14F-4D97-AF65-F5344CB8AC3E}">
        <p14:creationId xmlns:p14="http://schemas.microsoft.com/office/powerpoint/2010/main" val="400730418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66083" y="169107"/>
            <a:ext cx="67104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</a:rPr>
              <a:t>Re –Throwing Exception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4619" y="1919572"/>
            <a:ext cx="8820980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An exception is thrown from the catch block is known as the </a:t>
            </a:r>
            <a:r>
              <a:rPr lang="en-IN" sz="2400" b="1" dirty="0">
                <a:solidFill>
                  <a:srgbClr val="C00000"/>
                </a:solidFill>
              </a:rPr>
              <a:t>re-throwing</a:t>
            </a:r>
            <a:r>
              <a:rPr lang="en-IN" sz="2400" dirty="0"/>
              <a:t> exception.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/>
              <a:t>It can be simply invoked by </a:t>
            </a:r>
            <a:r>
              <a:rPr lang="en-IN" sz="2400" b="1" dirty="0">
                <a:solidFill>
                  <a:srgbClr val="C00000"/>
                </a:solidFill>
              </a:rPr>
              <a:t>throw</a:t>
            </a:r>
            <a:r>
              <a:rPr lang="en-IN" sz="2400" dirty="0"/>
              <a:t> without arguments.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IN" sz="2400" dirty="0" err="1"/>
              <a:t>Rethrown</a:t>
            </a:r>
            <a:r>
              <a:rPr lang="en-IN" sz="2400" dirty="0"/>
              <a:t> exception will be caught by </a:t>
            </a:r>
            <a:r>
              <a:rPr lang="en-IN" sz="2400" b="1" dirty="0">
                <a:solidFill>
                  <a:srgbClr val="C00000"/>
                </a:solidFill>
              </a:rPr>
              <a:t>newly defined catch statement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461787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57375" y="77743"/>
            <a:ext cx="67104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</a:rPr>
              <a:t>Re –Throwing Exception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375" y="1247268"/>
            <a:ext cx="554461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void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  <a:r>
              <a:rPr lang="fr-FR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divide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fr-FR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double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x, </a:t>
            </a:r>
            <a:r>
              <a:rPr lang="fr-FR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double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y)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if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(y==0) 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throw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y;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</a:t>
            </a:r>
            <a:r>
              <a:rPr lang="fr-FR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else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</a:t>
            </a:r>
          </a:p>
          <a:p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  cout&lt;&lt;</a:t>
            </a:r>
            <a:r>
              <a:rPr lang="fr-FR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"Division="</a:t>
            </a:r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&lt;&lt;x/y;</a:t>
            </a:r>
          </a:p>
          <a:p>
            <a:r>
              <a:rPr lang="fr-FR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double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)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{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"Exception inside function\n"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throw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}</a:t>
            </a:r>
          </a:p>
          <a:p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008765" y="1034845"/>
            <a:ext cx="4572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en-IN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int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main()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{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try</a:t>
            </a:r>
            <a:endParaRPr lang="en-IN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/>
            </a:endParaRP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{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divide(10.5,2.0);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divide(20.0,0.0);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}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catch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(</a:t>
            </a:r>
            <a:r>
              <a:rPr lang="en-IN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/>
              </a:rPr>
              <a:t>double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)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{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 </a:t>
            </a:r>
            <a:r>
              <a:rPr lang="en-IN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cout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&lt;&lt;</a:t>
            </a:r>
            <a:r>
              <a:rPr lang="en-IN" sz="22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/>
              </a:rPr>
              <a:t>"Exception inside main function"</a:t>
            </a:r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;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  }</a:t>
            </a:r>
          </a:p>
          <a:p>
            <a:pPr lvl="0"/>
            <a:r>
              <a:rPr lang="en-IN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/>
              </a:rPr>
              <a:t>}</a:t>
            </a:r>
            <a:endParaRPr lang="en-IN" sz="2200" dirty="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86325" y="5093772"/>
            <a:ext cx="4035115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IN" sz="2400" dirty="0"/>
              <a:t>Output:</a:t>
            </a:r>
          </a:p>
          <a:p>
            <a:r>
              <a:rPr lang="en-IN" sz="2400" dirty="0"/>
              <a:t>Division=5.25</a:t>
            </a:r>
          </a:p>
          <a:p>
            <a:r>
              <a:rPr lang="en-IN" sz="2400" dirty="0"/>
              <a:t>Exception inside function</a:t>
            </a:r>
          </a:p>
          <a:p>
            <a:r>
              <a:rPr lang="en-IN" sz="2400" dirty="0"/>
              <a:t>Exception inside main function</a:t>
            </a:r>
          </a:p>
        </p:txBody>
      </p:sp>
    </p:spTree>
    <p:extLst>
      <p:ext uri="{BB962C8B-B14F-4D97-AF65-F5344CB8AC3E}">
        <p14:creationId xmlns:p14="http://schemas.microsoft.com/office/powerpoint/2010/main" val="2648088402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66083" y="169107"/>
            <a:ext cx="67104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en-US" sz="2800" b="1" dirty="0">
                <a:solidFill>
                  <a:schemeClr val="accent1">
                    <a:lumMod val="75000"/>
                  </a:schemeClr>
                </a:solidFill>
              </a:rPr>
              <a:t>Exceptions thrown from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4149" y="771724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iostream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namespace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test(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cout&lt;&lt;</a:t>
            </a:r>
            <a:r>
              <a:rPr lang="fr-F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"Inside </a:t>
            </a:r>
            <a:r>
              <a:rPr lang="fr-FR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:"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&lt;&lt;x&lt;&lt;</a:t>
            </a:r>
            <a:r>
              <a:rPr lang="fr-F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 </a:t>
            </a:r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"Start"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test(0);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test(1);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test(2);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   </a:t>
            </a:r>
          </a:p>
          <a:p>
            <a:r>
              <a:rPr lang="en-IN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x)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"Caught an </a:t>
            </a:r>
            <a:r>
              <a:rPr lang="en-IN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exception:"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 x&lt;&lt;</a:t>
            </a:r>
            <a:r>
              <a:rPr lang="en-IN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092084"/>
      </p:ext>
    </p:extLst>
  </p:cSld>
  <p:clrMapOvr>
    <a:masterClrMapping/>
  </p:clrMapOvr>
  <p:transition>
    <p:pull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STL (Standard Template Library) 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52055" y="1247268"/>
            <a:ext cx="10660380" cy="5334000"/>
          </a:xfrm>
        </p:spPr>
        <p:txBody>
          <a:bodyPr/>
          <a:lstStyle/>
          <a:p>
            <a:pPr algn="just"/>
            <a:r>
              <a:rPr lang="en-IN" dirty="0"/>
              <a:t>The C++ </a:t>
            </a:r>
            <a:r>
              <a:rPr lang="en-IN" b="1" dirty="0">
                <a:solidFill>
                  <a:srgbClr val="C00000"/>
                </a:solidFill>
              </a:rPr>
              <a:t>STL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(Standard Template Library) is a powerful set of C++ template classes to provides general-purpose </a:t>
            </a:r>
            <a:r>
              <a:rPr lang="en-IN" dirty="0" err="1"/>
              <a:t>templatized</a:t>
            </a:r>
            <a:r>
              <a:rPr lang="en-IN" dirty="0"/>
              <a:t> classes and functions that implement many popular and commonly used algorithms and data structures like vectors, lists, queues, and stacks.</a:t>
            </a:r>
          </a:p>
          <a:p>
            <a:pPr algn="just"/>
            <a:r>
              <a:rPr lang="en-IN" dirty="0"/>
              <a:t>There are three core components of STL as follows: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IN" sz="2400" dirty="0"/>
              <a:t>Containers (an object to store data)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IN" sz="2400" dirty="0"/>
              <a:t>Algorithms (procedure to process data)</a:t>
            </a:r>
          </a:p>
          <a:p>
            <a:pPr marL="857250" lvl="1" indent="-457200" algn="just">
              <a:buFont typeface="+mj-lt"/>
              <a:buAutoNum type="arabicPeriod"/>
            </a:pPr>
            <a:r>
              <a:rPr lang="en-IN" sz="2400" dirty="0"/>
              <a:t>Iterators (pointer object to point elements in container)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7497345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STL -Containers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226820" y="1247268"/>
            <a:ext cx="8763000" cy="1466292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IN" dirty="0"/>
              <a:t>A </a:t>
            </a:r>
            <a:r>
              <a:rPr lang="en-IN" b="1" dirty="0">
                <a:solidFill>
                  <a:srgbClr val="C00000"/>
                </a:solidFill>
              </a:rPr>
              <a:t>container</a:t>
            </a:r>
            <a:r>
              <a:rPr lang="en-IN" dirty="0"/>
              <a:t> is an object the actually stores data.</a:t>
            </a:r>
          </a:p>
          <a:p>
            <a:pPr algn="just"/>
            <a:r>
              <a:rPr lang="en-IN" dirty="0"/>
              <a:t>The STL containers can be implemented by </a:t>
            </a:r>
            <a:r>
              <a:rPr lang="en-IN" b="1" dirty="0">
                <a:solidFill>
                  <a:srgbClr val="C00000"/>
                </a:solidFill>
              </a:rPr>
              <a:t>class templates</a:t>
            </a:r>
            <a:r>
              <a:rPr lang="en-IN" dirty="0"/>
              <a:t> to hold different data types. 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212" y="2939456"/>
            <a:ext cx="1440160" cy="43204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Containers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43924" y="4286507"/>
            <a:ext cx="1440160" cy="114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deque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212" y="4284070"/>
            <a:ext cx="1440160" cy="1147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multimap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7214570" y="4287660"/>
            <a:ext cx="1440160" cy="1147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Priority-queue</a:t>
            </a:r>
          </a:p>
        </p:txBody>
      </p:sp>
      <p:cxnSp>
        <p:nvCxnSpPr>
          <p:cNvPr id="13" name="Elbow Connector 12"/>
          <p:cNvCxnSpPr>
            <a:stCxn id="9" idx="1"/>
          </p:cNvCxnSpPr>
          <p:nvPr/>
        </p:nvCxnSpPr>
        <p:spPr>
          <a:xfrm rot="10800000" flipV="1">
            <a:off x="2764004" y="3155479"/>
            <a:ext cx="1872208" cy="705091"/>
          </a:xfrm>
          <a:prstGeom prst="bentConnector2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9" idx="3"/>
          </p:cNvCxnSpPr>
          <p:nvPr/>
        </p:nvCxnSpPr>
        <p:spPr>
          <a:xfrm>
            <a:off x="6076372" y="3155480"/>
            <a:ext cx="1858278" cy="705091"/>
          </a:xfrm>
          <a:prstGeom prst="bentConnector2">
            <a:avLst/>
          </a:prstGeom>
          <a:ln w="19050"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584871" y="5737689"/>
            <a:ext cx="2358263" cy="61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Store elements in linear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7292" y="5731662"/>
            <a:ext cx="2358000" cy="61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Direct access to elements using keys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5650" y="5731662"/>
            <a:ext cx="2358000" cy="6120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Derived from sequence containers</a:t>
            </a:r>
          </a:p>
        </p:txBody>
      </p:sp>
    </p:spTree>
    <p:extLst>
      <p:ext uri="{BB962C8B-B14F-4D97-AF65-F5344CB8AC3E}">
        <p14:creationId xmlns:p14="http://schemas.microsoft.com/office/powerpoint/2010/main" val="213074988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STL -Algorithms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373379" y="1075360"/>
            <a:ext cx="10982597" cy="189834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IN" dirty="0"/>
              <a:t>It is a procedure that is </a:t>
            </a:r>
            <a:r>
              <a:rPr lang="en-IN" b="1" dirty="0">
                <a:solidFill>
                  <a:srgbClr val="C00000"/>
                </a:solidFill>
              </a:rPr>
              <a:t>used to process data </a:t>
            </a:r>
            <a:r>
              <a:rPr lang="en-IN" dirty="0"/>
              <a:t>contained in containers.</a:t>
            </a:r>
          </a:p>
          <a:p>
            <a:pPr algn="just"/>
            <a:r>
              <a:rPr lang="en-IN" dirty="0"/>
              <a:t>It includes algorithms that are used for initializing, searching, copying, sorting and merging.</a:t>
            </a:r>
          </a:p>
        </p:txBody>
      </p:sp>
      <p:sp>
        <p:nvSpPr>
          <p:cNvPr id="19" name="Content Placeholder 2"/>
          <p:cNvSpPr txBox="1"/>
          <p:nvPr/>
        </p:nvSpPr>
        <p:spPr>
          <a:xfrm>
            <a:off x="617220" y="3123559"/>
            <a:ext cx="10738756" cy="33441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solidFill>
                  <a:srgbClr val="C00000"/>
                </a:solidFill>
              </a:rPr>
              <a:t>Mutating Sequence Algorithms</a:t>
            </a:r>
            <a:r>
              <a:rPr lang="en-US" altLang="en-US" dirty="0"/>
              <a:t> </a:t>
            </a:r>
            <a:endParaRPr lang="en-US" altLang="en-US" dirty="0">
              <a:solidFill>
                <a:srgbClr val="C0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>
                <a:solidFill>
                  <a:srgbClr val="C00000"/>
                </a:solidFill>
              </a:rPr>
              <a:t>		</a:t>
            </a:r>
            <a:r>
              <a:rPr lang="en-US" altLang="en-US" dirty="0"/>
              <a:t>like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copy(), remove(), replace(), fill(), swap(), etc.,</a:t>
            </a:r>
          </a:p>
          <a:p>
            <a:r>
              <a:rPr lang="en-US" altLang="en-US" dirty="0">
                <a:solidFill>
                  <a:srgbClr val="C00000"/>
                </a:solidFill>
              </a:rPr>
              <a:t>Non Modifying sequence Algorithms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		like find(), count(),search(), mismatch(), and equal()</a:t>
            </a:r>
          </a:p>
          <a:p>
            <a:r>
              <a:rPr lang="en-US" altLang="en-US" dirty="0">
                <a:solidFill>
                  <a:srgbClr val="C00000"/>
                </a:solidFill>
              </a:rPr>
              <a:t>Numerical Algorithms</a:t>
            </a:r>
          </a:p>
          <a:p>
            <a:pPr marL="900430" indent="-900430">
              <a:buFont typeface="Wingdings 2" panose="05020102010507070707" pitchFamily="18" charset="2"/>
              <a:buNone/>
            </a:pPr>
            <a:r>
              <a:rPr lang="en-US" altLang="en-US" dirty="0">
                <a:solidFill>
                  <a:srgbClr val="C00000"/>
                </a:solidFill>
              </a:rPr>
              <a:t>		</a:t>
            </a:r>
            <a:r>
              <a:rPr lang="en-US" altLang="en-US" dirty="0"/>
              <a:t>accumulate(), </a:t>
            </a:r>
            <a:r>
              <a:rPr lang="en-US" altLang="en-US" dirty="0" err="1"/>
              <a:t>partial_sum</a:t>
            </a:r>
            <a:r>
              <a:rPr lang="en-US" altLang="en-US" dirty="0"/>
              <a:t>(), </a:t>
            </a:r>
            <a:r>
              <a:rPr lang="en-US" altLang="en-US" dirty="0" err="1"/>
              <a:t>inner_product</a:t>
            </a:r>
            <a:r>
              <a:rPr lang="en-US" altLang="en-US" dirty="0"/>
              <a:t>(), and </a:t>
            </a:r>
            <a:r>
              <a:rPr lang="en-US" altLang="en-US" dirty="0" err="1"/>
              <a:t>adjacent_difference</a:t>
            </a:r>
            <a:r>
              <a:rPr lang="en-US" alt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17580032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STL -Iterators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895894" y="1495697"/>
            <a:ext cx="8763000" cy="161030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just"/>
            <a:r>
              <a:rPr lang="en-IN" dirty="0"/>
              <a:t>Iterators behave like </a:t>
            </a:r>
            <a:r>
              <a:rPr lang="en-IN" b="1" dirty="0">
                <a:solidFill>
                  <a:srgbClr val="C00000"/>
                </a:solidFill>
              </a:rPr>
              <a:t>pointers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Iterators are used to </a:t>
            </a:r>
            <a:r>
              <a:rPr lang="en-IN" b="1" dirty="0">
                <a:solidFill>
                  <a:srgbClr val="C00000"/>
                </a:solidFill>
              </a:rPr>
              <a:t>access container elements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They are used to traverse from one element to another.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602" y="3898093"/>
            <a:ext cx="8639584" cy="248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38395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84175" y="-78740"/>
            <a:ext cx="10515600" cy="1325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C++ Standard Exceptions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8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5573" r="6560"/>
          <a:stretch>
            <a:fillRect/>
          </a:stretch>
        </p:blipFill>
        <p:spPr>
          <a:xfrm>
            <a:off x="463550" y="2005330"/>
            <a:ext cx="6826250" cy="43942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289800" y="1925955"/>
            <a:ext cx="4064000" cy="3733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The C++ library has some built-in standard exceptions under the &lt;exception&gt; header which can be used in our program.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/>
              <a:t>The standard exceptions are arranged in a parent-child class hierarchy.</a:t>
            </a:r>
          </a:p>
        </p:txBody>
      </p:sp>
    </p:spTree>
  </p:cSld>
  <p:clrMapOvr>
    <a:masterClrMapping/>
  </p:clrMapOvr>
  <p:transition>
    <p:pull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C++ Exception Classes</a:t>
            </a:r>
            <a:endParaRPr kumimoji="0" lang="en-US" altLang="en-US" sz="32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47040" y="1905000"/>
          <a:ext cx="10965815" cy="479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class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2000"/>
                        <a:t>std::exception</a:t>
                      </a:r>
                      <a:r>
                        <a:rPr lang="en-US" altLang="en-US" sz="240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std::exception is the parent class of all the standard C++ exceptions. So, it contains declarations and definitions of other exceptions.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std::bad_alloc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std::bad_alloc is the type of exception thrown by the allocation functions to report failure to allocate storage.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std::bad_cast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std::bad_cast is the type of exception thrown when a dynamic_cast to a reference type fails the run-time check.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std::bad_exception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std::bad_exception is used to handle unexpected exceptions in a C++ program.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std::bad_typeid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std::bad_typeid is the type of exception thrown when a typeid operator is applied to a dereferenced null pointer value of a polymorphic type.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std::logic_error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std::logic_error exception is the type of exception that can be theoretically detected by reading the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std::domain_error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std::domain_error is the type of exception thrown when a mathematically invalid domain is used.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d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488003" y="312733"/>
            <a:ext cx="671046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4A2B9"/>
                </a:solidFill>
                <a:latin typeface="Corbel" panose="020B0503020204020204" pitchFamily="34" charset="0"/>
              </a:rPr>
              <a:t>Department of Computer Engineering</a:t>
            </a:r>
            <a:endParaRPr lang="en-IN" sz="2400" dirty="0">
              <a:latin typeface="Corbel" panose="020B0503020204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4149" y="1247268"/>
            <a:ext cx="11352179" cy="49582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sym typeface="+mn-ea"/>
              </a:rPr>
              <a:t>C++ Exception Classes</a:t>
            </a:r>
            <a:endParaRPr kumimoji="0" lang="en-US" altLang="en-US" sz="32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  <a:p>
            <a:pPr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cs typeface="Calibri" panose="020F0502020204030204" charset="0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47040" y="1905000"/>
          <a:ext cx="10965815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1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3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/>
                        <a:t>class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/>
                        <a:t>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std::invalid_argument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std::invalid_argument is the type of exception thrown due to invalid arguments.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std::length_error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std::length_error is the type of exception thrown when a too big std::string is created.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std::out_of_range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std::out_of_range is the type of exception that report errors when we are trying to access elements which is outside of the defined range.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std::runtime_error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std::runtime_error exception is the type of exception that theoretically cannot be detected by reading the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std::overflow_error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std::overflow_error exception is the type of exception thrown if a mathematical overflow occurs.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std::underflow_error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std::underflow_error exception is the type of exception thrown if a mathematical underflow occurs.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std::range_error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std::range_error is the type of exception thrown if a mathematical underflow occurs.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pull dir="d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pull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3*353"/>
  <p:tag name="TABLE_ENDDRAG_RECT" val="35*150*863*3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3*353"/>
  <p:tag name="TABLE_ENDDRAG_RECT" val="35*150*863*35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4065</Words>
  <Application>Microsoft Office PowerPoint</Application>
  <PresentationFormat>Widescreen</PresentationFormat>
  <Paragraphs>733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Arial</vt:lpstr>
      <vt:lpstr>Calibri</vt:lpstr>
      <vt:lpstr>Calibri Light</vt:lpstr>
      <vt:lpstr>Consolas</vt:lpstr>
      <vt:lpstr>Corbel</vt:lpstr>
      <vt:lpstr>Open Sans</vt:lpstr>
      <vt:lpstr>Times New Roman</vt:lpstr>
      <vt:lpstr>Wingdings</vt:lpstr>
      <vt:lpstr>Wingdings 2</vt:lpstr>
      <vt:lpstr>Office Theme</vt:lpstr>
      <vt:lpstr>1_Office Theme</vt:lpstr>
      <vt:lpstr>2_Office Theme</vt:lpstr>
      <vt:lpstr>3_Office Theme</vt:lpstr>
      <vt:lpstr>4_Office Theme</vt:lpstr>
      <vt:lpstr>5_Office Theme</vt:lpstr>
      <vt:lpstr>Department of Computer Engineering</vt:lpstr>
      <vt:lpstr>Department of Computer Engineering</vt:lpstr>
      <vt:lpstr>Department of Computer Engineering</vt:lpstr>
      <vt:lpstr>Need of Templates</vt:lpstr>
      <vt:lpstr>Function Template</vt:lpstr>
      <vt:lpstr>Function Template</vt:lpstr>
      <vt:lpstr>Department of Computer Engineering</vt:lpstr>
      <vt:lpstr>Department of Computer Engineering</vt:lpstr>
      <vt:lpstr>Largest of Two numbers using Function Template</vt:lpstr>
      <vt:lpstr>Largest of Two numbers using Function Template</vt:lpstr>
      <vt:lpstr>Swap of Two numbers using Function Template</vt:lpstr>
      <vt:lpstr>Swap of Two numbers using Function Template</vt:lpstr>
      <vt:lpstr>Department of Computer Engineering</vt:lpstr>
      <vt:lpstr>Department of Computer Engineering</vt:lpstr>
      <vt:lpstr>Object of template class</vt:lpstr>
      <vt:lpstr>PowerPoint Presentation</vt:lpstr>
      <vt:lpstr>Calculator using Class Template</vt:lpstr>
      <vt:lpstr>Calculator using Class Template</vt:lpstr>
      <vt:lpstr>Overloading function templates</vt:lpstr>
      <vt:lpstr>Overloading function templates</vt:lpstr>
      <vt:lpstr>Inheritance and templates</vt:lpstr>
      <vt:lpstr>Template and Friend Function</vt:lpstr>
      <vt:lpstr>Exception Handling – Introduction</vt:lpstr>
      <vt:lpstr>Exception Handling</vt:lpstr>
      <vt:lpstr>Department of Computer Engineering</vt:lpstr>
      <vt:lpstr>Department of Computer Engineering</vt:lpstr>
      <vt:lpstr>Department of Computer Engineering</vt:lpstr>
      <vt:lpstr>Exception-Example</vt:lpstr>
      <vt:lpstr>Why Exception Handling?</vt:lpstr>
      <vt:lpstr>Try, Throw and Catch</vt:lpstr>
      <vt:lpstr>Try-Catch Example</vt:lpstr>
      <vt:lpstr>Exception Handling - Example </vt:lpstr>
      <vt:lpstr>Exception Handling - Example </vt:lpstr>
      <vt:lpstr>Multiple Catch -Example</vt:lpstr>
      <vt:lpstr>Catch All Exception</vt:lpstr>
      <vt:lpstr>Catch All Exception</vt:lpstr>
      <vt:lpstr>Re –Throwing Exception</vt:lpstr>
      <vt:lpstr>Re –Throwing Exception</vt:lpstr>
      <vt:lpstr>Exceptions thrown from functions</vt:lpstr>
      <vt:lpstr>STL (Standard Template Library) </vt:lpstr>
      <vt:lpstr>STL -Containers</vt:lpstr>
      <vt:lpstr>STL -Algorithms</vt:lpstr>
      <vt:lpstr>STL -Iterators</vt:lpstr>
      <vt:lpstr>Department of Computer Engineering</vt:lpstr>
      <vt:lpstr>Department of Computer Engineering</vt:lpstr>
      <vt:lpstr>Department of Computer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Ayush Gour</cp:lastModifiedBy>
  <cp:revision>67</cp:revision>
  <dcterms:created xsi:type="dcterms:W3CDTF">2023-12-05T07:58:00Z</dcterms:created>
  <dcterms:modified xsi:type="dcterms:W3CDTF">2025-04-15T11:22:02Z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41DD12E7DADC4F8B8DBF649B29A0C808_13</vt:lpwstr>
  </property>
  <property fmtid="{D5CDD505-2E9C-101B-9397-08002B2CF9AE}" pid="3" name="KSOProductBuildVer">
    <vt:lpwstr>1033-12.2.0.20755</vt:lpwstr>
  </property>
</Properties>
</file>
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 id="2147483672" r:id="rId3"/>
  </p:sldMasterIdLst>
  <p:notesMasterIdLst>
    <p:notesMasterId r:id="rId116"/>
  </p:notesMasterIdLst>
  <p:sldIdLst>
    <p:sldId id="265" r:id="rId4"/>
    <p:sldId id="296" r:id="rId5"/>
    <p:sldId id="370" r:id="rId6"/>
    <p:sldId id="371" r:id="rId7"/>
    <p:sldId id="372" r:id="rId8"/>
    <p:sldId id="374" r:id="rId9"/>
    <p:sldId id="375" r:id="rId10"/>
    <p:sldId id="369" r:id="rId11"/>
    <p:sldId id="376" r:id="rId12"/>
    <p:sldId id="380" r:id="rId13"/>
    <p:sldId id="427" r:id="rId14"/>
    <p:sldId id="428" r:id="rId15"/>
    <p:sldId id="429" r:id="rId16"/>
    <p:sldId id="430" r:id="rId17"/>
    <p:sldId id="431" r:id="rId18"/>
    <p:sldId id="432" r:id="rId19"/>
    <p:sldId id="433" r:id="rId20"/>
    <p:sldId id="426" r:id="rId21"/>
    <p:sldId id="421" r:id="rId22"/>
    <p:sldId id="422" r:id="rId23"/>
    <p:sldId id="423" r:id="rId24"/>
    <p:sldId id="424" r:id="rId25"/>
    <p:sldId id="425" r:id="rId26"/>
    <p:sldId id="458" r:id="rId27"/>
    <p:sldId id="459" r:id="rId28"/>
    <p:sldId id="460" r:id="rId29"/>
    <p:sldId id="461" r:id="rId30"/>
    <p:sldId id="420" r:id="rId31"/>
    <p:sldId id="381" r:id="rId32"/>
    <p:sldId id="382" r:id="rId33"/>
    <p:sldId id="383" r:id="rId34"/>
    <p:sldId id="384" r:id="rId35"/>
    <p:sldId id="378" r:id="rId36"/>
    <p:sldId id="379" r:id="rId37"/>
    <p:sldId id="387" r:id="rId38"/>
    <p:sldId id="388" r:id="rId39"/>
    <p:sldId id="389" r:id="rId40"/>
    <p:sldId id="390" r:id="rId41"/>
    <p:sldId id="386" r:id="rId42"/>
    <p:sldId id="391" r:id="rId43"/>
    <p:sldId id="385" r:id="rId44"/>
    <p:sldId id="392" r:id="rId45"/>
    <p:sldId id="393" r:id="rId46"/>
    <p:sldId id="394" r:id="rId47"/>
    <p:sldId id="396" r:id="rId48"/>
    <p:sldId id="395" r:id="rId49"/>
    <p:sldId id="397" r:id="rId50"/>
    <p:sldId id="398" r:id="rId51"/>
    <p:sldId id="399" r:id="rId52"/>
    <p:sldId id="400" r:id="rId53"/>
    <p:sldId id="401" r:id="rId54"/>
    <p:sldId id="402" r:id="rId55"/>
    <p:sldId id="403" r:id="rId56"/>
    <p:sldId id="404" r:id="rId57"/>
    <p:sldId id="405" r:id="rId58"/>
    <p:sldId id="406" r:id="rId59"/>
    <p:sldId id="407" r:id="rId60"/>
    <p:sldId id="408" r:id="rId61"/>
    <p:sldId id="409" r:id="rId62"/>
    <p:sldId id="418" r:id="rId63"/>
    <p:sldId id="377" r:id="rId64"/>
    <p:sldId id="416" r:id="rId65"/>
    <p:sldId id="417" r:id="rId66"/>
    <p:sldId id="419" r:id="rId67"/>
    <p:sldId id="412" r:id="rId68"/>
    <p:sldId id="413" r:id="rId69"/>
    <p:sldId id="434" r:id="rId70"/>
    <p:sldId id="415" r:id="rId71"/>
    <p:sldId id="435" r:id="rId72"/>
    <p:sldId id="414" r:id="rId73"/>
    <p:sldId id="455" r:id="rId74"/>
    <p:sldId id="454" r:id="rId75"/>
    <p:sldId id="456" r:id="rId76"/>
    <p:sldId id="453" r:id="rId77"/>
    <p:sldId id="436" r:id="rId78"/>
    <p:sldId id="437" r:id="rId79"/>
    <p:sldId id="411" r:id="rId80"/>
    <p:sldId id="438" r:id="rId81"/>
    <p:sldId id="443" r:id="rId82"/>
    <p:sldId id="439" r:id="rId83"/>
    <p:sldId id="440" r:id="rId84"/>
    <p:sldId id="441" r:id="rId85"/>
    <p:sldId id="442" r:id="rId86"/>
    <p:sldId id="444" r:id="rId87"/>
    <p:sldId id="445" r:id="rId88"/>
    <p:sldId id="446" r:id="rId89"/>
    <p:sldId id="470" r:id="rId90"/>
    <p:sldId id="472" r:id="rId91"/>
    <p:sldId id="471" r:id="rId92"/>
    <p:sldId id="473" r:id="rId93"/>
    <p:sldId id="474" r:id="rId94"/>
    <p:sldId id="475" r:id="rId95"/>
    <p:sldId id="476" r:id="rId96"/>
    <p:sldId id="477" r:id="rId97"/>
    <p:sldId id="478" r:id="rId98"/>
    <p:sldId id="479" r:id="rId99"/>
    <p:sldId id="447" r:id="rId100"/>
    <p:sldId id="448" r:id="rId101"/>
    <p:sldId id="449" r:id="rId102"/>
    <p:sldId id="450" r:id="rId103"/>
    <p:sldId id="451" r:id="rId104"/>
    <p:sldId id="452" r:id="rId105"/>
    <p:sldId id="462" r:id="rId106"/>
    <p:sldId id="463" r:id="rId107"/>
    <p:sldId id="469" r:id="rId108"/>
    <p:sldId id="464" r:id="rId109"/>
    <p:sldId id="465" r:id="rId110"/>
    <p:sldId id="480" r:id="rId111"/>
    <p:sldId id="466" r:id="rId112"/>
    <p:sldId id="467" r:id="rId113"/>
    <p:sldId id="468" r:id="rId114"/>
    <p:sldId id="410" r:id="rId115"/>
  </p:sldIdLst>
  <p:sldSz cx="9144000" cy="5143500" type="screen16x9"/>
  <p:notesSz cx="6858000" cy="9144000"/>
  <p:embeddedFontLst>
    <p:embeddedFont>
      <p:font typeface="Calibri Light" panose="020F0302020204030204" pitchFamily="34" charset="0"/>
      <p:regular r:id="rId117"/>
      <p:italic r:id="rId118"/>
    </p:embeddedFont>
    <p:embeddedFont>
      <p:font typeface="Nunito" panose="020B0604020202020204" charset="0"/>
      <p:regular r:id="rId119"/>
      <p:bold r:id="rId120"/>
      <p:italic r:id="rId121"/>
      <p:boldItalic r:id="rId122"/>
    </p:embeddedFont>
    <p:embeddedFont>
      <p:font typeface="Microsoft Sans Serif" panose="020B0604020202020204" pitchFamily="34" charset="0"/>
      <p:regular r:id="rId123"/>
    </p:embeddedFont>
    <p:embeddedFont>
      <p:font typeface="Trebuchet MS" panose="020B0603020202020204" pitchFamily="34" charset="0"/>
      <p:regular r:id="rId124"/>
      <p:bold r:id="rId125"/>
      <p:italic r:id="rId126"/>
      <p:boldItalic r:id="rId127"/>
    </p:embeddedFont>
    <p:embeddedFont>
      <p:font typeface="Helvetica" panose="020B0604020202020204" pitchFamily="34" charset="0"/>
      <p:regular r:id="rId128"/>
      <p:bold r:id="rId129"/>
      <p:italic r:id="rId130"/>
      <p:boldItalic r:id="rId131"/>
    </p:embeddedFont>
    <p:embeddedFont>
      <p:font typeface="Segoe UI" panose="020B0502040204020203" pitchFamily="34" charset="0"/>
      <p:regular r:id="rId132"/>
      <p:bold r:id="rId133"/>
      <p:italic r:id="rId134"/>
      <p:boldItalic r:id="rId135"/>
    </p:embeddedFont>
    <p:embeddedFont>
      <p:font typeface="Calibri" panose="020F0502020204030204" pitchFamily="34" charset="0"/>
      <p:regular r:id="rId136"/>
      <p:bold r:id="rId137"/>
      <p:italic r:id="rId138"/>
      <p:boldItalic r:id="rId139"/>
    </p:embeddedFont>
    <p:embeddedFont>
      <p:font typeface="Corbel" panose="020B0503020204020204" pitchFamily="34" charset="0"/>
      <p:regular r:id="rId140"/>
      <p:bold r:id="rId141"/>
      <p:italic r:id="rId142"/>
      <p:boldItalic r:id="rId1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9257637-AC84-4EF8-87B3-EC1754E696D8}">
          <p14:sldIdLst>
            <p14:sldId id="265"/>
            <p14:sldId id="296"/>
            <p14:sldId id="370"/>
            <p14:sldId id="371"/>
            <p14:sldId id="372"/>
            <p14:sldId id="374"/>
            <p14:sldId id="375"/>
            <p14:sldId id="369"/>
            <p14:sldId id="376"/>
            <p14:sldId id="380"/>
            <p14:sldId id="427"/>
            <p14:sldId id="428"/>
            <p14:sldId id="429"/>
            <p14:sldId id="430"/>
            <p14:sldId id="431"/>
            <p14:sldId id="432"/>
            <p14:sldId id="433"/>
            <p14:sldId id="426"/>
            <p14:sldId id="421"/>
            <p14:sldId id="422"/>
            <p14:sldId id="423"/>
            <p14:sldId id="424"/>
            <p14:sldId id="425"/>
            <p14:sldId id="458"/>
            <p14:sldId id="459"/>
            <p14:sldId id="460"/>
            <p14:sldId id="461"/>
            <p14:sldId id="420"/>
            <p14:sldId id="381"/>
            <p14:sldId id="382"/>
            <p14:sldId id="383"/>
            <p14:sldId id="384"/>
            <p14:sldId id="378"/>
            <p14:sldId id="379"/>
            <p14:sldId id="387"/>
            <p14:sldId id="388"/>
            <p14:sldId id="389"/>
            <p14:sldId id="390"/>
            <p14:sldId id="386"/>
            <p14:sldId id="391"/>
            <p14:sldId id="385"/>
            <p14:sldId id="392"/>
            <p14:sldId id="393"/>
            <p14:sldId id="394"/>
            <p14:sldId id="396"/>
            <p14:sldId id="395"/>
            <p14:sldId id="397"/>
            <p14:sldId id="398"/>
            <p14:sldId id="399"/>
            <p14:sldId id="400"/>
            <p14:sldId id="401"/>
            <p14:sldId id="402"/>
            <p14:sldId id="403"/>
            <p14:sldId id="404"/>
            <p14:sldId id="405"/>
            <p14:sldId id="406"/>
            <p14:sldId id="407"/>
            <p14:sldId id="408"/>
            <p14:sldId id="409"/>
            <p14:sldId id="418"/>
            <p14:sldId id="377"/>
            <p14:sldId id="416"/>
            <p14:sldId id="417"/>
            <p14:sldId id="419"/>
            <p14:sldId id="412"/>
            <p14:sldId id="413"/>
            <p14:sldId id="434"/>
            <p14:sldId id="415"/>
            <p14:sldId id="435"/>
            <p14:sldId id="414"/>
            <p14:sldId id="455"/>
            <p14:sldId id="454"/>
            <p14:sldId id="456"/>
            <p14:sldId id="453"/>
            <p14:sldId id="436"/>
            <p14:sldId id="437"/>
            <p14:sldId id="411"/>
            <p14:sldId id="438"/>
            <p14:sldId id="443"/>
            <p14:sldId id="439"/>
            <p14:sldId id="440"/>
            <p14:sldId id="441"/>
            <p14:sldId id="442"/>
            <p14:sldId id="444"/>
            <p14:sldId id="445"/>
            <p14:sldId id="446"/>
            <p14:sldId id="470"/>
            <p14:sldId id="472"/>
            <p14:sldId id="471"/>
            <p14:sldId id="473"/>
            <p14:sldId id="474"/>
            <p14:sldId id="475"/>
            <p14:sldId id="476"/>
            <p14:sldId id="477"/>
            <p14:sldId id="478"/>
            <p14:sldId id="479"/>
            <p14:sldId id="447"/>
            <p14:sldId id="448"/>
            <p14:sldId id="449"/>
            <p14:sldId id="450"/>
            <p14:sldId id="451"/>
            <p14:sldId id="452"/>
            <p14:sldId id="462"/>
            <p14:sldId id="463"/>
            <p14:sldId id="469"/>
            <p14:sldId id="464"/>
            <p14:sldId id="465"/>
            <p14:sldId id="480"/>
            <p14:sldId id="466"/>
            <p14:sldId id="467"/>
            <p14:sldId id="468"/>
            <p14:sldId id="410"/>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B6D"/>
    <a:srgbClr val="EB25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49" autoAdjust="0"/>
    <p:restoredTop sz="94660" autoAdjust="0"/>
  </p:normalViewPr>
  <p:slideViewPr>
    <p:cSldViewPr snapToGrid="0">
      <p:cViewPr varScale="1">
        <p:scale>
          <a:sx n="98" d="100"/>
          <a:sy n="98" d="100"/>
        </p:scale>
        <p:origin x="556" y="60"/>
      </p:cViewPr>
      <p:guideLst>
        <p:guide orient="horz" pos="1620"/>
        <p:guide pos="2880"/>
      </p:guideLst>
    </p:cSldViewPr>
  </p:slideViewPr>
  <p:outlineViewPr>
    <p:cViewPr>
      <p:scale>
        <a:sx n="33" d="100"/>
        <a:sy n="33" d="100"/>
      </p:scale>
      <p:origin x="0" y="-168"/>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1.fntdata"/><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font" Target="fonts/font22.fntdata"/><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font" Target="fonts/font12.fntdata"/><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font" Target="fonts/font2.fntdata"/><Relationship Id="rId134" Type="http://schemas.openxmlformats.org/officeDocument/2006/relationships/font" Target="fonts/font18.fntdata"/><Relationship Id="rId139" Type="http://schemas.openxmlformats.org/officeDocument/2006/relationships/font" Target="fonts/font23.fntdata"/><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font" Target="fonts/font8.fntdata"/><Relationship Id="rId129" Type="http://schemas.openxmlformats.org/officeDocument/2006/relationships/font" Target="fonts/font13.fntdata"/><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font" Target="fonts/font24.fntdata"/><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font" Target="fonts/font3.fntdata"/><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font" Target="fonts/font14.fntdata"/><Relationship Id="rId135" Type="http://schemas.openxmlformats.org/officeDocument/2006/relationships/font" Target="fonts/font19.fntdata"/><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font" Target="fonts/font4.fntdata"/><Relationship Id="rId125" Type="http://schemas.openxmlformats.org/officeDocument/2006/relationships/font" Target="fonts/font9.fntdata"/><Relationship Id="rId141" Type="http://schemas.openxmlformats.org/officeDocument/2006/relationships/font" Target="fonts/font25.fntdata"/><Relationship Id="rId14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font" Target="fonts/font15.fntdata"/><Relationship Id="rId136" Type="http://schemas.openxmlformats.org/officeDocument/2006/relationships/font" Target="fonts/font20.fntdata"/><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font" Target="fonts/font10.fntdata"/><Relationship Id="rId14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font" Target="fonts/font5.fntdata"/><Relationship Id="rId142" Type="http://schemas.openxmlformats.org/officeDocument/2006/relationships/font" Target="fonts/font26.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notesMaster" Target="notesMasters/notesMaster1.xml"/><Relationship Id="rId137" Type="http://schemas.openxmlformats.org/officeDocument/2006/relationships/font" Target="fonts/font21.fntdata"/><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font" Target="fonts/font16.fntdata"/><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font" Target="fonts/font11.fntdata"/><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font" Target="fonts/font6.fntdata"/><Relationship Id="rId143" Type="http://schemas.openxmlformats.org/officeDocument/2006/relationships/font" Target="fonts/font27.fntdata"/><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font" Target="fonts/font17.fntdata"/><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font" Target="fonts/font7.fntdata"/><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873703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72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824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7029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0757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3184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7932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1333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5877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5125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618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080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9385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9435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01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1168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795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609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2049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43182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7261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1488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6571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5260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7703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5342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6709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7682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83044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36408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6293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18482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62565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041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61460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8493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86828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02198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02089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7450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64466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04136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79070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73967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2667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8044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11663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40744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44628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56101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6546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58244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7507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76157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77971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1021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41058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87077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8179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73131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36873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3953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92748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63073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18142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22904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16090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9285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43682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86908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299017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3878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84050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50598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91823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284283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28312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5273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2495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35984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95403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433541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779521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27232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86841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131186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368382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054970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21265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38189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375683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125406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9107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199524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46484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863977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16361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540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514854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884736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17108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787437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661028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63640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62045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277573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977542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6642FBCC-AEA9-696A-68FA-9EDA5977CCEE}"/>
            </a:ext>
          </a:extLst>
        </p:cNvPr>
        <p:cNvGrpSpPr/>
        <p:nvPr/>
      </p:nvGrpSpPr>
      <p:grpSpPr>
        <a:xfrm>
          <a:off x="0" y="0"/>
          <a:ext cx="0" cy="0"/>
          <a:chOff x="0" y="0"/>
          <a:chExt cx="0" cy="0"/>
        </a:xfrm>
      </p:grpSpPr>
      <p:sp>
        <p:nvSpPr>
          <p:cNvPr id="91" name="Google Shape;91;gb6c834fc22_0_64:notes">
            <a:extLst>
              <a:ext uri="{FF2B5EF4-FFF2-40B4-BE49-F238E27FC236}">
                <a16:creationId xmlns:a16="http://schemas.microsoft.com/office/drawing/2014/main" id="{EFB592F4-089A-2094-BA4E-555BA046D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a:extLst>
              <a:ext uri="{FF2B5EF4-FFF2-40B4-BE49-F238E27FC236}">
                <a16:creationId xmlns:a16="http://schemas.microsoft.com/office/drawing/2014/main" id="{1B5C3D31-0909-2C8F-D171-1CE6D8F50C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24035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979507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130074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035540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9980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1DEB3-4099-35A9-BB58-E81DF7B96160}"/>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8C85AE-C426-47BA-CB86-E227AAF35291}"/>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D648F2-943A-4364-99C4-A2F8F17A34B4}"/>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898E2774-AACE-60A7-B1EF-66134BBDDB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8FDBB-9B8B-2AA1-D64C-1E4058197FF4}"/>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1454266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BAFC-F9E7-7482-FA0A-651374016E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66F25C-9339-99F7-24A3-2BA92FAD4E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18ED49-BCD6-5328-58D6-C203F88A5B54}"/>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2F0F5A22-6CCE-C661-CAB7-4196757E2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623D30-D549-6A23-E293-1D96D49B3436}"/>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3072510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CDE10-577A-E818-EBF9-703572B40FE5}"/>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A5FDC2-8821-097F-A346-D2F712A750EA}"/>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185736-E071-6CAD-E720-2BC6B7A83C5B}"/>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90CB6707-E091-CA40-73EF-2B83BB469A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8F7BB8-2196-6E43-974A-6BE54310D5DB}"/>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3649199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42895-DC5F-E0F3-2C79-034ED0B3C7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0D5939-611B-F8ED-95DF-0317B7382D11}"/>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611F94-95EC-5A64-8109-154E585A2EB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1637D7-58D6-3CA6-3802-6B84C2B2EDF2}"/>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6" name="Footer Placeholder 5">
            <a:extLst>
              <a:ext uri="{FF2B5EF4-FFF2-40B4-BE49-F238E27FC236}">
                <a16:creationId xmlns:a16="http://schemas.microsoft.com/office/drawing/2014/main" id="{7F296534-75A0-796D-CE35-6DA9FBD355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0293F7-BC9A-674F-A3E5-5EAB19BBBE97}"/>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1904249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7B35B-9BB6-CF90-0374-26A039122F1B}"/>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DF5DE1-C458-2F00-49C7-5BDA03049A4E}"/>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336B53-C938-E3CA-76B3-526717DE8843}"/>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3060EE-EFD8-87BF-CC07-DAC0478A9ACB}"/>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5C3EE7-D753-6553-149D-0D3941237A1B}"/>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113627-42B6-7515-ED34-94CE1E9FC81C}"/>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8" name="Footer Placeholder 7">
            <a:extLst>
              <a:ext uri="{FF2B5EF4-FFF2-40B4-BE49-F238E27FC236}">
                <a16:creationId xmlns:a16="http://schemas.microsoft.com/office/drawing/2014/main" id="{3442F902-DF22-C0E4-A196-D335C99329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B6BDD7-8C55-D176-0465-C1B5D735AAB8}"/>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785823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1FC9B-76BC-D7A6-A20F-6EB38FB6AE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C5071A-37A3-DAEB-026B-1B757C372587}"/>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4" name="Footer Placeholder 3">
            <a:extLst>
              <a:ext uri="{FF2B5EF4-FFF2-40B4-BE49-F238E27FC236}">
                <a16:creationId xmlns:a16="http://schemas.microsoft.com/office/drawing/2014/main" id="{C0D0EF2B-94AF-A7D5-1931-999BE142BA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F1B64C-A3C5-83EB-0130-0BB29B771564}"/>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930159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A3D9F8-1F95-4941-6FBC-9F1F3D8C510D}"/>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3" name="Footer Placeholder 2">
            <a:extLst>
              <a:ext uri="{FF2B5EF4-FFF2-40B4-BE49-F238E27FC236}">
                <a16:creationId xmlns:a16="http://schemas.microsoft.com/office/drawing/2014/main" id="{0374E920-A3C8-1E6A-3A44-60BCCDD46B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8D09B0-C15D-DEEC-A729-C2B71D67C965}"/>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2780545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C68A-843B-6E16-BE62-72AD251262EB}"/>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5CCE98-F042-30B6-5784-8E91D74028A3}"/>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8E554F-72C0-382A-6E43-3E1E91268205}"/>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BBD212-97EC-4E58-7DA2-332A497DAB0D}"/>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6" name="Footer Placeholder 5">
            <a:extLst>
              <a:ext uri="{FF2B5EF4-FFF2-40B4-BE49-F238E27FC236}">
                <a16:creationId xmlns:a16="http://schemas.microsoft.com/office/drawing/2014/main" id="{843E6FA6-D090-E67F-7AED-CAFE597A96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8950E4-EE51-8715-870D-0A2C9893C937}"/>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565625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DC40-983B-B28C-47A7-452B097D48F9}"/>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242484-7ADB-BF94-6089-E89FFA5CA4F6}"/>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0F36C2-5B9C-C30F-343E-967FF1D9E85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21E2B-9517-593F-58D8-FEC23EDDBE6A}"/>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6" name="Footer Placeholder 5">
            <a:extLst>
              <a:ext uri="{FF2B5EF4-FFF2-40B4-BE49-F238E27FC236}">
                <a16:creationId xmlns:a16="http://schemas.microsoft.com/office/drawing/2014/main" id="{6278D9DA-73C8-52E5-4728-73D63D0EFB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D16EFE-2F90-EF66-8A89-339510FA4692}"/>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1991462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3F4C5-32EA-77B7-D8CB-04E7269EBE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1D6CB3-EBB4-8111-DD08-48DCA757BF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41A7F7-0997-4BCA-0924-4C87301A86FC}"/>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21B40C0A-07D5-AD07-F097-C2C703463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67B359-38CB-E894-A3AC-A55C99C98215}"/>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40577794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F77EDE-B148-84DB-97D9-4AE0DE05153D}"/>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57A3A2-9E7D-6963-1653-821EDEA7FB13}"/>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FC6F33-A97B-D8F7-6D27-EC46DDD670B7}"/>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BB526462-5934-5D27-B287-BDE34BA211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2A498B-FD11-9E38-6F7D-352663AF565C}"/>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2955156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1DEB3-4099-35A9-BB58-E81DF7B96160}"/>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8C85AE-C426-47BA-CB86-E227AAF35291}"/>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D648F2-943A-4364-99C4-A2F8F17A34B4}"/>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898E2774-AACE-60A7-B1EF-66134BBDDB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8FDBB-9B8B-2AA1-D64C-1E4058197FF4}"/>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35302052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BAFC-F9E7-7482-FA0A-651374016E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66F25C-9339-99F7-24A3-2BA92FAD4E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18ED49-BCD6-5328-58D6-C203F88A5B54}"/>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2F0F5A22-6CCE-C661-CAB7-4196757E2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623D30-D549-6A23-E293-1D96D49B3436}"/>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1065446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CDE10-577A-E818-EBF9-703572B40FE5}"/>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A5FDC2-8821-097F-A346-D2F712A750EA}"/>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185736-E071-6CAD-E720-2BC6B7A83C5B}"/>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90CB6707-E091-CA40-73EF-2B83BB469A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8F7BB8-2196-6E43-974A-6BE54310D5DB}"/>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23966932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42895-DC5F-E0F3-2C79-034ED0B3C7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0D5939-611B-F8ED-95DF-0317B7382D11}"/>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611F94-95EC-5A64-8109-154E585A2EB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1637D7-58D6-3CA6-3802-6B84C2B2EDF2}"/>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6" name="Footer Placeholder 5">
            <a:extLst>
              <a:ext uri="{FF2B5EF4-FFF2-40B4-BE49-F238E27FC236}">
                <a16:creationId xmlns:a16="http://schemas.microsoft.com/office/drawing/2014/main" id="{7F296534-75A0-796D-CE35-6DA9FBD355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0293F7-BC9A-674F-A3E5-5EAB19BBBE97}"/>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10045432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7B35B-9BB6-CF90-0374-26A039122F1B}"/>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DF5DE1-C458-2F00-49C7-5BDA03049A4E}"/>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336B53-C938-E3CA-76B3-526717DE8843}"/>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3060EE-EFD8-87BF-CC07-DAC0478A9ACB}"/>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5C3EE7-D753-6553-149D-0D3941237A1B}"/>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113627-42B6-7515-ED34-94CE1E9FC81C}"/>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8" name="Footer Placeholder 7">
            <a:extLst>
              <a:ext uri="{FF2B5EF4-FFF2-40B4-BE49-F238E27FC236}">
                <a16:creationId xmlns:a16="http://schemas.microsoft.com/office/drawing/2014/main" id="{3442F902-DF22-C0E4-A196-D335C99329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B6BDD7-8C55-D176-0465-C1B5D735AAB8}"/>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17058374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1FC9B-76BC-D7A6-A20F-6EB38FB6AE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C5071A-37A3-DAEB-026B-1B757C372587}"/>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4" name="Footer Placeholder 3">
            <a:extLst>
              <a:ext uri="{FF2B5EF4-FFF2-40B4-BE49-F238E27FC236}">
                <a16:creationId xmlns:a16="http://schemas.microsoft.com/office/drawing/2014/main" id="{C0D0EF2B-94AF-A7D5-1931-999BE142BA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F1B64C-A3C5-83EB-0130-0BB29B771564}"/>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27229244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A3D9F8-1F95-4941-6FBC-9F1F3D8C510D}"/>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3" name="Footer Placeholder 2">
            <a:extLst>
              <a:ext uri="{FF2B5EF4-FFF2-40B4-BE49-F238E27FC236}">
                <a16:creationId xmlns:a16="http://schemas.microsoft.com/office/drawing/2014/main" id="{0374E920-A3C8-1E6A-3A44-60BCCDD46B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8D09B0-C15D-DEEC-A729-C2B71D67C965}"/>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7419957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C68A-843B-6E16-BE62-72AD251262EB}"/>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5CCE98-F042-30B6-5784-8E91D74028A3}"/>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8E554F-72C0-382A-6E43-3E1E91268205}"/>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BBD212-97EC-4E58-7DA2-332A497DAB0D}"/>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6" name="Footer Placeholder 5">
            <a:extLst>
              <a:ext uri="{FF2B5EF4-FFF2-40B4-BE49-F238E27FC236}">
                <a16:creationId xmlns:a16="http://schemas.microsoft.com/office/drawing/2014/main" id="{843E6FA6-D090-E67F-7AED-CAFE597A96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8950E4-EE51-8715-870D-0A2C9893C937}"/>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29472353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DC40-983B-B28C-47A7-452B097D48F9}"/>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242484-7ADB-BF94-6089-E89FFA5CA4F6}"/>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0F36C2-5B9C-C30F-343E-967FF1D9E85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21E2B-9517-593F-58D8-FEC23EDDBE6A}"/>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6" name="Footer Placeholder 5">
            <a:extLst>
              <a:ext uri="{FF2B5EF4-FFF2-40B4-BE49-F238E27FC236}">
                <a16:creationId xmlns:a16="http://schemas.microsoft.com/office/drawing/2014/main" id="{6278D9DA-73C8-52E5-4728-73D63D0EFB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D16EFE-2F90-EF66-8A89-339510FA4692}"/>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37835928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3F4C5-32EA-77B7-D8CB-04E7269EBE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1D6CB3-EBB4-8111-DD08-48DCA757BF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41A7F7-0997-4BCA-0924-4C87301A86FC}"/>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21B40C0A-07D5-AD07-F097-C2C703463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67B359-38CB-E894-A3AC-A55C99C98215}"/>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9373052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F77EDE-B148-84DB-97D9-4AE0DE05153D}"/>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57A3A2-9E7D-6963-1653-821EDEA7FB13}"/>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FC6F33-A97B-D8F7-6D27-EC46DDD670B7}"/>
              </a:ext>
            </a:extLst>
          </p:cNvPr>
          <p:cNvSpPr>
            <a:spLocks noGrp="1"/>
          </p:cNvSpPr>
          <p:nvPr>
            <p:ph type="dt" sz="half" idx="10"/>
          </p:nvPr>
        </p:nvSpPr>
        <p:spPr/>
        <p:txBody>
          <a:body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BB526462-5934-5D27-B287-BDE34BA211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2A498B-FD11-9E38-6F7D-352663AF565C}"/>
              </a:ext>
            </a:extLst>
          </p:cNvPr>
          <p:cNvSpPr>
            <a:spLocks noGrp="1"/>
          </p:cNvSpPr>
          <p:nvPr>
            <p:ph type="sldNum" sz="quarter" idx="12"/>
          </p:nvPr>
        </p:nvSpPr>
        <p:spPr/>
        <p:txBody>
          <a:bodyPr/>
          <a:lstStyle/>
          <a:p>
            <a:fld id="{81E2DA43-5E3A-42DD-AADB-0F48AD5AE4ED}" type="slidenum">
              <a:rPr lang="en-IN" smtClean="0"/>
              <a:t>‹#›</a:t>
            </a:fld>
            <a:endParaRPr lang="en-IN"/>
          </a:p>
        </p:txBody>
      </p:sp>
    </p:spTree>
    <p:extLst>
      <p:ext uri="{BB962C8B-B14F-4D97-AF65-F5344CB8AC3E}">
        <p14:creationId xmlns:p14="http://schemas.microsoft.com/office/powerpoint/2010/main" val="2614325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91D4B7-D8E0-A70C-E5CE-35AE927C2FF2}"/>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DB5D02-6D61-DE24-3383-BC5775D0DBB3}"/>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4552B4-CBA9-103B-CB46-EEADD778E57B}"/>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38500379-423F-3D89-9C0F-F7850DBCC7A9}"/>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EEB244-C370-BA22-F5AE-239DA46E0DD8}"/>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1E2DA43-5E3A-42DD-AADB-0F48AD5AE4ED}" type="slidenum">
              <a:rPr lang="en-IN" smtClean="0"/>
              <a:t>‹#›</a:t>
            </a:fld>
            <a:endParaRPr lang="en-IN"/>
          </a:p>
        </p:txBody>
      </p:sp>
    </p:spTree>
    <p:extLst>
      <p:ext uri="{BB962C8B-B14F-4D97-AF65-F5344CB8AC3E}">
        <p14:creationId xmlns:p14="http://schemas.microsoft.com/office/powerpoint/2010/main" val="35541223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91D4B7-D8E0-A70C-E5CE-35AE927C2FF2}"/>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DB5D02-6D61-DE24-3383-BC5775D0DBB3}"/>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4552B4-CBA9-103B-CB46-EEADD778E57B}"/>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3D5A73F6-098D-4CA1-B6B8-CB4D38AB640D}" type="datetimeFigureOut">
              <a:rPr lang="en-IN" smtClean="0"/>
              <a:t>12-01-2026</a:t>
            </a:fld>
            <a:endParaRPr lang="en-IN"/>
          </a:p>
        </p:txBody>
      </p:sp>
      <p:sp>
        <p:nvSpPr>
          <p:cNvPr id="5" name="Footer Placeholder 4">
            <a:extLst>
              <a:ext uri="{FF2B5EF4-FFF2-40B4-BE49-F238E27FC236}">
                <a16:creationId xmlns:a16="http://schemas.microsoft.com/office/drawing/2014/main" id="{38500379-423F-3D89-9C0F-F7850DBCC7A9}"/>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EEB244-C370-BA22-F5AE-239DA46E0DD8}"/>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1E2DA43-5E3A-42DD-AADB-0F48AD5AE4ED}" type="slidenum">
              <a:rPr lang="en-IN" smtClean="0"/>
              <a:t>‹#›</a:t>
            </a:fld>
            <a:endParaRPr lang="en-IN"/>
          </a:p>
        </p:txBody>
      </p:sp>
    </p:spTree>
    <p:extLst>
      <p:ext uri="{BB962C8B-B14F-4D97-AF65-F5344CB8AC3E}">
        <p14:creationId xmlns:p14="http://schemas.microsoft.com/office/powerpoint/2010/main" val="7055069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7.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7.png"/><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4750" y="4750"/>
            <a:ext cx="9134475" cy="5133975"/>
          </a:xfrm>
          <a:prstGeom prst="rect">
            <a:avLst/>
          </a:prstGeom>
          <a:noFill/>
          <a:ln>
            <a:noFill/>
          </a:ln>
        </p:spPr>
      </p:pic>
      <p:pic>
        <p:nvPicPr>
          <p:cNvPr id="166" name="Google Shape;166;p22"/>
          <p:cNvPicPr preferRelativeResize="0"/>
          <p:nvPr/>
        </p:nvPicPr>
        <p:blipFill>
          <a:blip r:embed="rId4">
            <a:alphaModFix/>
          </a:blip>
          <a:stretch>
            <a:fillRect/>
          </a:stretch>
        </p:blipFill>
        <p:spPr>
          <a:xfrm>
            <a:off x="9525" y="62054"/>
            <a:ext cx="9134475" cy="5133975"/>
          </a:xfrm>
          <a:prstGeom prst="rect">
            <a:avLst/>
          </a:prstGeom>
          <a:noFill/>
          <a:ln>
            <a:noFill/>
          </a:ln>
        </p:spPr>
      </p:pic>
      <p:pic>
        <p:nvPicPr>
          <p:cNvPr id="171" name="Google Shape;171;p22"/>
          <p:cNvPicPr preferRelativeResize="0"/>
          <p:nvPr/>
        </p:nvPicPr>
        <p:blipFill>
          <a:blip r:embed="rId5">
            <a:alphaModFix/>
          </a:blip>
          <a:stretch>
            <a:fillRect/>
          </a:stretch>
        </p:blipFill>
        <p:spPr>
          <a:xfrm>
            <a:off x="7363438" y="148588"/>
            <a:ext cx="1495425" cy="371475"/>
          </a:xfrm>
          <a:prstGeom prst="rect">
            <a:avLst/>
          </a:prstGeom>
          <a:noFill/>
          <a:ln>
            <a:noFill/>
          </a:ln>
        </p:spPr>
      </p:pic>
      <p:sp>
        <p:nvSpPr>
          <p:cNvPr id="11" name="Google Shape;71;p15"/>
          <p:cNvSpPr txBox="1"/>
          <p:nvPr/>
        </p:nvSpPr>
        <p:spPr>
          <a:xfrm>
            <a:off x="465774" y="3191218"/>
            <a:ext cx="3859303" cy="800189"/>
          </a:xfrm>
          <a:prstGeom prst="rect">
            <a:avLst/>
          </a:prstGeom>
          <a:noFill/>
          <a:ln>
            <a:noFill/>
          </a:ln>
        </p:spPr>
        <p:txBody>
          <a:bodyPr spcFirstLastPara="1" wrap="square" lIns="91425" tIns="91425" rIns="91425" bIns="91425" anchor="t" anchorCtr="0">
            <a:spAutoFit/>
          </a:bodyPr>
          <a:lstStyle/>
          <a:p>
            <a:pPr lvl="0" algn="ctr"/>
            <a:r>
              <a:rPr lang="en-US" sz="2000" b="1" dirty="0">
                <a:latin typeface="Trebuchet MS" panose="020B0603020202020204" pitchFamily="34" charset="0"/>
                <a:sym typeface="Proxima Nova"/>
              </a:rPr>
              <a:t>Unit – 2 </a:t>
            </a:r>
          </a:p>
          <a:p>
            <a:pPr lvl="0" algn="ctr"/>
            <a:r>
              <a:rPr lang="en-IN" sz="2000" b="1" dirty="0">
                <a:latin typeface="Trebuchet MS" panose="020B0603020202020204" pitchFamily="34" charset="0"/>
              </a:rPr>
              <a:t>Programming Basics</a:t>
            </a:r>
            <a:r>
              <a:rPr lang="en-US" sz="2000" b="1" dirty="0">
                <a:latin typeface="Trebuchet MS" panose="020B0603020202020204" pitchFamily="34" charset="0"/>
              </a:rPr>
              <a:t> </a:t>
            </a:r>
            <a:endParaRPr lang="en-IN" sz="2000" b="1" dirty="0">
              <a:latin typeface="Trebuchet MS" panose="020B0603020202020204" pitchFamily="34" charset="0"/>
              <a:sym typeface="Proxima Nova"/>
            </a:endParaRPr>
          </a:p>
        </p:txBody>
      </p:sp>
      <p:sp>
        <p:nvSpPr>
          <p:cNvPr id="13" name="Google Shape;71;p15"/>
          <p:cNvSpPr txBox="1"/>
          <p:nvPr/>
        </p:nvSpPr>
        <p:spPr>
          <a:xfrm>
            <a:off x="414113" y="1397584"/>
            <a:ext cx="3859303" cy="1292631"/>
          </a:xfrm>
          <a:prstGeom prst="rect">
            <a:avLst/>
          </a:prstGeom>
          <a:noFill/>
          <a:ln>
            <a:noFill/>
          </a:ln>
        </p:spPr>
        <p:txBody>
          <a:bodyPr spcFirstLastPara="1" wrap="square" lIns="91425" tIns="91425" rIns="91425" bIns="91425" anchor="t" anchorCtr="0">
            <a:spAutoFit/>
          </a:bodyPr>
          <a:lstStyle/>
          <a:p>
            <a:pPr lvl="0" algn="ctr"/>
            <a:r>
              <a:rPr lang="en-US" sz="2400" b="1" dirty="0">
                <a:latin typeface="Trebuchet MS" panose="020B0603020202020204" pitchFamily="34" charset="0"/>
              </a:rPr>
              <a:t>Object Oriented Design and Programming (</a:t>
            </a:r>
            <a:r>
              <a:rPr lang="en-IN" sz="2400" b="1" dirty="0">
                <a:latin typeface="Trebuchet MS" panose="020B0603020202020204" pitchFamily="34" charset="0"/>
                <a:sym typeface="Proxima Nova"/>
              </a:rPr>
              <a:t>01AI0403)</a:t>
            </a:r>
          </a:p>
        </p:txBody>
      </p:sp>
      <p:pic>
        <p:nvPicPr>
          <p:cNvPr id="2" name="Picture 1">
            <a:extLst>
              <a:ext uri="{FF2B5EF4-FFF2-40B4-BE49-F238E27FC236}">
                <a16:creationId xmlns:a16="http://schemas.microsoft.com/office/drawing/2014/main" id="{8D118E72-6713-D678-B3E8-D02B06330775}"/>
              </a:ext>
            </a:extLst>
          </p:cNvPr>
          <p:cNvPicPr>
            <a:picLocks noChangeAspect="1"/>
          </p:cNvPicPr>
          <p:nvPr/>
        </p:nvPicPr>
        <p:blipFill>
          <a:blip r:embed="rId6"/>
          <a:stretch>
            <a:fillRect/>
          </a:stretch>
        </p:blipFill>
        <p:spPr>
          <a:xfrm>
            <a:off x="4571987" y="1078086"/>
            <a:ext cx="4106239" cy="350261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645925" y="134250"/>
            <a:ext cx="1743600"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dirty="0">
                <a:solidFill>
                  <a:schemeClr val="bg1"/>
                </a:solidFill>
                <a:latin typeface="Trebuchet MS" panose="020B0603020202020204" pitchFamily="34" charset="0"/>
                <a:sym typeface="Proxima Nova"/>
              </a:rPr>
              <a:t>OUTLINE</a:t>
            </a:r>
            <a:endParaRPr sz="2400" b="1" dirty="0">
              <a:solidFill>
                <a:schemeClr val="bg1"/>
              </a:solidFill>
              <a:latin typeface="Trebuchet MS" panose="020B0603020202020204" pitchFamily="34" charset="0"/>
              <a:sym typeface="Proxima Nova"/>
            </a:endParaRPr>
          </a:p>
        </p:txBody>
      </p:sp>
      <p:sp>
        <p:nvSpPr>
          <p:cNvPr id="99" name="Google Shape;99;p17"/>
          <p:cNvSpPr txBox="1"/>
          <p:nvPr/>
        </p:nvSpPr>
        <p:spPr>
          <a:xfrm>
            <a:off x="645925" y="896301"/>
            <a:ext cx="8116710" cy="3416290"/>
          </a:xfrm>
          <a:prstGeom prst="rect">
            <a:avLst/>
          </a:prstGeom>
          <a:noFill/>
          <a:ln>
            <a:noFill/>
          </a:ln>
        </p:spPr>
        <p:txBody>
          <a:bodyPr spcFirstLastPara="1" wrap="square" lIns="91425" tIns="91425" rIns="91425" bIns="91425" anchor="t" anchorCtr="0">
            <a:spAutoFit/>
          </a:bodyPr>
          <a:lstStyle/>
          <a:p>
            <a:pPr marL="285750" indent="-285750" algn="l">
              <a:lnSpc>
                <a:spcPct val="150000"/>
              </a:lnSpc>
              <a:buFont typeface="Wingdings" panose="05000000000000000000" pitchFamily="2" charset="2"/>
              <a:buChar char="Ø"/>
            </a:pPr>
            <a:r>
              <a:rPr lang="en-IN" sz="2000" b="0" i="0" u="none" strike="noStrike" baseline="0" dirty="0">
                <a:latin typeface="Trebuchet MS" panose="020B0603020202020204" pitchFamily="34" charset="0"/>
              </a:rPr>
              <a:t>Directives</a:t>
            </a:r>
          </a:p>
          <a:p>
            <a:pPr marL="285750" indent="-285750">
              <a:lnSpc>
                <a:spcPct val="150000"/>
              </a:lnSpc>
              <a:buFont typeface="Wingdings" panose="05000000000000000000" pitchFamily="2" charset="2"/>
              <a:buChar char="Ø"/>
            </a:pPr>
            <a:r>
              <a:rPr lang="en-IN" sz="2000" b="0" i="0" u="none" strike="noStrike" baseline="0" dirty="0">
                <a:latin typeface="Trebuchet MS" panose="020B0603020202020204" pitchFamily="34" charset="0"/>
              </a:rPr>
              <a:t>Output using </a:t>
            </a:r>
            <a:r>
              <a:rPr lang="en-IN" sz="2000" b="0" i="0" u="none" strike="noStrike" baseline="0" dirty="0" err="1">
                <a:latin typeface="Trebuchet MS" panose="020B0603020202020204" pitchFamily="34" charset="0"/>
              </a:rPr>
              <a:t>cout</a:t>
            </a:r>
            <a:r>
              <a:rPr lang="en-IN" sz="2000" b="0" i="0" u="none" strike="noStrike" baseline="0" dirty="0">
                <a:latin typeface="Trebuchet MS" panose="020B0603020202020204" pitchFamily="34" charset="0"/>
              </a:rPr>
              <a:t> </a:t>
            </a:r>
          </a:p>
          <a:p>
            <a:pPr marL="285750" indent="-285750" algn="l">
              <a:lnSpc>
                <a:spcPct val="150000"/>
              </a:lnSpc>
              <a:buFont typeface="Wingdings" panose="05000000000000000000" pitchFamily="2" charset="2"/>
              <a:buChar char="Ø"/>
            </a:pPr>
            <a:r>
              <a:rPr lang="en-IN" sz="2000" b="0" i="0" u="none" strike="noStrike" baseline="0" dirty="0">
                <a:latin typeface="Trebuchet MS" panose="020B0603020202020204" pitchFamily="34" charset="0"/>
              </a:rPr>
              <a:t>Input with </a:t>
            </a:r>
            <a:r>
              <a:rPr lang="en-IN" sz="2000" b="0" i="0" u="none" strike="noStrike" baseline="0" dirty="0" err="1">
                <a:latin typeface="Trebuchet MS" panose="020B0603020202020204" pitchFamily="34" charset="0"/>
              </a:rPr>
              <a:t>cin</a:t>
            </a:r>
            <a:endParaRPr lang="en-IN" sz="2000" dirty="0">
              <a:latin typeface="Trebuchet MS" panose="020B0603020202020204" pitchFamily="34" charset="0"/>
            </a:endParaRPr>
          </a:p>
          <a:p>
            <a:pPr marL="285750" indent="-285750" algn="l">
              <a:lnSpc>
                <a:spcPct val="150000"/>
              </a:lnSpc>
              <a:buFont typeface="Wingdings" panose="05000000000000000000" pitchFamily="2" charset="2"/>
              <a:buChar char="Ø"/>
            </a:pPr>
            <a:r>
              <a:rPr lang="en-IN" sz="2000" b="0" i="0" u="none" strike="noStrike" baseline="0" dirty="0">
                <a:latin typeface="Trebuchet MS" panose="020B0603020202020204" pitchFamily="34" charset="0"/>
              </a:rPr>
              <a:t>Type bool </a:t>
            </a:r>
          </a:p>
          <a:p>
            <a:pPr marL="285750" indent="-285750" algn="l">
              <a:lnSpc>
                <a:spcPct val="150000"/>
              </a:lnSpc>
              <a:buFont typeface="Wingdings" panose="05000000000000000000" pitchFamily="2" charset="2"/>
              <a:buChar char="Ø"/>
            </a:pPr>
            <a:r>
              <a:rPr lang="en-IN" sz="2000" b="0" i="0" u="none" strike="noStrike" baseline="0" dirty="0">
                <a:latin typeface="Trebuchet MS" panose="020B0603020202020204" pitchFamily="34" charset="0"/>
              </a:rPr>
              <a:t>The </a:t>
            </a:r>
            <a:r>
              <a:rPr lang="en-IN" sz="2000" b="0" i="0" u="none" strike="noStrike" baseline="0" dirty="0" err="1">
                <a:latin typeface="Trebuchet MS" panose="020B0603020202020204" pitchFamily="34" charset="0"/>
              </a:rPr>
              <a:t>setw</a:t>
            </a:r>
            <a:endParaRPr lang="en-IN" sz="2000" b="0" i="0" u="none" strike="noStrike" baseline="0" dirty="0">
              <a:latin typeface="Trebuchet MS" panose="020B0603020202020204" pitchFamily="34" charset="0"/>
            </a:endParaRPr>
          </a:p>
          <a:p>
            <a:pPr marL="285750" indent="-285750" algn="l">
              <a:lnSpc>
                <a:spcPct val="150000"/>
              </a:lnSpc>
              <a:buFont typeface="Wingdings" panose="05000000000000000000" pitchFamily="2" charset="2"/>
              <a:buChar char="Ø"/>
            </a:pPr>
            <a:r>
              <a:rPr lang="en-IN" sz="2000" dirty="0">
                <a:latin typeface="Trebuchet MS" panose="020B0603020202020204" pitchFamily="34" charset="0"/>
              </a:rPr>
              <a:t>M</a:t>
            </a:r>
            <a:r>
              <a:rPr lang="en-IN" sz="2000" b="0" i="0" u="none" strike="noStrike" baseline="0" dirty="0">
                <a:latin typeface="Trebuchet MS" panose="020B0603020202020204" pitchFamily="34" charset="0"/>
              </a:rPr>
              <a:t>anipulator </a:t>
            </a:r>
          </a:p>
          <a:p>
            <a:pPr marL="285750" indent="-285750" algn="l">
              <a:lnSpc>
                <a:spcPct val="150000"/>
              </a:lnSpc>
              <a:buFont typeface="Wingdings" panose="05000000000000000000" pitchFamily="2" charset="2"/>
              <a:buChar char="Ø"/>
            </a:pPr>
            <a:r>
              <a:rPr lang="en-IN" sz="2000" b="0" i="0" u="none" strike="noStrike" baseline="0" dirty="0">
                <a:latin typeface="Trebuchet MS" panose="020B0603020202020204" pitchFamily="34" charset="0"/>
              </a:rPr>
              <a:t>Type conversions</a:t>
            </a:r>
            <a:endParaRPr lang="en-IN" sz="1800" dirty="0">
              <a:solidFill>
                <a:srgbClr val="666666"/>
              </a:solidFill>
              <a:latin typeface="Trebuchet MS" panose="020B0603020202020204" pitchFamily="34" charset="0"/>
              <a:ea typeface="Proxima Nova"/>
              <a:cs typeface="Proxima Nova"/>
              <a:sym typeface="Proxima Nova"/>
            </a:endParaRPr>
          </a:p>
        </p:txBody>
      </p:sp>
    </p:spTree>
    <p:extLst>
      <p:ext uri="{BB962C8B-B14F-4D97-AF65-F5344CB8AC3E}">
        <p14:creationId xmlns:p14="http://schemas.microsoft.com/office/powerpoint/2010/main" val="10894024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5" y="134250"/>
            <a:ext cx="2104400"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dirty="0">
                <a:solidFill>
                  <a:schemeClr val="bg1"/>
                </a:solidFill>
                <a:latin typeface="Trebuchet MS" panose="020B0603020202020204" pitchFamily="34" charset="0"/>
                <a:sym typeface="Proxima Nova"/>
              </a:rPr>
              <a:t>Directives </a:t>
            </a:r>
          </a:p>
          <a:p>
            <a:pPr marL="0" lvl="0" indent="0" algn="l" rtl="0">
              <a:spcBef>
                <a:spcPts val="0"/>
              </a:spcBef>
              <a:spcAft>
                <a:spcPts val="0"/>
              </a:spcAft>
              <a:buNone/>
            </a:pPr>
            <a:endParaRPr sz="2400" b="1" dirty="0">
              <a:solidFill>
                <a:schemeClr val="bg1"/>
              </a:solidFill>
              <a:latin typeface="Trebuchet MS" panose="020B0603020202020204" pitchFamily="34" charset="0"/>
              <a:sym typeface="Proxima Nova"/>
            </a:endParaRPr>
          </a:p>
        </p:txBody>
      </p:sp>
      <p:sp>
        <p:nvSpPr>
          <p:cNvPr id="3" name="TextBox 2">
            <a:extLst>
              <a:ext uri="{FF2B5EF4-FFF2-40B4-BE49-F238E27FC236}">
                <a16:creationId xmlns:a16="http://schemas.microsoft.com/office/drawing/2014/main" id="{03B19CE6-0336-1E3C-3B35-D8FFBEF93ED3}"/>
              </a:ext>
            </a:extLst>
          </p:cNvPr>
          <p:cNvSpPr txBox="1"/>
          <p:nvPr/>
        </p:nvSpPr>
        <p:spPr>
          <a:xfrm>
            <a:off x="285125" y="661909"/>
            <a:ext cx="8659178" cy="43349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All the statements starting with the </a:t>
            </a:r>
            <a:r>
              <a:rPr lang="en-IN" sz="1800" dirty="0">
                <a:solidFill>
                  <a:srgbClr val="FF0000"/>
                </a:solidFill>
                <a:latin typeface="Trebuchet MS" panose="020B0603020202020204" pitchFamily="34" charset="0"/>
              </a:rPr>
              <a:t># (hash) symbol </a:t>
            </a:r>
            <a:r>
              <a:rPr lang="en-IN" sz="1800" dirty="0">
                <a:latin typeface="Trebuchet MS" panose="020B0603020202020204" pitchFamily="34" charset="0"/>
              </a:rPr>
              <a:t>are known as preprocessor directives in C++.</a:t>
            </a:r>
          </a:p>
          <a:p>
            <a:pPr marL="285750" indent="-285750" defTabSz="1433513">
              <a:lnSpc>
                <a:spcPct val="150000"/>
              </a:lnSpc>
              <a:buFont typeface="Arial" panose="020B0604020202020204" pitchFamily="34" charset="0"/>
              <a:buChar char="•"/>
            </a:pPr>
            <a:r>
              <a:rPr lang="en-IN" sz="1800" dirty="0">
                <a:latin typeface="Trebuchet MS" panose="020B0603020202020204" pitchFamily="34" charset="0"/>
              </a:rPr>
              <a:t>To perform certain tasks, the directives instruct the preprocessor to </a:t>
            </a:r>
            <a:r>
              <a:rPr lang="en-IN" sz="1800" dirty="0">
                <a:solidFill>
                  <a:srgbClr val="FF0000"/>
                </a:solidFill>
                <a:latin typeface="Trebuchet MS" panose="020B0603020202020204" pitchFamily="34" charset="0"/>
              </a:rPr>
              <a:t>perform certain tasks </a:t>
            </a:r>
            <a:r>
              <a:rPr lang="en-IN" sz="1800" dirty="0">
                <a:latin typeface="Trebuchet MS" panose="020B0603020202020204" pitchFamily="34" charset="0"/>
              </a:rPr>
              <a:t>to improve the program’s performance/capabilities</a:t>
            </a:r>
            <a:r>
              <a:rPr lang="en-IN" sz="2400" b="0" i="0" dirty="0">
                <a:solidFill>
                  <a:srgbClr val="61738E"/>
                </a:solidFill>
                <a:effectLst/>
                <a:latin typeface="Trebuchet MS" panose="020B0603020202020204" pitchFamily="34" charset="0"/>
              </a:rPr>
              <a:t>.</a:t>
            </a:r>
          </a:p>
          <a:p>
            <a:pPr marL="285750" indent="-285750" algn="l">
              <a:lnSpc>
                <a:spcPct val="150000"/>
              </a:lnSpc>
              <a:buFont typeface="Arial" panose="020B0604020202020204" pitchFamily="34" charset="0"/>
              <a:buChar char="•"/>
            </a:pPr>
            <a:r>
              <a:rPr lang="en-IN" sz="1800" dirty="0">
                <a:latin typeface="Trebuchet MS" panose="020B0603020202020204" pitchFamily="34" charset="0"/>
              </a:rPr>
              <a:t>Every directive is a one-line long command which contains the following:</a:t>
            </a:r>
          </a:p>
          <a:p>
            <a:pPr marL="630238" indent="-273050" algn="l">
              <a:lnSpc>
                <a:spcPct val="150000"/>
              </a:lnSpc>
              <a:buFont typeface="Wingdings" panose="05000000000000000000" pitchFamily="2" charset="2"/>
              <a:buChar char="ü"/>
            </a:pPr>
            <a:r>
              <a:rPr lang="en-IN" sz="1800" dirty="0">
                <a:latin typeface="Trebuchet MS" panose="020B0603020202020204" pitchFamily="34" charset="0"/>
              </a:rPr>
              <a:t>All the preprocessor directives in C++ start with the # (hash) symbol).</a:t>
            </a:r>
          </a:p>
          <a:p>
            <a:pPr marL="630238" indent="-273050">
              <a:lnSpc>
                <a:spcPct val="150000"/>
              </a:lnSpc>
              <a:buFont typeface="Wingdings" panose="05000000000000000000" pitchFamily="2" charset="2"/>
              <a:buChar char="ü"/>
            </a:pPr>
            <a:r>
              <a:rPr lang="en-IN" sz="1800" dirty="0">
                <a:latin typeface="Trebuchet MS" panose="020B0603020202020204" pitchFamily="34" charset="0"/>
              </a:rPr>
              <a:t>A pre-processor instruction after the # (hash) symbol like   </a:t>
            </a:r>
            <a:r>
              <a:rPr lang="en-IN" sz="1800" dirty="0">
                <a:solidFill>
                  <a:srgbClr val="FF0000"/>
                </a:solidFill>
                <a:latin typeface="Trebuchet MS" panose="020B0603020202020204" pitchFamily="34" charset="0"/>
              </a:rPr>
              <a:t>#include, #define, #ifdef, #elif, #error, #pragma </a:t>
            </a:r>
            <a:r>
              <a:rPr lang="en-IN" sz="1800" dirty="0">
                <a:latin typeface="Trebuchet MS" panose="020B0603020202020204" pitchFamily="34" charset="0"/>
              </a:rPr>
              <a:t>etc.</a:t>
            </a:r>
          </a:p>
          <a:p>
            <a:pPr marL="273050" indent="-273050" algn="l">
              <a:lnSpc>
                <a:spcPct val="150000"/>
              </a:lnSpc>
              <a:buFont typeface="Arial" panose="020B0604020202020204" pitchFamily="34" charset="0"/>
              <a:buChar char="•"/>
            </a:pPr>
            <a:r>
              <a:rPr lang="en-IN" sz="1800" dirty="0">
                <a:latin typeface="Trebuchet MS" panose="020B0603020202020204" pitchFamily="34" charset="0"/>
              </a:rPr>
              <a:t>Example:</a:t>
            </a:r>
          </a:p>
          <a:p>
            <a:pPr marL="357188" algn="l">
              <a:lnSpc>
                <a:spcPct val="150000"/>
              </a:lnSpc>
            </a:pPr>
            <a:r>
              <a:rPr lang="en-IN" sz="1800" dirty="0">
                <a:solidFill>
                  <a:srgbClr val="0070C0"/>
                </a:solidFill>
                <a:latin typeface="Trebuchet MS" panose="020B0603020202020204" pitchFamily="34" charset="0"/>
              </a:rPr>
              <a:t>#include&lt;iostream&gt;, #define PI 3.14, #ifdef PI </a:t>
            </a:r>
            <a:r>
              <a:rPr lang="en-IN" sz="1800" dirty="0">
                <a:latin typeface="Trebuchet MS" panose="020B0603020202020204" pitchFamily="34" charset="0"/>
              </a:rPr>
              <a:t>etc.</a:t>
            </a:r>
          </a:p>
        </p:txBody>
      </p:sp>
    </p:spTree>
    <p:extLst>
      <p:ext uri="{BB962C8B-B14F-4D97-AF65-F5344CB8AC3E}">
        <p14:creationId xmlns:p14="http://schemas.microsoft.com/office/powerpoint/2010/main" val="29359636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8" name="Rectangle 7">
            <a:extLst>
              <a:ext uri="{FF2B5EF4-FFF2-40B4-BE49-F238E27FC236}">
                <a16:creationId xmlns:a16="http://schemas.microsoft.com/office/drawing/2014/main" id="{A95CCB72-B815-795A-323E-A9C092F052E0}"/>
              </a:ext>
            </a:extLst>
          </p:cNvPr>
          <p:cNvSpPr/>
          <p:nvPr/>
        </p:nvSpPr>
        <p:spPr>
          <a:xfrm>
            <a:off x="2123090" y="3794234"/>
            <a:ext cx="2648607"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4" y="134250"/>
            <a:ext cx="3361965" cy="984855"/>
          </a:xfrm>
          <a:prstGeom prst="rect">
            <a:avLst/>
          </a:prstGeom>
          <a:noFill/>
          <a:ln>
            <a:noFill/>
          </a:ln>
        </p:spPr>
        <p:txBody>
          <a:bodyPr spcFirstLastPara="1" wrap="square" lIns="91425" tIns="91425" rIns="91425" bIns="91425" anchor="t" anchorCtr="0">
            <a:spAutoFit/>
          </a:bodyPr>
          <a:lstStyle/>
          <a:p>
            <a:pPr algn="l"/>
            <a:r>
              <a:rPr lang="en-IN" sz="2800" b="1" dirty="0">
                <a:solidFill>
                  <a:schemeClr val="bg1"/>
                </a:solidFill>
                <a:latin typeface="Trebuchet MS" panose="020B0603020202020204" pitchFamily="34" charset="0"/>
              </a:rPr>
              <a:t>C++ iostream</a:t>
            </a:r>
          </a:p>
          <a:p>
            <a:pPr marL="0" lvl="0" indent="0" algn="l" rtl="0">
              <a:spcBef>
                <a:spcPts val="0"/>
              </a:spcBef>
              <a:spcAft>
                <a:spcPts val="0"/>
              </a:spcAft>
              <a:buNone/>
            </a:pPr>
            <a:endParaRPr sz="2400" b="1" dirty="0">
              <a:solidFill>
                <a:schemeClr val="bg1"/>
              </a:solidFill>
              <a:latin typeface="Trebuchet MS" panose="020B0603020202020204" pitchFamily="34" charset="0"/>
              <a:sym typeface="Proxima Nova"/>
            </a:endParaRPr>
          </a:p>
        </p:txBody>
      </p:sp>
      <p:sp>
        <p:nvSpPr>
          <p:cNvPr id="7" name="TextBox 6">
            <a:extLst>
              <a:ext uri="{FF2B5EF4-FFF2-40B4-BE49-F238E27FC236}">
                <a16:creationId xmlns:a16="http://schemas.microsoft.com/office/drawing/2014/main" id="{90134537-C89B-A10A-B580-293A9247F333}"/>
              </a:ext>
            </a:extLst>
          </p:cNvPr>
          <p:cNvSpPr txBox="1"/>
          <p:nvPr/>
        </p:nvSpPr>
        <p:spPr>
          <a:xfrm>
            <a:off x="512379" y="755329"/>
            <a:ext cx="8346495" cy="419647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iostream stands for </a:t>
            </a:r>
            <a:r>
              <a:rPr kumimoji="0" lang="en-IN" sz="1800" b="1"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standard input-output stream</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#include iostream declares objects that control </a:t>
            </a: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reading from and writing </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to the standard streams. </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In other words, the </a:t>
            </a: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iostream library </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is an object-oriented library that provides </a:t>
            </a: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input and output functionality </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using streams.</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 stream is a </a:t>
            </a: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sequence of bytes</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You must include iostream header file to input and output from a C++ program.</a:t>
            </a:r>
          </a:p>
          <a:p>
            <a:pPr marR="0" lvl="0" algn="l" defTabSz="914400" rtl="0" eaLnBrk="1" fontAlgn="auto" latinLnBrk="0" hangingPunct="1">
              <a:lnSpc>
                <a:spcPct val="150000"/>
              </a:lnSpc>
              <a:spcBef>
                <a:spcPts val="0"/>
              </a:spcBef>
              <a:spcAft>
                <a:spcPts val="0"/>
              </a:spcAft>
              <a:buClr>
                <a:srgbClr val="000000"/>
              </a:buClr>
              <a:buSzTx/>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i.e</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1800" b="1" i="0" u="none" strike="noStrike" kern="0" spc="50" normalizeH="0" baseline="0" noProof="0" dirty="0">
                <a:ln w="9525" cmpd="sng">
                  <a:solidFill>
                    <a:schemeClr val="accent1"/>
                  </a:solidFill>
                  <a:prstDash val="solid"/>
                </a:ln>
                <a:solidFill>
                  <a:srgbClr val="70AD47">
                    <a:tint val="1000"/>
                  </a:srgbClr>
                </a:solidFill>
                <a:effectLst>
                  <a:glow rad="38100">
                    <a:schemeClr val="accent1">
                      <a:alpha val="40000"/>
                    </a:schemeClr>
                  </a:glow>
                </a:effectLst>
                <a:uLnTx/>
                <a:uFillTx/>
                <a:latin typeface="Trebuchet MS" panose="020B0603020202020204" pitchFamily="34" charset="0"/>
                <a:cs typeface="Arial"/>
                <a:sym typeface="Arial"/>
              </a:rPr>
              <a:t>#include&lt;iostream.h&gt;</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#include iostream provides the most used standard input and output streams,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cin</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cout</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p:txBody>
      </p:sp>
    </p:spTree>
    <p:extLst>
      <p:ext uri="{BB962C8B-B14F-4D97-AF65-F5344CB8AC3E}">
        <p14:creationId xmlns:p14="http://schemas.microsoft.com/office/powerpoint/2010/main" val="185655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3" y="134250"/>
            <a:ext cx="6199759" cy="615523"/>
          </a:xfrm>
          <a:prstGeom prst="rect">
            <a:avLst/>
          </a:prstGeom>
          <a:noFill/>
          <a:ln>
            <a:noFill/>
          </a:ln>
        </p:spPr>
        <p:txBody>
          <a:bodyPr spcFirstLastPara="1" wrap="square" lIns="91425" tIns="91425" rIns="91425" bIns="91425" anchor="t" anchorCtr="0">
            <a:spAutoFit/>
          </a:bodyPr>
          <a:lstStyle/>
          <a:p>
            <a:r>
              <a:rPr lang="en-IN" sz="2800" b="1" dirty="0">
                <a:solidFill>
                  <a:schemeClr val="bg1"/>
                </a:solidFill>
                <a:latin typeface="Trebuchet MS" panose="020B0603020202020204" pitchFamily="34" charset="0"/>
              </a:rPr>
              <a:t>Standard Output Stream -- </a:t>
            </a:r>
            <a:r>
              <a:rPr lang="en-IN" sz="2800" b="1" dirty="0" err="1">
                <a:solidFill>
                  <a:schemeClr val="bg1"/>
                </a:solidFill>
                <a:latin typeface="Trebuchet MS" panose="020B0603020202020204" pitchFamily="34" charset="0"/>
              </a:rPr>
              <a:t>cout</a:t>
            </a:r>
            <a:endParaRPr sz="2400" b="1" dirty="0">
              <a:solidFill>
                <a:schemeClr val="bg1"/>
              </a:solidFill>
              <a:latin typeface="Trebuchet MS" panose="020B0603020202020204" pitchFamily="34" charset="0"/>
              <a:sym typeface="Proxima Nova"/>
            </a:endParaRPr>
          </a:p>
        </p:txBody>
      </p:sp>
      <p:sp>
        <p:nvSpPr>
          <p:cNvPr id="8" name="TextBox 7">
            <a:extLst>
              <a:ext uri="{FF2B5EF4-FFF2-40B4-BE49-F238E27FC236}">
                <a16:creationId xmlns:a16="http://schemas.microsoft.com/office/drawing/2014/main" id="{74E0EA99-E316-A4C8-6ED0-D1DBA6DF1024}"/>
              </a:ext>
            </a:extLst>
          </p:cNvPr>
          <p:cNvSpPr txBox="1"/>
          <p:nvPr/>
        </p:nvSpPr>
        <p:spPr>
          <a:xfrm>
            <a:off x="285123" y="749773"/>
            <a:ext cx="8573752" cy="424731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It is an instance of the </a:t>
            </a:r>
            <a:r>
              <a:rPr lang="en-IN" sz="1800" dirty="0" err="1">
                <a:latin typeface="Trebuchet MS" panose="020B0603020202020204" pitchFamily="34" charset="0"/>
              </a:rPr>
              <a:t>ostream</a:t>
            </a:r>
            <a:r>
              <a:rPr lang="en-IN" sz="1800" dirty="0">
                <a:latin typeface="Trebuchet MS" panose="020B0603020202020204" pitchFamily="34" charset="0"/>
              </a:rPr>
              <a:t> class. It produces </a:t>
            </a:r>
            <a:r>
              <a:rPr lang="en-IN" sz="1800" dirty="0">
                <a:solidFill>
                  <a:srgbClr val="0070C0"/>
                </a:solidFill>
                <a:latin typeface="Trebuchet MS" panose="020B0603020202020204" pitchFamily="34" charset="0"/>
              </a:rPr>
              <a:t>output</a:t>
            </a:r>
            <a:r>
              <a:rPr lang="en-IN" sz="1800" dirty="0">
                <a:latin typeface="Trebuchet MS" panose="020B0603020202020204" pitchFamily="34" charset="0"/>
              </a:rPr>
              <a:t> on the standard output device, i.e., the display screen.</a:t>
            </a:r>
          </a:p>
          <a:p>
            <a:pPr marL="285750" indent="-285750">
              <a:lnSpc>
                <a:spcPct val="150000"/>
              </a:lnSpc>
              <a:buFont typeface="Arial" panose="020B0604020202020204" pitchFamily="34" charset="0"/>
              <a:buChar char="•"/>
            </a:pPr>
            <a:r>
              <a:rPr lang="en-IN" sz="1800" dirty="0">
                <a:latin typeface="Trebuchet MS" panose="020B0603020202020204" pitchFamily="34" charset="0"/>
              </a:rPr>
              <a:t>We need to use the stream </a:t>
            </a:r>
            <a:r>
              <a:rPr lang="en-IN" sz="1800" dirty="0">
                <a:solidFill>
                  <a:srgbClr val="FF0000"/>
                </a:solidFill>
                <a:latin typeface="Trebuchet MS" panose="020B0603020202020204" pitchFamily="34" charset="0"/>
              </a:rPr>
              <a:t>insertion operator &lt;&lt; </a:t>
            </a:r>
            <a:r>
              <a:rPr lang="en-IN" sz="1800" dirty="0">
                <a:latin typeface="Trebuchet MS" panose="020B0603020202020204" pitchFamily="34" charset="0"/>
              </a:rPr>
              <a:t>to insert data into the standard output stream </a:t>
            </a:r>
            <a:r>
              <a:rPr lang="en-IN" sz="1800" dirty="0" err="1">
                <a:latin typeface="Trebuchet MS" panose="020B0603020202020204" pitchFamily="34" charset="0"/>
              </a:rPr>
              <a:t>cout</a:t>
            </a:r>
            <a:r>
              <a:rPr lang="en-IN" sz="1800" dirty="0">
                <a:latin typeface="Trebuchet MS" panose="020B0603020202020204" pitchFamily="34" charset="0"/>
              </a:rPr>
              <a:t>, which has to be </a:t>
            </a:r>
            <a:r>
              <a:rPr lang="en-IN" sz="1800" b="1" dirty="0">
                <a:latin typeface="Trebuchet MS" panose="020B0603020202020204" pitchFamily="34" charset="0"/>
              </a:rPr>
              <a:t>displayed on the screen</a:t>
            </a:r>
            <a:r>
              <a:rPr lang="en-IN" sz="1800" dirty="0">
                <a:latin typeface="Trebuchet MS" panose="020B0603020202020204" pitchFamily="34" charset="0"/>
              </a:rPr>
              <a:t>.</a:t>
            </a:r>
          </a:p>
          <a:p>
            <a:pPr marL="285750" indent="-285750">
              <a:lnSpc>
                <a:spcPct val="150000"/>
              </a:lnSpc>
              <a:buFont typeface="Arial" panose="020B0604020202020204" pitchFamily="34" charset="0"/>
              <a:buChar char="•"/>
            </a:pPr>
            <a:r>
              <a:rPr lang="en-IN" sz="1800" dirty="0">
                <a:latin typeface="Trebuchet MS" panose="020B0603020202020204" pitchFamily="34" charset="0"/>
              </a:rPr>
              <a:t>Syntax:</a:t>
            </a:r>
          </a:p>
          <a:p>
            <a:pPr marL="452438">
              <a:lnSpc>
                <a:spcPct val="150000"/>
              </a:lnSpc>
            </a:pPr>
            <a:r>
              <a:rPr lang="en-IN" sz="1800" dirty="0" err="1">
                <a:solidFill>
                  <a:srgbClr val="FF0000"/>
                </a:solidFill>
                <a:latin typeface="Trebuchet MS" panose="020B0603020202020204" pitchFamily="34" charset="0"/>
              </a:rPr>
              <a:t>cout</a:t>
            </a:r>
            <a:r>
              <a:rPr lang="en-IN" sz="1800" dirty="0">
                <a:solidFill>
                  <a:srgbClr val="FF0000"/>
                </a:solidFill>
                <a:latin typeface="Trebuchet MS" panose="020B0603020202020204" pitchFamily="34" charset="0"/>
              </a:rPr>
              <a:t> &lt;&lt; </a:t>
            </a:r>
            <a:r>
              <a:rPr lang="en-IN" sz="1800" dirty="0" err="1">
                <a:solidFill>
                  <a:srgbClr val="FF0000"/>
                </a:solidFill>
                <a:latin typeface="Trebuchet MS" panose="020B0603020202020204" pitchFamily="34" charset="0"/>
              </a:rPr>
              <a:t>variable_name</a:t>
            </a:r>
            <a:r>
              <a:rPr lang="en-IN" sz="1800" dirty="0">
                <a:solidFill>
                  <a:srgbClr val="FF0000"/>
                </a:solidFill>
                <a:latin typeface="Trebuchet MS" panose="020B0603020202020204" pitchFamily="34" charset="0"/>
              </a:rPr>
              <a:t>;</a:t>
            </a:r>
          </a:p>
          <a:p>
            <a:pPr marL="452438">
              <a:lnSpc>
                <a:spcPct val="150000"/>
              </a:lnSpc>
            </a:pPr>
            <a:r>
              <a:rPr lang="en-IN" sz="1800" dirty="0">
                <a:solidFill>
                  <a:schemeClr val="tx1"/>
                </a:solidFill>
                <a:latin typeface="Trebuchet MS" panose="020B0603020202020204" pitchFamily="34" charset="0"/>
              </a:rPr>
              <a:t>               OR</a:t>
            </a:r>
          </a:p>
          <a:p>
            <a:pPr marL="452438">
              <a:lnSpc>
                <a:spcPct val="150000"/>
              </a:lnSpc>
            </a:pPr>
            <a:r>
              <a:rPr lang="en-IN" sz="1800" dirty="0" err="1">
                <a:solidFill>
                  <a:srgbClr val="FF0000"/>
                </a:solidFill>
                <a:latin typeface="Trebuchet MS" panose="020B0603020202020204" pitchFamily="34" charset="0"/>
              </a:rPr>
              <a:t>cout</a:t>
            </a:r>
            <a:r>
              <a:rPr lang="en-IN" sz="1800" dirty="0">
                <a:solidFill>
                  <a:srgbClr val="FF0000"/>
                </a:solidFill>
                <a:latin typeface="Trebuchet MS" panose="020B0603020202020204" pitchFamily="34" charset="0"/>
              </a:rPr>
              <a:t> &lt;&lt; variable1 &lt;&lt; variable2 &lt;&lt; ... ;</a:t>
            </a:r>
          </a:p>
          <a:p>
            <a:pPr marL="452438"/>
            <a:r>
              <a:rPr lang="en-IN" sz="1800" dirty="0">
                <a:latin typeface="Trebuchet MS" panose="020B0603020202020204" pitchFamily="34" charset="0"/>
              </a:rPr>
              <a:t>(This way of using multiple stream insertion operators with a single </a:t>
            </a:r>
            <a:r>
              <a:rPr lang="en-IN" sz="1800" dirty="0" err="1">
                <a:latin typeface="Trebuchet MS" panose="020B0603020202020204" pitchFamily="34" charset="0"/>
              </a:rPr>
              <a:t>cout</a:t>
            </a:r>
            <a:r>
              <a:rPr lang="en-IN" sz="1800" dirty="0">
                <a:latin typeface="Trebuchet MS" panose="020B0603020202020204" pitchFamily="34" charset="0"/>
              </a:rPr>
              <a:t> is called cascading. It helps print multiple variables adjacent to each other on the same line.)</a:t>
            </a:r>
          </a:p>
        </p:txBody>
      </p:sp>
    </p:spTree>
    <p:extLst>
      <p:ext uri="{BB962C8B-B14F-4D97-AF65-F5344CB8AC3E}">
        <p14:creationId xmlns:p14="http://schemas.microsoft.com/office/powerpoint/2010/main" val="33654842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3" y="134250"/>
            <a:ext cx="6199759" cy="615523"/>
          </a:xfrm>
          <a:prstGeom prst="rect">
            <a:avLst/>
          </a:prstGeom>
          <a:noFill/>
          <a:ln>
            <a:noFill/>
          </a:ln>
        </p:spPr>
        <p:txBody>
          <a:bodyPr spcFirstLastPara="1" wrap="square" lIns="91425" tIns="91425" rIns="91425" bIns="91425" anchor="t" anchorCtr="0">
            <a:spAutoFit/>
          </a:bodyPr>
          <a:lstStyle/>
          <a:p>
            <a:r>
              <a:rPr lang="en-IN" sz="2800" b="1" dirty="0">
                <a:solidFill>
                  <a:schemeClr val="bg1"/>
                </a:solidFill>
                <a:latin typeface="Trebuchet MS" panose="020B0603020202020204" pitchFamily="34" charset="0"/>
              </a:rPr>
              <a:t>Standard Output Stream -- </a:t>
            </a:r>
            <a:r>
              <a:rPr lang="en-IN" sz="2800" b="1" dirty="0" err="1">
                <a:solidFill>
                  <a:schemeClr val="bg1"/>
                </a:solidFill>
                <a:latin typeface="Trebuchet MS" panose="020B0603020202020204" pitchFamily="34" charset="0"/>
              </a:rPr>
              <a:t>cout</a:t>
            </a:r>
            <a:endParaRPr sz="2400" b="1" dirty="0">
              <a:solidFill>
                <a:schemeClr val="bg1"/>
              </a:solidFill>
              <a:latin typeface="Trebuchet MS" panose="020B0603020202020204" pitchFamily="34" charset="0"/>
              <a:sym typeface="Proxima Nova"/>
            </a:endParaRPr>
          </a:p>
        </p:txBody>
      </p:sp>
      <p:sp>
        <p:nvSpPr>
          <p:cNvPr id="4" name="Rectangle 3">
            <a:extLst>
              <a:ext uri="{FF2B5EF4-FFF2-40B4-BE49-F238E27FC236}">
                <a16:creationId xmlns:a16="http://schemas.microsoft.com/office/drawing/2014/main" id="{A0DCD9F9-DFBB-BA32-34A3-1CDF6CAE0B0A}"/>
              </a:ext>
            </a:extLst>
          </p:cNvPr>
          <p:cNvSpPr/>
          <p:nvPr/>
        </p:nvSpPr>
        <p:spPr>
          <a:xfrm>
            <a:off x="1338943" y="2917371"/>
            <a:ext cx="4191000" cy="446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68417B42-E3C9-5A83-3586-08BFFDADC78E}"/>
              </a:ext>
            </a:extLst>
          </p:cNvPr>
          <p:cNvSpPr txBox="1"/>
          <p:nvPr/>
        </p:nvSpPr>
        <p:spPr>
          <a:xfrm>
            <a:off x="409903" y="749773"/>
            <a:ext cx="8019057" cy="424263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How to Separate lines in Output?</a:t>
            </a:r>
          </a:p>
          <a:p>
            <a:pPr marL="285750" marR="0" lvl="0" indent="-285750" algn="l" defTabSz="914400" rtl="0" eaLnBrk="1" fontAlgn="auto" latinLnBrk="0" hangingPunct="1">
              <a:lnSpc>
                <a:spcPct val="150000"/>
              </a:lnSpc>
              <a:spcBef>
                <a:spcPts val="0"/>
              </a:spcBef>
              <a:spcAft>
                <a:spcPts val="0"/>
              </a:spcAft>
              <a:buClr>
                <a:srgbClr val="7030A0"/>
              </a:buClr>
              <a:buSzTx/>
              <a:buFont typeface="Arial" panose="020B0604020202020204" pitchFamily="34" charset="0"/>
              <a:buChar char="•"/>
              <a:tabLst/>
              <a:defRPr/>
            </a:pPr>
            <a:r>
              <a:rPr kumimoji="0" lang="en-IN" sz="1800" i="0" strike="noStrike" kern="0" cap="none" spc="0" normalizeH="0" baseline="0" noProof="0" dirty="0">
                <a:ln>
                  <a:noFill/>
                </a:ln>
                <a:solidFill>
                  <a:schemeClr val="tx1"/>
                </a:solidFill>
                <a:effectLst/>
                <a:uLnTx/>
                <a:uFillTx/>
                <a:latin typeface="Trebuchet MS" panose="020B0603020202020204" pitchFamily="34" charset="0"/>
                <a:cs typeface="Arial"/>
                <a:sym typeface="Arial"/>
              </a:rPr>
              <a:t>There are two ways – new line character and </a:t>
            </a:r>
            <a:r>
              <a:rPr kumimoji="0" lang="en-IN" sz="1800" i="0" strike="noStrike" kern="0" cap="none" spc="0" normalizeH="0" baseline="0" noProof="0" dirty="0" err="1">
                <a:ln>
                  <a:noFill/>
                </a:ln>
                <a:solidFill>
                  <a:schemeClr val="tx1"/>
                </a:solidFill>
                <a:effectLst/>
                <a:uLnTx/>
                <a:uFillTx/>
                <a:latin typeface="Trebuchet MS" panose="020B0603020202020204" pitchFamily="34" charset="0"/>
                <a:cs typeface="Arial"/>
                <a:sym typeface="Arial"/>
              </a:rPr>
              <a:t>endl</a:t>
            </a:r>
            <a:r>
              <a:rPr kumimoji="0" lang="en-IN" sz="1800" i="0" strike="noStrike" kern="0" cap="none" spc="0" normalizeH="0" baseline="0" noProof="0" dirty="0">
                <a:ln>
                  <a:noFill/>
                </a:ln>
                <a:solidFill>
                  <a:schemeClr val="tx1"/>
                </a:solidFill>
                <a:effectLst/>
                <a:uLnTx/>
                <a:uFillTx/>
                <a:latin typeface="Trebuchet MS" panose="020B0603020202020204" pitchFamily="34" charset="0"/>
                <a:cs typeface="Arial"/>
                <a:sym typeface="Arial"/>
              </a:rPr>
              <a:t> </a:t>
            </a:r>
          </a:p>
          <a:p>
            <a:pPr marR="0" lvl="0" algn="l" defTabSz="914400" rtl="0" eaLnBrk="1" fontAlgn="auto" latinLnBrk="0" hangingPunct="1">
              <a:lnSpc>
                <a:spcPct val="150000"/>
              </a:lnSpc>
              <a:spcBef>
                <a:spcPts val="0"/>
              </a:spcBef>
              <a:spcAft>
                <a:spcPts val="0"/>
              </a:spcAft>
              <a:buClr>
                <a:srgbClr val="7030A0"/>
              </a:buClr>
              <a:buSzTx/>
              <a:tabLst/>
              <a:defRPr/>
            </a:pPr>
            <a:r>
              <a:rPr kumimoji="0" lang="en-IN" sz="1800" b="1" i="0" u="sng" strike="noStrike" kern="0" cap="none" spc="0" normalizeH="0" baseline="0" noProof="0" dirty="0">
                <a:ln>
                  <a:noFill/>
                </a:ln>
                <a:solidFill>
                  <a:srgbClr val="7030A0"/>
                </a:solidFill>
                <a:effectLst/>
                <a:uLnTx/>
                <a:uFillTx/>
                <a:latin typeface="Trebuchet MS" panose="020B0603020202020204" pitchFamily="34" charset="0"/>
                <a:cs typeface="Arial"/>
                <a:sym typeface="Arial"/>
              </a:rPr>
              <a:t>Using \n, the new line character</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Syntax:</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IN" sz="1800" b="1" dirty="0">
                <a:latin typeface="Trebuchet MS" panose="020B0603020202020204" pitchFamily="34" charset="0"/>
              </a:rPr>
              <a:t>	</a:t>
            </a:r>
            <a:r>
              <a:rPr kumimoji="0" lang="en-IN" sz="1800" i="0" u="none" strike="noStrike" kern="0" normalizeH="0" baseline="0" noProof="0" dirty="0" err="1">
                <a:ln w="0"/>
                <a:solidFill>
                  <a:schemeClr val="tx1"/>
                </a:solidFill>
                <a:effectLst>
                  <a:outerShdw blurRad="38100" dist="19050" dir="2700000" algn="tl" rotWithShape="0">
                    <a:schemeClr val="dk1">
                      <a:alpha val="40000"/>
                    </a:schemeClr>
                  </a:outerShdw>
                </a:effectLst>
                <a:uLnTx/>
                <a:uFillTx/>
                <a:latin typeface="Trebuchet MS" panose="020B0603020202020204" pitchFamily="34" charset="0"/>
                <a:cs typeface="Arial"/>
                <a:sym typeface="Arial"/>
              </a:rPr>
              <a:t>cout</a:t>
            </a:r>
            <a:r>
              <a:rPr kumimoji="0" lang="en-IN" sz="1800" i="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Trebuchet MS" panose="020B0603020202020204" pitchFamily="34" charset="0"/>
                <a:cs typeface="Arial"/>
                <a:sym typeface="Arial"/>
              </a:rPr>
              <a:t> &lt;&lt; variable1 &lt;&lt; '\n' &lt;&lt; variable2;</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lang="en-IN" sz="1800" i="0" u="none" strike="noStrike" kern="0" normalizeH="0" baseline="0" noProof="0" dirty="0">
              <a:ln w="0"/>
              <a:solidFill>
                <a:schemeClr val="tx1"/>
              </a:solidFill>
              <a:effectLst>
                <a:outerShdw blurRad="38100" dist="19050" dir="2700000" algn="tl" rotWithShape="0">
                  <a:schemeClr val="dk1">
                    <a:alpha val="40000"/>
                  </a:schemeClr>
                </a:outerShdw>
              </a:effectLst>
              <a:uLnTx/>
              <a:uFillTx/>
              <a:latin typeface="Trebuchet MS" panose="020B0603020202020204" pitchFamily="34" charset="0"/>
              <a:cs typeface="Arial"/>
              <a:sym typeface="Arial"/>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will print variable1's value and print a new line. Finally, it prints the variable2's value on a new line.</a:t>
            </a:r>
          </a:p>
          <a:p>
            <a:pPr marR="0" lvl="0" algn="l" defTabSz="914400" rtl="0" eaLnBrk="1" fontAlgn="auto" latinLnBrk="0" hangingPunct="1">
              <a:lnSpc>
                <a:spcPct val="150000"/>
              </a:lnSpc>
              <a:spcBef>
                <a:spcPts val="0"/>
              </a:spcBef>
              <a:spcAft>
                <a:spcPts val="0"/>
              </a:spcAft>
              <a:buClr>
                <a:srgbClr val="000000"/>
              </a:buClr>
              <a:buSzTx/>
              <a:tabLst/>
              <a:defRPr/>
            </a:pPr>
            <a:endPar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Tree>
    <p:extLst>
      <p:ext uri="{BB962C8B-B14F-4D97-AF65-F5344CB8AC3E}">
        <p14:creationId xmlns:p14="http://schemas.microsoft.com/office/powerpoint/2010/main" val="20076120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3" y="134250"/>
            <a:ext cx="6199759" cy="615523"/>
          </a:xfrm>
          <a:prstGeom prst="rect">
            <a:avLst/>
          </a:prstGeom>
          <a:noFill/>
          <a:ln>
            <a:noFill/>
          </a:ln>
        </p:spPr>
        <p:txBody>
          <a:bodyPr spcFirstLastPara="1" wrap="square" lIns="91425" tIns="91425" rIns="91425" bIns="91425" anchor="t" anchorCtr="0">
            <a:spAutoFit/>
          </a:bodyPr>
          <a:lstStyle/>
          <a:p>
            <a:r>
              <a:rPr lang="en-IN" sz="2800" b="1" dirty="0">
                <a:solidFill>
                  <a:schemeClr val="bg1"/>
                </a:solidFill>
                <a:latin typeface="Trebuchet MS" panose="020B0603020202020204" pitchFamily="34" charset="0"/>
              </a:rPr>
              <a:t>Standard Output Stream -- </a:t>
            </a:r>
            <a:r>
              <a:rPr lang="en-IN" sz="2800" b="1" dirty="0" err="1">
                <a:solidFill>
                  <a:schemeClr val="bg1"/>
                </a:solidFill>
                <a:latin typeface="Trebuchet MS" panose="020B0603020202020204" pitchFamily="34" charset="0"/>
              </a:rPr>
              <a:t>cout</a:t>
            </a:r>
            <a:endParaRPr sz="2400" b="1" dirty="0">
              <a:solidFill>
                <a:schemeClr val="bg1"/>
              </a:solidFill>
              <a:latin typeface="Trebuchet MS" panose="020B0603020202020204" pitchFamily="34" charset="0"/>
              <a:sym typeface="Proxima Nova"/>
            </a:endParaRPr>
          </a:p>
        </p:txBody>
      </p:sp>
      <p:sp>
        <p:nvSpPr>
          <p:cNvPr id="4" name="Rectangle 3">
            <a:extLst>
              <a:ext uri="{FF2B5EF4-FFF2-40B4-BE49-F238E27FC236}">
                <a16:creationId xmlns:a16="http://schemas.microsoft.com/office/drawing/2014/main" id="{CAA463F9-18B8-AAF4-98CA-72874FF119C7}"/>
              </a:ext>
            </a:extLst>
          </p:cNvPr>
          <p:cNvSpPr/>
          <p:nvPr/>
        </p:nvSpPr>
        <p:spPr>
          <a:xfrm>
            <a:off x="1387366" y="1975945"/>
            <a:ext cx="4298731"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DF4AA6A-2B27-2500-F3B2-D30BA002F3DA}"/>
              </a:ext>
            </a:extLst>
          </p:cNvPr>
          <p:cNvSpPr txBox="1"/>
          <p:nvPr/>
        </p:nvSpPr>
        <p:spPr>
          <a:xfrm>
            <a:off x="504496" y="1019503"/>
            <a:ext cx="8240111" cy="2949975"/>
          </a:xfrm>
          <a:prstGeom prst="rect">
            <a:avLst/>
          </a:prstGeom>
          <a:noFill/>
        </p:spPr>
        <p:txBody>
          <a:bodyPr wrap="square">
            <a:spAutoFit/>
          </a:bodyPr>
          <a:lstStyle/>
          <a:p>
            <a:pPr>
              <a:lnSpc>
                <a:spcPct val="150000"/>
              </a:lnSpc>
              <a:buClr>
                <a:srgbClr val="7030A0"/>
              </a:buClr>
            </a:pPr>
            <a:r>
              <a:rPr lang="en-IN" sz="1800" b="1" u="sng" dirty="0">
                <a:solidFill>
                  <a:srgbClr val="7030A0"/>
                </a:solidFill>
                <a:latin typeface="Trebuchet MS" panose="020B0603020202020204" pitchFamily="34" charset="0"/>
              </a:rPr>
              <a:t>Using </a:t>
            </a:r>
            <a:r>
              <a:rPr lang="en-IN" sz="1800" b="1" u="sng" dirty="0" err="1">
                <a:solidFill>
                  <a:srgbClr val="7030A0"/>
                </a:solidFill>
                <a:latin typeface="Trebuchet MS" panose="020B0603020202020204" pitchFamily="34" charset="0"/>
              </a:rPr>
              <a:t>endl</a:t>
            </a:r>
            <a:r>
              <a:rPr lang="en-IN" sz="1800" b="1" u="sng" dirty="0">
                <a:solidFill>
                  <a:srgbClr val="7030A0"/>
                </a:solidFill>
                <a:latin typeface="Trebuchet MS" panose="020B0603020202020204" pitchFamily="34" charset="0"/>
              </a:rPr>
              <a:t>, a manipulator</a:t>
            </a:r>
          </a:p>
          <a:p>
            <a:pPr>
              <a:lnSpc>
                <a:spcPct val="150000"/>
              </a:lnSpc>
            </a:pPr>
            <a:r>
              <a:rPr lang="en-IN" sz="1800" b="1" dirty="0">
                <a:solidFill>
                  <a:srgbClr val="FF0000"/>
                </a:solidFill>
                <a:latin typeface="Trebuchet MS" panose="020B0603020202020204" pitchFamily="34" charset="0"/>
              </a:rPr>
              <a:t>Syntax:</a:t>
            </a:r>
          </a:p>
          <a:p>
            <a:pPr>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cout</a:t>
            </a:r>
            <a:r>
              <a:rPr lang="en-IN" sz="1800" dirty="0">
                <a:latin typeface="Trebuchet MS" panose="020B0603020202020204" pitchFamily="34" charset="0"/>
              </a:rPr>
              <a:t> &lt;&lt; variable1 &lt;&lt; </a:t>
            </a:r>
            <a:r>
              <a:rPr lang="en-IN" sz="1800" dirty="0" err="1">
                <a:latin typeface="Trebuchet MS" panose="020B0603020202020204" pitchFamily="34" charset="0"/>
              </a:rPr>
              <a:t>endl</a:t>
            </a:r>
            <a:r>
              <a:rPr lang="en-IN" sz="1800" dirty="0">
                <a:latin typeface="Trebuchet MS" panose="020B0603020202020204" pitchFamily="34" charset="0"/>
              </a:rPr>
              <a:t> &lt;&lt; variable2;</a:t>
            </a:r>
          </a:p>
          <a:p>
            <a:pPr marL="285750" indent="-285750">
              <a:lnSpc>
                <a:spcPct val="150000"/>
              </a:lnSpc>
              <a:buFont typeface="Arial" panose="020B0604020202020204" pitchFamily="34" charset="0"/>
              <a:buChar char="•"/>
            </a:pPr>
            <a:endParaRPr lang="en-IN" sz="1800" dirty="0">
              <a:latin typeface="Trebuchet MS" panose="020B0603020202020204" pitchFamily="34" charset="0"/>
            </a:endParaRPr>
          </a:p>
          <a:p>
            <a:pPr marL="285750" indent="-285750">
              <a:lnSpc>
                <a:spcPct val="150000"/>
              </a:lnSpc>
              <a:buFont typeface="Arial" panose="020B0604020202020204" pitchFamily="34" charset="0"/>
              <a:buChar char="•"/>
            </a:pPr>
            <a:r>
              <a:rPr lang="en-IN" sz="1800" dirty="0">
                <a:latin typeface="Trebuchet MS" panose="020B0603020202020204" pitchFamily="34" charset="0"/>
              </a:rPr>
              <a:t>A manipulator in C++ changes the </a:t>
            </a:r>
            <a:r>
              <a:rPr lang="en-IN" sz="1800" dirty="0" err="1">
                <a:latin typeface="Trebuchet MS" panose="020B0603020202020204" pitchFamily="34" charset="0"/>
              </a:rPr>
              <a:t>behavior</a:t>
            </a:r>
            <a:r>
              <a:rPr lang="en-IN" sz="1800" dirty="0">
                <a:latin typeface="Trebuchet MS" panose="020B0603020202020204" pitchFamily="34" charset="0"/>
              </a:rPr>
              <a:t> of an input or output stream.</a:t>
            </a:r>
          </a:p>
          <a:p>
            <a:pPr marL="285750" indent="-285750">
              <a:lnSpc>
                <a:spcPct val="150000"/>
              </a:lnSpc>
              <a:buFont typeface="Arial" panose="020B0604020202020204" pitchFamily="34" charset="0"/>
              <a:buChar char="•"/>
            </a:pPr>
            <a:r>
              <a:rPr lang="en-IN" sz="1800" dirty="0" err="1">
                <a:latin typeface="Trebuchet MS" panose="020B0603020202020204" pitchFamily="34" charset="0"/>
              </a:rPr>
              <a:t>endl</a:t>
            </a:r>
            <a:r>
              <a:rPr lang="en-IN" sz="1800" dirty="0">
                <a:latin typeface="Trebuchet MS" panose="020B0603020202020204" pitchFamily="34" charset="0"/>
              </a:rPr>
              <a:t> manipulator is a part of the std namespace and can also be used to insert a new line.</a:t>
            </a:r>
          </a:p>
        </p:txBody>
      </p:sp>
    </p:spTree>
    <p:extLst>
      <p:ext uri="{BB962C8B-B14F-4D97-AF65-F5344CB8AC3E}">
        <p14:creationId xmlns:p14="http://schemas.microsoft.com/office/powerpoint/2010/main" val="3310198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74041CDD-8054-5BA4-2CF1-48002262EC8E}"/>
              </a:ext>
            </a:extLst>
          </p:cNvPr>
          <p:cNvSpPr txBox="1"/>
          <p:nvPr/>
        </p:nvSpPr>
        <p:spPr>
          <a:xfrm>
            <a:off x="386255" y="1295409"/>
            <a:ext cx="6886903" cy="3539430"/>
          </a:xfrm>
          <a:prstGeom prst="rect">
            <a:avLst/>
          </a:prstGeom>
          <a:noFill/>
        </p:spPr>
        <p:txBody>
          <a:bodyPr wrap="square">
            <a:spAutoFit/>
          </a:bodyPr>
          <a:lstStyle/>
          <a:p>
            <a:pPr marL="91440" marR="3066415">
              <a:lnSpc>
                <a:spcPct val="100000"/>
              </a:lnSpc>
              <a:spcBef>
                <a:spcPts val="600"/>
              </a:spcBef>
              <a:spcAft>
                <a:spcPts val="600"/>
              </a:spcAft>
            </a:pPr>
            <a:r>
              <a:rPr lang="en-IN" sz="1600" spc="-45" dirty="0">
                <a:latin typeface="Trebuchet MS" panose="020B0603020202020204" pitchFamily="34" charset="0"/>
              </a:rPr>
              <a:t>#include&lt;iostream&gt; </a:t>
            </a:r>
          </a:p>
          <a:p>
            <a:pPr marL="91440" marR="3066415">
              <a:lnSpc>
                <a:spcPct val="100000"/>
              </a:lnSpc>
              <a:spcBef>
                <a:spcPts val="600"/>
              </a:spcBef>
              <a:spcAft>
                <a:spcPts val="600"/>
              </a:spcAft>
            </a:pPr>
            <a:r>
              <a:rPr lang="en-IN" sz="1600" spc="-45" dirty="0">
                <a:latin typeface="Trebuchet MS" panose="020B0603020202020204" pitchFamily="34" charset="0"/>
              </a:rPr>
              <a:t> using namespace std; </a:t>
            </a:r>
          </a:p>
          <a:p>
            <a:pPr marL="91440" marR="3066415">
              <a:lnSpc>
                <a:spcPct val="100000"/>
              </a:lnSpc>
              <a:spcBef>
                <a:spcPts val="600"/>
              </a:spcBef>
              <a:spcAft>
                <a:spcPts val="600"/>
              </a:spcAft>
            </a:pPr>
            <a:r>
              <a:rPr lang="en-IN" sz="1600" spc="-45" dirty="0">
                <a:latin typeface="Trebuchet MS" panose="020B0603020202020204" pitchFamily="34" charset="0"/>
              </a:rPr>
              <a:t> int main()</a:t>
            </a:r>
          </a:p>
          <a:p>
            <a:pPr marL="91440" marR="3066415">
              <a:lnSpc>
                <a:spcPct val="100000"/>
              </a:lnSpc>
              <a:spcBef>
                <a:spcPts val="600"/>
              </a:spcBef>
              <a:spcAft>
                <a:spcPts val="600"/>
              </a:spcAft>
            </a:pPr>
            <a:r>
              <a:rPr lang="en-IN" sz="1600" spc="-45" dirty="0">
                <a:latin typeface="Trebuchet MS" panose="020B0603020202020204" pitchFamily="34" charset="0"/>
              </a:rPr>
              <a:t>{</a:t>
            </a:r>
          </a:p>
          <a:p>
            <a:pPr marL="91440" marR="3066415">
              <a:lnSpc>
                <a:spcPct val="100000"/>
              </a:lnSpc>
              <a:spcBef>
                <a:spcPts val="600"/>
              </a:spcBef>
              <a:spcAft>
                <a:spcPts val="600"/>
              </a:spcAft>
            </a:pPr>
            <a:r>
              <a:rPr lang="en-IN" sz="1600" spc="-45" dirty="0" err="1">
                <a:latin typeface="Trebuchet MS" panose="020B0603020202020204" pitchFamily="34" charset="0"/>
              </a:rPr>
              <a:t>cout</a:t>
            </a:r>
            <a:r>
              <a:rPr lang="en-IN" sz="1600" spc="-45" dirty="0">
                <a:latin typeface="Trebuchet MS" panose="020B0603020202020204" pitchFamily="34" charset="0"/>
              </a:rPr>
              <a:t>&lt;&lt;"Welcome to MU\n";</a:t>
            </a:r>
          </a:p>
          <a:p>
            <a:pPr marL="91440" marR="3066415">
              <a:lnSpc>
                <a:spcPct val="100000"/>
              </a:lnSpc>
              <a:spcBef>
                <a:spcPts val="600"/>
              </a:spcBef>
              <a:spcAft>
                <a:spcPts val="600"/>
              </a:spcAft>
            </a:pPr>
            <a:r>
              <a:rPr lang="en-IN" sz="1600" spc="-45" dirty="0" err="1">
                <a:latin typeface="Trebuchet MS" panose="020B0603020202020204" pitchFamily="34" charset="0"/>
              </a:rPr>
              <a:t>cout</a:t>
            </a:r>
            <a:r>
              <a:rPr lang="en-IN" sz="1600" spc="-45" dirty="0">
                <a:latin typeface="Trebuchet MS" panose="020B0603020202020204" pitchFamily="34" charset="0"/>
              </a:rPr>
              <a:t>&lt;&lt;"Welcome to\</a:t>
            </a:r>
            <a:r>
              <a:rPr lang="en-IN" sz="1600" spc="-45" dirty="0" err="1">
                <a:latin typeface="Trebuchet MS" panose="020B0603020202020204" pitchFamily="34" charset="0"/>
              </a:rPr>
              <a:t>nMU</a:t>
            </a:r>
            <a:r>
              <a:rPr lang="en-IN" sz="1600" spc="-45" dirty="0">
                <a:latin typeface="Trebuchet MS" panose="020B0603020202020204" pitchFamily="34" charset="0"/>
              </a:rPr>
              <a:t>";  </a:t>
            </a:r>
          </a:p>
          <a:p>
            <a:pPr marL="91440" marR="3066415">
              <a:lnSpc>
                <a:spcPct val="100000"/>
              </a:lnSpc>
              <a:spcBef>
                <a:spcPts val="600"/>
              </a:spcBef>
              <a:spcAft>
                <a:spcPts val="600"/>
              </a:spcAft>
            </a:pPr>
            <a:r>
              <a:rPr lang="en-IN" sz="1600" spc="-45" dirty="0" err="1">
                <a:latin typeface="Trebuchet MS" panose="020B0603020202020204" pitchFamily="34" charset="0"/>
              </a:rPr>
              <a:t>cout</a:t>
            </a:r>
            <a:r>
              <a:rPr lang="en-IN" sz="1600" spc="-45" dirty="0">
                <a:latin typeface="Trebuchet MS" panose="020B0603020202020204" pitchFamily="34" charset="0"/>
              </a:rPr>
              <a:t>&lt;&lt;"\</a:t>
            </a:r>
            <a:r>
              <a:rPr lang="en-IN" sz="1600" spc="-45" dirty="0" err="1">
                <a:latin typeface="Trebuchet MS" panose="020B0603020202020204" pitchFamily="34" charset="0"/>
              </a:rPr>
              <a:t>nWelcome</a:t>
            </a:r>
            <a:r>
              <a:rPr lang="en-IN" sz="1600" spc="-45" dirty="0">
                <a:latin typeface="Trebuchet MS" panose="020B0603020202020204" pitchFamily="34" charset="0"/>
              </a:rPr>
              <a:t> to"&lt;&lt;</a:t>
            </a:r>
            <a:r>
              <a:rPr lang="en-IN" sz="1600" spc="-45" dirty="0" err="1">
                <a:latin typeface="Trebuchet MS" panose="020B0603020202020204" pitchFamily="34" charset="0"/>
              </a:rPr>
              <a:t>endl</a:t>
            </a:r>
            <a:r>
              <a:rPr lang="en-IN" sz="1600" spc="-45" dirty="0">
                <a:latin typeface="Trebuchet MS" panose="020B0603020202020204" pitchFamily="34" charset="0"/>
              </a:rPr>
              <a:t>&lt;&lt;"MU";</a:t>
            </a:r>
          </a:p>
          <a:p>
            <a:pPr marL="91440" marR="3066415">
              <a:lnSpc>
                <a:spcPct val="100000"/>
              </a:lnSpc>
              <a:spcBef>
                <a:spcPts val="600"/>
              </a:spcBef>
              <a:spcAft>
                <a:spcPts val="600"/>
              </a:spcAft>
            </a:pPr>
            <a:r>
              <a:rPr lang="en-IN" sz="1600" spc="-45" dirty="0">
                <a:latin typeface="Trebuchet MS" panose="020B0603020202020204" pitchFamily="34" charset="0"/>
              </a:rPr>
              <a:t>return 0;</a:t>
            </a:r>
          </a:p>
          <a:p>
            <a:pPr marL="91440" marR="3066415">
              <a:lnSpc>
                <a:spcPct val="100000"/>
              </a:lnSpc>
              <a:spcBef>
                <a:spcPts val="600"/>
              </a:spcBef>
              <a:spcAft>
                <a:spcPts val="600"/>
              </a:spcAft>
            </a:pPr>
            <a:r>
              <a:rPr lang="en-IN" sz="1600" spc="-45" dirty="0">
                <a:latin typeface="Trebuchet MS" panose="020B0603020202020204" pitchFamily="34" charset="0"/>
              </a:rPr>
              <a:t>}</a:t>
            </a:r>
          </a:p>
        </p:txBody>
      </p:sp>
      <p:sp>
        <p:nvSpPr>
          <p:cNvPr id="6" name="TextBox 5">
            <a:extLst>
              <a:ext uri="{FF2B5EF4-FFF2-40B4-BE49-F238E27FC236}">
                <a16:creationId xmlns:a16="http://schemas.microsoft.com/office/drawing/2014/main" id="{0B90D62E-B719-7B1F-FE7B-B55ABCA7B9A7}"/>
              </a:ext>
            </a:extLst>
          </p:cNvPr>
          <p:cNvSpPr txBox="1"/>
          <p:nvPr/>
        </p:nvSpPr>
        <p:spPr>
          <a:xfrm>
            <a:off x="116287" y="72715"/>
            <a:ext cx="62733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Standard Output Stream -- </a:t>
            </a:r>
            <a:r>
              <a:rPr kumimoji="0" lang="en-IN" sz="2800" b="1" i="0" u="none" strike="noStrike" kern="0" cap="none" spc="0" normalizeH="0" baseline="0" noProof="0" dirty="0" err="1">
                <a:ln>
                  <a:noFill/>
                </a:ln>
                <a:solidFill>
                  <a:srgbClr val="FFFFFF"/>
                </a:solidFill>
                <a:effectLst/>
                <a:uLnTx/>
                <a:uFillTx/>
                <a:latin typeface="Trebuchet MS" panose="020B0603020202020204" pitchFamily="34" charset="0"/>
                <a:cs typeface="Arial"/>
                <a:sym typeface="Arial"/>
              </a:rPr>
              <a:t>cout</a:t>
            </a:r>
            <a:endParaRPr kumimoji="0" lang="en-IN" sz="24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Proxima Nova"/>
            </a:endParaRPr>
          </a:p>
        </p:txBody>
      </p:sp>
      <p:sp>
        <p:nvSpPr>
          <p:cNvPr id="8" name="TextBox 7">
            <a:extLst>
              <a:ext uri="{FF2B5EF4-FFF2-40B4-BE49-F238E27FC236}">
                <a16:creationId xmlns:a16="http://schemas.microsoft.com/office/drawing/2014/main" id="{22521F87-9637-90BA-E50B-A28644BFEFEB}"/>
              </a:ext>
            </a:extLst>
          </p:cNvPr>
          <p:cNvSpPr txBox="1"/>
          <p:nvPr/>
        </p:nvSpPr>
        <p:spPr>
          <a:xfrm>
            <a:off x="386256" y="801990"/>
            <a:ext cx="4640316" cy="369332"/>
          </a:xfrm>
          <a:prstGeom prst="rect">
            <a:avLst/>
          </a:prstGeom>
          <a:noFill/>
        </p:spPr>
        <p:txBody>
          <a:bodyPr wrap="square">
            <a:spAutoFit/>
          </a:bodyPr>
          <a:lstStyle/>
          <a:p>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C++ Program using </a:t>
            </a:r>
            <a:r>
              <a:rPr kumimoji="0" lang="en-IN" sz="1800" b="1" i="0" u="none" strike="noStrike" kern="0" cap="none" spc="0" normalizeH="0" baseline="0" noProof="0" dirty="0" err="1">
                <a:ln>
                  <a:noFill/>
                </a:ln>
                <a:solidFill>
                  <a:srgbClr val="0070C0"/>
                </a:solidFill>
                <a:effectLst/>
                <a:uLnTx/>
                <a:uFillTx/>
                <a:latin typeface="Trebuchet MS" panose="020B0603020202020204" pitchFamily="34" charset="0"/>
                <a:cs typeface="Arial"/>
                <a:sym typeface="Arial"/>
              </a:rPr>
              <a:t>cout</a:t>
            </a:r>
            <a:endParaRPr lang="en-IN" b="1" dirty="0">
              <a:solidFill>
                <a:srgbClr val="0070C0"/>
              </a:solidFill>
            </a:endParaRPr>
          </a:p>
        </p:txBody>
      </p:sp>
      <p:pic>
        <p:nvPicPr>
          <p:cNvPr id="12" name="Picture 11">
            <a:extLst>
              <a:ext uri="{FF2B5EF4-FFF2-40B4-BE49-F238E27FC236}">
                <a16:creationId xmlns:a16="http://schemas.microsoft.com/office/drawing/2014/main" id="{6363186B-6DA0-5202-A9EA-A5352B98B214}"/>
              </a:ext>
            </a:extLst>
          </p:cNvPr>
          <p:cNvPicPr>
            <a:picLocks noChangeAspect="1"/>
          </p:cNvPicPr>
          <p:nvPr/>
        </p:nvPicPr>
        <p:blipFill>
          <a:blip r:embed="rId6"/>
          <a:stretch>
            <a:fillRect/>
          </a:stretch>
        </p:blipFill>
        <p:spPr>
          <a:xfrm>
            <a:off x="3838574" y="1765739"/>
            <a:ext cx="3224377" cy="1267974"/>
          </a:xfrm>
          <a:prstGeom prst="rect">
            <a:avLst/>
          </a:prstGeom>
        </p:spPr>
      </p:pic>
    </p:spTree>
    <p:extLst>
      <p:ext uri="{BB962C8B-B14F-4D97-AF65-F5344CB8AC3E}">
        <p14:creationId xmlns:p14="http://schemas.microsoft.com/office/powerpoint/2010/main" val="884878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525" y="37459"/>
            <a:ext cx="9134475" cy="5133975"/>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97" name="Google Shape;97;p17"/>
          <p:cNvSpPr txBox="1"/>
          <p:nvPr/>
        </p:nvSpPr>
        <p:spPr>
          <a:xfrm>
            <a:off x="285123" y="134250"/>
            <a:ext cx="6199759" cy="615523"/>
          </a:xfrm>
          <a:prstGeom prst="rect">
            <a:avLst/>
          </a:prstGeom>
          <a:noFill/>
          <a:ln>
            <a:noFill/>
          </a:ln>
        </p:spPr>
        <p:txBody>
          <a:bodyPr spcFirstLastPara="1" wrap="square" lIns="91425" tIns="91425" rIns="91425" bIns="91425" anchor="t" anchorCtr="0">
            <a:spAutoFit/>
          </a:bodyPr>
          <a:lstStyle/>
          <a:p>
            <a:r>
              <a:rPr lang="en-IN" sz="2800" b="1" dirty="0">
                <a:solidFill>
                  <a:schemeClr val="bg1"/>
                </a:solidFill>
                <a:latin typeface="Trebuchet MS" panose="020B0603020202020204" pitchFamily="34" charset="0"/>
              </a:rPr>
              <a:t>Standard Output Stream -- </a:t>
            </a:r>
            <a:r>
              <a:rPr lang="en-IN" sz="2800" b="1" dirty="0" err="1">
                <a:solidFill>
                  <a:schemeClr val="bg1"/>
                </a:solidFill>
                <a:latin typeface="Trebuchet MS" panose="020B0603020202020204" pitchFamily="34" charset="0"/>
              </a:rPr>
              <a:t>cin</a:t>
            </a:r>
            <a:endParaRPr sz="2800" b="1" dirty="0">
              <a:solidFill>
                <a:schemeClr val="bg1"/>
              </a:solidFill>
              <a:latin typeface="Trebuchet MS" panose="020B0603020202020204" pitchFamily="34" charset="0"/>
              <a:sym typeface="Proxima Nova"/>
            </a:endParaRPr>
          </a:p>
        </p:txBody>
      </p:sp>
      <p:sp>
        <p:nvSpPr>
          <p:cNvPr id="5" name="Rectangle 4">
            <a:extLst>
              <a:ext uri="{FF2B5EF4-FFF2-40B4-BE49-F238E27FC236}">
                <a16:creationId xmlns:a16="http://schemas.microsoft.com/office/drawing/2014/main" id="{5E6F36F5-85EF-77FF-2B3D-19E4464E2727}"/>
              </a:ext>
            </a:extLst>
          </p:cNvPr>
          <p:cNvSpPr/>
          <p:nvPr/>
        </p:nvSpPr>
        <p:spPr>
          <a:xfrm>
            <a:off x="1219200" y="3090041"/>
            <a:ext cx="2627586" cy="33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74AFA74-8DD3-5674-AFF4-19F5FDC441F9}"/>
              </a:ext>
            </a:extLst>
          </p:cNvPr>
          <p:cNvSpPr/>
          <p:nvPr/>
        </p:nvSpPr>
        <p:spPr>
          <a:xfrm>
            <a:off x="1219200" y="4322419"/>
            <a:ext cx="4403834" cy="33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C3F550F-81D3-6F58-7C0C-B1698C062C3E}"/>
              </a:ext>
            </a:extLst>
          </p:cNvPr>
          <p:cNvSpPr txBox="1"/>
          <p:nvPr/>
        </p:nvSpPr>
        <p:spPr>
          <a:xfrm>
            <a:off x="449317" y="912923"/>
            <a:ext cx="8409558" cy="41964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It is an instance of the </a:t>
            </a:r>
            <a:r>
              <a:rPr lang="en-IN" sz="1800" dirty="0" err="1">
                <a:latin typeface="Trebuchet MS" panose="020B0603020202020204" pitchFamily="34" charset="0"/>
              </a:rPr>
              <a:t>istream</a:t>
            </a:r>
            <a:r>
              <a:rPr lang="en-IN" sz="1800" dirty="0">
                <a:latin typeface="Trebuchet MS" panose="020B0603020202020204" pitchFamily="34" charset="0"/>
              </a:rPr>
              <a:t> class.</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It reads input from the standard input device, i.e., the keyboard.</a:t>
            </a:r>
          </a:p>
          <a:p>
            <a:pPr marL="285750" indent="-285750">
              <a:lnSpc>
                <a:spcPct val="150000"/>
              </a:lnSpc>
              <a:buFont typeface="Arial" panose="020B0604020202020204" pitchFamily="34" charset="0"/>
              <a:buChar char="•"/>
            </a:pPr>
            <a:r>
              <a:rPr lang="en-IN" sz="1800" dirty="0">
                <a:latin typeface="Trebuchet MS" panose="020B0603020202020204" pitchFamily="34" charset="0"/>
              </a:rPr>
              <a:t>We need to use the stream </a:t>
            </a:r>
            <a:r>
              <a:rPr lang="en-IN" sz="1800" dirty="0">
                <a:solidFill>
                  <a:srgbClr val="FF0000"/>
                </a:solidFill>
                <a:latin typeface="Trebuchet MS" panose="020B0603020202020204" pitchFamily="34" charset="0"/>
              </a:rPr>
              <a:t>extraction operator &gt;&gt; </a:t>
            </a:r>
            <a:r>
              <a:rPr lang="en-IN" sz="1800" dirty="0">
                <a:latin typeface="Trebuchet MS" panose="020B0603020202020204" pitchFamily="34" charset="0"/>
              </a:rPr>
              <a:t>to extract data entered using the keyboard.</a:t>
            </a:r>
          </a:p>
          <a:p>
            <a:pPr>
              <a:lnSpc>
                <a:spcPct val="150000"/>
              </a:lnSpc>
            </a:pPr>
            <a:r>
              <a:rPr lang="en-IN" sz="1800" dirty="0">
                <a:solidFill>
                  <a:srgbClr val="FF0000"/>
                </a:solidFill>
                <a:latin typeface="Trebuchet MS" panose="020B0603020202020204" pitchFamily="34" charset="0"/>
              </a:rPr>
              <a:t>Syntax:</a:t>
            </a:r>
          </a:p>
          <a:p>
            <a:pPr lvl="2">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cin</a:t>
            </a:r>
            <a:r>
              <a:rPr lang="en-IN" sz="1800" dirty="0">
                <a:latin typeface="Trebuchet MS" panose="020B0603020202020204" pitchFamily="34" charset="0"/>
              </a:rPr>
              <a:t> &gt;&gt; </a:t>
            </a:r>
            <a:r>
              <a:rPr lang="en-IN" sz="1800" dirty="0" err="1">
                <a:latin typeface="Trebuchet MS" panose="020B0603020202020204" pitchFamily="34" charset="0"/>
              </a:rPr>
              <a:t>variable_name</a:t>
            </a:r>
            <a:r>
              <a:rPr lang="en-IN" sz="1800" dirty="0">
                <a:latin typeface="Trebuchet MS" panose="020B0603020202020204" pitchFamily="34" charset="0"/>
              </a:rPr>
              <a:t>;</a:t>
            </a:r>
          </a:p>
          <a:p>
            <a:pPr lvl="2">
              <a:lnSpc>
                <a:spcPct val="150000"/>
              </a:lnSpc>
            </a:pPr>
            <a:r>
              <a:rPr lang="en-IN" sz="1800" dirty="0">
                <a:latin typeface="Trebuchet MS" panose="020B0603020202020204" pitchFamily="34" charset="0"/>
              </a:rPr>
              <a:t>		OR</a:t>
            </a:r>
          </a:p>
          <a:p>
            <a:pPr marL="285750" lvl="2" indent="-285750">
              <a:lnSpc>
                <a:spcPct val="150000"/>
              </a:lnSpc>
              <a:buFont typeface="Arial" panose="020B0604020202020204" pitchFamily="34" charset="0"/>
              <a:buChar char="•"/>
            </a:pPr>
            <a:r>
              <a:rPr lang="en-IN" sz="1800" dirty="0">
                <a:latin typeface="Trebuchet MS" panose="020B0603020202020204" pitchFamily="34" charset="0"/>
              </a:rPr>
              <a:t>Cascading can also be done with </a:t>
            </a:r>
            <a:r>
              <a:rPr lang="en-IN" sz="1800" dirty="0" err="1">
                <a:latin typeface="Trebuchet MS" panose="020B0603020202020204" pitchFamily="34" charset="0"/>
              </a:rPr>
              <a:t>cin</a:t>
            </a:r>
            <a:r>
              <a:rPr lang="en-IN" sz="1800" dirty="0">
                <a:latin typeface="Trebuchet MS" panose="020B0603020202020204" pitchFamily="34" charset="0"/>
              </a:rPr>
              <a:t> to extract multiple variables.</a:t>
            </a:r>
          </a:p>
          <a:p>
            <a:pPr lvl="2">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cin</a:t>
            </a:r>
            <a:r>
              <a:rPr lang="en-IN" sz="1800" dirty="0">
                <a:latin typeface="Trebuchet MS" panose="020B0603020202020204" pitchFamily="34" charset="0"/>
              </a:rPr>
              <a:t> &gt;&gt; variable1 &gt;&gt; variable2 &gt;&gt; ... ;</a:t>
            </a:r>
          </a:p>
          <a:p>
            <a:pPr lvl="2">
              <a:lnSpc>
                <a:spcPct val="150000"/>
              </a:lnSpc>
            </a:pPr>
            <a:endParaRPr lang="en-IN" sz="1800" dirty="0">
              <a:latin typeface="Trebuchet MS" panose="020B0603020202020204" pitchFamily="34" charset="0"/>
            </a:endParaRPr>
          </a:p>
        </p:txBody>
      </p:sp>
    </p:spTree>
    <p:extLst>
      <p:ext uri="{BB962C8B-B14F-4D97-AF65-F5344CB8AC3E}">
        <p14:creationId xmlns:p14="http://schemas.microsoft.com/office/powerpoint/2010/main" val="3828834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Helvetica" panose="020B0604020202020204" pitchFamily="34" charset="0"/>
              </a:rPr>
              <a:t>How to Write Comments in C++?</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9" name="TextBox 8">
            <a:extLst>
              <a:ext uri="{FF2B5EF4-FFF2-40B4-BE49-F238E27FC236}">
                <a16:creationId xmlns:a16="http://schemas.microsoft.com/office/drawing/2014/main" id="{FB173BF8-568E-A9BD-196D-F7D81A45B790}"/>
              </a:ext>
            </a:extLst>
          </p:cNvPr>
          <p:cNvSpPr txBox="1"/>
          <p:nvPr/>
        </p:nvSpPr>
        <p:spPr>
          <a:xfrm>
            <a:off x="357352" y="1101725"/>
            <a:ext cx="8501523" cy="294997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800" b="1" i="0" dirty="0">
                <a:solidFill>
                  <a:srgbClr val="000000"/>
                </a:solidFill>
                <a:effectLst/>
                <a:latin typeface="Trebuchet MS" panose="020B0603020202020204" pitchFamily="34" charset="0"/>
              </a:rPr>
              <a:t>Comments</a:t>
            </a:r>
            <a:r>
              <a:rPr lang="en-IN" sz="1800" b="0" i="0" dirty="0">
                <a:solidFill>
                  <a:srgbClr val="000000"/>
                </a:solidFill>
                <a:effectLst/>
                <a:latin typeface="Trebuchet MS" panose="020B0603020202020204" pitchFamily="34" charset="0"/>
              </a:rPr>
              <a:t> are used to provide the description about the Logic written in program. Comments are not display on output screen.</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When we are used the comments, then that specific part will be ignored by compiler.</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In 'C++' language two types of comments are possible</a:t>
            </a:r>
          </a:p>
          <a:p>
            <a:pPr marL="71437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Single line comments</a:t>
            </a:r>
          </a:p>
          <a:p>
            <a:pPr marL="71437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Multiple line comments</a:t>
            </a:r>
          </a:p>
        </p:txBody>
      </p:sp>
    </p:spTree>
    <p:extLst>
      <p:ext uri="{BB962C8B-B14F-4D97-AF65-F5344CB8AC3E}">
        <p14:creationId xmlns:p14="http://schemas.microsoft.com/office/powerpoint/2010/main" val="7699778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Helvetica" panose="020B0604020202020204" pitchFamily="34" charset="0"/>
              </a:rPr>
              <a:t>How to Write Comments in C++?</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9" name="TextBox 8">
            <a:extLst>
              <a:ext uri="{FF2B5EF4-FFF2-40B4-BE49-F238E27FC236}">
                <a16:creationId xmlns:a16="http://schemas.microsoft.com/office/drawing/2014/main" id="{FB173BF8-568E-A9BD-196D-F7D81A45B790}"/>
              </a:ext>
            </a:extLst>
          </p:cNvPr>
          <p:cNvSpPr txBox="1"/>
          <p:nvPr/>
        </p:nvSpPr>
        <p:spPr>
          <a:xfrm>
            <a:off x="357352" y="1101725"/>
            <a:ext cx="8501523" cy="2949975"/>
          </a:xfrm>
          <a:prstGeom prst="rect">
            <a:avLst/>
          </a:prstGeom>
          <a:noFill/>
        </p:spPr>
        <p:txBody>
          <a:bodyPr wrap="square">
            <a:spAutoFit/>
          </a:bodyPr>
          <a:lstStyle/>
          <a:p>
            <a:pPr algn="l">
              <a:lnSpc>
                <a:spcPct val="150000"/>
              </a:lnSpc>
            </a:pPr>
            <a:r>
              <a:rPr lang="en-IN" sz="1800" b="1" i="0" dirty="0">
                <a:solidFill>
                  <a:srgbClr val="0070C0"/>
                </a:solidFill>
                <a:effectLst/>
                <a:latin typeface="Trebuchet MS" panose="020B0603020202020204" pitchFamily="34" charset="0"/>
              </a:rPr>
              <a:t>Single line comments</a:t>
            </a:r>
          </a:p>
          <a:p>
            <a:pPr algn="just">
              <a:lnSpc>
                <a:spcPct val="150000"/>
              </a:lnSpc>
            </a:pPr>
            <a:r>
              <a:rPr lang="en-IN" sz="1800" b="0" i="0" dirty="0">
                <a:solidFill>
                  <a:srgbClr val="000000"/>
                </a:solidFill>
                <a:effectLst/>
                <a:latin typeface="Trebuchet MS" panose="020B0603020202020204" pitchFamily="34" charset="0"/>
              </a:rPr>
              <a:t>	Single line comments can be provided by using / /....................</a:t>
            </a:r>
          </a:p>
          <a:p>
            <a:pPr algn="l">
              <a:lnSpc>
                <a:spcPct val="150000"/>
              </a:lnSpc>
            </a:pPr>
            <a:r>
              <a:rPr lang="en-IN" sz="1800" b="1" i="0" dirty="0">
                <a:solidFill>
                  <a:srgbClr val="0070C0"/>
                </a:solidFill>
                <a:effectLst/>
                <a:latin typeface="Trebuchet MS" panose="020B0603020202020204" pitchFamily="34" charset="0"/>
              </a:rPr>
              <a:t>Multiple line comments</a:t>
            </a:r>
          </a:p>
          <a:p>
            <a:pPr algn="just">
              <a:lnSpc>
                <a:spcPct val="150000"/>
              </a:lnSpc>
            </a:pPr>
            <a:r>
              <a:rPr lang="en-IN" sz="1800" b="0" i="0" dirty="0">
                <a:solidFill>
                  <a:srgbClr val="000000"/>
                </a:solidFill>
                <a:effectLst/>
                <a:latin typeface="Trebuchet MS" panose="020B0603020202020204" pitchFamily="34" charset="0"/>
              </a:rPr>
              <a:t>	Multiple line comments can be provided by using /*......................*/</a:t>
            </a:r>
          </a:p>
          <a:p>
            <a:pPr algn="just">
              <a:lnSpc>
                <a:spcPct val="150000"/>
              </a:lnSpc>
            </a:pPr>
            <a:r>
              <a:rPr lang="en-IN" sz="1800" b="1" i="0" dirty="0">
                <a:solidFill>
                  <a:srgbClr val="000000"/>
                </a:solidFill>
                <a:effectLst/>
                <a:latin typeface="Trebuchet MS" panose="020B0603020202020204" pitchFamily="34" charset="0"/>
              </a:rPr>
              <a:t>Note:</a:t>
            </a:r>
            <a:r>
              <a:rPr lang="en-IN" sz="1800" b="0" i="0" dirty="0">
                <a:solidFill>
                  <a:srgbClr val="000000"/>
                </a:solidFill>
                <a:effectLst/>
                <a:latin typeface="Trebuchet MS" panose="020B0603020202020204" pitchFamily="34" charset="0"/>
              </a:rPr>
              <a:t> When we are working with the multiple line comments then nested comments are not possible.</a:t>
            </a:r>
          </a:p>
          <a:p>
            <a:pPr algn="l">
              <a:lnSpc>
                <a:spcPct val="150000"/>
              </a:lnSpc>
              <a:buFont typeface="Arial" panose="020B0604020202020204" pitchFamily="34" charset="0"/>
              <a:buChar char="•"/>
            </a:pPr>
            <a:endParaRPr lang="en-IN" sz="1800" b="0" i="0" dirty="0">
              <a:solidFill>
                <a:srgbClr val="000000"/>
              </a:solidFill>
              <a:effectLst/>
              <a:latin typeface="Trebuchet MS" panose="020B0603020202020204" pitchFamily="34" charset="0"/>
            </a:endParaRPr>
          </a:p>
        </p:txBody>
      </p:sp>
    </p:spTree>
    <p:extLst>
      <p:ext uri="{BB962C8B-B14F-4D97-AF65-F5344CB8AC3E}">
        <p14:creationId xmlns:p14="http://schemas.microsoft.com/office/powerpoint/2010/main" val="40214465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Variable in C++</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9" name="TextBox 8">
            <a:extLst>
              <a:ext uri="{FF2B5EF4-FFF2-40B4-BE49-F238E27FC236}">
                <a16:creationId xmlns:a16="http://schemas.microsoft.com/office/drawing/2014/main" id="{FB173BF8-568E-A9BD-196D-F7D81A45B790}"/>
              </a:ext>
            </a:extLst>
          </p:cNvPr>
          <p:cNvSpPr txBox="1"/>
          <p:nvPr/>
        </p:nvSpPr>
        <p:spPr>
          <a:xfrm>
            <a:off x="357352" y="1002532"/>
            <a:ext cx="8501523" cy="294997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Variable is an </a:t>
            </a:r>
            <a:r>
              <a:rPr lang="en-IN" sz="1800" b="1" i="0" dirty="0">
                <a:solidFill>
                  <a:srgbClr val="000000"/>
                </a:solidFill>
                <a:effectLst/>
                <a:latin typeface="Trebuchet MS" panose="020B0603020202020204" pitchFamily="34" charset="0"/>
              </a:rPr>
              <a:t>identifier which holds data</a:t>
            </a:r>
            <a:r>
              <a:rPr lang="en-IN" sz="1800" b="0" i="0" dirty="0">
                <a:solidFill>
                  <a:srgbClr val="000000"/>
                </a:solidFill>
                <a:effectLst/>
                <a:latin typeface="Trebuchet MS" panose="020B0603020202020204" pitchFamily="34" charset="0"/>
              </a:rPr>
              <a:t> or another one variable is an identifier whose value can be changed at the execution time of program.</a:t>
            </a:r>
          </a:p>
          <a:p>
            <a:pPr marL="285750" indent="-285750" algn="l">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Variable is an identifier which can be used to </a:t>
            </a:r>
            <a:r>
              <a:rPr lang="en-IN" sz="1800" b="1" i="0" dirty="0">
                <a:solidFill>
                  <a:srgbClr val="000000"/>
                </a:solidFill>
                <a:effectLst/>
                <a:latin typeface="Trebuchet MS" panose="020B0603020202020204" pitchFamily="34" charset="0"/>
              </a:rPr>
              <a:t>identify input data </a:t>
            </a:r>
            <a:r>
              <a:rPr lang="en-IN" sz="1800" b="0" i="0" dirty="0">
                <a:solidFill>
                  <a:srgbClr val="000000"/>
                </a:solidFill>
                <a:effectLst/>
                <a:latin typeface="Trebuchet MS" panose="020B0603020202020204" pitchFamily="34" charset="0"/>
              </a:rPr>
              <a:t>in a program.</a:t>
            </a:r>
          </a:p>
          <a:p>
            <a:pPr algn="l">
              <a:lnSpc>
                <a:spcPct val="150000"/>
              </a:lnSpc>
            </a:pPr>
            <a:r>
              <a:rPr lang="en-IN" sz="1800" dirty="0">
                <a:solidFill>
                  <a:srgbClr val="0070C0"/>
                </a:solidFill>
                <a:latin typeface="Trebuchet MS" panose="020B0603020202020204" pitchFamily="34" charset="0"/>
              </a:rPr>
              <a:t>Syntax</a:t>
            </a:r>
          </a:p>
          <a:p>
            <a:pPr algn="l">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Variable_name</a:t>
            </a:r>
            <a:r>
              <a:rPr lang="en-IN" sz="1800" dirty="0">
                <a:latin typeface="Trebuchet MS" panose="020B0603020202020204" pitchFamily="34" charset="0"/>
              </a:rPr>
              <a:t> = value;</a:t>
            </a:r>
          </a:p>
          <a:p>
            <a:pPr marL="285750" indent="-285750" algn="l">
              <a:lnSpc>
                <a:spcPct val="150000"/>
              </a:lnSpc>
              <a:buFont typeface="Arial" panose="020B0604020202020204" pitchFamily="34" charset="0"/>
              <a:buChar char="•"/>
            </a:pPr>
            <a:endParaRPr lang="en-IN" sz="1800" b="0" i="0" dirty="0">
              <a:solidFill>
                <a:srgbClr val="000000"/>
              </a:solidFill>
              <a:effectLst/>
              <a:latin typeface="Trebuchet MS" panose="020B0603020202020204" pitchFamily="34" charset="0"/>
            </a:endParaRPr>
          </a:p>
        </p:txBody>
      </p:sp>
      <p:pic>
        <p:nvPicPr>
          <p:cNvPr id="2" name="Picture 1">
            <a:extLst>
              <a:ext uri="{FF2B5EF4-FFF2-40B4-BE49-F238E27FC236}">
                <a16:creationId xmlns:a16="http://schemas.microsoft.com/office/drawing/2014/main" id="{DA5CD743-F59E-2891-6054-4F6F784733BB}"/>
              </a:ext>
            </a:extLst>
          </p:cNvPr>
          <p:cNvPicPr>
            <a:picLocks noChangeAspect="1"/>
          </p:cNvPicPr>
          <p:nvPr/>
        </p:nvPicPr>
        <p:blipFill>
          <a:blip r:embed="rId6"/>
          <a:stretch>
            <a:fillRect/>
          </a:stretch>
        </p:blipFill>
        <p:spPr>
          <a:xfrm>
            <a:off x="5441239" y="2571737"/>
            <a:ext cx="2886075" cy="2066925"/>
          </a:xfrm>
          <a:prstGeom prst="rect">
            <a:avLst/>
          </a:prstGeom>
        </p:spPr>
      </p:pic>
    </p:spTree>
    <p:extLst>
      <p:ext uri="{BB962C8B-B14F-4D97-AF65-F5344CB8AC3E}">
        <p14:creationId xmlns:p14="http://schemas.microsoft.com/office/powerpoint/2010/main" val="5159232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Variable in C++</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5" name="TextBox 4">
            <a:extLst>
              <a:ext uri="{FF2B5EF4-FFF2-40B4-BE49-F238E27FC236}">
                <a16:creationId xmlns:a16="http://schemas.microsoft.com/office/drawing/2014/main" id="{4479F7CF-BAE4-5D60-ACDE-C8EB2CA000A5}"/>
              </a:ext>
            </a:extLst>
          </p:cNvPr>
          <p:cNvSpPr txBox="1"/>
          <p:nvPr/>
        </p:nvSpPr>
        <p:spPr>
          <a:xfrm>
            <a:off x="196197" y="636785"/>
            <a:ext cx="8662678" cy="4360809"/>
          </a:xfrm>
          <a:prstGeom prst="rect">
            <a:avLst/>
          </a:prstGeom>
          <a:noFill/>
        </p:spPr>
        <p:txBody>
          <a:bodyPr wrap="square">
            <a:spAutoFit/>
          </a:bodyPr>
          <a:lstStyle/>
          <a:p>
            <a:pPr>
              <a:lnSpc>
                <a:spcPct val="150000"/>
              </a:lnSpc>
            </a:pPr>
            <a:r>
              <a:rPr lang="en-IN" sz="1700" b="1" dirty="0">
                <a:solidFill>
                  <a:srgbClr val="0070C0"/>
                </a:solidFill>
                <a:latin typeface="Trebuchet MS" panose="020B0603020202020204" pitchFamily="34" charset="0"/>
              </a:rPr>
              <a:t>Variable declarations</a:t>
            </a:r>
          </a:p>
          <a:p>
            <a:pPr marL="285750" indent="-285750">
              <a:lnSpc>
                <a:spcPct val="150000"/>
              </a:lnSpc>
              <a:buFont typeface="Arial" panose="020B0604020202020204" pitchFamily="34" charset="0"/>
              <a:buChar char="•"/>
            </a:pPr>
            <a:r>
              <a:rPr lang="en-IN" sz="1700" dirty="0">
                <a:latin typeface="Trebuchet MS" panose="020B0603020202020204" pitchFamily="34" charset="0"/>
              </a:rPr>
              <a:t>This is the process of allocating sufficient memory space for the data in term of variable.</a:t>
            </a:r>
          </a:p>
          <a:p>
            <a:pPr>
              <a:lnSpc>
                <a:spcPct val="150000"/>
              </a:lnSpc>
            </a:pPr>
            <a:r>
              <a:rPr lang="en-IN" sz="1700" b="1" dirty="0">
                <a:solidFill>
                  <a:srgbClr val="0070C0"/>
                </a:solidFill>
                <a:latin typeface="Trebuchet MS" panose="020B0603020202020204" pitchFamily="34" charset="0"/>
              </a:rPr>
              <a:t>Syntax</a:t>
            </a:r>
          </a:p>
          <a:p>
            <a:pPr>
              <a:lnSpc>
                <a:spcPct val="150000"/>
              </a:lnSpc>
            </a:pPr>
            <a:r>
              <a:rPr lang="en-IN" sz="1700" dirty="0">
                <a:latin typeface="Trebuchet MS" panose="020B0603020202020204" pitchFamily="34" charset="0"/>
              </a:rPr>
              <a:t>	datatype </a:t>
            </a:r>
            <a:r>
              <a:rPr lang="en-IN" sz="1700" dirty="0" err="1">
                <a:latin typeface="Trebuchet MS" panose="020B0603020202020204" pitchFamily="34" charset="0"/>
              </a:rPr>
              <a:t>variable_name</a:t>
            </a:r>
            <a:r>
              <a:rPr lang="en-IN" sz="1700" dirty="0">
                <a:latin typeface="Trebuchet MS" panose="020B0603020202020204" pitchFamily="34" charset="0"/>
              </a:rPr>
              <a:t>; </a:t>
            </a:r>
          </a:p>
          <a:p>
            <a:pPr>
              <a:lnSpc>
                <a:spcPct val="150000"/>
              </a:lnSpc>
            </a:pPr>
            <a:r>
              <a:rPr lang="en-IN" sz="1700" b="1" dirty="0">
                <a:solidFill>
                  <a:srgbClr val="0070C0"/>
                </a:solidFill>
                <a:latin typeface="Trebuchet MS" panose="020B0603020202020204" pitchFamily="34" charset="0"/>
              </a:rPr>
              <a:t>Example</a:t>
            </a:r>
          </a:p>
          <a:p>
            <a:pPr>
              <a:lnSpc>
                <a:spcPct val="150000"/>
              </a:lnSpc>
            </a:pPr>
            <a:r>
              <a:rPr lang="en-IN" sz="1700" dirty="0">
                <a:latin typeface="Trebuchet MS" panose="020B0603020202020204" pitchFamily="34" charset="0"/>
              </a:rPr>
              <a:t>	int a;</a:t>
            </a:r>
          </a:p>
          <a:p>
            <a:pPr>
              <a:lnSpc>
                <a:spcPct val="150000"/>
              </a:lnSpc>
            </a:pPr>
            <a:r>
              <a:rPr lang="en-IN" sz="1700" dirty="0">
                <a:latin typeface="Trebuchet MS" panose="020B0603020202020204" pitchFamily="34" charset="0"/>
              </a:rPr>
              <a:t>	float b;</a:t>
            </a:r>
          </a:p>
          <a:p>
            <a:pPr>
              <a:lnSpc>
                <a:spcPct val="150000"/>
              </a:lnSpc>
            </a:pPr>
            <a:r>
              <a:rPr lang="en-IN" sz="1700" dirty="0">
                <a:latin typeface="Trebuchet MS" panose="020B0603020202020204" pitchFamily="34" charset="0"/>
              </a:rPr>
              <a:t>	string name;</a:t>
            </a:r>
          </a:p>
          <a:p>
            <a:pPr marL="285750" indent="-285750">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If </a:t>
            </a:r>
            <a:r>
              <a:rPr lang="en-IN" sz="1700" b="1" i="0" dirty="0">
                <a:solidFill>
                  <a:srgbClr val="000000"/>
                </a:solidFill>
                <a:effectLst/>
                <a:latin typeface="Trebuchet MS" panose="020B0603020202020204" pitchFamily="34" charset="0"/>
              </a:rPr>
              <a:t>no input values </a:t>
            </a:r>
            <a:r>
              <a:rPr lang="en-IN" sz="1700" b="0" i="0" dirty="0">
                <a:solidFill>
                  <a:srgbClr val="000000"/>
                </a:solidFill>
                <a:effectLst/>
                <a:latin typeface="Trebuchet MS" panose="020B0603020202020204" pitchFamily="34" charset="0"/>
              </a:rPr>
              <a:t>are assigned by the user than system will gives a </a:t>
            </a:r>
            <a:r>
              <a:rPr lang="en-IN" sz="1700" b="1" i="0" dirty="0">
                <a:solidFill>
                  <a:srgbClr val="000000"/>
                </a:solidFill>
                <a:effectLst/>
                <a:latin typeface="Trebuchet MS" panose="020B0603020202020204" pitchFamily="34" charset="0"/>
              </a:rPr>
              <a:t>default value </a:t>
            </a:r>
            <a:r>
              <a:rPr lang="en-IN" sz="1700" b="0" i="0" dirty="0">
                <a:solidFill>
                  <a:srgbClr val="000000"/>
                </a:solidFill>
                <a:effectLst/>
                <a:latin typeface="Trebuchet MS" panose="020B0603020202020204" pitchFamily="34" charset="0"/>
              </a:rPr>
              <a:t>called </a:t>
            </a:r>
            <a:r>
              <a:rPr lang="en-IN" sz="1700" b="0" i="0" dirty="0">
                <a:solidFill>
                  <a:srgbClr val="FF0000"/>
                </a:solidFill>
                <a:effectLst/>
                <a:latin typeface="Trebuchet MS" panose="020B0603020202020204" pitchFamily="34" charset="0"/>
              </a:rPr>
              <a:t>garbage value</a:t>
            </a:r>
            <a:r>
              <a:rPr lang="en-IN" sz="1700" b="0" i="0" dirty="0">
                <a:solidFill>
                  <a:srgbClr val="000000"/>
                </a:solidFill>
                <a:effectLst/>
                <a:latin typeface="Trebuchet MS" panose="020B0603020202020204" pitchFamily="34" charset="0"/>
              </a:rPr>
              <a:t>.</a:t>
            </a:r>
            <a:endParaRPr lang="en-IN" sz="1700" dirty="0">
              <a:latin typeface="Trebuchet MS" panose="020B0603020202020204" pitchFamily="34" charset="0"/>
            </a:endParaRPr>
          </a:p>
        </p:txBody>
      </p:sp>
      <p:grpSp>
        <p:nvGrpSpPr>
          <p:cNvPr id="10" name="Group 9">
            <a:extLst>
              <a:ext uri="{FF2B5EF4-FFF2-40B4-BE49-F238E27FC236}">
                <a16:creationId xmlns:a16="http://schemas.microsoft.com/office/drawing/2014/main" id="{65A5832D-C647-32F3-9326-F46DFA060522}"/>
              </a:ext>
            </a:extLst>
          </p:cNvPr>
          <p:cNvGrpSpPr/>
          <p:nvPr/>
        </p:nvGrpSpPr>
        <p:grpSpPr>
          <a:xfrm>
            <a:off x="5949984" y="2012447"/>
            <a:ext cx="2392306" cy="1609483"/>
            <a:chOff x="5971005" y="2733265"/>
            <a:chExt cx="2392306" cy="1609483"/>
          </a:xfrm>
        </p:grpSpPr>
        <p:pic>
          <p:nvPicPr>
            <p:cNvPr id="6" name="Picture 5">
              <a:extLst>
                <a:ext uri="{FF2B5EF4-FFF2-40B4-BE49-F238E27FC236}">
                  <a16:creationId xmlns:a16="http://schemas.microsoft.com/office/drawing/2014/main" id="{D1F03641-BF83-22EE-7E39-BC878597645D}"/>
                </a:ext>
              </a:extLst>
            </p:cNvPr>
            <p:cNvPicPr>
              <a:picLocks noChangeAspect="1"/>
            </p:cNvPicPr>
            <p:nvPr/>
          </p:nvPicPr>
          <p:blipFill>
            <a:blip r:embed="rId6"/>
            <a:stretch>
              <a:fillRect/>
            </a:stretch>
          </p:blipFill>
          <p:spPr>
            <a:xfrm>
              <a:off x="5971005" y="2733265"/>
              <a:ext cx="2200847" cy="1609483"/>
            </a:xfrm>
            <a:prstGeom prst="rect">
              <a:avLst/>
            </a:prstGeom>
          </p:spPr>
        </p:pic>
        <p:sp>
          <p:nvSpPr>
            <p:cNvPr id="8" name="Rectangle 7">
              <a:extLst>
                <a:ext uri="{FF2B5EF4-FFF2-40B4-BE49-F238E27FC236}">
                  <a16:creationId xmlns:a16="http://schemas.microsoft.com/office/drawing/2014/main" id="{4840ED0A-81B5-8706-9A7A-F5B94DF2FB0B}"/>
                </a:ext>
              </a:extLst>
            </p:cNvPr>
            <p:cNvSpPr/>
            <p:nvPr/>
          </p:nvSpPr>
          <p:spPr>
            <a:xfrm>
              <a:off x="7541232" y="3243946"/>
              <a:ext cx="822079" cy="26628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 byte </a:t>
              </a:r>
              <a:endParaRPr lang="en-IN" dirty="0"/>
            </a:p>
          </p:txBody>
        </p:sp>
      </p:grpSp>
    </p:spTree>
    <p:extLst>
      <p:ext uri="{BB962C8B-B14F-4D97-AF65-F5344CB8AC3E}">
        <p14:creationId xmlns:p14="http://schemas.microsoft.com/office/powerpoint/2010/main" val="17516207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Variable in C++</a:t>
            </a:r>
          </a:p>
        </p:txBody>
      </p:sp>
      <p:sp>
        <p:nvSpPr>
          <p:cNvPr id="8" name="TextBox 7">
            <a:extLst>
              <a:ext uri="{FF2B5EF4-FFF2-40B4-BE49-F238E27FC236}">
                <a16:creationId xmlns:a16="http://schemas.microsoft.com/office/drawing/2014/main" id="{AD7178D4-FFC6-E953-6FC9-C0FC912AE777}"/>
              </a:ext>
            </a:extLst>
          </p:cNvPr>
          <p:cNvSpPr txBox="1"/>
          <p:nvPr/>
        </p:nvSpPr>
        <p:spPr>
          <a:xfrm>
            <a:off x="180022" y="763094"/>
            <a:ext cx="8785302" cy="4196470"/>
          </a:xfrm>
          <a:prstGeom prst="rect">
            <a:avLst/>
          </a:prstGeom>
          <a:noFill/>
        </p:spPr>
        <p:txBody>
          <a:bodyPr wrap="square">
            <a:spAutoFit/>
          </a:bodyPr>
          <a:lstStyle/>
          <a:p>
            <a:pPr>
              <a:lnSpc>
                <a:spcPct val="150000"/>
              </a:lnSpc>
            </a:pPr>
            <a:r>
              <a:rPr lang="en-IN" sz="1800" b="1" dirty="0">
                <a:solidFill>
                  <a:srgbClr val="0070C0"/>
                </a:solidFill>
                <a:latin typeface="Trebuchet MS" panose="020B0603020202020204" pitchFamily="34" charset="0"/>
              </a:rPr>
              <a:t>Garbage value</a:t>
            </a:r>
          </a:p>
          <a:p>
            <a:pPr marL="285750" indent="-285750">
              <a:lnSpc>
                <a:spcPct val="150000"/>
              </a:lnSpc>
              <a:buFont typeface="Arial" panose="020B0604020202020204" pitchFamily="34" charset="0"/>
              <a:buChar char="•"/>
            </a:pPr>
            <a:r>
              <a:rPr lang="en-IN" sz="1800" dirty="0">
                <a:latin typeface="Trebuchet MS" panose="020B0603020202020204" pitchFamily="34" charset="0"/>
              </a:rPr>
              <a:t>Garbage value can be any value given by system and that is no way related to correct programs. It is a disadvantage and it can </a:t>
            </a:r>
            <a:r>
              <a:rPr lang="en-IN" sz="1800" b="1" dirty="0">
                <a:latin typeface="Trebuchet MS" panose="020B0603020202020204" pitchFamily="34" charset="0"/>
              </a:rPr>
              <a:t>overcome using variable initialization.</a:t>
            </a:r>
          </a:p>
          <a:p>
            <a:pPr>
              <a:lnSpc>
                <a:spcPct val="150000"/>
              </a:lnSpc>
            </a:pPr>
            <a:r>
              <a:rPr lang="en-IN" sz="1800" b="1" dirty="0">
                <a:solidFill>
                  <a:srgbClr val="0070C0"/>
                </a:solidFill>
                <a:latin typeface="Trebuchet MS" panose="020B0603020202020204" pitchFamily="34" charset="0"/>
              </a:rPr>
              <a:t>Variable initialization</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It is the process of allocating sufficient memory space with user defined values.</a:t>
            </a:r>
          </a:p>
          <a:p>
            <a:pPr>
              <a:lnSpc>
                <a:spcPct val="150000"/>
              </a:lnSpc>
            </a:pPr>
            <a:r>
              <a:rPr lang="en-IN" sz="1800" b="1" dirty="0">
                <a:solidFill>
                  <a:srgbClr val="0070C0"/>
                </a:solidFill>
                <a:latin typeface="Trebuchet MS" panose="020B0603020202020204" pitchFamily="34" charset="0"/>
              </a:rPr>
              <a:t>Syntax</a:t>
            </a:r>
          </a:p>
          <a:p>
            <a:pPr>
              <a:lnSpc>
                <a:spcPct val="150000"/>
              </a:lnSpc>
            </a:pPr>
            <a:r>
              <a:rPr lang="en-IN" sz="1800" dirty="0">
                <a:latin typeface="Trebuchet MS" panose="020B0603020202020204" pitchFamily="34" charset="0"/>
              </a:rPr>
              <a:t>	datatype </a:t>
            </a:r>
            <a:r>
              <a:rPr lang="en-IN" sz="1800" dirty="0" err="1">
                <a:latin typeface="Trebuchet MS" panose="020B0603020202020204" pitchFamily="34" charset="0"/>
              </a:rPr>
              <a:t>variable_name</a:t>
            </a:r>
            <a:r>
              <a:rPr lang="en-IN" sz="1800" dirty="0">
                <a:latin typeface="Trebuchet MS" panose="020B0603020202020204" pitchFamily="34" charset="0"/>
              </a:rPr>
              <a:t>=value;</a:t>
            </a:r>
          </a:p>
          <a:p>
            <a:pPr>
              <a:lnSpc>
                <a:spcPct val="150000"/>
              </a:lnSpc>
            </a:pPr>
            <a:r>
              <a:rPr lang="en-IN" sz="1800" b="1" dirty="0">
                <a:solidFill>
                  <a:srgbClr val="0070C0"/>
                </a:solidFill>
                <a:latin typeface="Trebuchet MS" panose="020B0603020202020204" pitchFamily="34" charset="0"/>
              </a:rPr>
              <a:t>Example</a:t>
            </a:r>
          </a:p>
          <a:p>
            <a:pPr>
              <a:lnSpc>
                <a:spcPct val="150000"/>
              </a:lnSpc>
            </a:pPr>
            <a:r>
              <a:rPr lang="en-IN" sz="1800" dirty="0">
                <a:latin typeface="Trebuchet MS" panose="020B0603020202020204" pitchFamily="34" charset="0"/>
              </a:rPr>
              <a:t>	int  b = 30;</a:t>
            </a:r>
            <a:endParaRPr lang="en-IN" dirty="0">
              <a:latin typeface="Trebuchet MS" panose="020B0603020202020204" pitchFamily="34" charset="0"/>
            </a:endParaRPr>
          </a:p>
        </p:txBody>
      </p:sp>
    </p:spTree>
    <p:extLst>
      <p:ext uri="{BB962C8B-B14F-4D97-AF65-F5344CB8AC3E}">
        <p14:creationId xmlns:p14="http://schemas.microsoft.com/office/powerpoint/2010/main" val="4658395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Variable Declaration Rules in C++</a:t>
            </a:r>
          </a:p>
        </p:txBody>
      </p:sp>
      <p:sp>
        <p:nvSpPr>
          <p:cNvPr id="4" name="TextBox 3">
            <a:extLst>
              <a:ext uri="{FF2B5EF4-FFF2-40B4-BE49-F238E27FC236}">
                <a16:creationId xmlns:a16="http://schemas.microsoft.com/office/drawing/2014/main" id="{98ECB417-C8E2-30E9-FE27-EBBA48BF3449}"/>
              </a:ext>
            </a:extLst>
          </p:cNvPr>
          <p:cNvSpPr txBox="1"/>
          <p:nvPr/>
        </p:nvSpPr>
        <p:spPr>
          <a:xfrm>
            <a:off x="383136" y="1096749"/>
            <a:ext cx="8475739" cy="294997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Every variable name should start with alphabets or underscore (_).</a:t>
            </a:r>
          </a:p>
          <a:p>
            <a:pPr marL="285750" indent="-285750" algn="l">
              <a:lnSpc>
                <a:spcPct val="150000"/>
              </a:lnSpc>
              <a:buFont typeface="Arial" panose="020B0604020202020204" pitchFamily="34" charset="0"/>
              <a:buChar char="•"/>
            </a:pPr>
            <a:r>
              <a:rPr lang="en-IN" sz="1800" b="1" i="0" dirty="0">
                <a:solidFill>
                  <a:srgbClr val="000000"/>
                </a:solidFill>
                <a:effectLst/>
                <a:latin typeface="Trebuchet MS" panose="020B0603020202020204" pitchFamily="34" charset="0"/>
              </a:rPr>
              <a:t>No spaces </a:t>
            </a:r>
            <a:r>
              <a:rPr lang="en-IN" sz="1800" b="0" i="0" dirty="0">
                <a:solidFill>
                  <a:srgbClr val="000000"/>
                </a:solidFill>
                <a:effectLst/>
                <a:latin typeface="Trebuchet MS" panose="020B0603020202020204" pitchFamily="34" charset="0"/>
              </a:rPr>
              <a:t>are allowed in variable declaration.</a:t>
            </a:r>
          </a:p>
          <a:p>
            <a:pPr marL="285750" indent="-285750" algn="l">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Except </a:t>
            </a:r>
            <a:r>
              <a:rPr lang="en-IN" sz="1800" b="1" i="0" dirty="0">
                <a:solidFill>
                  <a:srgbClr val="000000"/>
                </a:solidFill>
                <a:effectLst/>
                <a:latin typeface="Trebuchet MS" panose="020B0603020202020204" pitchFamily="34" charset="0"/>
              </a:rPr>
              <a:t>underscore (_)</a:t>
            </a:r>
            <a:r>
              <a:rPr lang="en-IN" sz="1800" b="0" i="0" dirty="0">
                <a:solidFill>
                  <a:srgbClr val="000000"/>
                </a:solidFill>
                <a:effectLst/>
                <a:latin typeface="Trebuchet MS" panose="020B0603020202020204" pitchFamily="34" charset="0"/>
              </a:rPr>
              <a:t> no special symbol are allowed in the middle of the variable declaration.</a:t>
            </a:r>
          </a:p>
          <a:p>
            <a:pPr marL="285750" indent="-285750" algn="l">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Every variable name always should exist in the left hand side of assignment operator.</a:t>
            </a:r>
          </a:p>
          <a:p>
            <a:pPr marL="285750" indent="-285750" algn="l">
              <a:lnSpc>
                <a:spcPct val="150000"/>
              </a:lnSpc>
              <a:buFont typeface="Arial" panose="020B0604020202020204" pitchFamily="34" charset="0"/>
              <a:buChar char="•"/>
            </a:pPr>
            <a:r>
              <a:rPr lang="en-IN" sz="1800" b="1" i="0" dirty="0">
                <a:solidFill>
                  <a:srgbClr val="000000"/>
                </a:solidFill>
                <a:effectLst/>
                <a:latin typeface="Trebuchet MS" panose="020B0603020202020204" pitchFamily="34" charset="0"/>
              </a:rPr>
              <a:t>No keyword </a:t>
            </a:r>
            <a:r>
              <a:rPr lang="en-IN" sz="1800" b="0" i="0" dirty="0">
                <a:solidFill>
                  <a:srgbClr val="000000"/>
                </a:solidFill>
                <a:effectLst/>
                <a:latin typeface="Trebuchet MS" panose="020B0603020202020204" pitchFamily="34" charset="0"/>
              </a:rPr>
              <a:t>should access variable name.</a:t>
            </a:r>
          </a:p>
        </p:txBody>
      </p:sp>
    </p:spTree>
    <p:extLst>
      <p:ext uri="{BB962C8B-B14F-4D97-AF65-F5344CB8AC3E}">
        <p14:creationId xmlns:p14="http://schemas.microsoft.com/office/powerpoint/2010/main" val="12061649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Scope of Variable in C++</a:t>
            </a:r>
          </a:p>
        </p:txBody>
      </p:sp>
      <p:sp>
        <p:nvSpPr>
          <p:cNvPr id="5" name="TextBox 4">
            <a:extLst>
              <a:ext uri="{FF2B5EF4-FFF2-40B4-BE49-F238E27FC236}">
                <a16:creationId xmlns:a16="http://schemas.microsoft.com/office/drawing/2014/main" id="{4EDD581E-A6FD-548A-7E21-90D1606CAFB4}"/>
              </a:ext>
            </a:extLst>
          </p:cNvPr>
          <p:cNvSpPr txBox="1"/>
          <p:nvPr/>
        </p:nvSpPr>
        <p:spPr>
          <a:xfrm>
            <a:off x="414337" y="889000"/>
            <a:ext cx="8305800" cy="3365473"/>
          </a:xfrm>
          <a:prstGeom prst="rect">
            <a:avLst/>
          </a:prstGeom>
          <a:noFill/>
        </p:spPr>
        <p:txBody>
          <a:bodyPr wrap="square">
            <a:spAutoFit/>
          </a:bodyPr>
          <a:lstStyle/>
          <a:p>
            <a:pPr algn="just">
              <a:lnSpc>
                <a:spcPct val="150000"/>
              </a:lnSpc>
            </a:pPr>
            <a:r>
              <a:rPr lang="en-IN" sz="1800" b="0" i="0" dirty="0">
                <a:solidFill>
                  <a:srgbClr val="000000"/>
                </a:solidFill>
                <a:effectLst/>
                <a:latin typeface="Trebuchet MS" panose="020B0603020202020204" pitchFamily="34" charset="0"/>
              </a:rPr>
              <a:t>In C++ language, a variable can be either of </a:t>
            </a:r>
            <a:r>
              <a:rPr lang="en-IN" sz="1800" b="1" i="0" dirty="0">
                <a:solidFill>
                  <a:srgbClr val="000000"/>
                </a:solidFill>
                <a:effectLst/>
                <a:latin typeface="Trebuchet MS" panose="020B0603020202020204" pitchFamily="34" charset="0"/>
              </a:rPr>
              <a:t>global or local </a:t>
            </a:r>
            <a:r>
              <a:rPr lang="en-IN" sz="1800" b="0" i="0" dirty="0">
                <a:solidFill>
                  <a:srgbClr val="000000"/>
                </a:solidFill>
                <a:effectLst/>
                <a:latin typeface="Trebuchet MS" panose="020B0603020202020204" pitchFamily="34" charset="0"/>
              </a:rPr>
              <a:t>scope.</a:t>
            </a:r>
          </a:p>
          <a:p>
            <a:pPr algn="l">
              <a:lnSpc>
                <a:spcPct val="150000"/>
              </a:lnSpc>
            </a:pPr>
            <a:r>
              <a:rPr lang="en-IN" sz="1800" b="1" i="0" dirty="0">
                <a:solidFill>
                  <a:srgbClr val="0070C0"/>
                </a:solidFill>
                <a:effectLst/>
                <a:latin typeface="Trebuchet MS" panose="020B0603020202020204" pitchFamily="34" charset="0"/>
              </a:rPr>
              <a:t>Global variable</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Global variables are defined </a:t>
            </a:r>
            <a:r>
              <a:rPr lang="en-IN" sz="1800" b="1" i="0" dirty="0">
                <a:solidFill>
                  <a:srgbClr val="000000"/>
                </a:solidFill>
                <a:effectLst/>
                <a:latin typeface="Trebuchet MS" panose="020B0603020202020204" pitchFamily="34" charset="0"/>
              </a:rPr>
              <a:t>outside of all the functions</a:t>
            </a:r>
            <a:r>
              <a:rPr lang="en-IN" sz="1800" b="0" i="0" dirty="0">
                <a:solidFill>
                  <a:srgbClr val="000000"/>
                </a:solidFill>
                <a:effectLst/>
                <a:latin typeface="Trebuchet MS" panose="020B0603020202020204" pitchFamily="34" charset="0"/>
              </a:rPr>
              <a:t>, generally on top of the program. The global variables will hold their value throughout the life-time of your program.</a:t>
            </a:r>
          </a:p>
          <a:p>
            <a:pPr algn="l">
              <a:lnSpc>
                <a:spcPct val="150000"/>
              </a:lnSpc>
            </a:pPr>
            <a:r>
              <a:rPr lang="en-IN" sz="1800" b="1" i="0" dirty="0">
                <a:solidFill>
                  <a:srgbClr val="0070C0"/>
                </a:solidFill>
                <a:effectLst/>
                <a:latin typeface="Trebuchet MS" panose="020B0603020202020204" pitchFamily="34" charset="0"/>
              </a:rPr>
              <a:t>Local variable</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A local variable is declared </a:t>
            </a:r>
            <a:r>
              <a:rPr lang="en-IN" sz="1800" b="1" i="0" dirty="0">
                <a:solidFill>
                  <a:srgbClr val="000000"/>
                </a:solidFill>
                <a:effectLst/>
                <a:latin typeface="Trebuchet MS" panose="020B0603020202020204" pitchFamily="34" charset="0"/>
              </a:rPr>
              <a:t>within the body of a function or a block</a:t>
            </a:r>
            <a:r>
              <a:rPr lang="en-IN" sz="1800" b="0" i="0" dirty="0">
                <a:solidFill>
                  <a:srgbClr val="000000"/>
                </a:solidFill>
                <a:effectLst/>
                <a:latin typeface="Trebuchet MS" panose="020B0603020202020204" pitchFamily="34" charset="0"/>
              </a:rPr>
              <a:t>. Local variable only use within the function or block where it is declare.</a:t>
            </a:r>
          </a:p>
        </p:txBody>
      </p:sp>
    </p:spTree>
    <p:extLst>
      <p:ext uri="{BB962C8B-B14F-4D97-AF65-F5344CB8AC3E}">
        <p14:creationId xmlns:p14="http://schemas.microsoft.com/office/powerpoint/2010/main" val="13918611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80022" y="96036"/>
            <a:ext cx="642947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Scope of Variable in C++</a:t>
            </a:r>
          </a:p>
        </p:txBody>
      </p:sp>
      <p:sp>
        <p:nvSpPr>
          <p:cNvPr id="7" name="TextBox 6">
            <a:extLst>
              <a:ext uri="{FF2B5EF4-FFF2-40B4-BE49-F238E27FC236}">
                <a16:creationId xmlns:a16="http://schemas.microsoft.com/office/drawing/2014/main" id="{42E866EB-2C54-E16B-2506-AD0CC30B234C}"/>
              </a:ext>
            </a:extLst>
          </p:cNvPr>
          <p:cNvSpPr txBox="1"/>
          <p:nvPr/>
        </p:nvSpPr>
        <p:spPr>
          <a:xfrm>
            <a:off x="303404" y="710542"/>
            <a:ext cx="6182709" cy="4493538"/>
          </a:xfrm>
          <a:prstGeom prst="rect">
            <a:avLst/>
          </a:prstGeom>
          <a:noFill/>
        </p:spPr>
        <p:txBody>
          <a:bodyPr wrap="square">
            <a:spAutoFit/>
          </a:bodyPr>
          <a:lstStyle/>
          <a:p>
            <a:r>
              <a:rPr lang="en-IN" sz="1600" dirty="0">
                <a:solidFill>
                  <a:srgbClr val="0070C0"/>
                </a:solidFill>
                <a:latin typeface="Trebuchet MS" panose="020B0603020202020204" pitchFamily="34" charset="0"/>
              </a:rPr>
              <a:t>Example of Global and Local variable</a:t>
            </a:r>
          </a:p>
          <a:p>
            <a:endParaRPr lang="en-IN" sz="1600" dirty="0">
              <a:solidFill>
                <a:srgbClr val="0070C0"/>
              </a:solidFill>
              <a:latin typeface="Trebuchet MS" panose="020B0603020202020204" pitchFamily="34" charset="0"/>
            </a:endParaRPr>
          </a:p>
          <a:p>
            <a:pPr marL="357188" lvl="1">
              <a:lnSpc>
                <a:spcPct val="150000"/>
              </a:lnSpc>
            </a:pPr>
            <a:r>
              <a:rPr lang="en-IN" sz="1600" dirty="0">
                <a:latin typeface="Trebuchet MS" panose="020B0603020202020204" pitchFamily="34" charset="0"/>
              </a:rPr>
              <a:t>#include&lt;iostream&gt;</a:t>
            </a:r>
          </a:p>
          <a:p>
            <a:pPr marL="357188" lvl="1">
              <a:lnSpc>
                <a:spcPct val="150000"/>
              </a:lnSpc>
            </a:pPr>
            <a:r>
              <a:rPr lang="en-IN" sz="1600" dirty="0">
                <a:latin typeface="Trebuchet MS" panose="020B0603020202020204" pitchFamily="34" charset="0"/>
              </a:rPr>
              <a:t>using namespace std;</a:t>
            </a:r>
          </a:p>
          <a:p>
            <a:pPr marL="357188" lvl="1">
              <a:lnSpc>
                <a:spcPct val="150000"/>
              </a:lnSpc>
            </a:pPr>
            <a:r>
              <a:rPr lang="en-IN" sz="1600" dirty="0">
                <a:latin typeface="Trebuchet MS" panose="020B0603020202020204" pitchFamily="34" charset="0"/>
              </a:rPr>
              <a:t>int a;   </a:t>
            </a:r>
            <a:r>
              <a:rPr lang="en-IN" sz="1600" dirty="0">
                <a:solidFill>
                  <a:srgbClr val="0070C0"/>
                </a:solidFill>
                <a:latin typeface="Trebuchet MS" panose="020B0603020202020204" pitchFamily="34" charset="0"/>
              </a:rPr>
              <a:t>// global variable</a:t>
            </a:r>
          </a:p>
          <a:p>
            <a:pPr marL="357188" lvl="1">
              <a:lnSpc>
                <a:spcPct val="150000"/>
              </a:lnSpc>
            </a:pPr>
            <a:r>
              <a:rPr lang="en-IN" sz="1600" dirty="0">
                <a:latin typeface="Trebuchet MS" panose="020B0603020202020204" pitchFamily="34" charset="0"/>
              </a:rPr>
              <a:t>int main()</a:t>
            </a:r>
          </a:p>
          <a:p>
            <a:pPr marL="357188" lvl="1">
              <a:lnSpc>
                <a:spcPct val="150000"/>
              </a:lnSpc>
            </a:pPr>
            <a:r>
              <a:rPr lang="en-IN" sz="1600" dirty="0">
                <a:latin typeface="Trebuchet MS" panose="020B0603020202020204" pitchFamily="34" charset="0"/>
              </a:rPr>
              <a:t>{</a:t>
            </a:r>
          </a:p>
          <a:p>
            <a:pPr marL="357188" lvl="1">
              <a:lnSpc>
                <a:spcPct val="150000"/>
              </a:lnSpc>
            </a:pPr>
            <a:r>
              <a:rPr lang="en-IN" sz="1600" dirty="0">
                <a:latin typeface="Trebuchet MS" panose="020B0603020202020204" pitchFamily="34" charset="0"/>
              </a:rPr>
              <a:t>int b;    </a:t>
            </a:r>
            <a:r>
              <a:rPr lang="en-IN" sz="1600" dirty="0">
                <a:solidFill>
                  <a:srgbClr val="0070C0"/>
                </a:solidFill>
                <a:latin typeface="Trebuchet MS" panose="020B0603020202020204" pitchFamily="34" charset="0"/>
              </a:rPr>
              <a:t>// local variable</a:t>
            </a:r>
          </a:p>
          <a:p>
            <a:pPr marL="357188" lvl="1">
              <a:lnSpc>
                <a:spcPct val="150000"/>
              </a:lnSpc>
            </a:pPr>
            <a:r>
              <a:rPr lang="en-IN" sz="1600" dirty="0">
                <a:latin typeface="Trebuchet MS" panose="020B0603020202020204" pitchFamily="34" charset="0"/>
              </a:rPr>
              <a:t>a=10, b=20;</a:t>
            </a:r>
          </a:p>
          <a:p>
            <a:pPr marL="357188" lvl="1">
              <a:lnSpc>
                <a:spcPct val="150000"/>
              </a:lnSpc>
            </a:pPr>
            <a:r>
              <a:rPr lang="en-IN" sz="1600" dirty="0" err="1">
                <a:latin typeface="Trebuchet MS" panose="020B0603020202020204" pitchFamily="34" charset="0"/>
              </a:rPr>
              <a:t>cout</a:t>
            </a:r>
            <a:r>
              <a:rPr lang="en-IN" sz="1600" dirty="0">
                <a:latin typeface="Trebuchet MS" panose="020B0603020202020204" pitchFamily="34" charset="0"/>
              </a:rPr>
              <a:t>&lt;&lt;"Value of a: "&lt;&lt;a;</a:t>
            </a:r>
          </a:p>
          <a:p>
            <a:pPr marL="357188" lvl="1">
              <a:lnSpc>
                <a:spcPct val="150000"/>
              </a:lnSpc>
            </a:pPr>
            <a:r>
              <a:rPr lang="en-IN" sz="1600" dirty="0" err="1">
                <a:latin typeface="Trebuchet MS" panose="020B0603020202020204" pitchFamily="34" charset="0"/>
              </a:rPr>
              <a:t>cout</a:t>
            </a:r>
            <a:r>
              <a:rPr lang="en-IN" sz="1600" dirty="0">
                <a:latin typeface="Trebuchet MS" panose="020B0603020202020204" pitchFamily="34" charset="0"/>
              </a:rPr>
              <a:t>&lt;&lt;"Value of b: "&lt;&lt;b;</a:t>
            </a:r>
          </a:p>
          <a:p>
            <a:pPr marL="357188" lvl="1">
              <a:lnSpc>
                <a:spcPct val="150000"/>
              </a:lnSpc>
            </a:pPr>
            <a:r>
              <a:rPr lang="en-IN" sz="1600" dirty="0">
                <a:latin typeface="Trebuchet MS" panose="020B0603020202020204" pitchFamily="34" charset="0"/>
              </a:rPr>
              <a:t>}</a:t>
            </a:r>
          </a:p>
          <a:p>
            <a:endParaRPr lang="en-IN" dirty="0">
              <a:latin typeface="Trebuchet MS" panose="020B0603020202020204" pitchFamily="34" charset="0"/>
            </a:endParaRPr>
          </a:p>
        </p:txBody>
      </p:sp>
      <p:sp>
        <p:nvSpPr>
          <p:cNvPr id="9" name="TextBox 8">
            <a:extLst>
              <a:ext uri="{FF2B5EF4-FFF2-40B4-BE49-F238E27FC236}">
                <a16:creationId xmlns:a16="http://schemas.microsoft.com/office/drawing/2014/main" id="{DC336251-0D52-E2EA-795A-8EBCCF5EDD77}"/>
              </a:ext>
            </a:extLst>
          </p:cNvPr>
          <p:cNvSpPr txBox="1"/>
          <p:nvPr/>
        </p:nvSpPr>
        <p:spPr>
          <a:xfrm>
            <a:off x="5043292" y="2571737"/>
            <a:ext cx="4640316" cy="115506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Output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Value of a: 10</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Value of b: 20</a:t>
            </a:r>
            <a:endParaRPr lang="en-IN" dirty="0"/>
          </a:p>
        </p:txBody>
      </p:sp>
    </p:spTree>
    <p:extLst>
      <p:ext uri="{BB962C8B-B14F-4D97-AF65-F5344CB8AC3E}">
        <p14:creationId xmlns:p14="http://schemas.microsoft.com/office/powerpoint/2010/main" val="405141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Data types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4" name="TextBox 3">
            <a:extLst>
              <a:ext uri="{FF2B5EF4-FFF2-40B4-BE49-F238E27FC236}">
                <a16:creationId xmlns:a16="http://schemas.microsoft.com/office/drawing/2014/main" id="{A48B7D87-198D-13B4-1298-06EC1E872153}"/>
              </a:ext>
            </a:extLst>
          </p:cNvPr>
          <p:cNvSpPr txBox="1"/>
          <p:nvPr/>
        </p:nvSpPr>
        <p:spPr>
          <a:xfrm>
            <a:off x="480521" y="663900"/>
            <a:ext cx="7381216" cy="17034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A data type is the type of data a variable can hold. </a:t>
            </a:r>
          </a:p>
          <a:p>
            <a:pPr marL="285750" indent="-285750">
              <a:lnSpc>
                <a:spcPct val="150000"/>
              </a:lnSpc>
              <a:buFont typeface="Arial" panose="020B0604020202020204" pitchFamily="34" charset="0"/>
              <a:buChar char="•"/>
            </a:pPr>
            <a:r>
              <a:rPr lang="en-IN" sz="1800" b="1" dirty="0">
                <a:latin typeface="Trebuchet MS" panose="020B0603020202020204" pitchFamily="34" charset="0"/>
              </a:rPr>
              <a:t>For example</a:t>
            </a:r>
            <a:r>
              <a:rPr lang="en-IN" sz="1800" dirty="0">
                <a:latin typeface="Trebuchet MS" panose="020B0603020202020204" pitchFamily="34" charset="0"/>
              </a:rPr>
              <a: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a Boolean variable can have </a:t>
            </a:r>
            <a:r>
              <a:rPr lang="en-IN" sz="1800" dirty="0" err="1">
                <a:latin typeface="Trebuchet MS" panose="020B0603020202020204" pitchFamily="34" charset="0"/>
              </a:rPr>
              <a:t>boolean</a:t>
            </a:r>
            <a:r>
              <a:rPr lang="en-IN" sz="1800" dirty="0">
                <a:latin typeface="Trebuchet MS" panose="020B0603020202020204" pitchFamily="34" charset="0"/>
              </a:rPr>
              <a:t> data</a:t>
            </a:r>
          </a:p>
          <a:p>
            <a:pPr marL="285750" indent="-285750">
              <a:lnSpc>
                <a:spcPct val="150000"/>
              </a:lnSpc>
              <a:buFont typeface="Arial" panose="020B0604020202020204" pitchFamily="34" charset="0"/>
              <a:buChar char="•"/>
            </a:pPr>
            <a:r>
              <a:rPr lang="en-IN" sz="1800" dirty="0">
                <a:latin typeface="Trebuchet MS" panose="020B0603020202020204" pitchFamily="34" charset="0"/>
              </a:rPr>
              <a:t>a Integer variable can hold integer data.</a:t>
            </a:r>
          </a:p>
        </p:txBody>
      </p:sp>
      <p:pic>
        <p:nvPicPr>
          <p:cNvPr id="6" name="Picture 5">
            <a:extLst>
              <a:ext uri="{FF2B5EF4-FFF2-40B4-BE49-F238E27FC236}">
                <a16:creationId xmlns:a16="http://schemas.microsoft.com/office/drawing/2014/main" id="{BE690180-68D9-5447-A032-B00925ACBC8C}"/>
              </a:ext>
            </a:extLst>
          </p:cNvPr>
          <p:cNvPicPr>
            <a:picLocks noChangeAspect="1"/>
          </p:cNvPicPr>
          <p:nvPr/>
        </p:nvPicPr>
        <p:blipFill>
          <a:blip r:embed="rId6"/>
          <a:stretch>
            <a:fillRect/>
          </a:stretch>
        </p:blipFill>
        <p:spPr>
          <a:xfrm>
            <a:off x="1608083" y="2500761"/>
            <a:ext cx="5486400" cy="1628775"/>
          </a:xfrm>
          <a:prstGeom prst="rect">
            <a:avLst/>
          </a:prstGeom>
        </p:spPr>
      </p:pic>
    </p:spTree>
    <p:extLst>
      <p:ext uri="{BB962C8B-B14F-4D97-AF65-F5344CB8AC3E}">
        <p14:creationId xmlns:p14="http://schemas.microsoft.com/office/powerpoint/2010/main" val="8694109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Data types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11" name="TextBox 10">
            <a:extLst>
              <a:ext uri="{FF2B5EF4-FFF2-40B4-BE49-F238E27FC236}">
                <a16:creationId xmlns:a16="http://schemas.microsoft.com/office/drawing/2014/main" id="{90D679D8-4B8D-19E7-A427-11873BD83C85}"/>
              </a:ext>
            </a:extLst>
          </p:cNvPr>
          <p:cNvSpPr txBox="1"/>
          <p:nvPr/>
        </p:nvSpPr>
        <p:spPr>
          <a:xfrm>
            <a:off x="314588" y="870211"/>
            <a:ext cx="8505298" cy="4016484"/>
          </a:xfrm>
          <a:prstGeom prst="rect">
            <a:avLst/>
          </a:prstGeom>
          <a:noFill/>
        </p:spPr>
        <p:txBody>
          <a:bodyPr wrap="square">
            <a:spAutoFit/>
          </a:bodyPr>
          <a:lstStyle/>
          <a:p>
            <a:pPr algn="just">
              <a:lnSpc>
                <a:spcPct val="150000"/>
              </a:lnSpc>
            </a:pPr>
            <a:r>
              <a:rPr kumimoji="0" lang="en-IN" sz="1700" b="1" i="0" u="none" strike="noStrike" kern="0" cap="none" spc="0" normalizeH="0" baseline="0" noProof="0" dirty="0">
                <a:ln>
                  <a:noFill/>
                </a:ln>
                <a:solidFill>
                  <a:srgbClr val="0070C0"/>
                </a:solidFill>
                <a:effectLst/>
                <a:uLnTx/>
                <a:uFillTx/>
                <a:latin typeface="Trebuchet MS" panose="020B0603020202020204" pitchFamily="34" charset="0"/>
                <a:sym typeface="Arial"/>
              </a:rPr>
              <a:t>1) </a:t>
            </a:r>
            <a:r>
              <a:rPr lang="en-IN" sz="1700" b="1" dirty="0" smtClean="0">
                <a:solidFill>
                  <a:srgbClr val="0070C0"/>
                </a:solidFill>
                <a:latin typeface="Trebuchet MS" panose="020B0603020202020204" pitchFamily="34" charset="0"/>
              </a:rPr>
              <a:t>Built in</a:t>
            </a:r>
            <a:r>
              <a:rPr kumimoji="0" lang="en-IN" sz="1700" b="1" i="0" u="none" strike="noStrike" kern="0" cap="none" spc="0" normalizeH="0" baseline="0" noProof="0" dirty="0" smtClean="0">
                <a:ln>
                  <a:noFill/>
                </a:ln>
                <a:solidFill>
                  <a:srgbClr val="0070C0"/>
                </a:solidFill>
                <a:effectLst/>
                <a:uLnTx/>
                <a:uFillTx/>
                <a:latin typeface="Trebuchet MS" panose="020B0603020202020204" pitchFamily="34" charset="0"/>
                <a:sym typeface="Arial"/>
              </a:rPr>
              <a:t>/Primitive </a:t>
            </a:r>
            <a:r>
              <a:rPr kumimoji="0" lang="en-IN" sz="1700" b="1" i="0" u="none" strike="noStrike" kern="0" cap="none" spc="0" normalizeH="0" baseline="0" noProof="0" dirty="0">
                <a:ln>
                  <a:noFill/>
                </a:ln>
                <a:solidFill>
                  <a:srgbClr val="0070C0"/>
                </a:solidFill>
                <a:effectLst/>
                <a:uLnTx/>
                <a:uFillTx/>
                <a:latin typeface="Trebuchet MS" panose="020B0603020202020204" pitchFamily="34" charset="0"/>
                <a:sym typeface="Arial"/>
              </a:rPr>
              <a:t>Data Types </a:t>
            </a:r>
            <a:endParaRPr lang="en-IN" sz="1700" dirty="0">
              <a:solidFill>
                <a:srgbClr val="0070C0"/>
              </a:solidFill>
              <a:latin typeface="Trebuchet MS" panose="020B0603020202020204" pitchFamily="34" charset="0"/>
            </a:endParaRPr>
          </a:p>
          <a:p>
            <a:pPr marL="285750" indent="-285750" algn="just">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These are the data types whose variable can </a:t>
            </a:r>
            <a:r>
              <a:rPr lang="en-IN" sz="1700" b="1" i="0" dirty="0">
                <a:solidFill>
                  <a:srgbClr val="000000"/>
                </a:solidFill>
                <a:effectLst/>
                <a:latin typeface="Trebuchet MS" panose="020B0603020202020204" pitchFamily="34" charset="0"/>
              </a:rPr>
              <a:t>hold maximum one value at a time, </a:t>
            </a:r>
            <a:r>
              <a:rPr lang="en-IN" sz="1700" b="0" i="0" dirty="0">
                <a:solidFill>
                  <a:srgbClr val="000000"/>
                </a:solidFill>
                <a:effectLst/>
                <a:latin typeface="Trebuchet MS" panose="020B0603020202020204" pitchFamily="34" charset="0"/>
              </a:rPr>
              <a:t>in C++ language it can be achieve by </a:t>
            </a:r>
            <a:r>
              <a:rPr lang="en-IN" sz="1700" b="0" i="0" dirty="0">
                <a:solidFill>
                  <a:srgbClr val="FF0000"/>
                </a:solidFill>
                <a:effectLst/>
                <a:latin typeface="Trebuchet MS" panose="020B0603020202020204" pitchFamily="34" charset="0"/>
              </a:rPr>
              <a:t>int, float, double, char</a:t>
            </a:r>
            <a:r>
              <a:rPr lang="en-IN" sz="1700" b="0" i="0" dirty="0">
                <a:solidFill>
                  <a:srgbClr val="000000"/>
                </a:solidFill>
                <a:effectLst/>
                <a:latin typeface="Trebuchet MS" panose="020B0603020202020204" pitchFamily="34" charset="0"/>
              </a:rPr>
              <a:t>. </a:t>
            </a:r>
          </a:p>
          <a:p>
            <a:pPr marL="285750" indent="-285750" algn="just">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These data types are built-in or predefined data types and can be used directly by the user to declare variables. example: int, char , float, bool etc.</a:t>
            </a:r>
          </a:p>
          <a:p>
            <a:pPr marL="285750" indent="-285750" algn="just">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 Primitive data types available in C++ are:</a:t>
            </a:r>
          </a:p>
          <a:p>
            <a:pPr marL="80962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Integer</a:t>
            </a:r>
          </a:p>
          <a:p>
            <a:pPr marL="80962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Character</a:t>
            </a:r>
          </a:p>
          <a:p>
            <a:pPr marL="80962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Boolean</a:t>
            </a:r>
          </a:p>
          <a:p>
            <a:pPr marL="80962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Floating Point</a:t>
            </a:r>
          </a:p>
        </p:txBody>
      </p:sp>
      <p:sp>
        <p:nvSpPr>
          <p:cNvPr id="15" name="TextBox 14">
            <a:extLst>
              <a:ext uri="{FF2B5EF4-FFF2-40B4-BE49-F238E27FC236}">
                <a16:creationId xmlns:a16="http://schemas.microsoft.com/office/drawing/2014/main" id="{69AE1CA2-D9E1-41AC-E86C-723D01942C4B}"/>
              </a:ext>
            </a:extLst>
          </p:cNvPr>
          <p:cNvSpPr txBox="1"/>
          <p:nvPr/>
        </p:nvSpPr>
        <p:spPr>
          <a:xfrm>
            <a:off x="3770587" y="3156433"/>
            <a:ext cx="4640316" cy="1221488"/>
          </a:xfrm>
          <a:prstGeom prst="rect">
            <a:avLst/>
          </a:prstGeom>
          <a:noFill/>
        </p:spPr>
        <p:txBody>
          <a:bodyPr wrap="square">
            <a:spAutoFit/>
          </a:bodyPr>
          <a:lstStyle/>
          <a:p>
            <a:pPr marL="809625" marR="0" lvl="1" indent="-35718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17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Double Floating Point</a:t>
            </a:r>
          </a:p>
          <a:p>
            <a:pPr marL="809625" marR="0" lvl="1" indent="-35718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17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Valueless or Void</a:t>
            </a:r>
          </a:p>
          <a:p>
            <a:pPr marL="809625" marR="0" lvl="1" indent="-35718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17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Wide Character</a:t>
            </a:r>
          </a:p>
        </p:txBody>
      </p:sp>
    </p:spTree>
    <p:extLst>
      <p:ext uri="{BB962C8B-B14F-4D97-AF65-F5344CB8AC3E}">
        <p14:creationId xmlns:p14="http://schemas.microsoft.com/office/powerpoint/2010/main" val="2689675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Data types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6" name="TextBox 5">
            <a:extLst>
              <a:ext uri="{FF2B5EF4-FFF2-40B4-BE49-F238E27FC236}">
                <a16:creationId xmlns:a16="http://schemas.microsoft.com/office/drawing/2014/main" id="{60A80264-D7DE-C1D3-454D-8789607FD132}"/>
              </a:ext>
            </a:extLst>
          </p:cNvPr>
          <p:cNvSpPr txBox="1"/>
          <p:nvPr/>
        </p:nvSpPr>
        <p:spPr>
          <a:xfrm>
            <a:off x="237648" y="735557"/>
            <a:ext cx="8659178" cy="4383892"/>
          </a:xfrm>
          <a:prstGeom prst="rect">
            <a:avLst/>
          </a:prstGeom>
          <a:noFill/>
        </p:spPr>
        <p:txBody>
          <a:bodyPr wrap="square">
            <a:spAutoFit/>
          </a:bodyPr>
          <a:lstStyle/>
          <a:p>
            <a:pPr algn="just">
              <a:lnSpc>
                <a:spcPct val="150000"/>
              </a:lnSpc>
            </a:pPr>
            <a:r>
              <a:rPr lang="en-IN" sz="1800" b="1" dirty="0">
                <a:solidFill>
                  <a:srgbClr val="0070C0"/>
                </a:solidFill>
                <a:latin typeface="Trebuchet MS" panose="020B0603020202020204" pitchFamily="34" charset="0"/>
              </a:rPr>
              <a:t>2</a:t>
            </a:r>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sym typeface="Arial"/>
              </a:rPr>
              <a:t>) Derived Data Types </a:t>
            </a:r>
            <a:endParaRPr lang="en-IN" sz="1800" dirty="0">
              <a:solidFill>
                <a:srgbClr val="0070C0"/>
              </a:solidFill>
              <a:latin typeface="Trebuchet MS" panose="020B0603020202020204" pitchFamily="34" charset="0"/>
            </a:endParaRPr>
          </a:p>
          <a:p>
            <a:pPr marL="285750" indent="-285750" algn="just">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These data type are derived from </a:t>
            </a:r>
            <a:r>
              <a:rPr lang="en-IN" sz="1700" b="1" i="0" dirty="0">
                <a:solidFill>
                  <a:srgbClr val="000000"/>
                </a:solidFill>
                <a:effectLst/>
                <a:latin typeface="Trebuchet MS" panose="020B0603020202020204" pitchFamily="34" charset="0"/>
              </a:rPr>
              <a:t>primitive or built-in data types</a:t>
            </a:r>
            <a:r>
              <a:rPr lang="en-IN" sz="1700" b="0" i="0" dirty="0">
                <a:solidFill>
                  <a:srgbClr val="000000"/>
                </a:solidFill>
                <a:effectLst/>
                <a:latin typeface="Trebuchet MS" panose="020B0603020202020204" pitchFamily="34" charset="0"/>
              </a:rPr>
              <a:t>. Variables of derived data type allow us to </a:t>
            </a:r>
            <a:r>
              <a:rPr lang="en-IN" sz="1700" b="1" i="0" dirty="0">
                <a:solidFill>
                  <a:srgbClr val="000000"/>
                </a:solidFill>
                <a:effectLst/>
                <a:latin typeface="Trebuchet MS" panose="020B0603020202020204" pitchFamily="34" charset="0"/>
              </a:rPr>
              <a:t>store multiple values of same type</a:t>
            </a:r>
            <a:r>
              <a:rPr lang="en-IN" sz="1700" b="0" i="0" dirty="0">
                <a:solidFill>
                  <a:srgbClr val="000000"/>
                </a:solidFill>
                <a:effectLst/>
                <a:latin typeface="Trebuchet MS" panose="020B0603020202020204" pitchFamily="34" charset="0"/>
              </a:rPr>
              <a:t> in one variable but </a:t>
            </a:r>
            <a:r>
              <a:rPr lang="en-IN" sz="1700" b="1" i="0" dirty="0">
                <a:solidFill>
                  <a:srgbClr val="000000"/>
                </a:solidFill>
                <a:effectLst/>
                <a:latin typeface="Trebuchet MS" panose="020B0603020202020204" pitchFamily="34" charset="0"/>
              </a:rPr>
              <a:t>never allows to store multiple values of different types</a:t>
            </a:r>
            <a:r>
              <a:rPr lang="en-IN" sz="1700" b="0" i="0" dirty="0">
                <a:solidFill>
                  <a:srgbClr val="000000"/>
                </a:solidFill>
                <a:effectLst/>
                <a:latin typeface="Trebuchet MS" panose="020B0603020202020204" pitchFamily="34" charset="0"/>
              </a:rPr>
              <a:t>. </a:t>
            </a:r>
          </a:p>
          <a:p>
            <a:pPr marL="285750" indent="-285750" algn="just">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These are the data type whose variable can hold more than one value of similar type. </a:t>
            </a:r>
          </a:p>
          <a:p>
            <a:pPr marL="285750" indent="-285750" algn="just">
              <a:lnSpc>
                <a:spcPct val="150000"/>
              </a:lnSpc>
              <a:buFont typeface="Arial" panose="020B0604020202020204" pitchFamily="34" charset="0"/>
              <a:buChar char="•"/>
            </a:pPr>
            <a:r>
              <a:rPr lang="en-IN" sz="1700" b="0" i="0" dirty="0">
                <a:solidFill>
                  <a:srgbClr val="000000"/>
                </a:solidFill>
                <a:effectLst/>
                <a:latin typeface="Trebuchet MS" panose="020B0603020202020204" pitchFamily="34" charset="0"/>
              </a:rPr>
              <a:t>These can be of four types namely,</a:t>
            </a:r>
          </a:p>
          <a:p>
            <a:pPr marL="71437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Function</a:t>
            </a:r>
          </a:p>
          <a:p>
            <a:pPr marL="71437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Array</a:t>
            </a:r>
          </a:p>
          <a:p>
            <a:pPr marL="71437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Pointer</a:t>
            </a:r>
          </a:p>
          <a:p>
            <a:pPr marL="714375" lvl="1" indent="-357188">
              <a:lnSpc>
                <a:spcPct val="150000"/>
              </a:lnSpc>
              <a:buFont typeface="Wingdings" panose="05000000000000000000" pitchFamily="2" charset="2"/>
              <a:buChar char="ü"/>
            </a:pPr>
            <a:r>
              <a:rPr lang="en-IN" sz="1700" b="0" i="0" dirty="0">
                <a:solidFill>
                  <a:srgbClr val="000000"/>
                </a:solidFill>
                <a:effectLst/>
                <a:latin typeface="Trebuchet MS" panose="020B0603020202020204" pitchFamily="34" charset="0"/>
              </a:rPr>
              <a:t>Reference</a:t>
            </a:r>
          </a:p>
        </p:txBody>
      </p:sp>
    </p:spTree>
    <p:extLst>
      <p:ext uri="{BB962C8B-B14F-4D97-AF65-F5344CB8AC3E}">
        <p14:creationId xmlns:p14="http://schemas.microsoft.com/office/powerpoint/2010/main" val="26193849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Data types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4" name="TextBox 3">
            <a:extLst>
              <a:ext uri="{FF2B5EF4-FFF2-40B4-BE49-F238E27FC236}">
                <a16:creationId xmlns:a16="http://schemas.microsoft.com/office/drawing/2014/main" id="{6F52B5E8-C24D-56BA-626E-49DA8BFE80E2}"/>
              </a:ext>
            </a:extLst>
          </p:cNvPr>
          <p:cNvSpPr txBox="1"/>
          <p:nvPr/>
        </p:nvSpPr>
        <p:spPr>
          <a:xfrm>
            <a:off x="285125" y="688970"/>
            <a:ext cx="8573750" cy="4381136"/>
          </a:xfrm>
          <a:prstGeom prst="rect">
            <a:avLst/>
          </a:prstGeom>
          <a:noFill/>
        </p:spPr>
        <p:txBody>
          <a:bodyPr wrap="square">
            <a:spAutoFit/>
          </a:bodyPr>
          <a:lstStyle/>
          <a:p>
            <a:pPr algn="l">
              <a:lnSpc>
                <a:spcPct val="150000"/>
              </a:lnSpc>
            </a:pPr>
            <a:r>
              <a:rPr lang="en-IN" sz="1700" b="1" i="0" dirty="0">
                <a:solidFill>
                  <a:srgbClr val="0070C0"/>
                </a:solidFill>
                <a:effectLst/>
                <a:latin typeface="Trebuchet MS" panose="020B0603020202020204" pitchFamily="34" charset="0"/>
              </a:rPr>
              <a:t>3) User defined(Abstract) data types</a:t>
            </a:r>
          </a:p>
          <a:p>
            <a:pPr marL="285750" indent="-285750" algn="just">
              <a:lnSpc>
                <a:spcPct val="150000"/>
              </a:lnSpc>
              <a:buFont typeface="Arial" panose="020B0604020202020204" pitchFamily="34" charset="0"/>
              <a:buChar char="•"/>
            </a:pPr>
            <a:r>
              <a:rPr lang="en-IN" sz="1700" b="0" i="0" dirty="0">
                <a:solidFill>
                  <a:schemeClr val="tx1"/>
                </a:solidFill>
                <a:effectLst/>
                <a:latin typeface="Trebuchet MS" panose="020B0603020202020204" pitchFamily="34" charset="0"/>
              </a:rPr>
              <a:t>User defined data types related variables </a:t>
            </a:r>
            <a:r>
              <a:rPr lang="en-IN" sz="1700" b="1" i="0" dirty="0">
                <a:solidFill>
                  <a:schemeClr val="tx1"/>
                </a:solidFill>
                <a:effectLst/>
                <a:latin typeface="Trebuchet MS" panose="020B0603020202020204" pitchFamily="34" charset="0"/>
              </a:rPr>
              <a:t>allows us to store multiple values either of same type or different type or both</a:t>
            </a:r>
            <a:r>
              <a:rPr lang="en-IN" sz="1700" b="0" i="0" dirty="0">
                <a:solidFill>
                  <a:schemeClr val="tx1"/>
                </a:solidFill>
                <a:effectLst/>
                <a:latin typeface="Trebuchet MS" panose="020B0603020202020204" pitchFamily="34" charset="0"/>
              </a:rPr>
              <a:t>. </a:t>
            </a:r>
          </a:p>
          <a:p>
            <a:pPr marL="285750" indent="-285750" algn="just">
              <a:lnSpc>
                <a:spcPct val="150000"/>
              </a:lnSpc>
              <a:buFont typeface="Arial" panose="020B0604020202020204" pitchFamily="34" charset="0"/>
              <a:buChar char="•"/>
            </a:pPr>
            <a:r>
              <a:rPr lang="en-IN" sz="1700" b="0" i="0" dirty="0">
                <a:solidFill>
                  <a:schemeClr val="tx1"/>
                </a:solidFill>
                <a:effectLst/>
                <a:latin typeface="Trebuchet MS" panose="020B0603020202020204" pitchFamily="34" charset="0"/>
              </a:rPr>
              <a:t>This is a data type whose variable can hold more than one value of dissimilar type, in C++ language.</a:t>
            </a:r>
          </a:p>
          <a:p>
            <a:pPr marL="285750" indent="-285750" algn="just">
              <a:lnSpc>
                <a:spcPct val="150000"/>
              </a:lnSpc>
              <a:buFont typeface="Arial" panose="020B0604020202020204" pitchFamily="34" charset="0"/>
              <a:buChar char="•"/>
            </a:pPr>
            <a:r>
              <a:rPr lang="en-IN" sz="1700" b="0" i="0" dirty="0">
                <a:solidFill>
                  <a:schemeClr val="tx1"/>
                </a:solidFill>
                <a:effectLst/>
                <a:latin typeface="Trebuchet MS" panose="020B0603020202020204" pitchFamily="34" charset="0"/>
              </a:rPr>
              <a:t>These data types are defined by user itself. C++ provides the following user-defined datatypes</a:t>
            </a:r>
          </a:p>
          <a:p>
            <a:pPr marL="714375" indent="-357188" algn="l">
              <a:lnSpc>
                <a:spcPct val="150000"/>
              </a:lnSpc>
              <a:buFont typeface="Wingdings" panose="05000000000000000000" pitchFamily="2" charset="2"/>
              <a:buChar char="ü"/>
              <a:tabLst>
                <a:tab pos="714375" algn="l"/>
              </a:tabLst>
            </a:pPr>
            <a:r>
              <a:rPr lang="en-IN" sz="1700" b="0" i="0" dirty="0">
                <a:solidFill>
                  <a:schemeClr val="tx1"/>
                </a:solidFill>
                <a:effectLst/>
                <a:latin typeface="Trebuchet MS" panose="020B0603020202020204" pitchFamily="34" charset="0"/>
              </a:rPr>
              <a:t>Class</a:t>
            </a:r>
          </a:p>
          <a:p>
            <a:pPr marL="714375" indent="-357188" algn="l">
              <a:lnSpc>
                <a:spcPct val="150000"/>
              </a:lnSpc>
              <a:buFont typeface="Wingdings" panose="05000000000000000000" pitchFamily="2" charset="2"/>
              <a:buChar char="ü"/>
              <a:tabLst>
                <a:tab pos="714375" algn="l"/>
              </a:tabLst>
            </a:pPr>
            <a:r>
              <a:rPr lang="en-IN" sz="1700" b="0" i="0" dirty="0">
                <a:solidFill>
                  <a:schemeClr val="tx1"/>
                </a:solidFill>
                <a:effectLst/>
                <a:latin typeface="Trebuchet MS" panose="020B0603020202020204" pitchFamily="34" charset="0"/>
              </a:rPr>
              <a:t>Structure</a:t>
            </a:r>
          </a:p>
          <a:p>
            <a:pPr marL="714375" indent="-357188" algn="l">
              <a:lnSpc>
                <a:spcPct val="150000"/>
              </a:lnSpc>
              <a:buFont typeface="Wingdings" panose="05000000000000000000" pitchFamily="2" charset="2"/>
              <a:buChar char="ü"/>
              <a:tabLst>
                <a:tab pos="714375" algn="l"/>
              </a:tabLst>
            </a:pPr>
            <a:r>
              <a:rPr lang="en-IN" sz="1700" b="0" i="0" dirty="0">
                <a:solidFill>
                  <a:schemeClr val="tx1"/>
                </a:solidFill>
                <a:effectLst/>
                <a:latin typeface="Trebuchet MS" panose="020B0603020202020204" pitchFamily="34" charset="0"/>
              </a:rPr>
              <a:t>Union</a:t>
            </a:r>
          </a:p>
          <a:p>
            <a:pPr marL="714375" indent="-357188" algn="l">
              <a:lnSpc>
                <a:spcPct val="150000"/>
              </a:lnSpc>
              <a:buFont typeface="Wingdings" panose="05000000000000000000" pitchFamily="2" charset="2"/>
              <a:buChar char="ü"/>
              <a:tabLst>
                <a:tab pos="714375" algn="l"/>
              </a:tabLst>
            </a:pPr>
            <a:r>
              <a:rPr lang="en-IN" sz="1800" b="0" i="0" dirty="0">
                <a:solidFill>
                  <a:schemeClr val="tx1"/>
                </a:solidFill>
                <a:effectLst/>
                <a:latin typeface="Trebuchet MS" panose="020B0603020202020204" pitchFamily="34" charset="0"/>
              </a:rPr>
              <a:t>Enumeration</a:t>
            </a:r>
            <a:endParaRPr lang="en-IN" b="0" i="0" dirty="0">
              <a:solidFill>
                <a:schemeClr val="tx1"/>
              </a:solidFill>
              <a:effectLst/>
              <a:latin typeface="Trebuchet MS" panose="020B0603020202020204" pitchFamily="34" charset="0"/>
            </a:endParaRPr>
          </a:p>
        </p:txBody>
      </p:sp>
    </p:spTree>
    <p:extLst>
      <p:ext uri="{BB962C8B-B14F-4D97-AF65-F5344CB8AC3E}">
        <p14:creationId xmlns:p14="http://schemas.microsoft.com/office/powerpoint/2010/main" val="38011724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Data types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pic>
        <p:nvPicPr>
          <p:cNvPr id="2" name="Picture 1">
            <a:extLst>
              <a:ext uri="{FF2B5EF4-FFF2-40B4-BE49-F238E27FC236}">
                <a16:creationId xmlns:a16="http://schemas.microsoft.com/office/drawing/2014/main" id="{A8AE47B7-7576-A2D7-1277-64D4CE0764A8}"/>
              </a:ext>
            </a:extLst>
          </p:cNvPr>
          <p:cNvPicPr>
            <a:picLocks noChangeAspect="1"/>
          </p:cNvPicPr>
          <p:nvPr/>
        </p:nvPicPr>
        <p:blipFill>
          <a:blip r:embed="rId6"/>
          <a:stretch>
            <a:fillRect/>
          </a:stretch>
        </p:blipFill>
        <p:spPr>
          <a:xfrm>
            <a:off x="442912" y="855387"/>
            <a:ext cx="8248650" cy="3737634"/>
          </a:xfrm>
          <a:prstGeom prst="rect">
            <a:avLst/>
          </a:prstGeom>
        </p:spPr>
      </p:pic>
    </p:spTree>
    <p:extLst>
      <p:ext uri="{BB962C8B-B14F-4D97-AF65-F5344CB8AC3E}">
        <p14:creationId xmlns:p14="http://schemas.microsoft.com/office/powerpoint/2010/main" val="3238426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Data types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pic>
        <p:nvPicPr>
          <p:cNvPr id="4" name="Picture 3">
            <a:extLst>
              <a:ext uri="{FF2B5EF4-FFF2-40B4-BE49-F238E27FC236}">
                <a16:creationId xmlns:a16="http://schemas.microsoft.com/office/drawing/2014/main" id="{F721499F-75D1-59DA-8F8A-34E0282B35AD}"/>
              </a:ext>
            </a:extLst>
          </p:cNvPr>
          <p:cNvPicPr>
            <a:picLocks noChangeAspect="1"/>
          </p:cNvPicPr>
          <p:nvPr/>
        </p:nvPicPr>
        <p:blipFill>
          <a:blip r:embed="rId6"/>
          <a:stretch>
            <a:fillRect/>
          </a:stretch>
        </p:blipFill>
        <p:spPr>
          <a:xfrm>
            <a:off x="480521" y="1078404"/>
            <a:ext cx="7839075" cy="2726341"/>
          </a:xfrm>
          <a:prstGeom prst="rect">
            <a:avLst/>
          </a:prstGeom>
        </p:spPr>
      </p:pic>
    </p:spTree>
    <p:extLst>
      <p:ext uri="{BB962C8B-B14F-4D97-AF65-F5344CB8AC3E}">
        <p14:creationId xmlns:p14="http://schemas.microsoft.com/office/powerpoint/2010/main" val="14118859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4" y="72715"/>
            <a:ext cx="5800365" cy="646331"/>
          </a:xfrm>
          <a:prstGeom prst="rect">
            <a:avLst/>
          </a:prstGeom>
          <a:noFill/>
        </p:spPr>
        <p:txBody>
          <a:bodyPr wrap="square">
            <a:spAutoFit/>
          </a:bodyPr>
          <a:lstStyle/>
          <a:p>
            <a:r>
              <a:rPr lang="en-IN" sz="2800" b="1" dirty="0">
                <a:solidFill>
                  <a:schemeClr val="bg1"/>
                </a:solidFill>
                <a:latin typeface="Trebuchet MS" panose="020B0603020202020204" pitchFamily="34" charset="0"/>
              </a:rPr>
              <a:t>Enumerated</a:t>
            </a:r>
            <a:r>
              <a:rPr lang="en-IN" sz="3600" b="0" i="0" dirty="0">
                <a:solidFill>
                  <a:srgbClr val="273239"/>
                </a:solidFill>
                <a:effectLst/>
                <a:latin typeface="Nunito" pitchFamily="2" charset="0"/>
              </a:rPr>
              <a:t> </a:t>
            </a:r>
            <a:r>
              <a:rPr lang="en-IN" sz="2800" b="1" dirty="0">
                <a:solidFill>
                  <a:schemeClr val="bg1"/>
                </a:solidFill>
                <a:latin typeface="Trebuchet MS" panose="020B0603020202020204" pitchFamily="34" charset="0"/>
              </a:rPr>
              <a:t>Data type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9" name="TextBox 8">
            <a:extLst>
              <a:ext uri="{FF2B5EF4-FFF2-40B4-BE49-F238E27FC236}">
                <a16:creationId xmlns:a16="http://schemas.microsoft.com/office/drawing/2014/main" id="{7EA01EE6-5BA6-EFE6-32A2-A89280D5E709}"/>
              </a:ext>
            </a:extLst>
          </p:cNvPr>
          <p:cNvSpPr txBox="1"/>
          <p:nvPr/>
        </p:nvSpPr>
        <p:spPr>
          <a:xfrm>
            <a:off x="285124" y="787011"/>
            <a:ext cx="8200500" cy="374044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solidFill>
                  <a:srgbClr val="FF0000"/>
                </a:solidFill>
                <a:latin typeface="Trebuchet MS" panose="020B0603020202020204" pitchFamily="34" charset="0"/>
              </a:rPr>
              <a:t>Enumerations, or </a:t>
            </a:r>
            <a:r>
              <a:rPr lang="en-US" sz="1600" b="1" dirty="0" err="1">
                <a:solidFill>
                  <a:srgbClr val="FF0000"/>
                </a:solidFill>
                <a:latin typeface="Trebuchet MS" panose="020B0603020202020204" pitchFamily="34" charset="0"/>
              </a:rPr>
              <a:t>enums</a:t>
            </a:r>
            <a:r>
              <a:rPr lang="en-US" sz="1600" b="1" dirty="0">
                <a:latin typeface="Trebuchet MS" panose="020B0603020202020204" pitchFamily="34" charset="0"/>
              </a:rPr>
              <a:t>, </a:t>
            </a:r>
            <a:r>
              <a:rPr lang="en-US" sz="1600" dirty="0">
                <a:latin typeface="Trebuchet MS" panose="020B0603020202020204" pitchFamily="34" charset="0"/>
              </a:rPr>
              <a:t>are a handy way to create a set of named values that can make your code more </a:t>
            </a:r>
            <a:r>
              <a:rPr lang="en-US" sz="1600" b="1" dirty="0">
                <a:latin typeface="Trebuchet MS" panose="020B0603020202020204" pitchFamily="34" charset="0"/>
              </a:rPr>
              <a:t>readable and maintainable.</a:t>
            </a:r>
          </a:p>
          <a:p>
            <a:pPr marL="285750" indent="-285750">
              <a:lnSpc>
                <a:spcPct val="150000"/>
              </a:lnSpc>
              <a:buFont typeface="Arial" panose="020B0604020202020204" pitchFamily="34" charset="0"/>
              <a:buChar char="•"/>
            </a:pPr>
            <a:r>
              <a:rPr lang="en-IN" sz="1600" dirty="0">
                <a:solidFill>
                  <a:srgbClr val="0070C0"/>
                </a:solidFill>
                <a:latin typeface="Trebuchet MS" panose="020B0603020202020204" pitchFamily="34" charset="0"/>
              </a:rPr>
              <a:t>Enumeration</a:t>
            </a:r>
            <a:r>
              <a:rPr lang="en-IN" sz="1600" dirty="0">
                <a:latin typeface="Trebuchet MS" panose="020B0603020202020204" pitchFamily="34" charset="0"/>
              </a:rPr>
              <a:t> (Enumerated type) is a user-defined data type that can be </a:t>
            </a:r>
            <a:r>
              <a:rPr lang="en-IN" sz="1600" b="1" dirty="0">
                <a:latin typeface="Trebuchet MS" panose="020B0603020202020204" pitchFamily="34" charset="0"/>
              </a:rPr>
              <a:t>assigned some limited values</a:t>
            </a:r>
            <a:r>
              <a:rPr lang="en-IN" sz="1600" dirty="0">
                <a:latin typeface="Trebuchet MS" panose="020B0603020202020204" pitchFamily="34" charset="0"/>
              </a:rPr>
              <a:t>. These </a:t>
            </a:r>
            <a:r>
              <a:rPr lang="en-IN" sz="1600" b="1" dirty="0">
                <a:latin typeface="Trebuchet MS" panose="020B0603020202020204" pitchFamily="34" charset="0"/>
              </a:rPr>
              <a:t>values are defined by the programmer at the time of declaring</a:t>
            </a:r>
            <a:r>
              <a:rPr lang="en-IN" sz="1600" dirty="0">
                <a:latin typeface="Trebuchet MS" panose="020B0603020202020204" pitchFamily="34" charset="0"/>
              </a:rPr>
              <a:t> the enumerated type.</a:t>
            </a:r>
          </a:p>
          <a:p>
            <a:pPr marL="285750" indent="-285750">
              <a:lnSpc>
                <a:spcPct val="150000"/>
              </a:lnSpc>
              <a:buFont typeface="Arial" panose="020B0604020202020204" pitchFamily="34" charset="0"/>
              <a:buChar char="•"/>
            </a:pPr>
            <a:r>
              <a:rPr lang="en-IN" sz="1600" dirty="0">
                <a:latin typeface="Trebuchet MS" panose="020B0603020202020204" pitchFamily="34" charset="0"/>
              </a:rPr>
              <a:t>Enumerator types of values are also known as </a:t>
            </a:r>
            <a:r>
              <a:rPr lang="en-IN" sz="1600" dirty="0">
                <a:solidFill>
                  <a:srgbClr val="0070C0"/>
                </a:solidFill>
                <a:latin typeface="Trebuchet MS" panose="020B0603020202020204" pitchFamily="34" charset="0"/>
              </a:rPr>
              <a:t>enumerators</a:t>
            </a:r>
            <a:r>
              <a:rPr lang="en-IN" sz="1600" dirty="0">
                <a:latin typeface="Trebuchet MS" panose="020B0603020202020204" pitchFamily="34" charset="0"/>
              </a:rPr>
              <a:t>. </a:t>
            </a:r>
            <a:r>
              <a:rPr lang="en-IN" sz="1600" b="1" dirty="0">
                <a:latin typeface="Trebuchet MS" panose="020B0603020202020204" pitchFamily="34" charset="0"/>
              </a:rPr>
              <a:t>It is also assigned by zero the same as the array</a:t>
            </a:r>
            <a:r>
              <a:rPr lang="en-IN" sz="1600" dirty="0">
                <a:latin typeface="Trebuchet MS" panose="020B0603020202020204" pitchFamily="34" charset="0"/>
              </a:rPr>
              <a:t>. It can also be </a:t>
            </a:r>
            <a:r>
              <a:rPr lang="en-IN" sz="1600" b="1" dirty="0">
                <a:latin typeface="Trebuchet MS" panose="020B0603020202020204" pitchFamily="34" charset="0"/>
              </a:rPr>
              <a:t>used with switch statements</a:t>
            </a:r>
            <a:r>
              <a:rPr lang="en-IN" sz="1600" dirty="0">
                <a:latin typeface="Trebuchet MS" panose="020B0603020202020204" pitchFamily="34" charset="0"/>
              </a:rPr>
              <a:t>.</a:t>
            </a:r>
          </a:p>
          <a:p>
            <a:pPr marL="285750" indent="-285750">
              <a:lnSpc>
                <a:spcPct val="150000"/>
              </a:lnSpc>
              <a:buFont typeface="Arial" panose="020B0604020202020204" pitchFamily="34" charset="0"/>
              <a:buChar char="•"/>
            </a:pPr>
            <a:r>
              <a:rPr lang="en-IN" sz="1600" dirty="0">
                <a:latin typeface="Trebuchet MS" panose="020B0603020202020204" pitchFamily="34" charset="0"/>
              </a:rPr>
              <a:t>The </a:t>
            </a:r>
            <a:r>
              <a:rPr lang="en-IN" sz="1600" b="1" dirty="0" err="1">
                <a:solidFill>
                  <a:srgbClr val="0070C0"/>
                </a:solidFill>
                <a:latin typeface="Trebuchet MS" panose="020B0603020202020204" pitchFamily="34" charset="0"/>
              </a:rPr>
              <a:t>enum</a:t>
            </a:r>
            <a:r>
              <a:rPr lang="en-IN" sz="1600" dirty="0">
                <a:latin typeface="Trebuchet MS" panose="020B0603020202020204" pitchFamily="34" charset="0"/>
              </a:rPr>
              <a:t> keyword is used to declare enumerated types after that enumerated type name was </a:t>
            </a:r>
            <a:r>
              <a:rPr lang="en-IN" sz="1600" b="1" dirty="0">
                <a:latin typeface="Trebuchet MS" panose="020B0603020202020204" pitchFamily="34" charset="0"/>
              </a:rPr>
              <a:t>written then under curly brackets</a:t>
            </a:r>
            <a:r>
              <a:rPr lang="en-IN" sz="1600" dirty="0">
                <a:latin typeface="Trebuchet MS" panose="020B0603020202020204" pitchFamily="34" charset="0"/>
              </a:rPr>
              <a:t> possible values are defined. After defining Enumerated type variables are created. </a:t>
            </a:r>
          </a:p>
        </p:txBody>
      </p:sp>
    </p:spTree>
    <p:extLst>
      <p:ext uri="{BB962C8B-B14F-4D97-AF65-F5344CB8AC3E}">
        <p14:creationId xmlns:p14="http://schemas.microsoft.com/office/powerpoint/2010/main" val="1972674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4" y="72715"/>
            <a:ext cx="5800365" cy="646331"/>
          </a:xfrm>
          <a:prstGeom prst="rect">
            <a:avLst/>
          </a:prstGeom>
          <a:noFill/>
        </p:spPr>
        <p:txBody>
          <a:bodyPr wrap="square">
            <a:spAutoFit/>
          </a:bodyPr>
          <a:lstStyle/>
          <a:p>
            <a:r>
              <a:rPr lang="en-IN" sz="2800" b="1" dirty="0">
                <a:solidFill>
                  <a:schemeClr val="bg1"/>
                </a:solidFill>
                <a:latin typeface="Trebuchet MS" panose="020B0603020202020204" pitchFamily="34" charset="0"/>
              </a:rPr>
              <a:t>Enumerated</a:t>
            </a:r>
            <a:r>
              <a:rPr lang="en-IN" sz="3600" b="0" i="0" dirty="0">
                <a:solidFill>
                  <a:srgbClr val="273239"/>
                </a:solidFill>
                <a:effectLst/>
                <a:latin typeface="Nunito" pitchFamily="2" charset="0"/>
              </a:rPr>
              <a:t> </a:t>
            </a:r>
            <a:r>
              <a:rPr lang="en-IN" sz="2800" b="1" dirty="0">
                <a:solidFill>
                  <a:schemeClr val="bg1"/>
                </a:solidFill>
                <a:latin typeface="Trebuchet MS" panose="020B0603020202020204" pitchFamily="34" charset="0"/>
              </a:rPr>
              <a:t>Data type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9" name="TextBox 8">
            <a:extLst>
              <a:ext uri="{FF2B5EF4-FFF2-40B4-BE49-F238E27FC236}">
                <a16:creationId xmlns:a16="http://schemas.microsoft.com/office/drawing/2014/main" id="{7EA01EE6-5BA6-EFE6-32A2-A89280D5E709}"/>
              </a:ext>
            </a:extLst>
          </p:cNvPr>
          <p:cNvSpPr txBox="1"/>
          <p:nvPr/>
        </p:nvSpPr>
        <p:spPr>
          <a:xfrm>
            <a:off x="480521" y="737763"/>
            <a:ext cx="7597635" cy="2118978"/>
          </a:xfrm>
          <a:prstGeom prst="rect">
            <a:avLst/>
          </a:prstGeom>
          <a:noFill/>
        </p:spPr>
        <p:txBody>
          <a:bodyPr wrap="square">
            <a:spAutoFit/>
          </a:bodyPr>
          <a:lstStyle/>
          <a:p>
            <a:pPr>
              <a:lnSpc>
                <a:spcPct val="150000"/>
              </a:lnSpc>
            </a:pPr>
            <a:r>
              <a:rPr lang="en-IN" sz="1800" dirty="0">
                <a:latin typeface="Trebuchet MS" panose="020B0603020202020204" pitchFamily="34" charset="0"/>
              </a:rPr>
              <a:t>Syntax:</a:t>
            </a:r>
          </a:p>
          <a:p>
            <a:pPr marL="357188">
              <a:lnSpc>
                <a:spcPct val="150000"/>
              </a:lnSpc>
            </a:pPr>
            <a:r>
              <a:rPr lang="en-IN" sz="1800" dirty="0" err="1">
                <a:solidFill>
                  <a:srgbClr val="FF0000"/>
                </a:solidFill>
                <a:latin typeface="Trebuchet MS" panose="020B0603020202020204" pitchFamily="34" charset="0"/>
              </a:rPr>
              <a:t>enum</a:t>
            </a:r>
            <a:r>
              <a:rPr lang="en-IN" sz="1800" dirty="0">
                <a:solidFill>
                  <a:srgbClr val="FF0000"/>
                </a:solidFill>
                <a:latin typeface="Trebuchet MS" panose="020B0603020202020204" pitchFamily="34" charset="0"/>
              </a:rPr>
              <a:t> enumerated-type-name</a:t>
            </a:r>
          </a:p>
          <a:p>
            <a:pPr marL="357188">
              <a:lnSpc>
                <a:spcPct val="150000"/>
              </a:lnSpc>
            </a:pPr>
            <a:r>
              <a:rPr lang="en-IN" sz="1800" dirty="0">
                <a:solidFill>
                  <a:srgbClr val="FF0000"/>
                </a:solidFill>
                <a:latin typeface="Trebuchet MS" panose="020B0603020202020204" pitchFamily="34" charset="0"/>
              </a:rPr>
              <a:t>{</a:t>
            </a:r>
          </a:p>
          <a:p>
            <a:pPr marL="357188">
              <a:lnSpc>
                <a:spcPct val="150000"/>
              </a:lnSpc>
            </a:pPr>
            <a:r>
              <a:rPr lang="en-IN" sz="1800" dirty="0">
                <a:solidFill>
                  <a:srgbClr val="FF0000"/>
                </a:solidFill>
                <a:latin typeface="Trebuchet MS" panose="020B0603020202020204" pitchFamily="34" charset="0"/>
              </a:rPr>
              <a:t>    value1, value2, value3…..</a:t>
            </a:r>
            <a:r>
              <a:rPr lang="en-IN" sz="1800" dirty="0" err="1">
                <a:solidFill>
                  <a:srgbClr val="FF0000"/>
                </a:solidFill>
                <a:latin typeface="Trebuchet MS" panose="020B0603020202020204" pitchFamily="34" charset="0"/>
              </a:rPr>
              <a:t>valueN</a:t>
            </a:r>
            <a:endParaRPr lang="en-IN" sz="1800" dirty="0">
              <a:solidFill>
                <a:srgbClr val="FF0000"/>
              </a:solidFill>
              <a:latin typeface="Trebuchet MS" panose="020B0603020202020204" pitchFamily="34" charset="0"/>
            </a:endParaRPr>
          </a:p>
          <a:p>
            <a:pPr marL="357188">
              <a:lnSpc>
                <a:spcPct val="150000"/>
              </a:lnSpc>
            </a:pPr>
            <a:r>
              <a:rPr lang="en-IN" sz="1800" dirty="0">
                <a:solidFill>
                  <a:srgbClr val="FF0000"/>
                </a:solidFill>
                <a:latin typeface="Trebuchet MS" panose="020B0603020202020204" pitchFamily="34" charset="0"/>
              </a:rPr>
              <a:t>};</a:t>
            </a:r>
          </a:p>
        </p:txBody>
      </p:sp>
      <p:sp>
        <p:nvSpPr>
          <p:cNvPr id="4" name="TextBox 3">
            <a:extLst>
              <a:ext uri="{FF2B5EF4-FFF2-40B4-BE49-F238E27FC236}">
                <a16:creationId xmlns:a16="http://schemas.microsoft.com/office/drawing/2014/main" id="{500C595A-C8DC-AF71-4AA2-3C3560FE756E}"/>
              </a:ext>
            </a:extLst>
          </p:cNvPr>
          <p:cNvSpPr txBox="1"/>
          <p:nvPr/>
        </p:nvSpPr>
        <p:spPr>
          <a:xfrm>
            <a:off x="-73079" y="2875458"/>
            <a:ext cx="8931954" cy="2118978"/>
          </a:xfrm>
          <a:prstGeom prst="rect">
            <a:avLst/>
          </a:prstGeom>
          <a:noFill/>
        </p:spPr>
        <p:txBody>
          <a:bodyPr wrap="square">
            <a:spAutoFit/>
          </a:bodyPr>
          <a:lstStyle/>
          <a:p>
            <a:pPr marL="357188"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Enumerators can be </a:t>
            </a:r>
            <a:r>
              <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created in two types</a:t>
            </a:r>
            <a:r>
              <a:rPr lang="en-IN" sz="1800" dirty="0">
                <a:latin typeface="Trebuchet MS" panose="020B0603020202020204" pitchFamily="34" charset="0"/>
              </a:rPr>
              <a:t>,</a:t>
            </a: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642938"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can be declared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during declaring enumerated types</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just add the name of the variable before the semicolon. or,</a:t>
            </a:r>
          </a:p>
          <a:p>
            <a:pPr marL="642938"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Besides this, we can create enumerated type variables as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same as the normal variables.</a:t>
            </a:r>
          </a:p>
        </p:txBody>
      </p:sp>
    </p:spTree>
    <p:extLst>
      <p:ext uri="{BB962C8B-B14F-4D97-AF65-F5344CB8AC3E}">
        <p14:creationId xmlns:p14="http://schemas.microsoft.com/office/powerpoint/2010/main" val="6235307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4" y="72715"/>
            <a:ext cx="5800365" cy="646331"/>
          </a:xfrm>
          <a:prstGeom prst="rect">
            <a:avLst/>
          </a:prstGeom>
          <a:noFill/>
        </p:spPr>
        <p:txBody>
          <a:bodyPr wrap="square">
            <a:spAutoFit/>
          </a:bodyPr>
          <a:lstStyle/>
          <a:p>
            <a:r>
              <a:rPr lang="en-IN" sz="2800" b="1" dirty="0">
                <a:solidFill>
                  <a:schemeClr val="bg1"/>
                </a:solidFill>
                <a:latin typeface="Trebuchet MS" panose="020B0603020202020204" pitchFamily="34" charset="0"/>
              </a:rPr>
              <a:t>Enumerated</a:t>
            </a:r>
            <a:r>
              <a:rPr lang="en-IN" sz="3600" b="0" i="0" dirty="0">
                <a:solidFill>
                  <a:srgbClr val="273239"/>
                </a:solidFill>
                <a:effectLst/>
                <a:latin typeface="Nunito" pitchFamily="2" charset="0"/>
              </a:rPr>
              <a:t> </a:t>
            </a:r>
            <a:r>
              <a:rPr lang="en-IN" sz="2800" b="1" dirty="0">
                <a:solidFill>
                  <a:schemeClr val="bg1"/>
                </a:solidFill>
                <a:latin typeface="Trebuchet MS" panose="020B0603020202020204" pitchFamily="34" charset="0"/>
              </a:rPr>
              <a:t>Data type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6" name="TextBox 5">
            <a:extLst>
              <a:ext uri="{FF2B5EF4-FFF2-40B4-BE49-F238E27FC236}">
                <a16:creationId xmlns:a16="http://schemas.microsoft.com/office/drawing/2014/main" id="{E7E57CAC-3101-7258-48BA-C0AF33774C2E}"/>
              </a:ext>
            </a:extLst>
          </p:cNvPr>
          <p:cNvSpPr txBox="1"/>
          <p:nvPr/>
        </p:nvSpPr>
        <p:spPr>
          <a:xfrm>
            <a:off x="1065127" y="1451557"/>
            <a:ext cx="6298323" cy="1477328"/>
          </a:xfrm>
          <a:prstGeom prst="rect">
            <a:avLst/>
          </a:prstGeom>
          <a:noFill/>
        </p:spPr>
        <p:txBody>
          <a:bodyPr wrap="square">
            <a:spAutoFit/>
          </a:bodyPr>
          <a:lstStyle/>
          <a:p>
            <a:r>
              <a:rPr lang="en-IN" sz="1800" dirty="0">
                <a:latin typeface="Trebuchet MS" panose="020B0603020202020204" pitchFamily="34" charset="0"/>
              </a:rPr>
              <a:t>enumerated-type-name variable-name = value;</a:t>
            </a:r>
          </a:p>
          <a:p>
            <a:r>
              <a:rPr lang="en-IN" sz="1800" dirty="0">
                <a:latin typeface="Trebuchet MS" panose="020B0603020202020204" pitchFamily="34" charset="0"/>
              </a:rPr>
              <a:t>		</a:t>
            </a:r>
          </a:p>
          <a:p>
            <a:r>
              <a:rPr lang="en-IN" sz="1800" dirty="0">
                <a:latin typeface="Trebuchet MS" panose="020B0603020202020204" pitchFamily="34" charset="0"/>
              </a:rPr>
              <a:t>		Or </a:t>
            </a:r>
          </a:p>
          <a:p>
            <a:endParaRPr lang="en-IN" sz="1800" dirty="0">
              <a:latin typeface="Trebuchet MS" panose="020B0603020202020204" pitchFamily="34" charset="0"/>
            </a:endParaRPr>
          </a:p>
          <a:p>
            <a:r>
              <a:rPr lang="en-IN" sz="1800" dirty="0" err="1">
                <a:latin typeface="Trebuchet MS" panose="020B0603020202020204" pitchFamily="34" charset="0"/>
              </a:rPr>
              <a:t>enum</a:t>
            </a:r>
            <a:r>
              <a:rPr lang="en-IN" sz="1800" dirty="0">
                <a:latin typeface="Trebuchet MS" panose="020B0603020202020204" pitchFamily="34" charset="0"/>
              </a:rPr>
              <a:t> enumerated-type-name{value1=1, value2, value3};</a:t>
            </a:r>
          </a:p>
        </p:txBody>
      </p:sp>
    </p:spTree>
    <p:extLst>
      <p:ext uri="{BB962C8B-B14F-4D97-AF65-F5344CB8AC3E}">
        <p14:creationId xmlns:p14="http://schemas.microsoft.com/office/powerpoint/2010/main" val="22084226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160697" y="72715"/>
            <a:ext cx="5800365"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Enumerated</a:t>
            </a:r>
            <a:r>
              <a:rPr lang="en-IN" sz="2800" b="0" i="0" dirty="0">
                <a:solidFill>
                  <a:srgbClr val="273239"/>
                </a:solidFill>
                <a:effectLst/>
                <a:latin typeface="Trebuchet MS" panose="020B0603020202020204" pitchFamily="34" charset="0"/>
              </a:rPr>
              <a:t> </a:t>
            </a:r>
            <a:r>
              <a:rPr lang="en-IN" sz="2800" b="1" dirty="0">
                <a:solidFill>
                  <a:schemeClr val="bg1"/>
                </a:solidFill>
                <a:latin typeface="Trebuchet MS" panose="020B0603020202020204" pitchFamily="34" charset="0"/>
              </a:rPr>
              <a:t>Data type in C++ </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485259" y="1002532"/>
            <a:ext cx="8000365" cy="754053"/>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
        <p:nvSpPr>
          <p:cNvPr id="4" name="TextBox 3">
            <a:extLst>
              <a:ext uri="{FF2B5EF4-FFF2-40B4-BE49-F238E27FC236}">
                <a16:creationId xmlns:a16="http://schemas.microsoft.com/office/drawing/2014/main" id="{9BF37546-8FCF-6DE6-7953-15B9B69566C2}"/>
              </a:ext>
            </a:extLst>
          </p:cNvPr>
          <p:cNvSpPr txBox="1"/>
          <p:nvPr/>
        </p:nvSpPr>
        <p:spPr>
          <a:xfrm>
            <a:off x="246350" y="719046"/>
            <a:ext cx="5877911" cy="4185761"/>
          </a:xfrm>
          <a:prstGeom prst="rect">
            <a:avLst/>
          </a:prstGeom>
          <a:noFill/>
        </p:spPr>
        <p:txBody>
          <a:bodyPr wrap="square">
            <a:spAutoFit/>
          </a:bodyPr>
          <a:lstStyle/>
          <a:p>
            <a:r>
              <a:rPr lang="en-IN" dirty="0">
                <a:latin typeface="Trebuchet MS" panose="020B0603020202020204" pitchFamily="34" charset="0"/>
              </a:rPr>
              <a:t>#include &lt;iostream&gt;</a:t>
            </a:r>
          </a:p>
          <a:p>
            <a:r>
              <a:rPr lang="en-IN" dirty="0">
                <a:latin typeface="Trebuchet MS" panose="020B0603020202020204" pitchFamily="34" charset="0"/>
              </a:rPr>
              <a:t>using namespace std;</a:t>
            </a:r>
          </a:p>
          <a:p>
            <a:r>
              <a:rPr lang="en-IN" dirty="0">
                <a:latin typeface="Trebuchet MS" panose="020B0603020202020204" pitchFamily="34" charset="0"/>
              </a:rPr>
              <a:t>int main()</a:t>
            </a:r>
          </a:p>
          <a:p>
            <a:r>
              <a:rPr lang="en-IN" dirty="0">
                <a:latin typeface="Trebuchet MS" panose="020B0603020202020204" pitchFamily="34" charset="0"/>
              </a:rPr>
              <a:t>{</a:t>
            </a:r>
          </a:p>
          <a:p>
            <a:r>
              <a:rPr lang="en-IN" dirty="0">
                <a:latin typeface="Trebuchet MS" panose="020B0603020202020204" pitchFamily="34" charset="0"/>
              </a:rPr>
              <a:t>   </a:t>
            </a:r>
            <a:r>
              <a:rPr lang="en-IN" dirty="0" err="1">
                <a:solidFill>
                  <a:srgbClr val="FF0000"/>
                </a:solidFill>
                <a:latin typeface="Trebuchet MS" panose="020B0603020202020204" pitchFamily="34" charset="0"/>
              </a:rPr>
              <a:t>enum</a:t>
            </a:r>
            <a:r>
              <a:rPr lang="en-IN" dirty="0">
                <a:latin typeface="Trebuchet MS" panose="020B0603020202020204" pitchFamily="34" charset="0"/>
              </a:rPr>
              <a:t> Gender { Male, Female };       </a:t>
            </a:r>
            <a:r>
              <a:rPr lang="en-IN" dirty="0">
                <a:solidFill>
                  <a:srgbClr val="0070C0"/>
                </a:solidFill>
                <a:latin typeface="Trebuchet MS" panose="020B0603020202020204" pitchFamily="34" charset="0"/>
              </a:rPr>
              <a:t>// Defining </a:t>
            </a:r>
            <a:r>
              <a:rPr lang="en-IN" dirty="0" err="1">
                <a:solidFill>
                  <a:srgbClr val="0070C0"/>
                </a:solidFill>
                <a:latin typeface="Trebuchet MS" panose="020B0603020202020204" pitchFamily="34" charset="0"/>
              </a:rPr>
              <a:t>enum</a:t>
            </a:r>
            <a:r>
              <a:rPr lang="en-IN" dirty="0">
                <a:solidFill>
                  <a:srgbClr val="0070C0"/>
                </a:solidFill>
                <a:latin typeface="Trebuchet MS" panose="020B0603020202020204" pitchFamily="34" charset="0"/>
              </a:rPr>
              <a:t> Gender</a:t>
            </a:r>
          </a:p>
          <a:p>
            <a:r>
              <a:rPr lang="en-IN" dirty="0">
                <a:latin typeface="Trebuchet MS" panose="020B0603020202020204" pitchFamily="34" charset="0"/>
              </a:rPr>
              <a:t>   Gender </a:t>
            </a:r>
            <a:r>
              <a:rPr lang="en-IN" dirty="0" err="1">
                <a:latin typeface="Trebuchet MS" panose="020B0603020202020204" pitchFamily="34" charset="0"/>
              </a:rPr>
              <a:t>gender</a:t>
            </a:r>
            <a:r>
              <a:rPr lang="en-IN" dirty="0">
                <a:latin typeface="Trebuchet MS" panose="020B0603020202020204" pitchFamily="34" charset="0"/>
              </a:rPr>
              <a:t> = Male;                   </a:t>
            </a:r>
            <a:r>
              <a:rPr lang="en-IN" dirty="0">
                <a:solidFill>
                  <a:srgbClr val="0070C0"/>
                </a:solidFill>
                <a:latin typeface="Trebuchet MS" panose="020B0603020202020204" pitchFamily="34" charset="0"/>
              </a:rPr>
              <a:t>// Creating Gender type variable</a:t>
            </a:r>
          </a:p>
          <a:p>
            <a:r>
              <a:rPr lang="en-IN" dirty="0">
                <a:latin typeface="Trebuchet MS" panose="020B0603020202020204" pitchFamily="34" charset="0"/>
              </a:rPr>
              <a:t>   switch (gender) </a:t>
            </a:r>
          </a:p>
          <a:p>
            <a:r>
              <a:rPr lang="en-IN" dirty="0">
                <a:latin typeface="Trebuchet MS" panose="020B0603020202020204" pitchFamily="34" charset="0"/>
              </a:rPr>
              <a:t>   {</a:t>
            </a:r>
          </a:p>
          <a:p>
            <a:r>
              <a:rPr lang="en-IN" dirty="0">
                <a:latin typeface="Trebuchet MS" panose="020B0603020202020204" pitchFamily="34" charset="0"/>
              </a:rPr>
              <a:t>      case Male:</a:t>
            </a:r>
          </a:p>
          <a:p>
            <a:r>
              <a:rPr lang="en-IN" dirty="0">
                <a:latin typeface="Trebuchet MS" panose="020B0603020202020204" pitchFamily="34" charset="0"/>
              </a:rPr>
              <a:t>	</a:t>
            </a:r>
            <a:r>
              <a:rPr lang="en-IN" dirty="0" err="1">
                <a:latin typeface="Trebuchet MS" panose="020B0603020202020204" pitchFamily="34" charset="0"/>
              </a:rPr>
              <a:t>cout</a:t>
            </a:r>
            <a:r>
              <a:rPr lang="en-IN" dirty="0">
                <a:latin typeface="Trebuchet MS" panose="020B0603020202020204" pitchFamily="34" charset="0"/>
              </a:rPr>
              <a:t> &lt;&lt; "Gender is Male";</a:t>
            </a:r>
          </a:p>
          <a:p>
            <a:r>
              <a:rPr lang="en-IN" dirty="0">
                <a:latin typeface="Trebuchet MS" panose="020B0603020202020204" pitchFamily="34" charset="0"/>
              </a:rPr>
              <a:t>	break;</a:t>
            </a:r>
          </a:p>
          <a:p>
            <a:r>
              <a:rPr lang="en-IN" dirty="0">
                <a:latin typeface="Trebuchet MS" panose="020B0603020202020204" pitchFamily="34" charset="0"/>
              </a:rPr>
              <a:t>     case Female:</a:t>
            </a:r>
          </a:p>
          <a:p>
            <a:r>
              <a:rPr lang="en-IN" dirty="0">
                <a:latin typeface="Trebuchet MS" panose="020B0603020202020204" pitchFamily="34" charset="0"/>
              </a:rPr>
              <a:t>	</a:t>
            </a:r>
            <a:r>
              <a:rPr lang="en-IN" dirty="0" err="1">
                <a:latin typeface="Trebuchet MS" panose="020B0603020202020204" pitchFamily="34" charset="0"/>
              </a:rPr>
              <a:t>cout</a:t>
            </a:r>
            <a:r>
              <a:rPr lang="en-IN" dirty="0">
                <a:latin typeface="Trebuchet MS" panose="020B0603020202020204" pitchFamily="34" charset="0"/>
              </a:rPr>
              <a:t> &lt;&lt; "Gender is Female";</a:t>
            </a:r>
          </a:p>
          <a:p>
            <a:r>
              <a:rPr lang="en-IN" dirty="0">
                <a:latin typeface="Trebuchet MS" panose="020B0603020202020204" pitchFamily="34" charset="0"/>
              </a:rPr>
              <a:t>	break;</a:t>
            </a:r>
          </a:p>
          <a:p>
            <a:r>
              <a:rPr lang="en-IN" dirty="0">
                <a:latin typeface="Trebuchet MS" panose="020B0603020202020204" pitchFamily="34" charset="0"/>
              </a:rPr>
              <a:t>    default:</a:t>
            </a:r>
          </a:p>
          <a:p>
            <a:r>
              <a:rPr lang="en-IN" dirty="0">
                <a:latin typeface="Trebuchet MS" panose="020B0603020202020204" pitchFamily="34" charset="0"/>
              </a:rPr>
              <a:t>	</a:t>
            </a:r>
            <a:r>
              <a:rPr lang="en-IN" dirty="0" err="1">
                <a:latin typeface="Trebuchet MS" panose="020B0603020202020204" pitchFamily="34" charset="0"/>
              </a:rPr>
              <a:t>cout</a:t>
            </a:r>
            <a:r>
              <a:rPr lang="en-IN" dirty="0">
                <a:latin typeface="Trebuchet MS" panose="020B0603020202020204" pitchFamily="34" charset="0"/>
              </a:rPr>
              <a:t> &lt;&lt; "Value can be Male or Female";</a:t>
            </a:r>
          </a:p>
          <a:p>
            <a:r>
              <a:rPr lang="en-IN" dirty="0">
                <a:latin typeface="Trebuchet MS" panose="020B0603020202020204" pitchFamily="34" charset="0"/>
              </a:rPr>
              <a:t>    }</a:t>
            </a:r>
          </a:p>
          <a:p>
            <a:r>
              <a:rPr lang="en-IN" dirty="0">
                <a:latin typeface="Trebuchet MS" panose="020B0603020202020204" pitchFamily="34" charset="0"/>
              </a:rPr>
              <a:t>return 0;</a:t>
            </a:r>
          </a:p>
          <a:p>
            <a:r>
              <a:rPr lang="en-IN" dirty="0">
                <a:latin typeface="Trebuchet MS" panose="020B0603020202020204" pitchFamily="34" charset="0"/>
              </a:rPr>
              <a:t>}</a:t>
            </a:r>
          </a:p>
        </p:txBody>
      </p:sp>
      <p:sp>
        <p:nvSpPr>
          <p:cNvPr id="9" name="TextBox 8">
            <a:extLst>
              <a:ext uri="{FF2B5EF4-FFF2-40B4-BE49-F238E27FC236}">
                <a16:creationId xmlns:a16="http://schemas.microsoft.com/office/drawing/2014/main" id="{0237377E-ED25-3769-9D5E-D5233AB6AC92}"/>
              </a:ext>
            </a:extLst>
          </p:cNvPr>
          <p:cNvSpPr txBox="1"/>
          <p:nvPr/>
        </p:nvSpPr>
        <p:spPr>
          <a:xfrm>
            <a:off x="6365873" y="3901601"/>
            <a:ext cx="4640316" cy="830997"/>
          </a:xfrm>
          <a:prstGeom prst="rect">
            <a:avLst/>
          </a:prstGeom>
          <a:noFill/>
        </p:spPr>
        <p:txBody>
          <a:bodyPr wrap="square">
            <a:spAutoFit/>
          </a:bodyPr>
          <a:lstStyle/>
          <a:p>
            <a:r>
              <a:rPr lang="en-IN" sz="1600" dirty="0">
                <a:solidFill>
                  <a:srgbClr val="0070C0"/>
                </a:solidFill>
                <a:latin typeface="Trebuchet MS" panose="020B0603020202020204" pitchFamily="34" charset="0"/>
              </a:rPr>
              <a:t>Output: </a:t>
            </a:r>
          </a:p>
          <a:p>
            <a:endParaRPr lang="en-IN" sz="1600" dirty="0">
              <a:solidFill>
                <a:srgbClr val="0070C0"/>
              </a:solidFill>
              <a:latin typeface="Trebuchet MS" panose="020B0603020202020204" pitchFamily="34" charset="0"/>
            </a:endParaRPr>
          </a:p>
          <a:p>
            <a:r>
              <a:rPr lang="en-IN" sz="1600" dirty="0">
                <a:latin typeface="Trebuchet MS" panose="020B0603020202020204" pitchFamily="34" charset="0"/>
              </a:rPr>
              <a:t>Gender is Male</a:t>
            </a:r>
            <a:endParaRPr lang="en-IN" sz="1500" dirty="0">
              <a:latin typeface="Trebuchet MS" panose="020B0603020202020204" pitchFamily="34" charset="0"/>
            </a:endParaRPr>
          </a:p>
        </p:txBody>
      </p:sp>
    </p:spTree>
    <p:extLst>
      <p:ext uri="{BB962C8B-B14F-4D97-AF65-F5344CB8AC3E}">
        <p14:creationId xmlns:p14="http://schemas.microsoft.com/office/powerpoint/2010/main" val="2146954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94827" y="-27934"/>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a:t>
            </a:r>
          </a:p>
        </p:txBody>
      </p:sp>
      <p:sp>
        <p:nvSpPr>
          <p:cNvPr id="7" name="object 3">
            <a:extLst>
              <a:ext uri="{FF2B5EF4-FFF2-40B4-BE49-F238E27FC236}">
                <a16:creationId xmlns:a16="http://schemas.microsoft.com/office/drawing/2014/main" id="{05E8D8A9-A438-D678-A9C1-FFAE26F92FA1}"/>
              </a:ext>
            </a:extLst>
          </p:cNvPr>
          <p:cNvSpPr txBox="1">
            <a:spLocks/>
          </p:cNvSpPr>
          <p:nvPr/>
        </p:nvSpPr>
        <p:spPr>
          <a:xfrm>
            <a:off x="390666" y="739773"/>
            <a:ext cx="8000365" cy="3895938"/>
          </a:xfrm>
          <a:prstGeom prst="rect">
            <a:avLst/>
          </a:prstGeom>
        </p:spPr>
        <p:txBody>
          <a:bodyPr vert="horz" wrap="square" lIns="0" tIns="381000" rIns="0" bIns="0" rtlCol="0">
            <a:spAutoFit/>
          </a:bodyPr>
          <a:lstStyle>
            <a:lvl1pPr>
              <a:defRPr sz="4300" b="1" i="0">
                <a:solidFill>
                  <a:schemeClr val="bg1"/>
                </a:solidFill>
                <a:latin typeface="Calibri"/>
                <a:ea typeface="+mj-ea"/>
                <a:cs typeface="Calibri"/>
              </a:defRPr>
            </a:lvl1pPr>
          </a:lstStyle>
          <a:p>
            <a:pPr marL="194945" marR="0" lvl="0" indent="0" defTabSz="914400" eaLnBrk="1" fontAlgn="auto" latinLnBrk="0" hangingPunct="1">
              <a:lnSpc>
                <a:spcPct val="150000"/>
              </a:lnSpc>
              <a:spcBef>
                <a:spcPts val="1290"/>
              </a:spcBef>
              <a:spcAft>
                <a:spcPts val="0"/>
              </a:spcAft>
              <a:buClrTx/>
              <a:buSzTx/>
              <a:buFontTx/>
              <a:buNone/>
              <a:tabLst/>
              <a:defRPr/>
            </a:pP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The</a:t>
            </a:r>
            <a:r>
              <a:rPr kumimoji="0" lang="en-IN" sz="2000" b="0" i="0" u="none" strike="noStrike" kern="0" cap="none" spc="-15" normalizeH="0" baseline="0" noProof="0" dirty="0">
                <a:ln>
                  <a:noFill/>
                </a:ln>
                <a:solidFill>
                  <a:schemeClr val="tx1"/>
                </a:solidFill>
                <a:effectLst/>
                <a:uLnTx/>
                <a:uFillTx/>
                <a:latin typeface="Trebuchet MS" panose="020B0603020202020204" pitchFamily="34" charset="0"/>
                <a:cs typeface="Times New Roman"/>
              </a:rPr>
              <a:t> </a:t>
            </a:r>
            <a:r>
              <a:rPr kumimoji="0" lang="en-IN" sz="2000" i="0" u="none" strike="noStrike" kern="0" cap="none" spc="-5" normalizeH="0" baseline="0" noProof="0" dirty="0">
                <a:ln>
                  <a:noFill/>
                </a:ln>
                <a:solidFill>
                  <a:schemeClr val="tx1"/>
                </a:solidFill>
                <a:effectLst/>
                <a:uLnTx/>
                <a:uFillTx/>
                <a:latin typeface="Trebuchet MS" panose="020B0603020202020204" pitchFamily="34" charset="0"/>
                <a:cs typeface="Times New Roman"/>
              </a:rPr>
              <a:t>smallest </a:t>
            </a:r>
            <a:r>
              <a:rPr kumimoji="0" lang="en-IN" sz="2000" i="0" u="none" strike="noStrike" kern="0" cap="none" spc="0" normalizeH="0" baseline="0" noProof="0" dirty="0">
                <a:ln>
                  <a:noFill/>
                </a:ln>
                <a:solidFill>
                  <a:schemeClr val="tx1"/>
                </a:solidFill>
                <a:effectLst/>
                <a:uLnTx/>
                <a:uFillTx/>
                <a:latin typeface="Trebuchet MS" panose="020B0603020202020204" pitchFamily="34" charset="0"/>
                <a:cs typeface="Times New Roman"/>
              </a:rPr>
              <a:t>individual</a:t>
            </a:r>
            <a:r>
              <a:rPr kumimoji="0" lang="en-IN" sz="2000" i="0" u="none" strike="noStrike" kern="0" cap="none" spc="-35" normalizeH="0" baseline="0" noProof="0" dirty="0">
                <a:ln>
                  <a:noFill/>
                </a:ln>
                <a:solidFill>
                  <a:schemeClr val="tx1"/>
                </a:solidFill>
                <a:effectLst/>
                <a:uLnTx/>
                <a:uFillTx/>
                <a:latin typeface="Trebuchet MS" panose="020B0603020202020204" pitchFamily="34" charset="0"/>
                <a:cs typeface="Times New Roman"/>
              </a:rPr>
              <a:t> </a:t>
            </a:r>
            <a:r>
              <a:rPr kumimoji="0" lang="en-IN" sz="2000" i="0" u="none" strike="noStrike" kern="0" cap="none" spc="0" normalizeH="0" baseline="0" noProof="0" dirty="0">
                <a:ln>
                  <a:noFill/>
                </a:ln>
                <a:solidFill>
                  <a:schemeClr val="tx1"/>
                </a:solidFill>
                <a:effectLst/>
                <a:uLnTx/>
                <a:uFillTx/>
                <a:latin typeface="Trebuchet MS" panose="020B0603020202020204" pitchFamily="34" charset="0"/>
                <a:cs typeface="Times New Roman"/>
              </a:rPr>
              <a:t>units</a:t>
            </a:r>
            <a:r>
              <a:rPr kumimoji="0" lang="en-IN" sz="2000" i="0" u="none" strike="noStrike" kern="0" cap="none" spc="-10" normalizeH="0" baseline="0" noProof="0" dirty="0">
                <a:ln>
                  <a:noFill/>
                </a:ln>
                <a:solidFill>
                  <a:schemeClr val="tx1"/>
                </a:solidFill>
                <a:effectLst/>
                <a:uLnTx/>
                <a:uFillTx/>
                <a:latin typeface="Trebuchet MS" panose="020B0603020202020204" pitchFamily="34" charset="0"/>
                <a:cs typeface="Times New Roman"/>
              </a:rPr>
              <a:t> </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in</a:t>
            </a:r>
            <a:r>
              <a:rPr kumimoji="0" lang="en-IN" sz="2000" b="0" i="0" u="none" strike="noStrike" kern="0" cap="none" spc="-20" normalizeH="0" baseline="0" noProof="0" dirty="0">
                <a:ln>
                  <a:noFill/>
                </a:ln>
                <a:solidFill>
                  <a:schemeClr val="tx1"/>
                </a:solidFill>
                <a:effectLst/>
                <a:uLnTx/>
                <a:uFillTx/>
                <a:latin typeface="Trebuchet MS" panose="020B0603020202020204" pitchFamily="34" charset="0"/>
                <a:cs typeface="Times New Roman"/>
              </a:rPr>
              <a:t> </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a</a:t>
            </a:r>
            <a:r>
              <a:rPr kumimoji="0" lang="en-IN" sz="2000" b="0" i="0" u="none" strike="noStrike" kern="0" cap="none" spc="-15" normalizeH="0" baseline="0" noProof="0" dirty="0">
                <a:ln>
                  <a:noFill/>
                </a:ln>
                <a:solidFill>
                  <a:schemeClr val="tx1"/>
                </a:solidFill>
                <a:effectLst/>
                <a:uLnTx/>
                <a:uFillTx/>
                <a:latin typeface="Trebuchet MS" panose="020B0603020202020204" pitchFamily="34" charset="0"/>
                <a:cs typeface="Times New Roman"/>
              </a:rPr>
              <a:t> </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program</a:t>
            </a:r>
            <a:r>
              <a:rPr kumimoji="0" lang="en-IN" sz="2000" b="0" i="0" u="none" strike="noStrike" kern="0" cap="none" spc="-15" normalizeH="0" baseline="0" noProof="0" dirty="0">
                <a:ln>
                  <a:noFill/>
                </a:ln>
                <a:solidFill>
                  <a:schemeClr val="tx1"/>
                </a:solidFill>
                <a:effectLst/>
                <a:uLnTx/>
                <a:uFillTx/>
                <a:latin typeface="Trebuchet MS" panose="020B0603020202020204" pitchFamily="34" charset="0"/>
                <a:cs typeface="Times New Roman"/>
              </a:rPr>
              <a:t> </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are</a:t>
            </a:r>
            <a:r>
              <a:rPr kumimoji="0" lang="en-IN" sz="2000" b="0" i="0" u="none" strike="noStrike" kern="0" cap="none" spc="-10" normalizeH="0" baseline="0" noProof="0" dirty="0">
                <a:ln>
                  <a:noFill/>
                </a:ln>
                <a:solidFill>
                  <a:schemeClr val="tx1"/>
                </a:solidFill>
                <a:effectLst/>
                <a:uLnTx/>
                <a:uFillTx/>
                <a:latin typeface="Trebuchet MS" panose="020B0603020202020204" pitchFamily="34" charset="0"/>
                <a:cs typeface="Times New Roman"/>
              </a:rPr>
              <a:t> </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known </a:t>
            </a:r>
            <a:r>
              <a:rPr kumimoji="0" lang="en-IN" sz="2000" b="0" i="0" u="none" strike="noStrike" kern="0" cap="none" spc="-5" normalizeH="0" baseline="0" noProof="0" dirty="0">
                <a:ln>
                  <a:noFill/>
                </a:ln>
                <a:solidFill>
                  <a:schemeClr val="tx1"/>
                </a:solidFill>
                <a:effectLst/>
                <a:uLnTx/>
                <a:uFillTx/>
                <a:latin typeface="Trebuchet MS" panose="020B0603020202020204" pitchFamily="34" charset="0"/>
                <a:cs typeface="Times New Roman"/>
              </a:rPr>
              <a:t>as </a:t>
            </a:r>
            <a:r>
              <a:rPr kumimoji="0" lang="en-IN" sz="2000" b="0" i="0" u="none" strike="noStrike" kern="0" cap="none" spc="0" normalizeH="0" baseline="0" noProof="0" dirty="0">
                <a:ln>
                  <a:noFill/>
                </a:ln>
                <a:solidFill>
                  <a:srgbClr val="FF0000"/>
                </a:solidFill>
                <a:effectLst/>
                <a:uLnTx/>
                <a:uFillTx/>
                <a:latin typeface="Trebuchet MS" panose="020B0603020202020204" pitchFamily="34" charset="0"/>
                <a:cs typeface="Times New Roman"/>
              </a:rPr>
              <a:t>tokens</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Times New Roman"/>
              </a:rPr>
              <a:t>.</a:t>
            </a:r>
          </a:p>
          <a:p>
            <a:pPr marL="814388" indent="-457200">
              <a:lnSpc>
                <a:spcPct val="150000"/>
              </a:lnSpc>
              <a:spcBef>
                <a:spcPts val="409"/>
              </a:spcBef>
              <a:buClrTx/>
              <a:buFont typeface="+mj-lt"/>
              <a:buAutoNum type="arabicPeriod"/>
              <a:tabLst>
                <a:tab pos="469265" algn="l"/>
                <a:tab pos="469900" algn="l"/>
              </a:tabLst>
            </a:pPr>
            <a:r>
              <a:rPr lang="en-IN" sz="2000" b="0" dirty="0">
                <a:solidFill>
                  <a:srgbClr val="000000"/>
                </a:solidFill>
                <a:latin typeface="Trebuchet MS" panose="020B0603020202020204" pitchFamily="34" charset="0"/>
                <a:cs typeface="Arial"/>
              </a:rPr>
              <a:t>Keywords</a:t>
            </a:r>
          </a:p>
          <a:p>
            <a:pPr marL="814388" indent="-457200">
              <a:lnSpc>
                <a:spcPct val="150000"/>
              </a:lnSpc>
              <a:spcBef>
                <a:spcPts val="315"/>
              </a:spcBef>
              <a:buClrTx/>
              <a:buFont typeface="+mj-lt"/>
              <a:buAutoNum type="arabicPeriod"/>
              <a:tabLst>
                <a:tab pos="469265" algn="l"/>
                <a:tab pos="469900" algn="l"/>
              </a:tabLst>
            </a:pPr>
            <a:r>
              <a:rPr lang="en-IN" sz="2000" b="0" dirty="0">
                <a:solidFill>
                  <a:srgbClr val="000000"/>
                </a:solidFill>
                <a:latin typeface="Trebuchet MS" panose="020B0603020202020204" pitchFamily="34" charset="0"/>
                <a:cs typeface="Arial"/>
              </a:rPr>
              <a:t>Identifiers</a:t>
            </a:r>
          </a:p>
          <a:p>
            <a:pPr marL="814388" indent="-457200">
              <a:lnSpc>
                <a:spcPct val="150000"/>
              </a:lnSpc>
              <a:spcBef>
                <a:spcPts val="310"/>
              </a:spcBef>
              <a:buClrTx/>
              <a:buFont typeface="+mj-lt"/>
              <a:buAutoNum type="arabicPeriod"/>
              <a:tabLst>
                <a:tab pos="469265" algn="l"/>
                <a:tab pos="469900" algn="l"/>
              </a:tabLst>
            </a:pPr>
            <a:r>
              <a:rPr lang="en-IN" sz="2000" b="0" dirty="0">
                <a:solidFill>
                  <a:srgbClr val="000000"/>
                </a:solidFill>
                <a:latin typeface="Trebuchet MS" panose="020B0603020202020204" pitchFamily="34" charset="0"/>
                <a:cs typeface="Arial"/>
              </a:rPr>
              <a:t>Constants</a:t>
            </a:r>
          </a:p>
          <a:p>
            <a:pPr marL="814388" indent="-457200">
              <a:lnSpc>
                <a:spcPct val="150000"/>
              </a:lnSpc>
              <a:spcBef>
                <a:spcPts val="315"/>
              </a:spcBef>
              <a:buClrTx/>
              <a:buFont typeface="+mj-lt"/>
              <a:buAutoNum type="arabicPeriod"/>
              <a:tabLst>
                <a:tab pos="469265" algn="l"/>
                <a:tab pos="469900" algn="l"/>
              </a:tabLst>
            </a:pPr>
            <a:r>
              <a:rPr lang="en-IN" sz="2000" b="0" dirty="0">
                <a:solidFill>
                  <a:srgbClr val="000000"/>
                </a:solidFill>
                <a:latin typeface="Trebuchet MS" panose="020B0603020202020204" pitchFamily="34" charset="0"/>
                <a:cs typeface="Arial"/>
              </a:rPr>
              <a:t>Strings</a:t>
            </a:r>
          </a:p>
          <a:p>
            <a:pPr marL="814388" indent="-457200">
              <a:lnSpc>
                <a:spcPct val="150000"/>
              </a:lnSpc>
              <a:spcBef>
                <a:spcPts val="310"/>
              </a:spcBef>
              <a:buClrTx/>
              <a:buFont typeface="+mj-lt"/>
              <a:buAutoNum type="arabicPeriod"/>
              <a:tabLst>
                <a:tab pos="469265" algn="l"/>
                <a:tab pos="469900" algn="l"/>
              </a:tabLst>
            </a:pPr>
            <a:r>
              <a:rPr lang="en-IN" sz="2000" b="0" dirty="0">
                <a:solidFill>
                  <a:srgbClr val="000000"/>
                </a:solidFill>
                <a:latin typeface="Trebuchet MS" panose="020B0603020202020204" pitchFamily="34" charset="0"/>
                <a:cs typeface="Arial"/>
              </a:rPr>
              <a:t>Operators</a:t>
            </a:r>
          </a:p>
          <a:p>
            <a:pPr marL="194945" marR="0" lvl="0" indent="0" defTabSz="914400" eaLnBrk="1" fontAlgn="auto" latinLnBrk="0" hangingPunct="1">
              <a:lnSpc>
                <a:spcPct val="100000"/>
              </a:lnSpc>
              <a:spcBef>
                <a:spcPts val="1290"/>
              </a:spcBef>
              <a:spcAft>
                <a:spcPts val="0"/>
              </a:spcAft>
              <a:buClrTx/>
              <a:buSzTx/>
              <a:buFontTx/>
              <a:buNone/>
              <a:tabLst/>
              <a:defRPr/>
            </a:pPr>
            <a:endParaRPr kumimoji="0" lang="en-IN" sz="2400" b="1" i="0" u="none" strike="noStrike" kern="0" cap="none" spc="0" normalizeH="0" baseline="0" noProof="0" dirty="0">
              <a:ln>
                <a:noFill/>
              </a:ln>
              <a:solidFill>
                <a:sysClr val="window" lastClr="FFFFFF"/>
              </a:solidFill>
              <a:effectLst/>
              <a:uLnTx/>
              <a:uFillTx/>
              <a:latin typeface="Times New Roman"/>
              <a:ea typeface="+mj-ea"/>
              <a:cs typeface="Times New Roman"/>
            </a:endParaRPr>
          </a:p>
        </p:txBody>
      </p:sp>
    </p:spTree>
    <p:extLst>
      <p:ext uri="{BB962C8B-B14F-4D97-AF65-F5344CB8AC3E}">
        <p14:creationId xmlns:p14="http://schemas.microsoft.com/office/powerpoint/2010/main" val="14446727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954107"/>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a:t>
            </a: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cs typeface="Arial"/>
                <a:sym typeface="Arial"/>
              </a:rPr>
              <a:t>Keywords</a:t>
            </a:r>
          </a:p>
          <a:p>
            <a:endParaRPr lang="en-IN" sz="2800" b="1"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8A0C7B88-BB59-7EBC-385D-3891D4F59CC8}"/>
              </a:ext>
            </a:extLst>
          </p:cNvPr>
          <p:cNvSpPr txBox="1"/>
          <p:nvPr/>
        </p:nvSpPr>
        <p:spPr>
          <a:xfrm>
            <a:off x="210207" y="753696"/>
            <a:ext cx="8513378" cy="873381"/>
          </a:xfrm>
          <a:prstGeom prst="rect">
            <a:avLst/>
          </a:prstGeom>
          <a:noFill/>
        </p:spPr>
        <p:txBody>
          <a:bodyPr wrap="square">
            <a:spAutoFit/>
          </a:bodyPr>
          <a:lstStyle/>
          <a:p>
            <a:pPr marL="642938" indent="-285750">
              <a:lnSpc>
                <a:spcPct val="150000"/>
              </a:lnSpc>
              <a:spcBef>
                <a:spcPts val="409"/>
              </a:spcBef>
              <a:buClrTx/>
              <a:buFont typeface="Arial" panose="020B0604020202020204" pitchFamily="34" charset="0"/>
              <a:buChar char="•"/>
              <a:tabLst>
                <a:tab pos="469265" algn="l"/>
                <a:tab pos="469900" algn="l"/>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reserved word is a word that cannot be used as an identifier</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such as the name of a variable, function, or label – it is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reserved from use</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endParaRPr kumimoji="0" lang="en-IN" sz="2000" b="1" i="0" u="none" strike="noStrike" kern="0" cap="none" spc="0" normalizeH="0" baseline="0" noProof="0" dirty="0">
              <a:ln>
                <a:noFill/>
              </a:ln>
              <a:solidFill>
                <a:sysClr val="window" lastClr="FFFFFF"/>
              </a:solidFill>
              <a:effectLst/>
              <a:uLnTx/>
              <a:uFillTx/>
              <a:latin typeface="Times New Roman"/>
              <a:ea typeface="+mj-ea"/>
              <a:cs typeface="Times New Roman"/>
              <a:sym typeface="Arial"/>
            </a:endParaRPr>
          </a:p>
        </p:txBody>
      </p:sp>
      <p:graphicFrame>
        <p:nvGraphicFramePr>
          <p:cNvPr id="8" name="Table 7">
            <a:extLst>
              <a:ext uri="{FF2B5EF4-FFF2-40B4-BE49-F238E27FC236}">
                <a16:creationId xmlns:a16="http://schemas.microsoft.com/office/drawing/2014/main" id="{53B72BA5-BB05-A4BC-6CFF-9C87FE4DF590}"/>
              </a:ext>
            </a:extLst>
          </p:cNvPr>
          <p:cNvGraphicFramePr>
            <a:graphicFrameLocks noGrp="1"/>
          </p:cNvGraphicFramePr>
          <p:nvPr>
            <p:extLst>
              <p:ext uri="{D42A27DB-BD31-4B8C-83A1-F6EECF244321}">
                <p14:modId xmlns:p14="http://schemas.microsoft.com/office/powerpoint/2010/main" val="4045837404"/>
              </p:ext>
            </p:extLst>
          </p:nvPr>
        </p:nvGraphicFramePr>
        <p:xfrm>
          <a:off x="797180" y="2147103"/>
          <a:ext cx="7169661" cy="2740728"/>
        </p:xfrm>
        <a:graphic>
          <a:graphicData uri="http://schemas.openxmlformats.org/drawingml/2006/table">
            <a:tbl>
              <a:tblPr>
                <a:effectLst>
                  <a:outerShdw blurRad="50800" dist="38100" dir="5400000" algn="t" rotWithShape="0">
                    <a:prstClr val="black">
                      <a:alpha val="40000"/>
                    </a:prstClr>
                  </a:outerShdw>
                </a:effectLst>
                <a:tableStyleId>{2D5ABB26-0587-4C30-8999-92F81FD0307C}</a:tableStyleId>
              </a:tblPr>
              <a:tblGrid>
                <a:gridCol w="1024237">
                  <a:extLst>
                    <a:ext uri="{9D8B030D-6E8A-4147-A177-3AD203B41FA5}">
                      <a16:colId xmlns:a16="http://schemas.microsoft.com/office/drawing/2014/main" val="191180957"/>
                    </a:ext>
                  </a:extLst>
                </a:gridCol>
                <a:gridCol w="1024237">
                  <a:extLst>
                    <a:ext uri="{9D8B030D-6E8A-4147-A177-3AD203B41FA5}">
                      <a16:colId xmlns:a16="http://schemas.microsoft.com/office/drawing/2014/main" val="658558159"/>
                    </a:ext>
                  </a:extLst>
                </a:gridCol>
                <a:gridCol w="1024237">
                  <a:extLst>
                    <a:ext uri="{9D8B030D-6E8A-4147-A177-3AD203B41FA5}">
                      <a16:colId xmlns:a16="http://schemas.microsoft.com/office/drawing/2014/main" val="1058599434"/>
                    </a:ext>
                  </a:extLst>
                </a:gridCol>
                <a:gridCol w="1266307">
                  <a:extLst>
                    <a:ext uri="{9D8B030D-6E8A-4147-A177-3AD203B41FA5}">
                      <a16:colId xmlns:a16="http://schemas.microsoft.com/office/drawing/2014/main" val="2654190678"/>
                    </a:ext>
                  </a:extLst>
                </a:gridCol>
                <a:gridCol w="901698">
                  <a:extLst>
                    <a:ext uri="{9D8B030D-6E8A-4147-A177-3AD203B41FA5}">
                      <a16:colId xmlns:a16="http://schemas.microsoft.com/office/drawing/2014/main" val="347692087"/>
                    </a:ext>
                  </a:extLst>
                </a:gridCol>
                <a:gridCol w="935463">
                  <a:extLst>
                    <a:ext uri="{9D8B030D-6E8A-4147-A177-3AD203B41FA5}">
                      <a16:colId xmlns:a16="http://schemas.microsoft.com/office/drawing/2014/main" val="2244735712"/>
                    </a:ext>
                  </a:extLst>
                </a:gridCol>
                <a:gridCol w="993482">
                  <a:extLst>
                    <a:ext uri="{9D8B030D-6E8A-4147-A177-3AD203B41FA5}">
                      <a16:colId xmlns:a16="http://schemas.microsoft.com/office/drawing/2014/main" val="2783860845"/>
                    </a:ext>
                  </a:extLst>
                </a:gridCol>
              </a:tblGrid>
              <a:tr h="456788">
                <a:tc>
                  <a:txBody>
                    <a:bodyPr/>
                    <a:lstStyle/>
                    <a:p>
                      <a:r>
                        <a:rPr lang="en-IN" sz="1600" dirty="0">
                          <a:effectLst/>
                        </a:rPr>
                        <a:t>auto</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bool</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break</a:t>
                      </a:r>
                      <a:endParaRPr lang="en-IN" sz="1600" dirty="0">
                        <a:effectLst/>
                        <a:latin typeface="Trebuchet MS" panose="020B0603020202020204" pitchFamily="34" charset="0"/>
                      </a:endParaRPr>
                    </a:p>
                  </a:txBody>
                  <a:tcPr anchor="ctr">
                    <a:solidFill>
                      <a:schemeClr val="tx2"/>
                    </a:solidFill>
                  </a:tcPr>
                </a:tc>
                <a:tc>
                  <a:txBody>
                    <a:bodyPr/>
                    <a:lstStyle/>
                    <a:p>
                      <a:r>
                        <a:rPr lang="en-IN" sz="1600">
                          <a:effectLst/>
                        </a:rPr>
                        <a:t>case</a:t>
                      </a:r>
                      <a:endParaRPr lang="en-IN" sz="1600">
                        <a:effectLst/>
                        <a:latin typeface="Trebuchet MS" panose="020B0603020202020204" pitchFamily="34" charset="0"/>
                      </a:endParaRPr>
                    </a:p>
                  </a:txBody>
                  <a:tcPr anchor="ctr">
                    <a:solidFill>
                      <a:schemeClr val="tx2"/>
                    </a:solidFill>
                  </a:tcPr>
                </a:tc>
                <a:tc>
                  <a:txBody>
                    <a:bodyPr/>
                    <a:lstStyle/>
                    <a:p>
                      <a:r>
                        <a:rPr lang="en-IN" sz="1600" dirty="0">
                          <a:effectLst/>
                        </a:rPr>
                        <a:t>catch</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char</a:t>
                      </a:r>
                      <a:endParaRPr lang="en-IN" sz="1600" dirty="0">
                        <a:effectLst/>
                        <a:latin typeface="Trebuchet MS" panose="020B0603020202020204" pitchFamily="34" charset="0"/>
                      </a:endParaRPr>
                    </a:p>
                  </a:txBody>
                  <a:tcPr anchor="ctr">
                    <a:solidFill>
                      <a:schemeClr val="tx2"/>
                    </a:solidFill>
                  </a:tcPr>
                </a:tc>
                <a:tc>
                  <a:txBody>
                    <a:bodyPr/>
                    <a:lstStyle/>
                    <a:p>
                      <a:r>
                        <a:rPr lang="en-IN" sz="1600">
                          <a:effectLst/>
                        </a:rPr>
                        <a:t>class</a:t>
                      </a:r>
                      <a:endParaRPr lang="en-IN" sz="1600">
                        <a:effectLst/>
                        <a:latin typeface="Trebuchet MS" panose="020B0603020202020204" pitchFamily="34" charset="0"/>
                      </a:endParaRPr>
                    </a:p>
                  </a:txBody>
                  <a:tcPr anchor="ctr">
                    <a:solidFill>
                      <a:schemeClr val="tx2"/>
                    </a:solidFill>
                  </a:tcPr>
                </a:tc>
                <a:extLst>
                  <a:ext uri="{0D108BD9-81ED-4DB2-BD59-A6C34878D82A}">
                    <a16:rowId xmlns:a16="http://schemas.microsoft.com/office/drawing/2014/main" val="1732081643"/>
                  </a:ext>
                </a:extLst>
              </a:tr>
              <a:tr h="456788">
                <a:tc>
                  <a:txBody>
                    <a:bodyPr/>
                    <a:lstStyle/>
                    <a:p>
                      <a:r>
                        <a:rPr lang="en-IN" sz="1600" dirty="0" err="1">
                          <a:effectLst/>
                        </a:rPr>
                        <a:t>const</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continue</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double</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default</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delete</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else</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err="1">
                          <a:effectLst/>
                        </a:rPr>
                        <a:t>enum</a:t>
                      </a:r>
                      <a:endParaRPr lang="en-IN" sz="1600" dirty="0">
                        <a:effectLst/>
                        <a:latin typeface="Trebuchet MS" panose="020B0603020202020204" pitchFamily="34" charset="0"/>
                      </a:endParaRPr>
                    </a:p>
                  </a:txBody>
                  <a:tcPr anchor="ctr">
                    <a:solidFill>
                      <a:schemeClr val="tx2"/>
                    </a:solidFill>
                  </a:tcPr>
                </a:tc>
                <a:extLst>
                  <a:ext uri="{0D108BD9-81ED-4DB2-BD59-A6C34878D82A}">
                    <a16:rowId xmlns:a16="http://schemas.microsoft.com/office/drawing/2014/main" val="1308293026"/>
                  </a:ext>
                </a:extLst>
              </a:tr>
              <a:tr h="456788">
                <a:tc>
                  <a:txBody>
                    <a:bodyPr/>
                    <a:lstStyle/>
                    <a:p>
                      <a:r>
                        <a:rPr lang="en-IN" sz="1600">
                          <a:effectLst/>
                        </a:rPr>
                        <a:t>explicit</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friend</a:t>
                      </a:r>
                      <a:endParaRPr lang="en-IN" sz="1600">
                        <a:effectLst/>
                        <a:latin typeface="Trebuchet MS" panose="020B0603020202020204" pitchFamily="34" charset="0"/>
                      </a:endParaRPr>
                    </a:p>
                  </a:txBody>
                  <a:tcPr anchor="ctr">
                    <a:solidFill>
                      <a:schemeClr val="tx2"/>
                    </a:solidFill>
                  </a:tcPr>
                </a:tc>
                <a:tc>
                  <a:txBody>
                    <a:bodyPr/>
                    <a:lstStyle/>
                    <a:p>
                      <a:r>
                        <a:rPr lang="en-IN" sz="1600" dirty="0">
                          <a:effectLst/>
                        </a:rPr>
                        <a:t>float</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for</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int</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long</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mutable</a:t>
                      </a:r>
                      <a:endParaRPr lang="en-IN" sz="1600" dirty="0">
                        <a:effectLst/>
                        <a:latin typeface="Trebuchet MS" panose="020B0603020202020204" pitchFamily="34" charset="0"/>
                      </a:endParaRPr>
                    </a:p>
                  </a:txBody>
                  <a:tcPr anchor="ctr">
                    <a:solidFill>
                      <a:schemeClr val="tx2"/>
                    </a:solidFill>
                  </a:tcPr>
                </a:tc>
                <a:extLst>
                  <a:ext uri="{0D108BD9-81ED-4DB2-BD59-A6C34878D82A}">
                    <a16:rowId xmlns:a16="http://schemas.microsoft.com/office/drawing/2014/main" val="4146506658"/>
                  </a:ext>
                </a:extLst>
              </a:tr>
              <a:tr h="456788">
                <a:tc>
                  <a:txBody>
                    <a:bodyPr/>
                    <a:lstStyle/>
                    <a:p>
                      <a:r>
                        <a:rPr lang="en-IN" sz="1600">
                          <a:effectLst/>
                        </a:rPr>
                        <a:t>new</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operator</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private</a:t>
                      </a:r>
                      <a:endParaRPr lang="en-IN" sz="1600">
                        <a:effectLst/>
                        <a:latin typeface="Trebuchet MS" panose="020B0603020202020204" pitchFamily="34" charset="0"/>
                      </a:endParaRPr>
                    </a:p>
                  </a:txBody>
                  <a:tcPr anchor="ctr">
                    <a:solidFill>
                      <a:schemeClr val="tx2"/>
                    </a:solidFill>
                  </a:tcPr>
                </a:tc>
                <a:tc>
                  <a:txBody>
                    <a:bodyPr/>
                    <a:lstStyle/>
                    <a:p>
                      <a:r>
                        <a:rPr lang="en-IN" sz="1600" dirty="0">
                          <a:effectLst/>
                        </a:rPr>
                        <a:t>protected</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public</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register</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return</a:t>
                      </a:r>
                      <a:endParaRPr lang="en-IN" sz="1600" dirty="0">
                        <a:effectLst/>
                        <a:latin typeface="Trebuchet MS" panose="020B0603020202020204" pitchFamily="34" charset="0"/>
                      </a:endParaRPr>
                    </a:p>
                  </a:txBody>
                  <a:tcPr anchor="ctr">
                    <a:solidFill>
                      <a:schemeClr val="tx2"/>
                    </a:solidFill>
                  </a:tcPr>
                </a:tc>
                <a:extLst>
                  <a:ext uri="{0D108BD9-81ED-4DB2-BD59-A6C34878D82A}">
                    <a16:rowId xmlns:a16="http://schemas.microsoft.com/office/drawing/2014/main" val="3642998636"/>
                  </a:ext>
                </a:extLst>
              </a:tr>
              <a:tr h="456788">
                <a:tc>
                  <a:txBody>
                    <a:bodyPr/>
                    <a:lstStyle/>
                    <a:p>
                      <a:r>
                        <a:rPr lang="en-IN" sz="1600">
                          <a:effectLst/>
                        </a:rPr>
                        <a:t>struct</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switch</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short</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sizeof</a:t>
                      </a:r>
                      <a:endParaRPr lang="en-IN" sz="1600">
                        <a:effectLst/>
                        <a:latin typeface="Trebuchet MS" panose="020B0603020202020204" pitchFamily="34" charset="0"/>
                      </a:endParaRPr>
                    </a:p>
                  </a:txBody>
                  <a:tcPr anchor="ctr">
                    <a:solidFill>
                      <a:schemeClr val="tx2"/>
                    </a:solidFill>
                  </a:tcPr>
                </a:tc>
                <a:tc>
                  <a:txBody>
                    <a:bodyPr/>
                    <a:lstStyle/>
                    <a:p>
                      <a:r>
                        <a:rPr lang="en-IN" sz="1600" dirty="0">
                          <a:effectLst/>
                        </a:rPr>
                        <a:t>static</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this</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typedef</a:t>
                      </a:r>
                      <a:endParaRPr lang="en-IN" sz="1600" dirty="0">
                        <a:effectLst/>
                        <a:latin typeface="Trebuchet MS" panose="020B0603020202020204" pitchFamily="34" charset="0"/>
                      </a:endParaRPr>
                    </a:p>
                  </a:txBody>
                  <a:tcPr anchor="ctr">
                    <a:solidFill>
                      <a:schemeClr val="tx2"/>
                    </a:solidFill>
                  </a:tcPr>
                </a:tc>
                <a:extLst>
                  <a:ext uri="{0D108BD9-81ED-4DB2-BD59-A6C34878D82A}">
                    <a16:rowId xmlns:a16="http://schemas.microsoft.com/office/drawing/2014/main" val="3960708874"/>
                  </a:ext>
                </a:extLst>
              </a:tr>
              <a:tr h="456788">
                <a:tc>
                  <a:txBody>
                    <a:bodyPr/>
                    <a:lstStyle/>
                    <a:p>
                      <a:r>
                        <a:rPr lang="en-IN" sz="1600">
                          <a:effectLst/>
                        </a:rPr>
                        <a:t>throw</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true</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try</a:t>
                      </a:r>
                      <a:endParaRPr lang="en-IN" sz="1600">
                        <a:effectLst/>
                        <a:latin typeface="Trebuchet MS" panose="020B0603020202020204" pitchFamily="34" charset="0"/>
                      </a:endParaRPr>
                    </a:p>
                  </a:txBody>
                  <a:tcPr anchor="ctr">
                    <a:solidFill>
                      <a:schemeClr val="tx2"/>
                    </a:solidFill>
                  </a:tcPr>
                </a:tc>
                <a:tc>
                  <a:txBody>
                    <a:bodyPr/>
                    <a:lstStyle/>
                    <a:p>
                      <a:r>
                        <a:rPr lang="en-IN" sz="1600">
                          <a:effectLst/>
                        </a:rPr>
                        <a:t>union</a:t>
                      </a:r>
                      <a:endParaRPr lang="en-IN" sz="1600">
                        <a:effectLst/>
                        <a:latin typeface="Trebuchet MS" panose="020B0603020202020204" pitchFamily="34" charset="0"/>
                      </a:endParaRPr>
                    </a:p>
                  </a:txBody>
                  <a:tcPr anchor="ctr">
                    <a:solidFill>
                      <a:schemeClr val="tx2"/>
                    </a:solidFill>
                  </a:tcPr>
                </a:tc>
                <a:tc>
                  <a:txBody>
                    <a:bodyPr/>
                    <a:lstStyle/>
                    <a:p>
                      <a:r>
                        <a:rPr lang="en-IN" sz="1600" dirty="0">
                          <a:effectLst/>
                        </a:rPr>
                        <a:t>virtual</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void</a:t>
                      </a:r>
                      <a:endParaRPr lang="en-IN" sz="1600" dirty="0">
                        <a:effectLst/>
                        <a:latin typeface="Trebuchet MS" panose="020B0603020202020204" pitchFamily="34" charset="0"/>
                      </a:endParaRPr>
                    </a:p>
                  </a:txBody>
                  <a:tcPr anchor="ctr">
                    <a:solidFill>
                      <a:schemeClr val="tx2"/>
                    </a:solidFill>
                  </a:tcPr>
                </a:tc>
                <a:tc>
                  <a:txBody>
                    <a:bodyPr/>
                    <a:lstStyle/>
                    <a:p>
                      <a:r>
                        <a:rPr lang="en-IN" sz="1600" dirty="0">
                          <a:effectLst/>
                        </a:rPr>
                        <a:t>while</a:t>
                      </a:r>
                      <a:endParaRPr lang="en-IN" sz="1600" dirty="0">
                        <a:effectLst/>
                        <a:latin typeface="Trebuchet MS" panose="020B0603020202020204" pitchFamily="34" charset="0"/>
                      </a:endParaRPr>
                    </a:p>
                  </a:txBody>
                  <a:tcPr anchor="ctr">
                    <a:solidFill>
                      <a:schemeClr val="tx2"/>
                    </a:solidFill>
                  </a:tcPr>
                </a:tc>
                <a:extLst>
                  <a:ext uri="{0D108BD9-81ED-4DB2-BD59-A6C34878D82A}">
                    <a16:rowId xmlns:a16="http://schemas.microsoft.com/office/drawing/2014/main" val="2620226040"/>
                  </a:ext>
                </a:extLst>
              </a:tr>
            </a:tbl>
          </a:graphicData>
        </a:graphic>
      </p:graphicFrame>
    </p:spTree>
    <p:extLst>
      <p:ext uri="{BB962C8B-B14F-4D97-AF65-F5344CB8AC3E}">
        <p14:creationId xmlns:p14="http://schemas.microsoft.com/office/powerpoint/2010/main" val="26001123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954107"/>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Identifiers</a:t>
            </a:r>
          </a:p>
          <a:p>
            <a:endParaRPr lang="en-IN" sz="2800" b="1" dirty="0">
              <a:solidFill>
                <a:schemeClr val="bg1"/>
              </a:solidFill>
              <a:latin typeface="Trebuchet MS" panose="020B0603020202020204" pitchFamily="34" charset="0"/>
            </a:endParaRPr>
          </a:p>
        </p:txBody>
      </p:sp>
      <p:sp>
        <p:nvSpPr>
          <p:cNvPr id="2" name="object 2">
            <a:extLst>
              <a:ext uri="{FF2B5EF4-FFF2-40B4-BE49-F238E27FC236}">
                <a16:creationId xmlns:a16="http://schemas.microsoft.com/office/drawing/2014/main" id="{C9FCDD5B-4D6F-C3B2-EB51-6283C0E6D29E}"/>
              </a:ext>
            </a:extLst>
          </p:cNvPr>
          <p:cNvSpPr txBox="1"/>
          <p:nvPr/>
        </p:nvSpPr>
        <p:spPr>
          <a:xfrm>
            <a:off x="514389" y="1094787"/>
            <a:ext cx="8105695" cy="3016660"/>
          </a:xfrm>
          <a:prstGeom prst="rect">
            <a:avLst/>
          </a:prstGeom>
        </p:spPr>
        <p:txBody>
          <a:bodyPr vert="horz" wrap="square" lIns="0" tIns="12700" rIns="0" bIns="0" rtlCol="0">
            <a:spAutoFit/>
          </a:bodyPr>
          <a:lstStyle/>
          <a:p>
            <a:pPr marL="194945" marR="5080" indent="-182880">
              <a:spcBef>
                <a:spcPts val="100"/>
              </a:spcBef>
              <a:buClrTx/>
              <a:tabLst>
                <a:tab pos="559435" algn="l"/>
                <a:tab pos="1332230" algn="l"/>
                <a:tab pos="2607945" algn="l"/>
                <a:tab pos="2974340" algn="l"/>
                <a:tab pos="3269615" algn="l"/>
                <a:tab pos="4548505" algn="l"/>
                <a:tab pos="4963160" algn="l"/>
                <a:tab pos="5565140" algn="l"/>
                <a:tab pos="5982970" algn="l"/>
                <a:tab pos="6769100" algn="l"/>
                <a:tab pos="7750809" algn="l"/>
                <a:tab pos="8590280" algn="l"/>
                <a:tab pos="9006840" algn="l"/>
              </a:tabLst>
            </a:pPr>
            <a:endParaRPr kumimoji="0" lang="en-IN" sz="2400" b="1" i="0" u="none" strike="noStrike" kern="0" cap="none" spc="0" normalizeH="0" baseline="0" noProof="0" dirty="0">
              <a:ln>
                <a:noFill/>
              </a:ln>
              <a:solidFill>
                <a:srgbClr val="0070C0"/>
              </a:solidFill>
              <a:effectLst/>
              <a:uLnTx/>
              <a:uFillTx/>
              <a:latin typeface="Trebuchet MS" panose="020B0603020202020204" pitchFamily="34" charset="0"/>
              <a:ea typeface="+mj-ea"/>
              <a:cs typeface="Calibri"/>
            </a:endParaRPr>
          </a:p>
          <a:p>
            <a:pPr marL="297815" marR="5080" indent="-285750">
              <a:lnSpc>
                <a:spcPct val="150000"/>
              </a:lnSpc>
              <a:spcBef>
                <a:spcPts val="100"/>
              </a:spcBef>
              <a:buClrTx/>
              <a:buFont typeface="Arial" panose="020B0604020202020204" pitchFamily="34" charset="0"/>
              <a:buChar char="•"/>
              <a:tabLst>
                <a:tab pos="559435" algn="l"/>
                <a:tab pos="1332230" algn="l"/>
                <a:tab pos="2607945" algn="l"/>
                <a:tab pos="2974340" algn="l"/>
                <a:tab pos="3269615" algn="l"/>
                <a:tab pos="4548505" algn="l"/>
                <a:tab pos="4963160" algn="l"/>
                <a:tab pos="5565140" algn="l"/>
                <a:tab pos="5982970" algn="l"/>
                <a:tab pos="6769100" algn="l"/>
                <a:tab pos="7750809" algn="l"/>
                <a:tab pos="8590280" algn="l"/>
                <a:tab pos="9006840" algn="l"/>
              </a:tabLst>
            </a:pPr>
            <a:r>
              <a:rPr lang="en-IN" sz="1800" kern="1200" dirty="0">
                <a:solidFill>
                  <a:schemeClr val="tx1"/>
                </a:solidFill>
                <a:latin typeface="Trebuchet MS" panose="020B0603020202020204" pitchFamily="34" charset="0"/>
                <a:ea typeface="+mn-ea"/>
                <a:cs typeface="Times New Roman"/>
              </a:rPr>
              <a:t>Identifiers in C++ are </a:t>
            </a:r>
            <a:r>
              <a:rPr lang="en-IN" sz="1800" b="1" kern="1200" dirty="0">
                <a:solidFill>
                  <a:schemeClr val="tx1"/>
                </a:solidFill>
                <a:latin typeface="Trebuchet MS" panose="020B0603020202020204" pitchFamily="34" charset="0"/>
                <a:ea typeface="+mn-ea"/>
                <a:cs typeface="Times New Roman"/>
              </a:rPr>
              <a:t>short and informative names </a:t>
            </a:r>
            <a:r>
              <a:rPr lang="en-IN" sz="1800" kern="1200" dirty="0">
                <a:solidFill>
                  <a:schemeClr val="tx1"/>
                </a:solidFill>
                <a:latin typeface="Trebuchet MS" panose="020B0603020202020204" pitchFamily="34" charset="0"/>
                <a:ea typeface="+mn-ea"/>
                <a:cs typeface="Times New Roman"/>
              </a:rPr>
              <a:t>uniquely identifying C++ </a:t>
            </a:r>
            <a:r>
              <a:rPr lang="en-IN" sz="1800" kern="1200" dirty="0">
                <a:solidFill>
                  <a:srgbClr val="FF0000"/>
                </a:solidFill>
                <a:latin typeface="Trebuchet MS" panose="020B0603020202020204" pitchFamily="34" charset="0"/>
                <a:ea typeface="+mn-ea"/>
                <a:cs typeface="Times New Roman"/>
              </a:rPr>
              <a:t>variables or function names</a:t>
            </a:r>
            <a:r>
              <a:rPr lang="en-IN" sz="1800" kern="1200" dirty="0">
                <a:solidFill>
                  <a:schemeClr val="tx1"/>
                </a:solidFill>
                <a:latin typeface="Trebuchet MS" panose="020B0603020202020204" pitchFamily="34" charset="0"/>
                <a:ea typeface="+mn-ea"/>
                <a:cs typeface="Times New Roman"/>
              </a:rPr>
              <a:t>. </a:t>
            </a:r>
          </a:p>
          <a:p>
            <a:pPr marL="297815" marR="5080" indent="-285750">
              <a:lnSpc>
                <a:spcPct val="150000"/>
              </a:lnSpc>
              <a:spcBef>
                <a:spcPts val="100"/>
              </a:spcBef>
              <a:buClrTx/>
              <a:buFont typeface="Arial" panose="020B0604020202020204" pitchFamily="34" charset="0"/>
              <a:buChar char="•"/>
              <a:tabLst>
                <a:tab pos="559435" algn="l"/>
                <a:tab pos="1332230" algn="l"/>
                <a:tab pos="2607945" algn="l"/>
                <a:tab pos="2974340" algn="l"/>
                <a:tab pos="3269615" algn="l"/>
                <a:tab pos="4548505" algn="l"/>
                <a:tab pos="4963160" algn="l"/>
                <a:tab pos="5565140" algn="l"/>
                <a:tab pos="5982970" algn="l"/>
                <a:tab pos="6769100" algn="l"/>
                <a:tab pos="7750809" algn="l"/>
                <a:tab pos="8590280" algn="l"/>
                <a:tab pos="9006840" algn="l"/>
              </a:tabLst>
            </a:pPr>
            <a:r>
              <a:rPr lang="en-IN" sz="1800" kern="1200" dirty="0">
                <a:solidFill>
                  <a:schemeClr val="tx1"/>
                </a:solidFill>
                <a:latin typeface="Trebuchet MS" panose="020B0603020202020204" pitchFamily="34" charset="0"/>
                <a:ea typeface="+mn-ea"/>
                <a:cs typeface="Times New Roman"/>
              </a:rPr>
              <a:t>They are </a:t>
            </a:r>
            <a:r>
              <a:rPr lang="en-IN" sz="1800" b="1" kern="1200" dirty="0">
                <a:solidFill>
                  <a:schemeClr val="tx1"/>
                </a:solidFill>
                <a:latin typeface="Trebuchet MS" panose="020B0603020202020204" pitchFamily="34" charset="0"/>
                <a:ea typeface="+mn-ea"/>
                <a:cs typeface="Times New Roman"/>
              </a:rPr>
              <a:t>user-defined words</a:t>
            </a:r>
            <a:r>
              <a:rPr lang="en-IN" sz="1800" kern="1200" dirty="0">
                <a:solidFill>
                  <a:schemeClr val="tx1"/>
                </a:solidFill>
                <a:latin typeface="Trebuchet MS" panose="020B0603020202020204" pitchFamily="34" charset="0"/>
                <a:ea typeface="+mn-ea"/>
                <a:cs typeface="Times New Roman"/>
              </a:rPr>
              <a:t>. </a:t>
            </a:r>
          </a:p>
          <a:p>
            <a:pPr marL="297815" marR="5080" indent="-285750">
              <a:lnSpc>
                <a:spcPct val="150000"/>
              </a:lnSpc>
              <a:spcBef>
                <a:spcPts val="100"/>
              </a:spcBef>
              <a:buClrTx/>
              <a:buFont typeface="Arial" panose="020B0604020202020204" pitchFamily="34" charset="0"/>
              <a:buChar char="•"/>
              <a:tabLst>
                <a:tab pos="559435" algn="l"/>
                <a:tab pos="1332230" algn="l"/>
                <a:tab pos="2607945" algn="l"/>
                <a:tab pos="2974340" algn="l"/>
                <a:tab pos="3269615" algn="l"/>
                <a:tab pos="4548505" algn="l"/>
                <a:tab pos="4963160" algn="l"/>
                <a:tab pos="5565140" algn="l"/>
                <a:tab pos="5982970" algn="l"/>
                <a:tab pos="6769100" algn="l"/>
                <a:tab pos="7750809" algn="l"/>
                <a:tab pos="8590280" algn="l"/>
                <a:tab pos="9006840" algn="l"/>
              </a:tabLst>
            </a:pPr>
            <a:r>
              <a:rPr lang="en-IN" sz="1800" kern="1200" dirty="0">
                <a:solidFill>
                  <a:schemeClr val="tx1"/>
                </a:solidFill>
                <a:latin typeface="Trebuchet MS" panose="020B0603020202020204" pitchFamily="34" charset="0"/>
                <a:ea typeface="+mn-ea"/>
                <a:cs typeface="Times New Roman"/>
              </a:rPr>
              <a:t>We can't use keywords as identifiers because keywords are pre-defined reserved words.</a:t>
            </a:r>
          </a:p>
          <a:p>
            <a:pPr marL="298450" indent="-285750">
              <a:lnSpc>
                <a:spcPct val="150000"/>
              </a:lnSpc>
              <a:spcBef>
                <a:spcPts val="1200"/>
              </a:spcBef>
              <a:buClrTx/>
              <a:buFont typeface="Arial" panose="020B0604020202020204" pitchFamily="34" charset="0"/>
              <a:buChar char="•"/>
            </a:pPr>
            <a:endParaRPr lang="en-IN" sz="1800" kern="1200" dirty="0">
              <a:solidFill>
                <a:schemeClr val="tx1"/>
              </a:solidFill>
              <a:latin typeface="Trebuchet MS" panose="020B0603020202020204" pitchFamily="34" charset="0"/>
              <a:ea typeface="+mn-ea"/>
              <a:cs typeface="Times New Roman"/>
            </a:endParaRPr>
          </a:p>
        </p:txBody>
      </p:sp>
    </p:spTree>
    <p:extLst>
      <p:ext uri="{BB962C8B-B14F-4D97-AF65-F5344CB8AC3E}">
        <p14:creationId xmlns:p14="http://schemas.microsoft.com/office/powerpoint/2010/main" val="21301373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a:t>
            </a:r>
          </a:p>
        </p:txBody>
      </p:sp>
      <p:sp>
        <p:nvSpPr>
          <p:cNvPr id="2" name="object 2">
            <a:extLst>
              <a:ext uri="{FF2B5EF4-FFF2-40B4-BE49-F238E27FC236}">
                <a16:creationId xmlns:a16="http://schemas.microsoft.com/office/drawing/2014/main" id="{C9FCDD5B-4D6F-C3B2-EB51-6283C0E6D29E}"/>
              </a:ext>
            </a:extLst>
          </p:cNvPr>
          <p:cNvSpPr txBox="1"/>
          <p:nvPr/>
        </p:nvSpPr>
        <p:spPr>
          <a:xfrm>
            <a:off x="385160" y="769741"/>
            <a:ext cx="8105695" cy="289823"/>
          </a:xfrm>
          <a:prstGeom prst="rect">
            <a:avLst/>
          </a:prstGeom>
        </p:spPr>
        <p:txBody>
          <a:bodyPr vert="horz" wrap="square" lIns="0" tIns="12700" rIns="0" bIns="0" rtlCol="0">
            <a:spAutoFit/>
          </a:bodyPr>
          <a:lstStyle/>
          <a:p>
            <a:pPr marL="194945" marR="5080" indent="-182880">
              <a:spcBef>
                <a:spcPts val="100"/>
              </a:spcBef>
              <a:buClrTx/>
              <a:tabLst>
                <a:tab pos="559435" algn="l"/>
                <a:tab pos="1332230" algn="l"/>
                <a:tab pos="2607945" algn="l"/>
                <a:tab pos="2974340" algn="l"/>
                <a:tab pos="3269615" algn="l"/>
                <a:tab pos="4548505" algn="l"/>
                <a:tab pos="4963160" algn="l"/>
                <a:tab pos="5565140" algn="l"/>
                <a:tab pos="5982970" algn="l"/>
                <a:tab pos="6769100" algn="l"/>
                <a:tab pos="7750809" algn="l"/>
                <a:tab pos="8590280" algn="l"/>
                <a:tab pos="9006840" algn="l"/>
              </a:tabLst>
            </a:pPr>
            <a:r>
              <a:rPr lang="en-IN" sz="1800" b="1" spc="-40" dirty="0">
                <a:solidFill>
                  <a:srgbClr val="0070C0"/>
                </a:solidFill>
                <a:latin typeface="Trebuchet MS" panose="020B0603020202020204" pitchFamily="34" charset="0"/>
                <a:ea typeface="+mj-ea"/>
                <a:cs typeface="Calibri"/>
              </a:rPr>
              <a:t>Rules for </a:t>
            </a:r>
            <a:r>
              <a:rPr lang="en-IN" sz="1800" b="1" kern="1200" dirty="0">
                <a:solidFill>
                  <a:srgbClr val="0070C0"/>
                </a:solidFill>
                <a:latin typeface="Trebuchet MS" panose="020B0603020202020204" pitchFamily="34" charset="0"/>
                <a:ea typeface="+mn-ea"/>
                <a:cs typeface="Times New Roman"/>
              </a:rPr>
              <a:t>I</a:t>
            </a:r>
            <a:r>
              <a:rPr kumimoji="0" lang="en-IN" sz="1800" b="1" i="0" u="none" strike="noStrike" kern="1200" cap="none" spc="0" normalizeH="0" baseline="0" noProof="0" dirty="0" err="1">
                <a:ln>
                  <a:noFill/>
                </a:ln>
                <a:solidFill>
                  <a:srgbClr val="0070C0"/>
                </a:solidFill>
                <a:effectLst/>
                <a:uLnTx/>
                <a:uFillTx/>
                <a:latin typeface="Trebuchet MS" panose="020B0603020202020204" pitchFamily="34" charset="0"/>
                <a:ea typeface="+mn-ea"/>
                <a:cs typeface="Times New Roman"/>
                <a:sym typeface="Arial"/>
              </a:rPr>
              <a:t>dentifiers</a:t>
            </a:r>
            <a:endParaRPr lang="en-IN" sz="1800" b="1" spc="-40" dirty="0">
              <a:solidFill>
                <a:srgbClr val="0070C0"/>
              </a:solidFill>
              <a:latin typeface="Trebuchet MS" panose="020B0603020202020204" pitchFamily="34" charset="0"/>
              <a:ea typeface="+mj-ea"/>
              <a:cs typeface="Calibri"/>
            </a:endParaRPr>
          </a:p>
        </p:txBody>
      </p:sp>
      <p:sp>
        <p:nvSpPr>
          <p:cNvPr id="7" name="TextBox 6">
            <a:extLst>
              <a:ext uri="{FF2B5EF4-FFF2-40B4-BE49-F238E27FC236}">
                <a16:creationId xmlns:a16="http://schemas.microsoft.com/office/drawing/2014/main" id="{4EC5FC05-9D0D-76F5-B963-C16D2281EC73}"/>
              </a:ext>
            </a:extLst>
          </p:cNvPr>
          <p:cNvSpPr txBox="1"/>
          <p:nvPr/>
        </p:nvSpPr>
        <p:spPr>
          <a:xfrm>
            <a:off x="385160" y="1122502"/>
            <a:ext cx="8356068" cy="3565528"/>
          </a:xfrm>
          <a:prstGeom prst="rect">
            <a:avLst/>
          </a:prstGeom>
          <a:noFill/>
        </p:spPr>
        <p:txBody>
          <a:bodyPr wrap="square">
            <a:spAutoFit/>
          </a:bodyPr>
          <a:lstStyle/>
          <a:p>
            <a:pPr marL="298450" marR="0" lvl="0" indent="-285750" algn="l" defTabSz="914400" rtl="0" eaLnBrk="1" fontAlgn="auto" latinLnBrk="0" hangingPunct="1">
              <a:lnSpc>
                <a:spcPct val="150000"/>
              </a:lnSpc>
              <a:spcBef>
                <a:spcPts val="120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 valid identifier is a sequence of one or more letters, digits or underscore characters (_).</a:t>
            </a:r>
          </a:p>
          <a:p>
            <a:pPr marL="298450" marR="0" lvl="0" indent="-285750" algn="l" defTabSz="914400" rtl="0" eaLnBrk="1" fontAlgn="auto" latinLnBrk="0" hangingPunct="1">
              <a:lnSpc>
                <a:spcPct val="150000"/>
              </a:lnSpc>
              <a:spcBef>
                <a:spcPts val="120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Neither</a:t>
            </a:r>
            <a:r>
              <a:rPr kumimoji="0" lang="en-IN" sz="1800" b="1"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spaces</a:t>
            </a:r>
            <a:r>
              <a:rPr kumimoji="0" lang="en-IN" sz="1800" b="1"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nor</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punctuation</a:t>
            </a:r>
            <a:r>
              <a:rPr kumimoji="0" lang="en-IN" sz="1800" b="1" i="0" u="none" strike="noStrike" kern="1200" cap="none" spc="-4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marks</a:t>
            </a:r>
            <a:r>
              <a:rPr kumimoji="0" lang="en-IN" sz="1800" b="1" i="0" u="none" strike="noStrike" kern="1200" cap="none" spc="2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or</a:t>
            </a:r>
            <a:r>
              <a:rPr kumimoji="0" lang="en-IN" sz="1800" b="1"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symbols</a:t>
            </a:r>
            <a:r>
              <a:rPr kumimoji="0" lang="en-IN" sz="1800" b="1" i="0" u="none" strike="noStrike" kern="1200" cap="none" spc="2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can</a:t>
            </a:r>
            <a:r>
              <a:rPr kumimoji="0" lang="en-IN" sz="18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be</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 part</a:t>
            </a:r>
            <a:r>
              <a:rPr kumimoji="0" lang="en-IN" sz="1800" b="0"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of</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 an</a:t>
            </a:r>
            <a:r>
              <a:rPr kumimoji="0" lang="en-IN" sz="1800" b="0"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identifier.</a:t>
            </a:r>
          </a:p>
          <a:p>
            <a:pPr marL="298450" marR="0" lvl="0" indent="-285750" algn="l" defTabSz="914400" rtl="0" eaLnBrk="1" fontAlgn="auto" latinLnBrk="0" hangingPunct="1">
              <a:lnSpc>
                <a:spcPct val="150000"/>
              </a:lnSpc>
              <a:spcBef>
                <a:spcPts val="120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Only le</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ters,</a:t>
            </a:r>
            <a:r>
              <a:rPr kumimoji="0" lang="en-IN" sz="1800" b="1" i="0" u="none" strike="noStrike" kern="1200" cap="none" spc="-2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dig</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i</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ts</a:t>
            </a:r>
            <a:r>
              <a:rPr kumimoji="0" lang="en-IN" sz="1800" b="1" i="0" u="none" strike="noStrike" kern="1200" cap="none" spc="-3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and</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sing</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l</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e</a:t>
            </a:r>
            <a:r>
              <a:rPr kumimoji="0" lang="en-IN" sz="1800" b="1" i="0" u="none" strike="noStrike" kern="1200" cap="none" spc="-2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under</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sco</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re</a:t>
            </a:r>
            <a:r>
              <a:rPr kumimoji="0" lang="en-IN" sz="1800" b="1"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cha</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r</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ac</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ers</a:t>
            </a:r>
            <a:r>
              <a:rPr kumimoji="0" lang="en-IN" sz="1800" b="0" i="0" u="none" strike="noStrike" kern="1200" cap="none" spc="-3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are</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val</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id</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t>
            </a:r>
          </a:p>
          <a:p>
            <a:pPr marL="298450" marR="0" lvl="0" indent="-285750" algn="l" defTabSz="914400" rtl="0" eaLnBrk="1" fontAlgn="auto" latinLnBrk="0" hangingPunct="1">
              <a:lnSpc>
                <a:spcPct val="150000"/>
              </a:lnSpc>
              <a:spcBef>
                <a:spcPts val="120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In addi</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ion,</a:t>
            </a:r>
            <a:r>
              <a:rPr kumimoji="0" lang="en-IN" sz="1800" b="0" i="0" u="none" strike="noStrike" kern="1200" cap="none" spc="-3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variab</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l</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e</a:t>
            </a:r>
            <a:r>
              <a:rPr kumimoji="0" lang="en-IN" sz="1800" b="0" i="0" u="none" strike="noStrike" kern="1200" cap="none" spc="-3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i</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d</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en</a:t>
            </a:r>
            <a:r>
              <a:rPr kumimoji="0" lang="en-IN" sz="1800" b="0"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if</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i</a:t>
            </a:r>
            <a:r>
              <a:rPr kumimoji="0" lang="en-IN" sz="1800" b="0"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e</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rs</a:t>
            </a:r>
            <a:r>
              <a:rPr kumimoji="0" lang="en-IN" sz="1800" b="0" i="0" u="none" strike="noStrike" kern="1200" cap="none" spc="-4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always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have</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o</a:t>
            </a:r>
            <a:r>
              <a:rPr kumimoji="0" lang="en-IN" sz="18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begin</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with</a:t>
            </a:r>
            <a:r>
              <a:rPr kumimoji="0" lang="en-IN" sz="1800" b="1"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 l</a:t>
            </a:r>
            <a:r>
              <a:rPr kumimoji="0" lang="en-IN" sz="1800" b="1"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e</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1"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e</a:t>
            </a:r>
            <a:r>
              <a:rPr kumimoji="0" lang="en-IN" sz="1800" b="1" i="0" u="none" strike="noStrike" kern="1200" cap="none" spc="-140" normalizeH="0" baseline="0" noProof="0" dirty="0">
                <a:ln>
                  <a:noFill/>
                </a:ln>
                <a:solidFill>
                  <a:srgbClr val="000000"/>
                </a:solidFill>
                <a:effectLst/>
                <a:uLnTx/>
                <a:uFillTx/>
                <a:latin typeface="Trebuchet MS" panose="020B0603020202020204" pitchFamily="34" charset="0"/>
                <a:ea typeface="+mn-ea"/>
                <a:cs typeface="Times New Roman"/>
                <a:sym typeface="Arial"/>
              </a:rPr>
              <a:t>r</a:t>
            </a:r>
            <a:r>
              <a:rPr kumimoji="0" lang="en-IN" sz="18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t>
            </a:r>
          </a:p>
          <a:p>
            <a:pPr marL="298450" marR="0" lvl="0" indent="-285750" algn="l" defTabSz="914400" rtl="0" eaLnBrk="1" fontAlgn="auto" latinLnBrk="0" hangingPunct="1">
              <a:lnSpc>
                <a:spcPct val="150000"/>
              </a:lnSpc>
              <a:spcBef>
                <a:spcPts val="1205"/>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They</a:t>
            </a:r>
            <a:r>
              <a:rPr kumimoji="0" lang="en-IN" sz="1800" b="0"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can</a:t>
            </a:r>
            <a:r>
              <a:rPr kumimoji="0" lang="en-IN" sz="18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al</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so</a:t>
            </a:r>
            <a:r>
              <a:rPr kumimoji="0" lang="en-IN" sz="1800" b="0" i="0" u="none" strike="noStrike" kern="1200" cap="none" spc="-1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begin</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 wi</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th</a:t>
            </a:r>
            <a:r>
              <a:rPr kumimoji="0" lang="en-IN" sz="18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an underl</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i</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ne</a:t>
            </a:r>
            <a:r>
              <a:rPr kumimoji="0" lang="en-IN" sz="1800" b="0" i="0" u="none" strike="noStrike" kern="1200" cap="none" spc="-30"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cha</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r</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ac</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t</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er</a:t>
            </a:r>
            <a:r>
              <a:rPr kumimoji="0" lang="en-IN" sz="1800" b="0" i="0" u="none" strike="noStrike" kern="1200" cap="none" spc="-35" normalizeH="0" baseline="0" noProof="0" dirty="0">
                <a:ln>
                  <a:noFill/>
                </a:ln>
                <a:solidFill>
                  <a:srgbClr val="000000"/>
                </a:solidFill>
                <a:effectLst/>
                <a:uLnTx/>
                <a:uFillTx/>
                <a:latin typeface="Trebuchet MS" panose="020B0603020202020204" pitchFamily="34" charset="0"/>
                <a:ea typeface="+mn-ea"/>
                <a:cs typeface="Times New Roman"/>
                <a:sym typeface="Arial"/>
              </a:rPr>
              <a:t> </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(_</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Times New Roman"/>
                <a:sym typeface="Arial"/>
              </a:rPr>
              <a:t>)</a:t>
            </a: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Times New Roman"/>
                <a:sym typeface="Arial"/>
              </a:rPr>
              <a:t>.</a:t>
            </a:r>
          </a:p>
        </p:txBody>
      </p:sp>
    </p:spTree>
    <p:extLst>
      <p:ext uri="{BB962C8B-B14F-4D97-AF65-F5344CB8AC3E}">
        <p14:creationId xmlns:p14="http://schemas.microsoft.com/office/powerpoint/2010/main" val="10171681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5200F56-630D-8EE6-571F-D59E4DFDFFCD}"/>
              </a:ext>
            </a:extLst>
          </p:cNvPr>
          <p:cNvSpPr txBox="1"/>
          <p:nvPr/>
        </p:nvSpPr>
        <p:spPr>
          <a:xfrm>
            <a:off x="285125" y="72715"/>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Constants</a:t>
            </a:r>
          </a:p>
        </p:txBody>
      </p:sp>
      <p:sp>
        <p:nvSpPr>
          <p:cNvPr id="4" name="object 2">
            <a:extLst>
              <a:ext uri="{FF2B5EF4-FFF2-40B4-BE49-F238E27FC236}">
                <a16:creationId xmlns:a16="http://schemas.microsoft.com/office/drawing/2014/main" id="{96129624-D29A-CD47-B5EC-2D836320C44C}"/>
              </a:ext>
            </a:extLst>
          </p:cNvPr>
          <p:cNvSpPr txBox="1"/>
          <p:nvPr/>
        </p:nvSpPr>
        <p:spPr>
          <a:xfrm>
            <a:off x="471761" y="923468"/>
            <a:ext cx="8190952" cy="4215257"/>
          </a:xfrm>
          <a:prstGeom prst="rect">
            <a:avLst/>
          </a:prstGeom>
        </p:spPr>
        <p:txBody>
          <a:bodyPr vert="horz" wrap="square" lIns="0" tIns="128270" rIns="0" bIns="0" rtlCol="0">
            <a:spAutoFit/>
          </a:bodyPr>
          <a:lstStyle/>
          <a:p>
            <a:pPr marL="195580" indent="-182880">
              <a:spcBef>
                <a:spcPts val="915"/>
              </a:spcBef>
              <a:buFont typeface="Arial MT"/>
              <a:buChar char="•"/>
              <a:tabLst>
                <a:tab pos="195580" algn="l"/>
              </a:tabLst>
            </a:pPr>
            <a:r>
              <a:rPr sz="1800" kern="1200" dirty="0">
                <a:solidFill>
                  <a:schemeClr val="tx1"/>
                </a:solidFill>
                <a:latin typeface="Trebuchet MS" panose="020B0603020202020204" pitchFamily="34" charset="0"/>
                <a:ea typeface="+mn-ea"/>
                <a:cs typeface="Times New Roman"/>
              </a:rPr>
              <a:t>Any</a:t>
            </a:r>
            <a:r>
              <a:rPr sz="1800" kern="1200" spc="-5"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value</a:t>
            </a:r>
            <a:r>
              <a:rPr sz="1800" kern="1200" spc="-20"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declared</a:t>
            </a:r>
            <a:r>
              <a:rPr sz="1800" kern="1200" spc="-45" dirty="0">
                <a:solidFill>
                  <a:schemeClr val="tx1"/>
                </a:solidFill>
                <a:latin typeface="Trebuchet MS" panose="020B0603020202020204" pitchFamily="34" charset="0"/>
                <a:ea typeface="+mn-ea"/>
                <a:cs typeface="Times New Roman"/>
              </a:rPr>
              <a:t> </a:t>
            </a:r>
            <a:r>
              <a:rPr sz="1800" kern="1200" spc="-5" dirty="0">
                <a:solidFill>
                  <a:schemeClr val="tx1"/>
                </a:solidFill>
                <a:latin typeface="Trebuchet MS" panose="020B0603020202020204" pitchFamily="34" charset="0"/>
                <a:ea typeface="+mn-ea"/>
                <a:cs typeface="Times New Roman"/>
              </a:rPr>
              <a:t>as</a:t>
            </a:r>
            <a:r>
              <a:rPr sz="1800" kern="1200" spc="20"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const</a:t>
            </a:r>
            <a:r>
              <a:rPr sz="1800" kern="1200" spc="-10" dirty="0">
                <a:solidFill>
                  <a:schemeClr val="tx1"/>
                </a:solidFill>
                <a:latin typeface="Trebuchet MS" panose="020B0603020202020204" pitchFamily="34" charset="0"/>
                <a:ea typeface="+mn-ea"/>
                <a:cs typeface="Times New Roman"/>
              </a:rPr>
              <a:t> </a:t>
            </a:r>
            <a:r>
              <a:rPr sz="1800" b="1" kern="1200" dirty="0">
                <a:solidFill>
                  <a:schemeClr val="tx1"/>
                </a:solidFill>
                <a:latin typeface="Trebuchet MS" panose="020B0603020202020204" pitchFamily="34" charset="0"/>
                <a:ea typeface="+mn-ea"/>
                <a:cs typeface="Times New Roman"/>
              </a:rPr>
              <a:t>can</a:t>
            </a:r>
            <a:r>
              <a:rPr sz="1800" b="1" kern="1200" spc="-10" dirty="0">
                <a:solidFill>
                  <a:schemeClr val="tx1"/>
                </a:solidFill>
                <a:latin typeface="Trebuchet MS" panose="020B0603020202020204" pitchFamily="34" charset="0"/>
                <a:ea typeface="+mn-ea"/>
                <a:cs typeface="Times New Roman"/>
              </a:rPr>
              <a:t> </a:t>
            </a:r>
            <a:r>
              <a:rPr sz="1800" b="1" kern="1200" dirty="0">
                <a:solidFill>
                  <a:schemeClr val="tx1"/>
                </a:solidFill>
                <a:latin typeface="Trebuchet MS" panose="020B0603020202020204" pitchFamily="34" charset="0"/>
                <a:ea typeface="+mn-ea"/>
                <a:cs typeface="Times New Roman"/>
              </a:rPr>
              <a:t>not</a:t>
            </a:r>
            <a:r>
              <a:rPr sz="1800" b="1" kern="1200" spc="-15" dirty="0">
                <a:solidFill>
                  <a:schemeClr val="tx1"/>
                </a:solidFill>
                <a:latin typeface="Trebuchet MS" panose="020B0603020202020204" pitchFamily="34" charset="0"/>
                <a:ea typeface="+mn-ea"/>
                <a:cs typeface="Times New Roman"/>
              </a:rPr>
              <a:t> </a:t>
            </a:r>
            <a:r>
              <a:rPr sz="1800" b="1" kern="1200" dirty="0">
                <a:solidFill>
                  <a:schemeClr val="tx1"/>
                </a:solidFill>
                <a:latin typeface="Trebuchet MS" panose="020B0603020202020204" pitchFamily="34" charset="0"/>
                <a:ea typeface="+mn-ea"/>
                <a:cs typeface="Times New Roman"/>
              </a:rPr>
              <a:t>be</a:t>
            </a:r>
            <a:r>
              <a:rPr sz="1800" b="1" kern="1200" spc="-5" dirty="0">
                <a:solidFill>
                  <a:schemeClr val="tx1"/>
                </a:solidFill>
                <a:latin typeface="Trebuchet MS" panose="020B0603020202020204" pitchFamily="34" charset="0"/>
                <a:ea typeface="+mn-ea"/>
                <a:cs typeface="Times New Roman"/>
              </a:rPr>
              <a:t> modified</a:t>
            </a:r>
            <a:r>
              <a:rPr sz="1800" b="1" kern="1200" spc="-10"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by</a:t>
            </a:r>
            <a:r>
              <a:rPr sz="1800" kern="1200" spc="-5"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the</a:t>
            </a:r>
            <a:r>
              <a:rPr sz="1800" kern="1200" spc="-10"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program</a:t>
            </a:r>
            <a:r>
              <a:rPr sz="1800" kern="1200" spc="-25"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in</a:t>
            </a:r>
            <a:r>
              <a:rPr sz="1800" kern="1200" spc="-10" dirty="0">
                <a:solidFill>
                  <a:schemeClr val="tx1"/>
                </a:solidFill>
                <a:latin typeface="Trebuchet MS" panose="020B0603020202020204" pitchFamily="34" charset="0"/>
                <a:ea typeface="+mn-ea"/>
                <a:cs typeface="Times New Roman"/>
              </a:rPr>
              <a:t> </a:t>
            </a:r>
            <a:r>
              <a:rPr sz="1800" kern="1200" dirty="0">
                <a:solidFill>
                  <a:schemeClr val="tx1"/>
                </a:solidFill>
                <a:latin typeface="Trebuchet MS" panose="020B0603020202020204" pitchFamily="34" charset="0"/>
                <a:ea typeface="+mn-ea"/>
                <a:cs typeface="Times New Roman"/>
              </a:rPr>
              <a:t>any</a:t>
            </a:r>
            <a:r>
              <a:rPr sz="1800" kern="1200" spc="-5" dirty="0">
                <a:solidFill>
                  <a:schemeClr val="tx1"/>
                </a:solidFill>
                <a:latin typeface="Trebuchet MS" panose="020B0603020202020204" pitchFamily="34" charset="0"/>
                <a:ea typeface="+mn-ea"/>
                <a:cs typeface="Times New Roman"/>
              </a:rPr>
              <a:t> </a:t>
            </a:r>
            <a:r>
              <a:rPr sz="1800" kern="1200" spc="-45" dirty="0">
                <a:solidFill>
                  <a:schemeClr val="tx1"/>
                </a:solidFill>
                <a:latin typeface="Trebuchet MS" panose="020B0603020202020204" pitchFamily="34" charset="0"/>
                <a:ea typeface="+mn-ea"/>
                <a:cs typeface="Times New Roman"/>
              </a:rPr>
              <a:t>way.</a:t>
            </a:r>
            <a:endParaRPr lang="en-US" sz="1800" kern="1200" spc="-45" dirty="0">
              <a:solidFill>
                <a:schemeClr val="tx1"/>
              </a:solidFill>
              <a:latin typeface="Trebuchet MS" panose="020B0603020202020204" pitchFamily="34" charset="0"/>
              <a:ea typeface="+mn-ea"/>
              <a:cs typeface="Times New Roman"/>
            </a:endParaRPr>
          </a:p>
          <a:p>
            <a:pPr marL="195580" indent="-182880">
              <a:spcBef>
                <a:spcPts val="915"/>
              </a:spcBef>
              <a:buFont typeface="Arial MT"/>
              <a:buChar char="•"/>
              <a:tabLst>
                <a:tab pos="195580" algn="l"/>
              </a:tabLst>
            </a:pPr>
            <a:r>
              <a:rPr lang="en-IN" sz="1800" kern="1200" dirty="0">
                <a:solidFill>
                  <a:schemeClr val="tx1"/>
                </a:solidFill>
                <a:latin typeface="Trebuchet MS" panose="020B0603020202020204" pitchFamily="34" charset="0"/>
                <a:ea typeface="+mn-ea"/>
                <a:cs typeface="Times New Roman"/>
              </a:rPr>
              <a:t>It is starting with a </a:t>
            </a:r>
            <a:r>
              <a:rPr lang="en-IN" sz="1800" kern="1200" dirty="0" err="1">
                <a:solidFill>
                  <a:srgbClr val="FF0000"/>
                </a:solidFill>
                <a:latin typeface="Trebuchet MS" panose="020B0603020202020204" pitchFamily="34" charset="0"/>
                <a:ea typeface="+mn-ea"/>
                <a:cs typeface="Times New Roman"/>
              </a:rPr>
              <a:t>const</a:t>
            </a:r>
            <a:r>
              <a:rPr lang="en-IN" sz="1800" kern="1200" dirty="0">
                <a:solidFill>
                  <a:schemeClr val="tx1"/>
                </a:solidFill>
                <a:latin typeface="Trebuchet MS" panose="020B0603020202020204" pitchFamily="34" charset="0"/>
                <a:ea typeface="+mn-ea"/>
                <a:cs typeface="Times New Roman"/>
              </a:rPr>
              <a:t> keyword followed by a datatype, an identifier, an assignment operator, and the value. </a:t>
            </a:r>
          </a:p>
          <a:p>
            <a:pPr marL="195580" indent="-182880">
              <a:spcBef>
                <a:spcPts val="915"/>
              </a:spcBef>
              <a:buFont typeface="Arial MT"/>
              <a:buChar char="•"/>
              <a:tabLst>
                <a:tab pos="195580" algn="l"/>
              </a:tabLst>
            </a:pPr>
            <a:r>
              <a:rPr lang="en-IN" sz="1800" kern="1200" dirty="0">
                <a:solidFill>
                  <a:schemeClr val="tx1"/>
                </a:solidFill>
                <a:latin typeface="Trebuchet MS" panose="020B0603020202020204" pitchFamily="34" charset="0"/>
                <a:ea typeface="+mn-ea"/>
                <a:cs typeface="Times New Roman"/>
              </a:rPr>
              <a:t>Constants can be defined </a:t>
            </a:r>
            <a:r>
              <a:rPr lang="en-IN" sz="1800" b="1" kern="1200" dirty="0">
                <a:solidFill>
                  <a:schemeClr val="tx1"/>
                </a:solidFill>
                <a:latin typeface="Trebuchet MS" panose="020B0603020202020204" pitchFamily="34" charset="0"/>
                <a:ea typeface="+mn-ea"/>
                <a:cs typeface="Times New Roman"/>
              </a:rPr>
              <a:t>locally or globally </a:t>
            </a:r>
            <a:r>
              <a:rPr lang="en-IN" sz="1800" kern="1200" dirty="0">
                <a:solidFill>
                  <a:schemeClr val="tx1"/>
                </a:solidFill>
                <a:latin typeface="Trebuchet MS" panose="020B0603020202020204" pitchFamily="34" charset="0"/>
                <a:ea typeface="+mn-ea"/>
                <a:cs typeface="Times New Roman"/>
              </a:rPr>
              <a:t>through this method.</a:t>
            </a:r>
          </a:p>
          <a:p>
            <a:pPr marL="12700">
              <a:spcBef>
                <a:spcPts val="915"/>
              </a:spcBef>
              <a:tabLst>
                <a:tab pos="195580" algn="l"/>
              </a:tabLst>
            </a:pPr>
            <a:r>
              <a:rPr lang="en-IN" sz="1800" b="1" kern="1200" dirty="0">
                <a:solidFill>
                  <a:srgbClr val="0070C0"/>
                </a:solidFill>
                <a:latin typeface="Trebuchet MS" panose="020B0603020202020204" pitchFamily="34" charset="0"/>
                <a:ea typeface="+mn-ea"/>
                <a:cs typeface="Times New Roman"/>
              </a:rPr>
              <a:t>Syntax:</a:t>
            </a:r>
          </a:p>
          <a:p>
            <a:pPr marL="12700">
              <a:spcBef>
                <a:spcPts val="915"/>
              </a:spcBef>
              <a:tabLst>
                <a:tab pos="195580" algn="l"/>
              </a:tabLst>
            </a:pPr>
            <a:r>
              <a:rPr lang="en-IN" sz="1800" kern="1200" dirty="0">
                <a:solidFill>
                  <a:schemeClr val="tx1"/>
                </a:solidFill>
                <a:latin typeface="Trebuchet MS" panose="020B0603020202020204" pitchFamily="34" charset="0"/>
                <a:ea typeface="+mn-ea"/>
                <a:cs typeface="Times New Roman"/>
              </a:rPr>
              <a:t>			</a:t>
            </a:r>
            <a:r>
              <a:rPr lang="en-IN" sz="1800" kern="1200" dirty="0" err="1">
                <a:solidFill>
                  <a:srgbClr val="FF0000"/>
                </a:solidFill>
                <a:latin typeface="Trebuchet MS" panose="020B0603020202020204" pitchFamily="34" charset="0"/>
                <a:ea typeface="+mn-ea"/>
                <a:cs typeface="Times New Roman"/>
              </a:rPr>
              <a:t>const</a:t>
            </a:r>
            <a:r>
              <a:rPr lang="en-IN" sz="1800" kern="1200" dirty="0">
                <a:solidFill>
                  <a:srgbClr val="FF0000"/>
                </a:solidFill>
                <a:latin typeface="Trebuchet MS" panose="020B0603020202020204" pitchFamily="34" charset="0"/>
                <a:ea typeface="+mn-ea"/>
                <a:cs typeface="Times New Roman"/>
              </a:rPr>
              <a:t> datatype </a:t>
            </a:r>
            <a:r>
              <a:rPr lang="en-IN" sz="1800" kern="1200" dirty="0" err="1">
                <a:solidFill>
                  <a:srgbClr val="FF0000"/>
                </a:solidFill>
                <a:latin typeface="Trebuchet MS" panose="020B0603020202020204" pitchFamily="34" charset="0"/>
                <a:ea typeface="+mn-ea"/>
                <a:cs typeface="Times New Roman"/>
              </a:rPr>
              <a:t>constantName</a:t>
            </a:r>
            <a:r>
              <a:rPr lang="en-IN" sz="1800" kern="1200" dirty="0">
                <a:solidFill>
                  <a:srgbClr val="FF0000"/>
                </a:solidFill>
                <a:latin typeface="Trebuchet MS" panose="020B0603020202020204" pitchFamily="34" charset="0"/>
                <a:ea typeface="+mn-ea"/>
                <a:cs typeface="Times New Roman"/>
              </a:rPr>
              <a:t> = value;</a:t>
            </a:r>
          </a:p>
          <a:p>
            <a:pPr marL="12700">
              <a:spcBef>
                <a:spcPts val="915"/>
              </a:spcBef>
              <a:tabLst>
                <a:tab pos="195580" algn="l"/>
              </a:tabLst>
            </a:pPr>
            <a:r>
              <a:rPr lang="en-IN" sz="1800" kern="1200" dirty="0">
                <a:solidFill>
                  <a:srgbClr val="0070C0"/>
                </a:solidFill>
                <a:latin typeface="Trebuchet MS" panose="020B0603020202020204" pitchFamily="34" charset="0"/>
                <a:ea typeface="+mn-ea"/>
                <a:cs typeface="Times New Roman"/>
              </a:rPr>
              <a:t>Example: </a:t>
            </a:r>
          </a:p>
          <a:p>
            <a:pPr marL="12700">
              <a:spcBef>
                <a:spcPts val="915"/>
              </a:spcBef>
              <a:tabLst>
                <a:tab pos="195580" algn="l"/>
              </a:tabLst>
            </a:pPr>
            <a:endParaRPr lang="en-IN" sz="1800" kern="1200" dirty="0">
              <a:solidFill>
                <a:srgbClr val="0070C0"/>
              </a:solidFill>
              <a:latin typeface="Trebuchet MS" panose="020B0603020202020204" pitchFamily="34" charset="0"/>
              <a:ea typeface="+mn-ea"/>
              <a:cs typeface="Times New Roman"/>
            </a:endParaRPr>
          </a:p>
          <a:p>
            <a:pPr marL="12700">
              <a:spcBef>
                <a:spcPts val="915"/>
              </a:spcBef>
              <a:tabLst>
                <a:tab pos="195580" algn="l"/>
              </a:tabLst>
            </a:pPr>
            <a:endParaRPr lang="en-IN" sz="1800" kern="1200" dirty="0">
              <a:solidFill>
                <a:srgbClr val="0070C0"/>
              </a:solidFill>
              <a:latin typeface="Trebuchet MS" panose="020B0603020202020204" pitchFamily="34" charset="0"/>
              <a:ea typeface="+mn-ea"/>
              <a:cs typeface="Times New Roman"/>
            </a:endParaRPr>
          </a:p>
          <a:p>
            <a:pPr marL="12700">
              <a:spcBef>
                <a:spcPts val="915"/>
              </a:spcBef>
              <a:tabLst>
                <a:tab pos="195580" algn="l"/>
              </a:tabLst>
            </a:pPr>
            <a:endParaRPr lang="en-US" sz="1800" kern="1200" dirty="0">
              <a:solidFill>
                <a:srgbClr val="FF0000"/>
              </a:solidFill>
              <a:latin typeface="Trebuchet MS" panose="020B0603020202020204" pitchFamily="34" charset="0"/>
              <a:ea typeface="+mn-ea"/>
              <a:cs typeface="Times New Roman"/>
            </a:endParaRPr>
          </a:p>
          <a:p>
            <a:pPr marL="12700">
              <a:spcBef>
                <a:spcPts val="915"/>
              </a:spcBef>
              <a:tabLst>
                <a:tab pos="195580" algn="l"/>
              </a:tabLst>
            </a:pPr>
            <a:endParaRPr sz="1800" kern="1200" dirty="0">
              <a:solidFill>
                <a:srgbClr val="FF0000"/>
              </a:solidFill>
              <a:latin typeface="Trebuchet MS" panose="020B0603020202020204" pitchFamily="34" charset="0"/>
              <a:ea typeface="+mn-ea"/>
              <a:cs typeface="Times New Roman"/>
            </a:endParaRPr>
          </a:p>
        </p:txBody>
      </p:sp>
      <p:pic>
        <p:nvPicPr>
          <p:cNvPr id="12" name="Picture 11">
            <a:extLst>
              <a:ext uri="{FF2B5EF4-FFF2-40B4-BE49-F238E27FC236}">
                <a16:creationId xmlns:a16="http://schemas.microsoft.com/office/drawing/2014/main" id="{5D6DF55B-C08A-45C9-2C69-DA815B84400D}"/>
              </a:ext>
            </a:extLst>
          </p:cNvPr>
          <p:cNvPicPr>
            <a:picLocks noChangeAspect="1"/>
          </p:cNvPicPr>
          <p:nvPr/>
        </p:nvPicPr>
        <p:blipFill rotWithShape="1">
          <a:blip r:embed="rId6"/>
          <a:srcRect l="8518" t="32350" r="7607" b="11365"/>
          <a:stretch/>
        </p:blipFill>
        <p:spPr>
          <a:xfrm>
            <a:off x="2232324" y="3427119"/>
            <a:ext cx="3886200" cy="1262743"/>
          </a:xfrm>
          <a:prstGeom prst="rect">
            <a:avLst/>
          </a:prstGeom>
        </p:spPr>
      </p:pic>
    </p:spTree>
    <p:extLst>
      <p:ext uri="{BB962C8B-B14F-4D97-AF65-F5344CB8AC3E}">
        <p14:creationId xmlns:p14="http://schemas.microsoft.com/office/powerpoint/2010/main" val="16339980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TextBox 6">
            <a:extLst>
              <a:ext uri="{FF2B5EF4-FFF2-40B4-BE49-F238E27FC236}">
                <a16:creationId xmlns:a16="http://schemas.microsoft.com/office/drawing/2014/main" id="{4A56CE12-D1D7-6602-386A-796093881A7E}"/>
              </a:ext>
            </a:extLst>
          </p:cNvPr>
          <p:cNvSpPr txBox="1"/>
          <p:nvPr/>
        </p:nvSpPr>
        <p:spPr>
          <a:xfrm>
            <a:off x="159001" y="148588"/>
            <a:ext cx="4572000"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Constants</a:t>
            </a:r>
          </a:p>
        </p:txBody>
      </p:sp>
      <p:sp>
        <p:nvSpPr>
          <p:cNvPr id="9" name="TextBox 8">
            <a:extLst>
              <a:ext uri="{FF2B5EF4-FFF2-40B4-BE49-F238E27FC236}">
                <a16:creationId xmlns:a16="http://schemas.microsoft.com/office/drawing/2014/main" id="{25384115-2C64-BB7B-38D3-1B6DE60804EA}"/>
              </a:ext>
            </a:extLst>
          </p:cNvPr>
          <p:cNvSpPr txBox="1"/>
          <p:nvPr/>
        </p:nvSpPr>
        <p:spPr>
          <a:xfrm>
            <a:off x="159001" y="737520"/>
            <a:ext cx="8699874" cy="4401205"/>
          </a:xfrm>
          <a:prstGeom prst="rect">
            <a:avLst/>
          </a:prstGeom>
          <a:noFill/>
        </p:spPr>
        <p:txBody>
          <a:bodyPr wrap="square">
            <a:spAutoFit/>
          </a:bodyPr>
          <a:lstStyle/>
          <a:p>
            <a:pPr algn="l"/>
            <a:r>
              <a:rPr lang="en-IN" sz="2000" b="1" i="0" dirty="0">
                <a:solidFill>
                  <a:srgbClr val="0070C0"/>
                </a:solidFill>
                <a:effectLst/>
                <a:latin typeface="Trebuchet MS" panose="020B0603020202020204" pitchFamily="34" charset="0"/>
              </a:rPr>
              <a:t>Literals</a:t>
            </a:r>
          </a:p>
          <a:p>
            <a:pPr marL="285750" indent="-285750" algn="l">
              <a:spcBef>
                <a:spcPts val="600"/>
              </a:spcBef>
              <a:spcAft>
                <a:spcPts val="600"/>
              </a:spcAft>
              <a:buFont typeface="Arial" panose="020B0604020202020204" pitchFamily="34" charset="0"/>
              <a:buChar char="•"/>
            </a:pPr>
            <a:r>
              <a:rPr lang="en-IN" sz="2000" i="0" dirty="0">
                <a:solidFill>
                  <a:schemeClr val="tx1"/>
                </a:solidFill>
                <a:effectLst/>
                <a:latin typeface="Trebuchet MS" panose="020B0603020202020204" pitchFamily="34" charset="0"/>
              </a:rPr>
              <a:t>The </a:t>
            </a:r>
            <a:r>
              <a:rPr lang="en-IN" sz="2000" b="1" i="0" dirty="0">
                <a:solidFill>
                  <a:schemeClr val="tx1"/>
                </a:solidFill>
                <a:effectLst/>
                <a:latin typeface="Trebuchet MS" panose="020B0603020202020204" pitchFamily="34" charset="0"/>
              </a:rPr>
              <a:t>value stored in a constant variable </a:t>
            </a:r>
            <a:r>
              <a:rPr lang="en-IN" sz="2000" i="0" dirty="0">
                <a:solidFill>
                  <a:schemeClr val="tx1"/>
                </a:solidFill>
                <a:effectLst/>
                <a:latin typeface="Trebuchet MS" panose="020B0603020202020204" pitchFamily="34" charset="0"/>
              </a:rPr>
              <a:t>is known as a </a:t>
            </a:r>
            <a:r>
              <a:rPr lang="en-IN" sz="2000" i="0" dirty="0">
                <a:solidFill>
                  <a:srgbClr val="FF0000"/>
                </a:solidFill>
                <a:effectLst/>
                <a:latin typeface="Trebuchet MS" panose="020B0603020202020204" pitchFamily="34" charset="0"/>
              </a:rPr>
              <a:t>literal. </a:t>
            </a:r>
            <a:r>
              <a:rPr lang="en-IN" sz="2000" i="0" dirty="0">
                <a:solidFill>
                  <a:schemeClr val="tx1"/>
                </a:solidFill>
                <a:effectLst/>
                <a:latin typeface="Trebuchet MS" panose="020B0603020202020204" pitchFamily="34" charset="0"/>
              </a:rPr>
              <a:t>However, constants and literals are often considered synonyms. </a:t>
            </a:r>
          </a:p>
          <a:p>
            <a:pPr marL="285750" indent="-285750" algn="l">
              <a:spcBef>
                <a:spcPts val="600"/>
              </a:spcBef>
              <a:spcAft>
                <a:spcPts val="600"/>
              </a:spcAft>
              <a:buFont typeface="Arial" panose="020B0604020202020204" pitchFamily="34" charset="0"/>
              <a:buChar char="•"/>
            </a:pPr>
            <a:r>
              <a:rPr lang="en-IN" sz="2000" i="0" dirty="0">
                <a:solidFill>
                  <a:schemeClr val="tx1"/>
                </a:solidFill>
                <a:effectLst/>
                <a:latin typeface="Trebuchet MS" panose="020B0603020202020204" pitchFamily="34" charset="0"/>
              </a:rPr>
              <a:t>Literals can be classified on the </a:t>
            </a:r>
            <a:r>
              <a:rPr lang="en-IN" sz="2000" b="1" i="0" dirty="0">
                <a:solidFill>
                  <a:schemeClr val="tx1"/>
                </a:solidFill>
                <a:effectLst/>
                <a:latin typeface="Trebuchet MS" panose="020B0603020202020204" pitchFamily="34" charset="0"/>
              </a:rPr>
              <a:t>basis of datatypes</a:t>
            </a:r>
            <a:r>
              <a:rPr lang="en-IN" sz="2000" i="0" dirty="0">
                <a:solidFill>
                  <a:schemeClr val="tx1"/>
                </a:solidFill>
                <a:effectLst/>
                <a:latin typeface="Trebuchet MS" panose="020B0603020202020204" pitchFamily="34" charset="0"/>
              </a:rPr>
              <a:t>.</a:t>
            </a:r>
          </a:p>
          <a:p>
            <a:pPr algn="l">
              <a:spcBef>
                <a:spcPts val="600"/>
              </a:spcBef>
              <a:spcAft>
                <a:spcPts val="600"/>
              </a:spcAft>
            </a:pPr>
            <a:r>
              <a:rPr lang="en-IN" sz="2000" b="1" i="0" dirty="0">
                <a:solidFill>
                  <a:srgbClr val="0070C0"/>
                </a:solidFill>
                <a:effectLst/>
                <a:latin typeface="Trebuchet MS" panose="020B0603020202020204" pitchFamily="34" charset="0"/>
              </a:rPr>
              <a:t>Types of literals:</a:t>
            </a:r>
          </a:p>
          <a:p>
            <a:pPr marL="815975" lvl="1" indent="-457200">
              <a:spcBef>
                <a:spcPts val="600"/>
              </a:spcBef>
              <a:buFont typeface="+mj-lt"/>
              <a:buAutoNum type="arabicPeriod"/>
            </a:pPr>
            <a:r>
              <a:rPr lang="en-IN" sz="2000" i="0" dirty="0">
                <a:solidFill>
                  <a:schemeClr val="tx1"/>
                </a:solidFill>
                <a:effectLst/>
                <a:latin typeface="Trebuchet MS" panose="020B0603020202020204" pitchFamily="34" charset="0"/>
              </a:rPr>
              <a:t>Integer literals</a:t>
            </a:r>
          </a:p>
          <a:p>
            <a:pPr marL="815975" lvl="1" indent="-457200">
              <a:spcBef>
                <a:spcPts val="600"/>
              </a:spcBef>
              <a:buFont typeface="+mj-lt"/>
              <a:buAutoNum type="arabicPeriod"/>
            </a:pPr>
            <a:r>
              <a:rPr lang="en-IN" sz="2000" i="0" dirty="0">
                <a:solidFill>
                  <a:schemeClr val="tx1"/>
                </a:solidFill>
                <a:effectLst/>
                <a:latin typeface="Trebuchet MS" panose="020B0603020202020204" pitchFamily="34" charset="0"/>
              </a:rPr>
              <a:t>Floating-point literals</a:t>
            </a:r>
          </a:p>
          <a:p>
            <a:pPr marL="815975" lvl="1" indent="-457200">
              <a:spcBef>
                <a:spcPts val="600"/>
              </a:spcBef>
              <a:buFont typeface="+mj-lt"/>
              <a:buAutoNum type="arabicPeriod"/>
            </a:pPr>
            <a:r>
              <a:rPr lang="en-IN" sz="2000" i="0" dirty="0">
                <a:solidFill>
                  <a:schemeClr val="tx1"/>
                </a:solidFill>
                <a:effectLst/>
                <a:latin typeface="Trebuchet MS" panose="020B0603020202020204" pitchFamily="34" charset="0"/>
              </a:rPr>
              <a:t>Characters literals</a:t>
            </a:r>
          </a:p>
          <a:p>
            <a:pPr marL="815975" lvl="1" indent="-457200">
              <a:spcBef>
                <a:spcPts val="600"/>
              </a:spcBef>
              <a:buFont typeface="+mj-lt"/>
              <a:buAutoNum type="arabicPeriod"/>
            </a:pPr>
            <a:r>
              <a:rPr lang="en-IN" sz="2000" i="0" dirty="0">
                <a:solidFill>
                  <a:schemeClr val="tx1"/>
                </a:solidFill>
                <a:effectLst/>
                <a:latin typeface="Trebuchet MS" panose="020B0603020202020204" pitchFamily="34" charset="0"/>
              </a:rPr>
              <a:t>Strings literals</a:t>
            </a:r>
          </a:p>
          <a:p>
            <a:pPr marL="815975" lvl="1" indent="-457200">
              <a:spcBef>
                <a:spcPts val="600"/>
              </a:spcBef>
              <a:buFont typeface="+mj-lt"/>
              <a:buAutoNum type="arabicPeriod"/>
            </a:pPr>
            <a:r>
              <a:rPr lang="en-IN" sz="2000" i="0" dirty="0">
                <a:solidFill>
                  <a:schemeClr val="tx1"/>
                </a:solidFill>
                <a:effectLst/>
                <a:latin typeface="Trebuchet MS" panose="020B0603020202020204" pitchFamily="34" charset="0"/>
              </a:rPr>
              <a:t>Boolean literals</a:t>
            </a:r>
          </a:p>
          <a:p>
            <a:pPr marL="815975" lvl="1" indent="-457200">
              <a:spcBef>
                <a:spcPts val="600"/>
              </a:spcBef>
              <a:buFont typeface="+mj-lt"/>
              <a:buAutoNum type="arabicPeriod"/>
            </a:pPr>
            <a:r>
              <a:rPr lang="en-IN" sz="2000" i="0" dirty="0">
                <a:solidFill>
                  <a:schemeClr val="tx1"/>
                </a:solidFill>
                <a:effectLst/>
                <a:latin typeface="Trebuchet MS" panose="020B0603020202020204" pitchFamily="34" charset="0"/>
              </a:rPr>
              <a:t>User-defined literals</a:t>
            </a:r>
            <a:endParaRPr lang="en-IN" i="0" dirty="0">
              <a:solidFill>
                <a:schemeClr val="tx1"/>
              </a:solidFill>
              <a:effectLst/>
              <a:latin typeface="Trebuchet MS" panose="020B0603020202020204" pitchFamily="34" charset="0"/>
            </a:endParaRPr>
          </a:p>
        </p:txBody>
      </p:sp>
    </p:spTree>
    <p:extLst>
      <p:ext uri="{BB962C8B-B14F-4D97-AF65-F5344CB8AC3E}">
        <p14:creationId xmlns:p14="http://schemas.microsoft.com/office/powerpoint/2010/main" val="8469765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TextBox 6">
            <a:extLst>
              <a:ext uri="{FF2B5EF4-FFF2-40B4-BE49-F238E27FC236}">
                <a16:creationId xmlns:a16="http://schemas.microsoft.com/office/drawing/2014/main" id="{863F1420-4C16-3778-390F-B8F44204C8B3}"/>
              </a:ext>
            </a:extLst>
          </p:cNvPr>
          <p:cNvSpPr txBox="1"/>
          <p:nvPr/>
        </p:nvSpPr>
        <p:spPr>
          <a:xfrm>
            <a:off x="330880" y="930991"/>
            <a:ext cx="8182500" cy="3780971"/>
          </a:xfrm>
          <a:prstGeom prst="rect">
            <a:avLst/>
          </a:prstGeom>
          <a:noFill/>
        </p:spPr>
        <p:txBody>
          <a:bodyPr wrap="square">
            <a:spAutoFit/>
          </a:bodyPr>
          <a:lstStyle/>
          <a:p>
            <a:pPr algn="l">
              <a:lnSpc>
                <a:spcPct val="150000"/>
              </a:lnSpc>
            </a:pPr>
            <a:r>
              <a:rPr lang="en-IN" sz="1800" b="1" i="0" dirty="0">
                <a:solidFill>
                  <a:srgbClr val="0070C0"/>
                </a:solidFill>
                <a:effectLst/>
                <a:latin typeface="Trebuchet MS" panose="020B0603020202020204" pitchFamily="34" charset="0"/>
              </a:rPr>
              <a:t>Integer Literals</a:t>
            </a:r>
          </a:p>
          <a:p>
            <a:pPr algn="l">
              <a:lnSpc>
                <a:spcPct val="150000"/>
              </a:lnSpc>
            </a:pPr>
            <a:r>
              <a:rPr lang="en-IN" sz="1800" b="0" i="0" dirty="0">
                <a:solidFill>
                  <a:schemeClr val="tx1"/>
                </a:solidFill>
                <a:effectLst/>
                <a:latin typeface="Trebuchet MS" panose="020B0603020202020204" pitchFamily="34" charset="0"/>
              </a:rPr>
              <a:t>When integer values are stored and represented as literal, then such literals are known as integer literals.</a:t>
            </a:r>
          </a:p>
          <a:p>
            <a:pPr algn="l">
              <a:lnSpc>
                <a:spcPct val="150000"/>
              </a:lnSpc>
            </a:pPr>
            <a:r>
              <a:rPr lang="en-IN" sz="1800" dirty="0">
                <a:solidFill>
                  <a:srgbClr val="0070C0"/>
                </a:solidFill>
                <a:latin typeface="Trebuchet MS" panose="020B0603020202020204" pitchFamily="34" charset="0"/>
              </a:rPr>
              <a:t>Examples: </a:t>
            </a:r>
          </a:p>
          <a:p>
            <a:pPr>
              <a:lnSpc>
                <a:spcPct val="150000"/>
              </a:lnSpc>
            </a:pPr>
            <a:r>
              <a:rPr lang="en-IN" sz="1800" dirty="0">
                <a:latin typeface="Trebuchet MS" panose="020B0603020202020204" pitchFamily="34" charset="0"/>
              </a:rPr>
              <a:t>    </a:t>
            </a:r>
            <a:r>
              <a:rPr lang="en-IN" sz="1800" dirty="0">
                <a:solidFill>
                  <a:srgbClr val="FF0000"/>
                </a:solidFill>
                <a:latin typeface="Trebuchet MS" panose="020B0603020202020204" pitchFamily="34" charset="0"/>
              </a:rPr>
              <a:t>//defining decimal-literal</a:t>
            </a:r>
          </a:p>
          <a:p>
            <a:pPr>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const</a:t>
            </a:r>
            <a:r>
              <a:rPr lang="en-IN" sz="1800" dirty="0">
                <a:latin typeface="Trebuchet MS" panose="020B0603020202020204" pitchFamily="34" charset="0"/>
              </a:rPr>
              <a:t> int DECIMAL = 128; </a:t>
            </a:r>
          </a:p>
          <a:p>
            <a:pPr>
              <a:lnSpc>
                <a:spcPct val="150000"/>
              </a:lnSpc>
            </a:pPr>
            <a:r>
              <a:rPr lang="en-IN" sz="1800" dirty="0">
                <a:latin typeface="Trebuchet MS" panose="020B0603020202020204" pitchFamily="34" charset="0"/>
              </a:rPr>
              <a:t>    </a:t>
            </a:r>
            <a:r>
              <a:rPr lang="en-IN" sz="1800" dirty="0">
                <a:solidFill>
                  <a:srgbClr val="FF0000"/>
                </a:solidFill>
                <a:latin typeface="Trebuchet MS" panose="020B0603020202020204" pitchFamily="34" charset="0"/>
              </a:rPr>
              <a:t>//defining octal-literal</a:t>
            </a:r>
          </a:p>
          <a:p>
            <a:pPr>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const</a:t>
            </a:r>
            <a:r>
              <a:rPr lang="en-IN" sz="1800" dirty="0">
                <a:latin typeface="Trebuchet MS" panose="020B0603020202020204" pitchFamily="34" charset="0"/>
              </a:rPr>
              <a:t> int OCTAL = 0200;</a:t>
            </a:r>
          </a:p>
          <a:p>
            <a:pPr>
              <a:lnSpc>
                <a:spcPct val="150000"/>
              </a:lnSpc>
            </a:pPr>
            <a:r>
              <a:rPr lang="en-IN" sz="1800" dirty="0">
                <a:latin typeface="Trebuchet MS" panose="020B0603020202020204" pitchFamily="34" charset="0"/>
              </a:rPr>
              <a:t>    </a:t>
            </a:r>
            <a:endParaRPr lang="en-IN" sz="1800" b="0" i="0" dirty="0">
              <a:solidFill>
                <a:schemeClr val="tx1"/>
              </a:solidFill>
              <a:effectLst/>
              <a:latin typeface="Trebuchet MS" panose="020B0603020202020204" pitchFamily="34" charset="0"/>
            </a:endParaRPr>
          </a:p>
        </p:txBody>
      </p:sp>
      <p:sp>
        <p:nvSpPr>
          <p:cNvPr id="9" name="TextBox 8">
            <a:extLst>
              <a:ext uri="{FF2B5EF4-FFF2-40B4-BE49-F238E27FC236}">
                <a16:creationId xmlns:a16="http://schemas.microsoft.com/office/drawing/2014/main" id="{A1678E56-694E-9E83-4A15-F73D5667BB9D}"/>
              </a:ext>
            </a:extLst>
          </p:cNvPr>
          <p:cNvSpPr txBox="1"/>
          <p:nvPr/>
        </p:nvSpPr>
        <p:spPr>
          <a:xfrm>
            <a:off x="4094102" y="2611618"/>
            <a:ext cx="4640316" cy="170348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//defining hex-literal</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err="1">
                <a:ln>
                  <a:noFill/>
                </a:ln>
                <a:solidFill>
                  <a:schemeClr val="tx1"/>
                </a:solidFill>
                <a:effectLst/>
                <a:uLnTx/>
                <a:uFillTx/>
                <a:latin typeface="Trebuchet MS" panose="020B0603020202020204" pitchFamily="34" charset="0"/>
                <a:cs typeface="Arial"/>
                <a:sym typeface="Arial"/>
              </a:rPr>
              <a:t>const</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 int HEX = 0x80;</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//defining binary-literal</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const</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int BINARY = </a:t>
            </a:r>
            <a:r>
              <a:rPr lang="en-IN" sz="1800" dirty="0">
                <a:latin typeface="Trebuchet MS" panose="020B0603020202020204" pitchFamily="34" charset="0"/>
              </a:rPr>
              <a:t>0</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10000000;</a:t>
            </a:r>
            <a:endPar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
        <p:nvSpPr>
          <p:cNvPr id="11" name="TextBox 10">
            <a:extLst>
              <a:ext uri="{FF2B5EF4-FFF2-40B4-BE49-F238E27FC236}">
                <a16:creationId xmlns:a16="http://schemas.microsoft.com/office/drawing/2014/main" id="{5E02C7CC-A24C-DBF8-48EB-D93CDA6471DB}"/>
              </a:ext>
            </a:extLst>
          </p:cNvPr>
          <p:cNvSpPr txBox="1"/>
          <p:nvPr/>
        </p:nvSpPr>
        <p:spPr>
          <a:xfrm>
            <a:off x="285125" y="107364"/>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Constants</a:t>
            </a:r>
          </a:p>
        </p:txBody>
      </p:sp>
    </p:spTree>
    <p:extLst>
      <p:ext uri="{BB962C8B-B14F-4D97-AF65-F5344CB8AC3E}">
        <p14:creationId xmlns:p14="http://schemas.microsoft.com/office/powerpoint/2010/main" val="347627514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TextBox 6">
            <a:extLst>
              <a:ext uri="{FF2B5EF4-FFF2-40B4-BE49-F238E27FC236}">
                <a16:creationId xmlns:a16="http://schemas.microsoft.com/office/drawing/2014/main" id="{863F1420-4C16-3778-390F-B8F44204C8B3}"/>
              </a:ext>
            </a:extLst>
          </p:cNvPr>
          <p:cNvSpPr txBox="1"/>
          <p:nvPr/>
        </p:nvSpPr>
        <p:spPr>
          <a:xfrm>
            <a:off x="330880" y="930991"/>
            <a:ext cx="8182500" cy="3642472"/>
          </a:xfrm>
          <a:prstGeom prst="rect">
            <a:avLst/>
          </a:prstGeom>
          <a:noFill/>
        </p:spPr>
        <p:txBody>
          <a:bodyPr wrap="square">
            <a:spAutoFit/>
          </a:bodyPr>
          <a:lstStyle/>
          <a:p>
            <a:pPr algn="l"/>
            <a:r>
              <a:rPr lang="en-IN" sz="1800" b="1" dirty="0">
                <a:solidFill>
                  <a:srgbClr val="0070C0"/>
                </a:solidFill>
                <a:latin typeface="Trebuchet MS" panose="020B0603020202020204" pitchFamily="34" charset="0"/>
              </a:rPr>
              <a:t>Floating-Point Literals</a:t>
            </a:r>
          </a:p>
          <a:p>
            <a:pPr marL="285750" indent="-285750" algn="l">
              <a:lnSpc>
                <a:spcPct val="150000"/>
              </a:lnSpc>
              <a:buFont typeface="Arial" panose="020B0604020202020204" pitchFamily="34" charset="0"/>
              <a:buChar char="•"/>
            </a:pPr>
            <a:r>
              <a:rPr lang="en-IN" sz="1800" dirty="0">
                <a:solidFill>
                  <a:schemeClr val="tx1"/>
                </a:solidFill>
                <a:latin typeface="Trebuchet MS" panose="020B0603020202020204" pitchFamily="34" charset="0"/>
              </a:rPr>
              <a:t>The floating-point literals contain the </a:t>
            </a:r>
            <a:r>
              <a:rPr lang="en-IN" sz="1800" b="1" dirty="0">
                <a:solidFill>
                  <a:schemeClr val="tx1"/>
                </a:solidFill>
                <a:latin typeface="Trebuchet MS" panose="020B0603020202020204" pitchFamily="34" charset="0"/>
              </a:rPr>
              <a:t>real numbers</a:t>
            </a:r>
            <a:r>
              <a:rPr lang="en-IN" sz="1800" dirty="0">
                <a:solidFill>
                  <a:schemeClr val="tx1"/>
                </a:solidFill>
                <a:latin typeface="Trebuchet MS" panose="020B0603020202020204" pitchFamily="34" charset="0"/>
              </a:rPr>
              <a:t>. </a:t>
            </a:r>
          </a:p>
          <a:p>
            <a:pPr marL="285750" indent="-285750" algn="l">
              <a:lnSpc>
                <a:spcPct val="150000"/>
              </a:lnSpc>
              <a:buFont typeface="Arial" panose="020B0604020202020204" pitchFamily="34" charset="0"/>
              <a:buChar char="•"/>
            </a:pPr>
            <a:r>
              <a:rPr lang="en-IN" sz="1800" dirty="0">
                <a:solidFill>
                  <a:schemeClr val="tx1"/>
                </a:solidFill>
                <a:latin typeface="Trebuchet MS" panose="020B0603020202020204" pitchFamily="34" charset="0"/>
              </a:rPr>
              <a:t>The real numbers hold an integer part, a real part and a fractional part and an exponential part in it. </a:t>
            </a:r>
          </a:p>
          <a:p>
            <a:pPr marL="285750" indent="-285750" algn="l">
              <a:lnSpc>
                <a:spcPct val="150000"/>
              </a:lnSpc>
              <a:buFont typeface="Arial" panose="020B0604020202020204" pitchFamily="34" charset="0"/>
              <a:buChar char="•"/>
            </a:pPr>
            <a:r>
              <a:rPr lang="en-IN" sz="1800" dirty="0">
                <a:solidFill>
                  <a:schemeClr val="tx1"/>
                </a:solidFill>
                <a:latin typeface="Trebuchet MS" panose="020B0603020202020204" pitchFamily="34" charset="0"/>
              </a:rPr>
              <a:t>A floating-point literal can be stored or represented in two forms: </a:t>
            </a:r>
            <a:r>
              <a:rPr lang="en-IN" sz="1800" b="1" dirty="0">
                <a:solidFill>
                  <a:schemeClr val="tx1"/>
                </a:solidFill>
                <a:latin typeface="Trebuchet MS" panose="020B0603020202020204" pitchFamily="34" charset="0"/>
              </a:rPr>
              <a:t>decimal or exponential form</a:t>
            </a:r>
            <a:r>
              <a:rPr lang="en-IN" sz="1800" dirty="0">
                <a:solidFill>
                  <a:schemeClr val="tx1"/>
                </a:solidFill>
                <a:latin typeface="Trebuchet MS" panose="020B0603020202020204" pitchFamily="34" charset="0"/>
              </a:rPr>
              <a:t>.</a:t>
            </a:r>
          </a:p>
          <a:p>
            <a:pPr marL="285750" indent="-285750" algn="l">
              <a:lnSpc>
                <a:spcPct val="150000"/>
              </a:lnSpc>
              <a:buFont typeface="Arial" panose="020B0604020202020204" pitchFamily="34" charset="0"/>
              <a:buChar char="•"/>
            </a:pPr>
            <a:r>
              <a:rPr lang="en-IN" sz="1800" dirty="0">
                <a:solidFill>
                  <a:srgbClr val="0070C0"/>
                </a:solidFill>
                <a:latin typeface="Trebuchet MS" panose="020B0603020202020204" pitchFamily="34" charset="0"/>
              </a:rPr>
              <a:t>Example:</a:t>
            </a:r>
          </a:p>
          <a:p>
            <a:pPr algn="l">
              <a:lnSpc>
                <a:spcPct val="150000"/>
              </a:lnSpc>
            </a:pPr>
            <a:r>
              <a:rPr lang="en-IN" sz="1800" dirty="0">
                <a:solidFill>
                  <a:schemeClr val="tx1"/>
                </a:solidFill>
                <a:latin typeface="Trebuchet MS" panose="020B0603020202020204" pitchFamily="34" charset="0"/>
              </a:rPr>
              <a:t>	</a:t>
            </a:r>
            <a:r>
              <a:rPr lang="en-IN" sz="1800" dirty="0" err="1">
                <a:solidFill>
                  <a:schemeClr val="tx1"/>
                </a:solidFill>
                <a:latin typeface="Trebuchet MS" panose="020B0603020202020204" pitchFamily="34" charset="0"/>
              </a:rPr>
              <a:t>const</a:t>
            </a:r>
            <a:r>
              <a:rPr lang="en-IN" sz="1800" dirty="0">
                <a:solidFill>
                  <a:schemeClr val="tx1"/>
                </a:solidFill>
                <a:latin typeface="Trebuchet MS" panose="020B0603020202020204" pitchFamily="34" charset="0"/>
              </a:rPr>
              <a:t> float P= 128.88;</a:t>
            </a:r>
          </a:p>
          <a:p>
            <a:pPr>
              <a:lnSpc>
                <a:spcPct val="150000"/>
              </a:lnSpc>
            </a:pPr>
            <a:endParaRPr lang="en-IN" sz="1800" dirty="0">
              <a:solidFill>
                <a:schemeClr val="tx1"/>
              </a:solidFill>
              <a:latin typeface="Trebuchet MS" panose="020B0603020202020204" pitchFamily="34" charset="0"/>
            </a:endParaRPr>
          </a:p>
        </p:txBody>
      </p:sp>
      <p:sp>
        <p:nvSpPr>
          <p:cNvPr id="11" name="TextBox 10">
            <a:extLst>
              <a:ext uri="{FF2B5EF4-FFF2-40B4-BE49-F238E27FC236}">
                <a16:creationId xmlns:a16="http://schemas.microsoft.com/office/drawing/2014/main" id="{5E02C7CC-A24C-DBF8-48EB-D93CDA6471DB}"/>
              </a:ext>
            </a:extLst>
          </p:cNvPr>
          <p:cNvSpPr txBox="1"/>
          <p:nvPr/>
        </p:nvSpPr>
        <p:spPr>
          <a:xfrm>
            <a:off x="285125" y="107364"/>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Constants</a:t>
            </a:r>
          </a:p>
        </p:txBody>
      </p:sp>
    </p:spTree>
    <p:extLst>
      <p:ext uri="{BB962C8B-B14F-4D97-AF65-F5344CB8AC3E}">
        <p14:creationId xmlns:p14="http://schemas.microsoft.com/office/powerpoint/2010/main" val="29931026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TextBox 6">
            <a:extLst>
              <a:ext uri="{FF2B5EF4-FFF2-40B4-BE49-F238E27FC236}">
                <a16:creationId xmlns:a16="http://schemas.microsoft.com/office/drawing/2014/main" id="{863F1420-4C16-3778-390F-B8F44204C8B3}"/>
              </a:ext>
            </a:extLst>
          </p:cNvPr>
          <p:cNvSpPr txBox="1"/>
          <p:nvPr/>
        </p:nvSpPr>
        <p:spPr>
          <a:xfrm>
            <a:off x="285125" y="733198"/>
            <a:ext cx="8182500" cy="4190827"/>
          </a:xfrm>
          <a:prstGeom prst="rect">
            <a:avLst/>
          </a:prstGeom>
          <a:noFill/>
        </p:spPr>
        <p:txBody>
          <a:bodyPr wrap="square">
            <a:spAutoFit/>
          </a:bodyPr>
          <a:lstStyle/>
          <a:p>
            <a:pPr algn="l">
              <a:lnSpc>
                <a:spcPct val="150000"/>
              </a:lnSpc>
            </a:pPr>
            <a:r>
              <a:rPr lang="en-IN" sz="2000" b="1" i="0" dirty="0">
                <a:solidFill>
                  <a:srgbClr val="0070C0"/>
                </a:solidFill>
                <a:effectLst/>
                <a:latin typeface="Trebuchet MS" panose="020B0603020202020204" pitchFamily="34" charset="0"/>
              </a:rPr>
              <a:t>Character Literals</a:t>
            </a:r>
          </a:p>
          <a:p>
            <a:pPr marL="342900" indent="-342900" algn="l">
              <a:lnSpc>
                <a:spcPct val="150000"/>
              </a:lnSpc>
              <a:buFont typeface="Arial" panose="020B0604020202020204" pitchFamily="34" charset="0"/>
              <a:buChar char="•"/>
            </a:pPr>
            <a:r>
              <a:rPr lang="en-IN" sz="2000" b="0" i="0" dirty="0">
                <a:solidFill>
                  <a:schemeClr val="tx1"/>
                </a:solidFill>
                <a:effectLst/>
                <a:latin typeface="Trebuchet MS" panose="020B0603020202020204" pitchFamily="34" charset="0"/>
              </a:rPr>
              <a:t>When a </a:t>
            </a:r>
            <a:r>
              <a:rPr lang="en-IN" sz="2000" b="1" i="0" dirty="0">
                <a:solidFill>
                  <a:schemeClr val="tx1"/>
                </a:solidFill>
                <a:effectLst/>
                <a:latin typeface="Trebuchet MS" panose="020B0603020202020204" pitchFamily="34" charset="0"/>
              </a:rPr>
              <a:t>single character enclosed by a single quote is stored</a:t>
            </a:r>
            <a:r>
              <a:rPr lang="en-IN" sz="2000" b="0" i="0" dirty="0">
                <a:solidFill>
                  <a:schemeClr val="tx1"/>
                </a:solidFill>
                <a:effectLst/>
                <a:latin typeface="Trebuchet MS" panose="020B0603020202020204" pitchFamily="34" charset="0"/>
              </a:rPr>
              <a:t> and represented as a literal, then the literal is known as a character literal. </a:t>
            </a:r>
          </a:p>
          <a:p>
            <a:pPr marL="342900" indent="-342900" algn="l">
              <a:lnSpc>
                <a:spcPct val="150000"/>
              </a:lnSpc>
              <a:buFont typeface="Arial" panose="020B0604020202020204" pitchFamily="34" charset="0"/>
              <a:buChar char="•"/>
            </a:pPr>
            <a:r>
              <a:rPr lang="en-IN" sz="2000" b="0" i="0" dirty="0">
                <a:solidFill>
                  <a:schemeClr val="tx1"/>
                </a:solidFill>
                <a:effectLst/>
                <a:latin typeface="Trebuchet MS" panose="020B0603020202020204" pitchFamily="34" charset="0"/>
              </a:rPr>
              <a:t>More than one character should </a:t>
            </a:r>
            <a:r>
              <a:rPr lang="en-IN" sz="2000" b="1" i="0" dirty="0">
                <a:solidFill>
                  <a:schemeClr val="tx1"/>
                </a:solidFill>
                <a:effectLst/>
                <a:latin typeface="Trebuchet MS" panose="020B0603020202020204" pitchFamily="34" charset="0"/>
              </a:rPr>
              <a:t>not be stored </a:t>
            </a:r>
            <a:r>
              <a:rPr lang="en-IN" sz="2000" b="0" i="0" dirty="0">
                <a:solidFill>
                  <a:schemeClr val="tx1"/>
                </a:solidFill>
                <a:effectLst/>
                <a:latin typeface="Trebuchet MS" panose="020B0603020202020204" pitchFamily="34" charset="0"/>
              </a:rPr>
              <a:t>as a character literal otherwise, it will show a warning along with only the last character of the literal will be displayed. </a:t>
            </a:r>
          </a:p>
          <a:p>
            <a:pPr algn="l">
              <a:lnSpc>
                <a:spcPct val="150000"/>
              </a:lnSpc>
            </a:pPr>
            <a:r>
              <a:rPr lang="en-IN" sz="2000" dirty="0">
                <a:solidFill>
                  <a:srgbClr val="0070C0"/>
                </a:solidFill>
                <a:latin typeface="Trebuchet MS" panose="020B0603020202020204" pitchFamily="34" charset="0"/>
              </a:rPr>
              <a:t>Example: </a:t>
            </a:r>
          </a:p>
          <a:p>
            <a:pPr algn="l">
              <a:lnSpc>
                <a:spcPct val="150000"/>
              </a:lnSpc>
            </a:pPr>
            <a:r>
              <a:rPr lang="en-IN" sz="2000" b="0" i="0" dirty="0">
                <a:solidFill>
                  <a:schemeClr val="tx1"/>
                </a:solidFill>
                <a:effectLst/>
                <a:latin typeface="Trebuchet MS" panose="020B0603020202020204" pitchFamily="34" charset="0"/>
              </a:rPr>
              <a:t>	</a:t>
            </a:r>
            <a:r>
              <a:rPr lang="en-IN" sz="2000" b="0" i="0" dirty="0" err="1">
                <a:solidFill>
                  <a:schemeClr val="tx1"/>
                </a:solidFill>
                <a:effectLst/>
                <a:latin typeface="Trebuchet MS" panose="020B0603020202020204" pitchFamily="34" charset="0"/>
              </a:rPr>
              <a:t>const</a:t>
            </a:r>
            <a:r>
              <a:rPr lang="en-IN" sz="2000" b="0" i="0" dirty="0">
                <a:solidFill>
                  <a:schemeClr val="tx1"/>
                </a:solidFill>
                <a:effectLst/>
                <a:latin typeface="Trebuchet MS" panose="020B0603020202020204" pitchFamily="34" charset="0"/>
              </a:rPr>
              <a:t> char VARA = 'A'</a:t>
            </a:r>
          </a:p>
        </p:txBody>
      </p:sp>
      <p:sp>
        <p:nvSpPr>
          <p:cNvPr id="11" name="TextBox 10">
            <a:extLst>
              <a:ext uri="{FF2B5EF4-FFF2-40B4-BE49-F238E27FC236}">
                <a16:creationId xmlns:a16="http://schemas.microsoft.com/office/drawing/2014/main" id="{5E02C7CC-A24C-DBF8-48EB-D93CDA6471DB}"/>
              </a:ext>
            </a:extLst>
          </p:cNvPr>
          <p:cNvSpPr txBox="1"/>
          <p:nvPr/>
        </p:nvSpPr>
        <p:spPr>
          <a:xfrm>
            <a:off x="285125" y="107364"/>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Constants</a:t>
            </a:r>
          </a:p>
        </p:txBody>
      </p:sp>
    </p:spTree>
    <p:extLst>
      <p:ext uri="{BB962C8B-B14F-4D97-AF65-F5344CB8AC3E}">
        <p14:creationId xmlns:p14="http://schemas.microsoft.com/office/powerpoint/2010/main" val="40110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TextBox 6">
            <a:extLst>
              <a:ext uri="{FF2B5EF4-FFF2-40B4-BE49-F238E27FC236}">
                <a16:creationId xmlns:a16="http://schemas.microsoft.com/office/drawing/2014/main" id="{863F1420-4C16-3778-390F-B8F44204C8B3}"/>
              </a:ext>
            </a:extLst>
          </p:cNvPr>
          <p:cNvSpPr txBox="1"/>
          <p:nvPr/>
        </p:nvSpPr>
        <p:spPr>
          <a:xfrm>
            <a:off x="358698" y="957572"/>
            <a:ext cx="8182500" cy="2949975"/>
          </a:xfrm>
          <a:prstGeom prst="rect">
            <a:avLst/>
          </a:prstGeom>
          <a:noFill/>
        </p:spPr>
        <p:txBody>
          <a:bodyPr wrap="square">
            <a:spAutoFit/>
          </a:bodyPr>
          <a:lstStyle/>
          <a:p>
            <a:pPr algn="l">
              <a:lnSpc>
                <a:spcPct val="150000"/>
              </a:lnSpc>
            </a:pPr>
            <a:r>
              <a:rPr lang="en-IN" sz="1800" b="1" i="0" dirty="0">
                <a:solidFill>
                  <a:srgbClr val="0070C0"/>
                </a:solidFill>
                <a:effectLst/>
                <a:latin typeface="Trebuchet MS" panose="020B0603020202020204" pitchFamily="34" charset="0"/>
              </a:rPr>
              <a:t>String Literals</a:t>
            </a:r>
          </a:p>
          <a:p>
            <a:pPr marL="285750" indent="-285750" algn="l">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When </a:t>
            </a:r>
            <a:r>
              <a:rPr lang="en-IN" sz="1800" b="1" i="0" dirty="0">
                <a:solidFill>
                  <a:schemeClr val="tx1"/>
                </a:solidFill>
                <a:effectLst/>
                <a:latin typeface="Trebuchet MS" panose="020B0603020202020204" pitchFamily="34" charset="0"/>
              </a:rPr>
              <a:t>more than one character is stored in double-quotes </a:t>
            </a:r>
            <a:r>
              <a:rPr lang="en-IN" sz="1800" b="0" i="0" dirty="0">
                <a:solidFill>
                  <a:schemeClr val="tx1"/>
                </a:solidFill>
                <a:effectLst/>
                <a:latin typeface="Trebuchet MS" panose="020B0603020202020204" pitchFamily="34" charset="0"/>
              </a:rPr>
              <a:t>and represented as literals. Such a literal is known as a string literal. </a:t>
            </a:r>
          </a:p>
          <a:p>
            <a:pPr marL="285750" indent="-285750" algn="l">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It can store all the special as well as </a:t>
            </a:r>
            <a:r>
              <a:rPr lang="en-IN" sz="1800" b="1" i="0" dirty="0">
                <a:solidFill>
                  <a:schemeClr val="tx1"/>
                </a:solidFill>
                <a:effectLst/>
                <a:latin typeface="Trebuchet MS" panose="020B0603020202020204" pitchFamily="34" charset="0"/>
              </a:rPr>
              <a:t>escape sequence characters</a:t>
            </a:r>
            <a:r>
              <a:rPr lang="en-IN" sz="1800" b="0" i="0" dirty="0">
                <a:solidFill>
                  <a:schemeClr val="tx1"/>
                </a:solidFill>
                <a:effectLst/>
                <a:latin typeface="Trebuchet MS" panose="020B0603020202020204" pitchFamily="34" charset="0"/>
              </a:rPr>
              <a:t>.</a:t>
            </a:r>
          </a:p>
          <a:p>
            <a:pPr algn="l">
              <a:lnSpc>
                <a:spcPct val="150000"/>
              </a:lnSpc>
            </a:pPr>
            <a:r>
              <a:rPr lang="en-IN" sz="1800" b="1" i="0" dirty="0">
                <a:solidFill>
                  <a:srgbClr val="0070C0"/>
                </a:solidFill>
                <a:effectLst/>
                <a:latin typeface="Trebuchet MS" panose="020B0603020202020204" pitchFamily="34" charset="0"/>
              </a:rPr>
              <a:t>Example:</a:t>
            </a:r>
          </a:p>
          <a:p>
            <a:pPr algn="l">
              <a:lnSpc>
                <a:spcPct val="150000"/>
              </a:lnSpc>
            </a:pPr>
            <a:r>
              <a:rPr lang="en-IN" sz="1800" b="1" dirty="0">
                <a:solidFill>
                  <a:schemeClr val="tx1"/>
                </a:solidFill>
                <a:latin typeface="Trebuchet MS" panose="020B0603020202020204" pitchFamily="34" charset="0"/>
              </a:rPr>
              <a:t>	</a:t>
            </a:r>
            <a:r>
              <a:rPr lang="en-IN" sz="1800" dirty="0" err="1">
                <a:solidFill>
                  <a:schemeClr val="tx1"/>
                </a:solidFill>
                <a:latin typeface="Trebuchet MS" panose="020B0603020202020204" pitchFamily="34" charset="0"/>
              </a:rPr>
              <a:t>const</a:t>
            </a:r>
            <a:r>
              <a:rPr lang="en-IN" sz="1800" dirty="0">
                <a:solidFill>
                  <a:schemeClr val="tx1"/>
                </a:solidFill>
                <a:latin typeface="Trebuchet MS" panose="020B0603020202020204" pitchFamily="34" charset="0"/>
              </a:rPr>
              <a:t> string A = "is a\</a:t>
            </a:r>
            <a:r>
              <a:rPr lang="en-IN" sz="1800" dirty="0" err="1">
                <a:solidFill>
                  <a:schemeClr val="tx1"/>
                </a:solidFill>
                <a:latin typeface="Trebuchet MS" panose="020B0603020202020204" pitchFamily="34" charset="0"/>
              </a:rPr>
              <a:t>ngood</a:t>
            </a:r>
            <a:r>
              <a:rPr lang="en-IN" sz="1800" dirty="0">
                <a:solidFill>
                  <a:schemeClr val="tx1"/>
                </a:solidFill>
                <a:latin typeface="Trebuchet MS" panose="020B0603020202020204" pitchFamily="34" charset="0"/>
              </a:rPr>
              <a:t>\</a:t>
            </a:r>
            <a:r>
              <a:rPr lang="en-IN" sz="1800" dirty="0" err="1">
                <a:solidFill>
                  <a:schemeClr val="tx1"/>
                </a:solidFill>
                <a:latin typeface="Trebuchet MS" panose="020B0603020202020204" pitchFamily="34" charset="0"/>
              </a:rPr>
              <a:t>tlearning</a:t>
            </a:r>
            <a:r>
              <a:rPr lang="en-IN" sz="1800" dirty="0">
                <a:solidFill>
                  <a:schemeClr val="tx1"/>
                </a:solidFill>
                <a:latin typeface="Trebuchet MS" panose="020B0603020202020204" pitchFamily="34" charset="0"/>
              </a:rPr>
              <a:t> platform";</a:t>
            </a:r>
          </a:p>
          <a:p>
            <a:pPr algn="l">
              <a:lnSpc>
                <a:spcPct val="150000"/>
              </a:lnSpc>
            </a:pPr>
            <a:endParaRPr lang="en-IN" sz="1800" b="0" i="0" dirty="0">
              <a:solidFill>
                <a:schemeClr val="tx1"/>
              </a:solidFill>
              <a:effectLst/>
              <a:latin typeface="Trebuchet MS" panose="020B0603020202020204" pitchFamily="34" charset="0"/>
            </a:endParaRPr>
          </a:p>
        </p:txBody>
      </p:sp>
      <p:sp>
        <p:nvSpPr>
          <p:cNvPr id="11" name="TextBox 10">
            <a:extLst>
              <a:ext uri="{FF2B5EF4-FFF2-40B4-BE49-F238E27FC236}">
                <a16:creationId xmlns:a16="http://schemas.microsoft.com/office/drawing/2014/main" id="{5E02C7CC-A24C-DBF8-48EB-D93CDA6471DB}"/>
              </a:ext>
            </a:extLst>
          </p:cNvPr>
          <p:cNvSpPr txBox="1"/>
          <p:nvPr/>
        </p:nvSpPr>
        <p:spPr>
          <a:xfrm>
            <a:off x="285125" y="107364"/>
            <a:ext cx="4640316"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Tokens - Constants</a:t>
            </a:r>
          </a:p>
        </p:txBody>
      </p:sp>
    </p:spTree>
    <p:extLst>
      <p:ext uri="{BB962C8B-B14F-4D97-AF65-F5344CB8AC3E}">
        <p14:creationId xmlns:p14="http://schemas.microsoft.com/office/powerpoint/2010/main" val="38578066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11" name="TextBox 10">
            <a:extLst>
              <a:ext uri="{FF2B5EF4-FFF2-40B4-BE49-F238E27FC236}">
                <a16:creationId xmlns:a16="http://schemas.microsoft.com/office/drawing/2014/main" id="{5E02C7CC-A24C-DBF8-48EB-D93CDA6471DB}"/>
              </a:ext>
            </a:extLst>
          </p:cNvPr>
          <p:cNvSpPr txBox="1"/>
          <p:nvPr/>
        </p:nvSpPr>
        <p:spPr>
          <a:xfrm>
            <a:off x="285125" y="107364"/>
            <a:ext cx="4640316" cy="523220"/>
          </a:xfrm>
          <a:prstGeom prst="rect">
            <a:avLst/>
          </a:prstGeom>
          <a:noFill/>
        </p:spPr>
        <p:txBody>
          <a:bodyPr wrap="square">
            <a:spAutoFit/>
          </a:bodyPr>
          <a:lstStyle/>
          <a:p>
            <a:r>
              <a:rPr lang="en-IN" sz="2800" b="1">
                <a:solidFill>
                  <a:schemeClr val="bg1"/>
                </a:solidFill>
                <a:latin typeface="Trebuchet MS" panose="020B0603020202020204" pitchFamily="34" charset="0"/>
              </a:rPr>
              <a:t>Tokens - Constants</a:t>
            </a:r>
            <a:endParaRPr lang="en-IN" sz="2800" b="1" dirty="0">
              <a:solidFill>
                <a:schemeClr val="bg1"/>
              </a:solidFill>
              <a:latin typeface="Trebuchet MS" panose="020B0603020202020204" pitchFamily="34" charset="0"/>
            </a:endParaRPr>
          </a:p>
        </p:txBody>
      </p:sp>
      <p:sp>
        <p:nvSpPr>
          <p:cNvPr id="3" name="TextBox 2">
            <a:extLst>
              <a:ext uri="{FF2B5EF4-FFF2-40B4-BE49-F238E27FC236}">
                <a16:creationId xmlns:a16="http://schemas.microsoft.com/office/drawing/2014/main" id="{2001403E-EA45-270F-A493-438364406D72}"/>
              </a:ext>
            </a:extLst>
          </p:cNvPr>
          <p:cNvSpPr txBox="1"/>
          <p:nvPr/>
        </p:nvSpPr>
        <p:spPr>
          <a:xfrm>
            <a:off x="409755" y="973393"/>
            <a:ext cx="8314964" cy="3915367"/>
          </a:xfrm>
          <a:prstGeom prst="rect">
            <a:avLst/>
          </a:prstGeom>
          <a:noFill/>
        </p:spPr>
        <p:txBody>
          <a:bodyPr wrap="square">
            <a:spAutoFit/>
          </a:bodyPr>
          <a:lstStyle/>
          <a:p>
            <a:pPr algn="l"/>
            <a:r>
              <a:rPr lang="en-IN" sz="2000" b="1" i="0" dirty="0">
                <a:solidFill>
                  <a:srgbClr val="0070C0"/>
                </a:solidFill>
                <a:effectLst/>
                <a:latin typeface="Trebuchet MS" panose="020B0603020202020204" pitchFamily="34" charset="0"/>
              </a:rPr>
              <a:t>Boolean Literals</a:t>
            </a:r>
          </a:p>
          <a:p>
            <a:pPr marL="342900" indent="-342900" algn="l">
              <a:lnSpc>
                <a:spcPct val="150000"/>
              </a:lnSpc>
              <a:buFont typeface="Arial" panose="020B0604020202020204" pitchFamily="34" charset="0"/>
              <a:buChar char="•"/>
            </a:pPr>
            <a:r>
              <a:rPr lang="en-IN" sz="2000" b="0" i="0" dirty="0">
                <a:solidFill>
                  <a:schemeClr val="tx1"/>
                </a:solidFill>
                <a:effectLst/>
                <a:latin typeface="Trebuchet MS" panose="020B0603020202020204" pitchFamily="34" charset="0"/>
              </a:rPr>
              <a:t>This literal stores </a:t>
            </a:r>
            <a:r>
              <a:rPr lang="en-IN" sz="2000" b="0" i="0" dirty="0" err="1">
                <a:solidFill>
                  <a:schemeClr val="tx1"/>
                </a:solidFill>
                <a:effectLst/>
                <a:latin typeface="Trebuchet MS" panose="020B0603020202020204" pitchFamily="34" charset="0"/>
              </a:rPr>
              <a:t>boolean</a:t>
            </a:r>
            <a:r>
              <a:rPr lang="en-IN" sz="2000" b="0" i="0" dirty="0">
                <a:solidFill>
                  <a:schemeClr val="tx1"/>
                </a:solidFill>
                <a:effectLst/>
                <a:latin typeface="Trebuchet MS" panose="020B0603020202020204" pitchFamily="34" charset="0"/>
              </a:rPr>
              <a:t> values i.e. </a:t>
            </a:r>
            <a:r>
              <a:rPr lang="en-IN" sz="2000" b="0" i="0" dirty="0">
                <a:solidFill>
                  <a:srgbClr val="FF0000"/>
                </a:solidFill>
                <a:effectLst/>
                <a:latin typeface="Trebuchet MS" panose="020B0603020202020204" pitchFamily="34" charset="0"/>
              </a:rPr>
              <a:t>True and false</a:t>
            </a:r>
            <a:r>
              <a:rPr lang="en-IN" sz="2000" b="0" i="0" dirty="0">
                <a:solidFill>
                  <a:schemeClr val="tx1"/>
                </a:solidFill>
                <a:effectLst/>
                <a:latin typeface="Trebuchet MS" panose="020B0603020202020204" pitchFamily="34" charset="0"/>
              </a:rPr>
              <a:t>. </a:t>
            </a:r>
          </a:p>
          <a:p>
            <a:pPr marL="342900" indent="-342900" algn="l">
              <a:lnSpc>
                <a:spcPct val="150000"/>
              </a:lnSpc>
              <a:buFont typeface="Arial" panose="020B0604020202020204" pitchFamily="34" charset="0"/>
              <a:buChar char="•"/>
            </a:pPr>
            <a:r>
              <a:rPr lang="en-IN" sz="2000" b="0" i="0" dirty="0">
                <a:solidFill>
                  <a:schemeClr val="tx1"/>
                </a:solidFill>
                <a:effectLst/>
                <a:latin typeface="Trebuchet MS" panose="020B0603020202020204" pitchFamily="34" charset="0"/>
              </a:rPr>
              <a:t>True is used to represent success </a:t>
            </a:r>
          </a:p>
          <a:p>
            <a:pPr marL="342900" indent="-342900" algn="l">
              <a:lnSpc>
                <a:spcPct val="150000"/>
              </a:lnSpc>
              <a:buFont typeface="Arial" panose="020B0604020202020204" pitchFamily="34" charset="0"/>
              <a:buChar char="•"/>
            </a:pPr>
            <a:r>
              <a:rPr lang="en-IN" sz="2000" b="0" i="0" dirty="0">
                <a:solidFill>
                  <a:schemeClr val="tx1"/>
                </a:solidFill>
                <a:effectLst/>
                <a:latin typeface="Trebuchet MS" panose="020B0603020202020204" pitchFamily="34" charset="0"/>
              </a:rPr>
              <a:t>while false represents failure. </a:t>
            </a:r>
          </a:p>
          <a:p>
            <a:pPr marL="342900" indent="-342900" algn="l">
              <a:lnSpc>
                <a:spcPct val="150000"/>
              </a:lnSpc>
              <a:buFont typeface="Arial" panose="020B0604020202020204" pitchFamily="34" charset="0"/>
              <a:buChar char="•"/>
            </a:pPr>
            <a:r>
              <a:rPr lang="en-IN" sz="2000" b="1" i="0" dirty="0">
                <a:solidFill>
                  <a:schemeClr val="tx1"/>
                </a:solidFill>
                <a:effectLst/>
                <a:latin typeface="Trebuchet MS" panose="020B0603020202020204" pitchFamily="34" charset="0"/>
              </a:rPr>
              <a:t>True is the same as int 1 while false is similar to int 0.</a:t>
            </a:r>
            <a:endParaRPr lang="en-IN" sz="2000" b="0" i="0" dirty="0">
              <a:solidFill>
                <a:schemeClr val="tx1"/>
              </a:solidFill>
              <a:effectLst/>
              <a:latin typeface="Trebuchet MS" panose="020B0603020202020204" pitchFamily="34" charset="0"/>
            </a:endParaRPr>
          </a:p>
          <a:p>
            <a:pPr algn="l">
              <a:lnSpc>
                <a:spcPct val="150000"/>
              </a:lnSpc>
            </a:pPr>
            <a:r>
              <a:rPr lang="en-IN" sz="2000" b="1" i="0" dirty="0">
                <a:solidFill>
                  <a:srgbClr val="0070C0"/>
                </a:solidFill>
                <a:effectLst/>
                <a:latin typeface="Trebuchet MS" panose="020B0603020202020204" pitchFamily="34" charset="0"/>
              </a:rPr>
              <a:t>Example:</a:t>
            </a:r>
          </a:p>
          <a:p>
            <a:pPr algn="l">
              <a:lnSpc>
                <a:spcPct val="150000"/>
              </a:lnSpc>
            </a:pPr>
            <a:r>
              <a:rPr lang="da-DK" sz="2000" b="1" dirty="0">
                <a:solidFill>
                  <a:schemeClr val="tx1"/>
                </a:solidFill>
                <a:latin typeface="Trebuchet MS" panose="020B0603020202020204" pitchFamily="34" charset="0"/>
              </a:rPr>
              <a:t>	</a:t>
            </a:r>
            <a:r>
              <a:rPr lang="da-DK" sz="2000" dirty="0">
                <a:solidFill>
                  <a:schemeClr val="tx1"/>
                </a:solidFill>
                <a:latin typeface="Trebuchet MS" panose="020B0603020202020204" pitchFamily="34" charset="0"/>
              </a:rPr>
              <a:t>const bool VAR1 = true;</a:t>
            </a:r>
          </a:p>
          <a:p>
            <a:pPr algn="l">
              <a:lnSpc>
                <a:spcPct val="150000"/>
              </a:lnSpc>
            </a:pPr>
            <a:r>
              <a:rPr lang="da-DK" sz="2000" dirty="0">
                <a:solidFill>
                  <a:schemeClr val="tx1"/>
                </a:solidFill>
                <a:latin typeface="Trebuchet MS" panose="020B0603020202020204" pitchFamily="34" charset="0"/>
              </a:rPr>
              <a:t>    	const bool VAR2 = false;</a:t>
            </a:r>
            <a:endParaRPr lang="en-IN" sz="2000" dirty="0">
              <a:solidFill>
                <a:schemeClr val="tx1"/>
              </a:solidFill>
              <a:latin typeface="Trebuchet MS" panose="020B0603020202020204" pitchFamily="34" charset="0"/>
            </a:endParaRPr>
          </a:p>
          <a:p>
            <a:pPr algn="l">
              <a:lnSpc>
                <a:spcPct val="150000"/>
              </a:lnSpc>
            </a:pPr>
            <a:endParaRPr lang="en-IN" b="0" i="0" dirty="0">
              <a:solidFill>
                <a:schemeClr val="tx1"/>
              </a:solidFill>
              <a:effectLst/>
              <a:latin typeface="Trebuchet MS" panose="020B0603020202020204" pitchFamily="34" charset="0"/>
            </a:endParaRPr>
          </a:p>
        </p:txBody>
      </p:sp>
    </p:spTree>
    <p:extLst>
      <p:ext uri="{BB962C8B-B14F-4D97-AF65-F5344CB8AC3E}">
        <p14:creationId xmlns:p14="http://schemas.microsoft.com/office/powerpoint/2010/main" val="429258872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03033284-1AAD-1D4A-3CD9-8773FAFCFE5A}"/>
              </a:ext>
            </a:extLst>
          </p:cNvPr>
          <p:cNvSpPr txBox="1"/>
          <p:nvPr/>
        </p:nvSpPr>
        <p:spPr>
          <a:xfrm>
            <a:off x="306013" y="1006280"/>
            <a:ext cx="8228387" cy="349448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A string in C++ is a type of object representing a </a:t>
            </a:r>
            <a:r>
              <a:rPr lang="en-IN" sz="1800" b="1" dirty="0">
                <a:latin typeface="Trebuchet MS" panose="020B0603020202020204" pitchFamily="34" charset="0"/>
              </a:rPr>
              <a:t>collection (or sequence) of different characters.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Strings in C++ are a part of the standard string class.</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The string class stores the characters of a string as a collection of bytes in </a:t>
            </a:r>
            <a:r>
              <a:rPr lang="en-IN" sz="1800" b="1" dirty="0">
                <a:latin typeface="Trebuchet MS" panose="020B0603020202020204" pitchFamily="34" charset="0"/>
              </a:rPr>
              <a:t>contiguous memory locations</a:t>
            </a:r>
            <a:r>
              <a:rPr lang="en-IN" sz="1800" dirty="0">
                <a:latin typeface="Trebuchet MS" panose="020B0603020202020204" pitchFamily="34" charset="0"/>
              </a:rPr>
              <a: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Strings are most commonly used in the programs where we need to work with</a:t>
            </a:r>
            <a:r>
              <a:rPr lang="en-IN" sz="1800" b="1" dirty="0">
                <a:latin typeface="Trebuchet MS" panose="020B0603020202020204" pitchFamily="34" charset="0"/>
              </a:rPr>
              <a:t> texts</a:t>
            </a:r>
            <a:r>
              <a:rPr lang="en-IN" sz="1800" dirty="0">
                <a:latin typeface="Trebuchet MS" panose="020B0603020202020204" pitchFamily="34" charset="0"/>
              </a:rPr>
              <a: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C++ supports both strings and character arrays.</a:t>
            </a:r>
          </a:p>
        </p:txBody>
      </p:sp>
      <p:sp>
        <p:nvSpPr>
          <p:cNvPr id="7" name="TextBox 6">
            <a:extLst>
              <a:ext uri="{FF2B5EF4-FFF2-40B4-BE49-F238E27FC236}">
                <a16:creationId xmlns:a16="http://schemas.microsoft.com/office/drawing/2014/main" id="{879BD35D-65D7-03BA-E258-27E80B40E200}"/>
              </a:ext>
            </a:extLst>
          </p:cNvPr>
          <p:cNvSpPr txBox="1"/>
          <p:nvPr/>
        </p:nvSpPr>
        <p:spPr>
          <a:xfrm>
            <a:off x="400607" y="148588"/>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Strings </a:t>
            </a:r>
          </a:p>
        </p:txBody>
      </p:sp>
    </p:spTree>
    <p:extLst>
      <p:ext uri="{BB962C8B-B14F-4D97-AF65-F5344CB8AC3E}">
        <p14:creationId xmlns:p14="http://schemas.microsoft.com/office/powerpoint/2010/main" val="35387245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TextBox 6">
            <a:extLst>
              <a:ext uri="{FF2B5EF4-FFF2-40B4-BE49-F238E27FC236}">
                <a16:creationId xmlns:a16="http://schemas.microsoft.com/office/drawing/2014/main" id="{879BD35D-65D7-03BA-E258-27E80B40E200}"/>
              </a:ext>
            </a:extLst>
          </p:cNvPr>
          <p:cNvSpPr txBox="1"/>
          <p:nvPr/>
        </p:nvSpPr>
        <p:spPr>
          <a:xfrm>
            <a:off x="179890" y="148588"/>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Strings </a:t>
            </a:r>
          </a:p>
        </p:txBody>
      </p:sp>
      <p:sp>
        <p:nvSpPr>
          <p:cNvPr id="4" name="TextBox 3">
            <a:extLst>
              <a:ext uri="{FF2B5EF4-FFF2-40B4-BE49-F238E27FC236}">
                <a16:creationId xmlns:a16="http://schemas.microsoft.com/office/drawing/2014/main" id="{464FAB6B-EA21-F3B7-B058-0033C2DF0BBC}"/>
              </a:ext>
            </a:extLst>
          </p:cNvPr>
          <p:cNvSpPr txBox="1"/>
          <p:nvPr/>
        </p:nvSpPr>
        <p:spPr>
          <a:xfrm>
            <a:off x="1565186" y="885133"/>
            <a:ext cx="7519052" cy="4109779"/>
          </a:xfrm>
          <a:prstGeom prst="rect">
            <a:avLst/>
          </a:prstGeom>
          <a:noFill/>
        </p:spPr>
        <p:txBody>
          <a:bodyPr wrap="square">
            <a:spAutoFit/>
          </a:bodyPr>
          <a:lstStyle/>
          <a:p>
            <a:pPr>
              <a:lnSpc>
                <a:spcPct val="150000"/>
              </a:lnSpc>
            </a:pPr>
            <a:r>
              <a:rPr lang="en-IN" sz="1600" dirty="0">
                <a:latin typeface="Trebuchet MS" panose="020B0603020202020204" pitchFamily="34" charset="0"/>
              </a:rPr>
              <a:t>#include &lt;iostream&gt;</a:t>
            </a:r>
          </a:p>
          <a:p>
            <a:pPr>
              <a:lnSpc>
                <a:spcPct val="150000"/>
              </a:lnSpc>
            </a:pPr>
            <a:r>
              <a:rPr lang="en-IN" sz="1600" dirty="0">
                <a:latin typeface="Trebuchet MS" panose="020B0603020202020204" pitchFamily="34" charset="0"/>
              </a:rPr>
              <a:t>using namespace std;</a:t>
            </a:r>
          </a:p>
          <a:p>
            <a:pPr>
              <a:lnSpc>
                <a:spcPct val="150000"/>
              </a:lnSpc>
            </a:pPr>
            <a:r>
              <a:rPr lang="en-IN" sz="1600" dirty="0">
                <a:latin typeface="Trebuchet MS" panose="020B0603020202020204" pitchFamily="34" charset="0"/>
              </a:rPr>
              <a:t>int main()</a:t>
            </a:r>
          </a:p>
          <a:p>
            <a:pPr>
              <a:lnSpc>
                <a:spcPct val="150000"/>
              </a:lnSpc>
            </a:pPr>
            <a:r>
              <a:rPr lang="en-IN" sz="1600" dirty="0">
                <a:latin typeface="Trebuchet MS" panose="020B0603020202020204" pitchFamily="34" charset="0"/>
              </a:rPr>
              <a:t>{</a:t>
            </a:r>
          </a:p>
          <a:p>
            <a:pPr>
              <a:lnSpc>
                <a:spcPct val="150000"/>
              </a:lnSpc>
            </a:pPr>
            <a:r>
              <a:rPr lang="en-IN" sz="1600" dirty="0">
                <a:latin typeface="Trebuchet MS" panose="020B0603020202020204" pitchFamily="34" charset="0"/>
              </a:rPr>
              <a:t>    char name[6] = {'h', 'e', 'l', 'l', 'o', '\0’}; 	</a:t>
            </a:r>
            <a:r>
              <a:rPr lang="en-IN" sz="1600" dirty="0">
                <a:solidFill>
                  <a:srgbClr val="FF0000"/>
                </a:solidFill>
                <a:latin typeface="Trebuchet MS" panose="020B0603020202020204" pitchFamily="34" charset="0"/>
              </a:rPr>
              <a:t>// Using char datatype </a:t>
            </a:r>
          </a:p>
          <a:p>
            <a:pPr>
              <a:lnSpc>
                <a:spcPct val="150000"/>
              </a:lnSpc>
            </a:pPr>
            <a:r>
              <a:rPr lang="en-IN" sz="1600" dirty="0">
                <a:solidFill>
                  <a:srgbClr val="FF0000"/>
                </a:solidFill>
                <a:latin typeface="Trebuchet MS" panose="020B0603020202020204" pitchFamily="34" charset="0"/>
              </a:rPr>
              <a:t>    </a:t>
            </a:r>
            <a:r>
              <a:rPr lang="en-IN" sz="1600" dirty="0">
                <a:latin typeface="Trebuchet MS" panose="020B0603020202020204" pitchFamily="34" charset="0"/>
              </a:rPr>
              <a:t>char str[10]; 				</a:t>
            </a:r>
            <a:r>
              <a:rPr lang="en-IN" sz="1600" dirty="0">
                <a:solidFill>
                  <a:srgbClr val="FF0000"/>
                </a:solidFill>
                <a:latin typeface="Trebuchet MS" panose="020B0603020202020204" pitchFamily="34" charset="0"/>
              </a:rPr>
              <a:t>// Using char datatype </a:t>
            </a:r>
            <a:endParaRPr lang="en-IN" sz="1600" dirty="0">
              <a:latin typeface="Trebuchet MS" panose="020B0603020202020204" pitchFamily="34" charset="0"/>
            </a:endParaRPr>
          </a:p>
          <a:p>
            <a:pPr>
              <a:lnSpc>
                <a:spcPct val="150000"/>
              </a:lnSpc>
            </a:pPr>
            <a:r>
              <a:rPr lang="en-IN" sz="1600" dirty="0">
                <a:latin typeface="Trebuchet MS" panose="020B0603020202020204" pitchFamily="34" charset="0"/>
              </a:rPr>
              <a:t>    string name1="HELLO"; 			</a:t>
            </a:r>
            <a:r>
              <a:rPr lang="en-IN" sz="1600" dirty="0">
                <a:solidFill>
                  <a:srgbClr val="FF0000"/>
                </a:solidFill>
                <a:latin typeface="Trebuchet MS" panose="020B0603020202020204" pitchFamily="34" charset="0"/>
              </a:rPr>
              <a:t>// Using String datatype </a:t>
            </a:r>
          </a:p>
          <a:p>
            <a:pPr>
              <a:lnSpc>
                <a:spcPct val="150000"/>
              </a:lnSpc>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&lt;&lt;name;</a:t>
            </a:r>
          </a:p>
          <a:p>
            <a:pPr>
              <a:lnSpc>
                <a:spcPct val="150000"/>
              </a:lnSpc>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&lt;&lt;name1;</a:t>
            </a:r>
          </a:p>
          <a:p>
            <a:pPr>
              <a:lnSpc>
                <a:spcPct val="150000"/>
              </a:lnSpc>
            </a:pPr>
            <a:r>
              <a:rPr lang="en-IN" sz="1600" dirty="0">
                <a:latin typeface="Trebuchet MS" panose="020B0603020202020204" pitchFamily="34" charset="0"/>
              </a:rPr>
              <a:t>    return 0;</a:t>
            </a:r>
          </a:p>
          <a:p>
            <a:pPr>
              <a:lnSpc>
                <a:spcPct val="150000"/>
              </a:lnSpc>
            </a:pPr>
            <a:r>
              <a:rPr lang="en-IN" sz="1600" dirty="0">
                <a:latin typeface="Trebuchet MS" panose="020B0603020202020204" pitchFamily="34" charset="0"/>
              </a:rPr>
              <a:t>}</a:t>
            </a:r>
          </a:p>
        </p:txBody>
      </p:sp>
      <p:sp>
        <p:nvSpPr>
          <p:cNvPr id="6" name="TextBox 5">
            <a:extLst>
              <a:ext uri="{FF2B5EF4-FFF2-40B4-BE49-F238E27FC236}">
                <a16:creationId xmlns:a16="http://schemas.microsoft.com/office/drawing/2014/main" id="{01E986CB-F63B-3A69-A140-D7459FD98C2A}"/>
              </a:ext>
            </a:extLst>
          </p:cNvPr>
          <p:cNvSpPr txBox="1"/>
          <p:nvPr/>
        </p:nvSpPr>
        <p:spPr>
          <a:xfrm>
            <a:off x="244283" y="758721"/>
            <a:ext cx="4640316" cy="400110"/>
          </a:xfrm>
          <a:prstGeom prst="rect">
            <a:avLst/>
          </a:prstGeom>
          <a:noFill/>
        </p:spPr>
        <p:txBody>
          <a:bodyPr wrap="square">
            <a:spAutoFit/>
          </a:bodyPr>
          <a:lstStyle/>
          <a:p>
            <a:r>
              <a:rPr lang="en-IN" sz="2000" b="1" dirty="0">
                <a:solidFill>
                  <a:srgbClr val="0070C0"/>
                </a:solidFill>
                <a:latin typeface="Trebuchet MS" panose="020B0603020202020204" pitchFamily="34" charset="0"/>
              </a:rPr>
              <a:t>Example:</a:t>
            </a:r>
          </a:p>
        </p:txBody>
      </p:sp>
    </p:spTree>
    <p:extLst>
      <p:ext uri="{BB962C8B-B14F-4D97-AF65-F5344CB8AC3E}">
        <p14:creationId xmlns:p14="http://schemas.microsoft.com/office/powerpoint/2010/main" val="14619670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285125" y="127567"/>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5" name="TextBox 4">
            <a:extLst>
              <a:ext uri="{FF2B5EF4-FFF2-40B4-BE49-F238E27FC236}">
                <a16:creationId xmlns:a16="http://schemas.microsoft.com/office/drawing/2014/main" id="{79401298-F069-FCF6-1A8F-727DC9770554}"/>
              </a:ext>
            </a:extLst>
          </p:cNvPr>
          <p:cNvSpPr txBox="1"/>
          <p:nvPr/>
        </p:nvSpPr>
        <p:spPr>
          <a:xfrm>
            <a:off x="285125" y="934747"/>
            <a:ext cx="8491013" cy="37809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An operator is a </a:t>
            </a:r>
            <a:r>
              <a:rPr lang="en-IN" sz="1800" b="0" i="0" dirty="0">
                <a:solidFill>
                  <a:srgbClr val="FF0000"/>
                </a:solidFill>
                <a:effectLst/>
                <a:latin typeface="Trebuchet MS" panose="020B0603020202020204" pitchFamily="34" charset="0"/>
              </a:rPr>
              <a:t>symbol</a:t>
            </a:r>
            <a:r>
              <a:rPr lang="en-IN" sz="1800" b="0" i="0" dirty="0">
                <a:solidFill>
                  <a:srgbClr val="000000"/>
                </a:solidFill>
                <a:effectLst/>
                <a:latin typeface="Trebuchet MS" panose="020B0603020202020204" pitchFamily="34" charset="0"/>
              </a:rPr>
              <a:t> that tells the compiler to </a:t>
            </a:r>
            <a:r>
              <a:rPr lang="en-IN" sz="1800" b="1" i="0" dirty="0">
                <a:solidFill>
                  <a:srgbClr val="000000"/>
                </a:solidFill>
                <a:effectLst/>
                <a:latin typeface="Trebuchet MS" panose="020B0603020202020204" pitchFamily="34" charset="0"/>
              </a:rPr>
              <a:t>perform specific mathematical or logical manipulations</a:t>
            </a:r>
            <a:r>
              <a:rPr lang="en-IN" sz="1800" b="0" i="0" dirty="0">
                <a:solidFill>
                  <a:srgbClr val="000000"/>
                </a:solidFill>
                <a:effectLst/>
                <a:latin typeface="Trebuchet MS" panose="020B0603020202020204" pitchFamily="34" charset="0"/>
              </a:rPr>
              <a:t>. </a:t>
            </a:r>
          </a:p>
          <a:p>
            <a:pPr marL="285750" indent="-285750">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C++ is rich in built-in operators and provide the following types of operators.</a:t>
            </a:r>
          </a:p>
          <a:p>
            <a:pPr marL="950913" lvl="3" indent="-342900">
              <a:lnSpc>
                <a:spcPct val="150000"/>
              </a:lnSpc>
              <a:buFont typeface="+mj-lt"/>
              <a:buAutoNum type="arabicPeriod"/>
            </a:pPr>
            <a:r>
              <a:rPr lang="en-IN" sz="1800" b="0" i="0" dirty="0">
                <a:solidFill>
                  <a:srgbClr val="000000"/>
                </a:solidFill>
                <a:effectLst/>
                <a:latin typeface="Trebuchet MS" panose="020B0603020202020204" pitchFamily="34" charset="0"/>
              </a:rPr>
              <a:t>Arithmetic Operators</a:t>
            </a:r>
          </a:p>
          <a:p>
            <a:pPr marL="950913" lvl="3" indent="-342900">
              <a:lnSpc>
                <a:spcPct val="150000"/>
              </a:lnSpc>
              <a:buFont typeface="+mj-lt"/>
              <a:buAutoNum type="arabicPeriod"/>
            </a:pPr>
            <a:r>
              <a:rPr lang="en-IN" sz="1800" b="0" i="0" dirty="0">
                <a:solidFill>
                  <a:srgbClr val="000000"/>
                </a:solidFill>
                <a:effectLst/>
                <a:latin typeface="Trebuchet MS" panose="020B0603020202020204" pitchFamily="34" charset="0"/>
              </a:rPr>
              <a:t>Relational Operators</a:t>
            </a:r>
          </a:p>
          <a:p>
            <a:pPr marL="950913" lvl="3" indent="-342900">
              <a:lnSpc>
                <a:spcPct val="150000"/>
              </a:lnSpc>
              <a:buFont typeface="+mj-lt"/>
              <a:buAutoNum type="arabicPeriod"/>
            </a:pPr>
            <a:r>
              <a:rPr lang="en-IN" sz="1800" b="0" i="0" dirty="0">
                <a:solidFill>
                  <a:srgbClr val="000000"/>
                </a:solidFill>
                <a:effectLst/>
                <a:latin typeface="Trebuchet MS" panose="020B0603020202020204" pitchFamily="34" charset="0"/>
              </a:rPr>
              <a:t>Logical Operators</a:t>
            </a:r>
          </a:p>
          <a:p>
            <a:pPr marL="950913" lvl="3" indent="-342900">
              <a:lnSpc>
                <a:spcPct val="150000"/>
              </a:lnSpc>
              <a:buFont typeface="+mj-lt"/>
              <a:buAutoNum type="arabicPeriod"/>
            </a:pPr>
            <a:r>
              <a:rPr lang="en-IN" sz="1800" b="0" i="0" dirty="0">
                <a:solidFill>
                  <a:srgbClr val="000000"/>
                </a:solidFill>
                <a:effectLst/>
                <a:latin typeface="Trebuchet MS" panose="020B0603020202020204" pitchFamily="34" charset="0"/>
              </a:rPr>
              <a:t>Bitwise Operators</a:t>
            </a:r>
          </a:p>
          <a:p>
            <a:pPr marL="950913" lvl="3" indent="-342900">
              <a:lnSpc>
                <a:spcPct val="150000"/>
              </a:lnSpc>
              <a:buFont typeface="+mj-lt"/>
              <a:buAutoNum type="arabicPeriod"/>
            </a:pPr>
            <a:r>
              <a:rPr lang="en-IN" sz="1800" b="0" i="0" dirty="0">
                <a:solidFill>
                  <a:srgbClr val="000000"/>
                </a:solidFill>
                <a:effectLst/>
                <a:latin typeface="Trebuchet MS" panose="020B0603020202020204" pitchFamily="34" charset="0"/>
              </a:rPr>
              <a:t>Assignment Operators</a:t>
            </a:r>
          </a:p>
          <a:p>
            <a:pPr marL="950913" lvl="3" indent="-342900">
              <a:lnSpc>
                <a:spcPct val="150000"/>
              </a:lnSpc>
              <a:buFont typeface="+mj-lt"/>
              <a:buAutoNum type="arabicPeriod"/>
            </a:pPr>
            <a:r>
              <a:rPr lang="en-IN" sz="1800" b="0" i="0" dirty="0">
                <a:solidFill>
                  <a:srgbClr val="000000"/>
                </a:solidFill>
                <a:effectLst/>
                <a:latin typeface="Trebuchet MS" panose="020B0603020202020204" pitchFamily="34" charset="0"/>
              </a:rPr>
              <a:t>Special Operators</a:t>
            </a:r>
            <a:endParaRPr lang="en-IN" b="0" i="0" dirty="0">
              <a:solidFill>
                <a:srgbClr val="000000"/>
              </a:solidFill>
              <a:effectLst/>
              <a:latin typeface="Trebuchet MS" panose="020B0603020202020204" pitchFamily="34" charset="0"/>
            </a:endParaRPr>
          </a:p>
        </p:txBody>
      </p:sp>
    </p:spTree>
    <p:extLst>
      <p:ext uri="{BB962C8B-B14F-4D97-AF65-F5344CB8AC3E}">
        <p14:creationId xmlns:p14="http://schemas.microsoft.com/office/powerpoint/2010/main" val="6762645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285125" y="127567"/>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2" name="object 3">
            <a:extLst>
              <a:ext uri="{FF2B5EF4-FFF2-40B4-BE49-F238E27FC236}">
                <a16:creationId xmlns:a16="http://schemas.microsoft.com/office/drawing/2014/main" id="{FE35C15A-F104-659D-A385-92A49A5E31A7}"/>
              </a:ext>
            </a:extLst>
          </p:cNvPr>
          <p:cNvSpPr txBox="1"/>
          <p:nvPr/>
        </p:nvSpPr>
        <p:spPr>
          <a:xfrm>
            <a:off x="285125" y="773604"/>
            <a:ext cx="3317240" cy="320601"/>
          </a:xfrm>
          <a:prstGeom prst="rect">
            <a:avLst/>
          </a:prstGeom>
        </p:spPr>
        <p:txBody>
          <a:bodyPr vert="horz" wrap="square" lIns="0" tIns="12700" rIns="0" bIns="0" rtlCol="0">
            <a:spAutoFit/>
          </a:bodyPr>
          <a:lstStyle/>
          <a:p>
            <a:pPr marL="12700">
              <a:spcBef>
                <a:spcPts val="100"/>
              </a:spcBef>
              <a:buClrTx/>
              <a:buFontTx/>
              <a:buNone/>
            </a:pPr>
            <a:r>
              <a:rPr sz="2000" b="1" kern="1200" dirty="0">
                <a:solidFill>
                  <a:srgbClr val="0070C0"/>
                </a:solidFill>
                <a:latin typeface="Trebuchet MS" panose="020B0603020202020204" pitchFamily="34" charset="0"/>
                <a:ea typeface="+mn-ea"/>
                <a:cs typeface="Times New Roman"/>
              </a:rPr>
              <a:t>Arithmetic</a:t>
            </a:r>
            <a:r>
              <a:rPr sz="2000" b="1" kern="1200" spc="-65" dirty="0">
                <a:solidFill>
                  <a:srgbClr val="0070C0"/>
                </a:solidFill>
                <a:latin typeface="Trebuchet MS" panose="020B0603020202020204" pitchFamily="34" charset="0"/>
                <a:ea typeface="+mn-ea"/>
                <a:cs typeface="Times New Roman"/>
              </a:rPr>
              <a:t> </a:t>
            </a:r>
            <a:r>
              <a:rPr sz="2000" b="1" kern="1200" dirty="0">
                <a:solidFill>
                  <a:srgbClr val="0070C0"/>
                </a:solidFill>
                <a:latin typeface="Trebuchet MS" panose="020B0603020202020204" pitchFamily="34" charset="0"/>
                <a:ea typeface="+mn-ea"/>
                <a:cs typeface="Times New Roman"/>
              </a:rPr>
              <a:t>Operators</a:t>
            </a:r>
            <a:endParaRPr sz="2400" kern="1200" dirty="0">
              <a:solidFill>
                <a:srgbClr val="0070C0"/>
              </a:solidFill>
              <a:latin typeface="Trebuchet MS" panose="020B0603020202020204" pitchFamily="34" charset="0"/>
              <a:ea typeface="+mn-ea"/>
              <a:cs typeface="Times New Roman"/>
            </a:endParaRPr>
          </a:p>
        </p:txBody>
      </p:sp>
      <p:graphicFrame>
        <p:nvGraphicFramePr>
          <p:cNvPr id="4" name="object 4">
            <a:extLst>
              <a:ext uri="{FF2B5EF4-FFF2-40B4-BE49-F238E27FC236}">
                <a16:creationId xmlns:a16="http://schemas.microsoft.com/office/drawing/2014/main" id="{36C5882B-1A9F-4B9B-51B9-0B0744D1B235}"/>
              </a:ext>
            </a:extLst>
          </p:cNvPr>
          <p:cNvGraphicFramePr>
            <a:graphicFrameLocks noGrp="1"/>
          </p:cNvGraphicFramePr>
          <p:nvPr>
            <p:extLst>
              <p:ext uri="{D42A27DB-BD31-4B8C-83A1-F6EECF244321}">
                <p14:modId xmlns:p14="http://schemas.microsoft.com/office/powerpoint/2010/main" val="3400928259"/>
              </p:ext>
            </p:extLst>
          </p:nvPr>
        </p:nvGraphicFramePr>
        <p:xfrm>
          <a:off x="285125" y="1217022"/>
          <a:ext cx="8154683" cy="3623507"/>
        </p:xfrm>
        <a:graphic>
          <a:graphicData uri="http://schemas.openxmlformats.org/drawingml/2006/table">
            <a:tbl>
              <a:tblPr firstRow="1" bandRow="1"/>
              <a:tblGrid>
                <a:gridCol w="1241370">
                  <a:extLst>
                    <a:ext uri="{9D8B030D-6E8A-4147-A177-3AD203B41FA5}">
                      <a16:colId xmlns:a16="http://schemas.microsoft.com/office/drawing/2014/main" val="20000"/>
                    </a:ext>
                  </a:extLst>
                </a:gridCol>
                <a:gridCol w="1562521">
                  <a:extLst>
                    <a:ext uri="{9D8B030D-6E8A-4147-A177-3AD203B41FA5}">
                      <a16:colId xmlns:a16="http://schemas.microsoft.com/office/drawing/2014/main" val="20001"/>
                    </a:ext>
                  </a:extLst>
                </a:gridCol>
                <a:gridCol w="4147989">
                  <a:extLst>
                    <a:ext uri="{9D8B030D-6E8A-4147-A177-3AD203B41FA5}">
                      <a16:colId xmlns:a16="http://schemas.microsoft.com/office/drawing/2014/main" val="20002"/>
                    </a:ext>
                  </a:extLst>
                </a:gridCol>
                <a:gridCol w="1202803">
                  <a:extLst>
                    <a:ext uri="{9D8B030D-6E8A-4147-A177-3AD203B41FA5}">
                      <a16:colId xmlns:a16="http://schemas.microsoft.com/office/drawing/2014/main" val="20003"/>
                    </a:ext>
                  </a:extLst>
                </a:gridCol>
              </a:tblGrid>
              <a:tr h="28231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5244" algn="ctr">
                        <a:lnSpc>
                          <a:spcPct val="100000"/>
                        </a:lnSpc>
                        <a:spcBef>
                          <a:spcPts val="375"/>
                        </a:spcBef>
                      </a:pPr>
                      <a:r>
                        <a:rPr sz="1400" b="1" spc="-5" dirty="0">
                          <a:latin typeface="Trebuchet MS" panose="020B0603020202020204" pitchFamily="34" charset="0"/>
                          <a:cs typeface="Corbel"/>
                        </a:rPr>
                        <a:t>Operator</a:t>
                      </a:r>
                      <a:endParaRPr sz="1400" dirty="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75"/>
                        </a:spcBef>
                      </a:pPr>
                      <a:r>
                        <a:rPr sz="1400" b="1" spc="-5" dirty="0">
                          <a:latin typeface="Trebuchet MS" panose="020B0603020202020204" pitchFamily="34" charset="0"/>
                          <a:cs typeface="Corbel"/>
                        </a:rPr>
                        <a:t>Name</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270" algn="ctr">
                        <a:lnSpc>
                          <a:spcPct val="100000"/>
                        </a:lnSpc>
                        <a:spcBef>
                          <a:spcPts val="375"/>
                        </a:spcBef>
                      </a:pPr>
                      <a:r>
                        <a:rPr sz="1400" b="1" dirty="0">
                          <a:latin typeface="Trebuchet MS" panose="020B0603020202020204" pitchFamily="34" charset="0"/>
                          <a:cs typeface="Corbel"/>
                        </a:rPr>
                        <a:t>Description</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635" algn="ctr">
                        <a:lnSpc>
                          <a:spcPct val="100000"/>
                        </a:lnSpc>
                        <a:spcBef>
                          <a:spcPts val="375"/>
                        </a:spcBef>
                      </a:pPr>
                      <a:r>
                        <a:rPr sz="1400" b="1" dirty="0">
                          <a:latin typeface="Trebuchet MS" panose="020B0603020202020204" pitchFamily="34" charset="0"/>
                          <a:cs typeface="Corbel"/>
                        </a:rPr>
                        <a:t>Example</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7733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6515" algn="ctr">
                        <a:lnSpc>
                          <a:spcPct val="100000"/>
                        </a:lnSpc>
                        <a:spcBef>
                          <a:spcPts val="375"/>
                        </a:spcBef>
                      </a:pPr>
                      <a:r>
                        <a:rPr sz="1400" dirty="0">
                          <a:latin typeface="Trebuchet MS" panose="020B0603020202020204" pitchFamily="34" charset="0"/>
                          <a:cs typeface="Corbel"/>
                        </a:rPr>
                        <a:t>+</a:t>
                      </a: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75"/>
                        </a:spcBef>
                      </a:pPr>
                      <a:r>
                        <a:rPr sz="1400" spc="-5" dirty="0">
                          <a:latin typeface="Trebuchet MS" panose="020B0603020202020204" pitchFamily="34" charset="0"/>
                          <a:cs typeface="Corbel"/>
                        </a:rPr>
                        <a:t>Addition</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957580">
                        <a:lnSpc>
                          <a:spcPct val="100000"/>
                        </a:lnSpc>
                        <a:spcBef>
                          <a:spcPts val="375"/>
                        </a:spcBef>
                      </a:pPr>
                      <a:r>
                        <a:rPr sz="1400" spc="-5" dirty="0">
                          <a:latin typeface="Trebuchet MS" panose="020B0603020202020204" pitchFamily="34" charset="0"/>
                          <a:cs typeface="Corbel"/>
                        </a:rPr>
                        <a:t>Adds</a:t>
                      </a:r>
                      <a:r>
                        <a:rPr sz="1400" spc="-25" dirty="0">
                          <a:latin typeface="Trebuchet MS" panose="020B0603020202020204" pitchFamily="34" charset="0"/>
                          <a:cs typeface="Corbel"/>
                        </a:rPr>
                        <a:t> </a:t>
                      </a:r>
                      <a:r>
                        <a:rPr sz="1400" dirty="0">
                          <a:latin typeface="Trebuchet MS" panose="020B0603020202020204" pitchFamily="34" charset="0"/>
                          <a:cs typeface="Corbel"/>
                        </a:rPr>
                        <a:t>together</a:t>
                      </a:r>
                      <a:r>
                        <a:rPr sz="1400" spc="-20" dirty="0">
                          <a:latin typeface="Trebuchet MS" panose="020B0603020202020204" pitchFamily="34" charset="0"/>
                          <a:cs typeface="Corbel"/>
                        </a:rPr>
                        <a:t> </a:t>
                      </a:r>
                      <a:r>
                        <a:rPr sz="1400" spc="-5" dirty="0">
                          <a:latin typeface="Trebuchet MS" panose="020B0603020202020204" pitchFamily="34" charset="0"/>
                          <a:cs typeface="Corbel"/>
                        </a:rPr>
                        <a:t>two</a:t>
                      </a:r>
                      <a:r>
                        <a:rPr sz="1400" spc="-10" dirty="0">
                          <a:latin typeface="Trebuchet MS" panose="020B0603020202020204" pitchFamily="34" charset="0"/>
                          <a:cs typeface="Corbel"/>
                        </a:rPr>
                        <a:t> </a:t>
                      </a:r>
                      <a:r>
                        <a:rPr sz="1400" dirty="0">
                          <a:latin typeface="Trebuchet MS" panose="020B0603020202020204" pitchFamily="34" charset="0"/>
                          <a:cs typeface="Corbel"/>
                        </a:rPr>
                        <a:t>values</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270" algn="ctr">
                        <a:lnSpc>
                          <a:spcPct val="100000"/>
                        </a:lnSpc>
                        <a:spcBef>
                          <a:spcPts val="375"/>
                        </a:spcBef>
                      </a:pPr>
                      <a:r>
                        <a:rPr sz="1400" dirty="0">
                          <a:latin typeface="Trebuchet MS" panose="020B0603020202020204" pitchFamily="34" charset="0"/>
                          <a:cs typeface="Corbel"/>
                        </a:rPr>
                        <a:t>x</a:t>
                      </a:r>
                      <a:r>
                        <a:rPr sz="1400" spc="-25" dirty="0">
                          <a:latin typeface="Trebuchet MS" panose="020B0603020202020204" pitchFamily="34" charset="0"/>
                          <a:cs typeface="Corbel"/>
                        </a:rPr>
                        <a:t> </a:t>
                      </a:r>
                      <a:r>
                        <a:rPr sz="1400" dirty="0">
                          <a:latin typeface="Trebuchet MS" panose="020B0603020202020204" pitchFamily="34" charset="0"/>
                          <a:cs typeface="Corbel"/>
                        </a:rPr>
                        <a:t>+</a:t>
                      </a:r>
                      <a:r>
                        <a:rPr sz="1400" spc="-30" dirty="0">
                          <a:latin typeface="Trebuchet MS" panose="020B0603020202020204" pitchFamily="34" charset="0"/>
                          <a:cs typeface="Corbel"/>
                        </a:rPr>
                        <a:t> </a:t>
                      </a:r>
                      <a:r>
                        <a:rPr sz="1400" dirty="0">
                          <a:latin typeface="Trebuchet MS" panose="020B0603020202020204" pitchFamily="34" charset="0"/>
                          <a:cs typeface="Corbel"/>
                        </a:rPr>
                        <a:t>y</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10001"/>
                  </a:ext>
                </a:extLst>
              </a:tr>
              <a:tr h="47723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7150" algn="ctr">
                        <a:lnSpc>
                          <a:spcPct val="100000"/>
                        </a:lnSpc>
                        <a:spcBef>
                          <a:spcPts val="375"/>
                        </a:spcBef>
                      </a:pPr>
                      <a:r>
                        <a:rPr sz="1400" dirty="0">
                          <a:latin typeface="Trebuchet MS" panose="020B0603020202020204" pitchFamily="34" charset="0"/>
                          <a:cs typeface="Corbel"/>
                        </a:rPr>
                        <a:t>-</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75"/>
                        </a:spcBef>
                      </a:pPr>
                      <a:r>
                        <a:rPr sz="1400" dirty="0">
                          <a:latin typeface="Trebuchet MS" panose="020B0603020202020204" pitchFamily="34" charset="0"/>
                          <a:cs typeface="Corbel"/>
                        </a:rPr>
                        <a:t>Subtraction</a:t>
                      </a: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75"/>
                        </a:spcBef>
                      </a:pPr>
                      <a:r>
                        <a:rPr sz="1400" dirty="0">
                          <a:latin typeface="Trebuchet MS" panose="020B0603020202020204" pitchFamily="34" charset="0"/>
                          <a:cs typeface="Corbel"/>
                        </a:rPr>
                        <a:t>Subtracts</a:t>
                      </a:r>
                      <a:r>
                        <a:rPr sz="1400" spc="-25" dirty="0">
                          <a:latin typeface="Trebuchet MS" panose="020B0603020202020204" pitchFamily="34" charset="0"/>
                          <a:cs typeface="Corbel"/>
                        </a:rPr>
                        <a:t> </a:t>
                      </a:r>
                      <a:r>
                        <a:rPr sz="1400" dirty="0">
                          <a:latin typeface="Trebuchet MS" panose="020B0603020202020204" pitchFamily="34" charset="0"/>
                          <a:cs typeface="Corbel"/>
                        </a:rPr>
                        <a:t>one</a:t>
                      </a:r>
                      <a:r>
                        <a:rPr sz="1400" spc="-10" dirty="0">
                          <a:latin typeface="Trebuchet MS" panose="020B0603020202020204" pitchFamily="34" charset="0"/>
                          <a:cs typeface="Corbel"/>
                        </a:rPr>
                        <a:t> </a:t>
                      </a:r>
                      <a:r>
                        <a:rPr sz="1400" dirty="0">
                          <a:latin typeface="Trebuchet MS" panose="020B0603020202020204" pitchFamily="34" charset="0"/>
                          <a:cs typeface="Corbel"/>
                        </a:rPr>
                        <a:t>value</a:t>
                      </a:r>
                      <a:r>
                        <a:rPr sz="1400" spc="-35" dirty="0">
                          <a:latin typeface="Trebuchet MS" panose="020B0603020202020204" pitchFamily="34" charset="0"/>
                          <a:cs typeface="Corbel"/>
                        </a:rPr>
                        <a:t> </a:t>
                      </a:r>
                      <a:r>
                        <a:rPr sz="1400" dirty="0">
                          <a:latin typeface="Trebuchet MS" panose="020B0603020202020204" pitchFamily="34" charset="0"/>
                          <a:cs typeface="Corbel"/>
                        </a:rPr>
                        <a:t>from</a:t>
                      </a:r>
                      <a:r>
                        <a:rPr sz="1400" spc="-10" dirty="0">
                          <a:latin typeface="Trebuchet MS" panose="020B0603020202020204" pitchFamily="34" charset="0"/>
                          <a:cs typeface="Corbel"/>
                        </a:rPr>
                        <a:t> </a:t>
                      </a:r>
                      <a:r>
                        <a:rPr sz="1400" dirty="0">
                          <a:latin typeface="Trebuchet MS" panose="020B0603020202020204" pitchFamily="34" charset="0"/>
                          <a:cs typeface="Corbel"/>
                        </a:rPr>
                        <a:t>another</a:t>
                      </a: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270" algn="ctr">
                        <a:lnSpc>
                          <a:spcPct val="100000"/>
                        </a:lnSpc>
                        <a:spcBef>
                          <a:spcPts val="375"/>
                        </a:spcBef>
                      </a:pPr>
                      <a:r>
                        <a:rPr sz="1400" dirty="0">
                          <a:latin typeface="Trebuchet MS" panose="020B0603020202020204" pitchFamily="34" charset="0"/>
                          <a:cs typeface="Corbel"/>
                        </a:rPr>
                        <a:t>x</a:t>
                      </a:r>
                      <a:r>
                        <a:rPr sz="1400" spc="-30" dirty="0">
                          <a:latin typeface="Trebuchet MS" panose="020B0603020202020204" pitchFamily="34" charset="0"/>
                          <a:cs typeface="Corbel"/>
                        </a:rPr>
                        <a:t> </a:t>
                      </a:r>
                      <a:r>
                        <a:rPr sz="1400" dirty="0">
                          <a:latin typeface="Trebuchet MS" panose="020B0603020202020204" pitchFamily="34" charset="0"/>
                          <a:cs typeface="Corbel"/>
                        </a:rPr>
                        <a:t>-</a:t>
                      </a:r>
                      <a:r>
                        <a:rPr sz="1400" spc="-35" dirty="0">
                          <a:latin typeface="Trebuchet MS" panose="020B0603020202020204" pitchFamily="34" charset="0"/>
                          <a:cs typeface="Corbel"/>
                        </a:rPr>
                        <a:t> </a:t>
                      </a:r>
                      <a:r>
                        <a:rPr sz="1400" dirty="0">
                          <a:latin typeface="Trebuchet MS" panose="020B0603020202020204" pitchFamily="34" charset="0"/>
                          <a:cs typeface="Corbel"/>
                        </a:rPr>
                        <a:t>y</a:t>
                      </a:r>
                      <a:endParaRPr sz="1400">
                        <a:latin typeface="Trebuchet MS" panose="020B0603020202020204" pitchFamily="34" charset="0"/>
                        <a:cs typeface="Corbel"/>
                      </a:endParaRPr>
                    </a:p>
                  </a:txBody>
                  <a:tcPr marL="0" marR="0" marT="47625"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7733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8419" algn="ctr">
                        <a:lnSpc>
                          <a:spcPct val="100000"/>
                        </a:lnSpc>
                        <a:spcBef>
                          <a:spcPts val="380"/>
                        </a:spcBef>
                      </a:pPr>
                      <a:r>
                        <a:rPr sz="1400" dirty="0">
                          <a:latin typeface="Trebuchet MS" panose="020B0603020202020204" pitchFamily="34" charset="0"/>
                          <a:cs typeface="Corbel"/>
                        </a:rPr>
                        <a:t>*</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80"/>
                        </a:spcBef>
                      </a:pPr>
                      <a:r>
                        <a:rPr sz="1400" dirty="0">
                          <a:latin typeface="Trebuchet MS" panose="020B0603020202020204" pitchFamily="34" charset="0"/>
                          <a:cs typeface="Corbel"/>
                        </a:rPr>
                        <a:t>Multiplication</a:t>
                      </a: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160145">
                        <a:lnSpc>
                          <a:spcPct val="100000"/>
                        </a:lnSpc>
                        <a:spcBef>
                          <a:spcPts val="380"/>
                        </a:spcBef>
                      </a:pPr>
                      <a:r>
                        <a:rPr sz="1400" dirty="0">
                          <a:latin typeface="Trebuchet MS" panose="020B0603020202020204" pitchFamily="34" charset="0"/>
                          <a:cs typeface="Corbel"/>
                        </a:rPr>
                        <a:t>Multiplies</a:t>
                      </a:r>
                      <a:r>
                        <a:rPr sz="1400" spc="-20" dirty="0">
                          <a:latin typeface="Trebuchet MS" panose="020B0603020202020204" pitchFamily="34" charset="0"/>
                          <a:cs typeface="Corbel"/>
                        </a:rPr>
                        <a:t> </a:t>
                      </a:r>
                      <a:r>
                        <a:rPr sz="1400" spc="-5" dirty="0">
                          <a:latin typeface="Trebuchet MS" panose="020B0603020202020204" pitchFamily="34" charset="0"/>
                          <a:cs typeface="Corbel"/>
                        </a:rPr>
                        <a:t>two</a:t>
                      </a:r>
                      <a:r>
                        <a:rPr sz="1400" spc="-15" dirty="0">
                          <a:latin typeface="Trebuchet MS" panose="020B0603020202020204" pitchFamily="34" charset="0"/>
                          <a:cs typeface="Corbel"/>
                        </a:rPr>
                        <a:t> </a:t>
                      </a:r>
                      <a:r>
                        <a:rPr sz="1400" dirty="0">
                          <a:latin typeface="Trebuchet MS" panose="020B0603020202020204" pitchFamily="34" charset="0"/>
                          <a:cs typeface="Corbel"/>
                        </a:rPr>
                        <a:t>values</a:t>
                      </a: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3175" algn="ctr">
                        <a:lnSpc>
                          <a:spcPct val="100000"/>
                        </a:lnSpc>
                        <a:spcBef>
                          <a:spcPts val="380"/>
                        </a:spcBef>
                      </a:pPr>
                      <a:r>
                        <a:rPr sz="1400" dirty="0">
                          <a:latin typeface="Trebuchet MS" panose="020B0603020202020204" pitchFamily="34" charset="0"/>
                          <a:cs typeface="Corbel"/>
                        </a:rPr>
                        <a:t>x</a:t>
                      </a:r>
                      <a:r>
                        <a:rPr sz="1400" spc="-30" dirty="0">
                          <a:latin typeface="Trebuchet MS" panose="020B0603020202020204" pitchFamily="34" charset="0"/>
                          <a:cs typeface="Corbel"/>
                        </a:rPr>
                        <a:t> </a:t>
                      </a:r>
                      <a:r>
                        <a:rPr sz="1400" dirty="0">
                          <a:latin typeface="Trebuchet MS" panose="020B0603020202020204" pitchFamily="34" charset="0"/>
                          <a:cs typeface="Corbel"/>
                        </a:rPr>
                        <a:t>*</a:t>
                      </a:r>
                      <a:r>
                        <a:rPr sz="1400" spc="-35" dirty="0">
                          <a:latin typeface="Trebuchet MS" panose="020B0603020202020204" pitchFamily="34" charset="0"/>
                          <a:cs typeface="Corbel"/>
                        </a:rPr>
                        <a:t> </a:t>
                      </a:r>
                      <a:r>
                        <a:rPr sz="1400" dirty="0">
                          <a:latin typeface="Trebuchet MS" panose="020B0603020202020204" pitchFamily="34" charset="0"/>
                          <a:cs typeface="Corbel"/>
                        </a:rPr>
                        <a:t>y</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10003"/>
                  </a:ext>
                </a:extLst>
              </a:tr>
              <a:tr h="47733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6515" algn="ctr">
                        <a:lnSpc>
                          <a:spcPct val="100000"/>
                        </a:lnSpc>
                        <a:spcBef>
                          <a:spcPts val="380"/>
                        </a:spcBef>
                      </a:pPr>
                      <a:r>
                        <a:rPr sz="1400" dirty="0">
                          <a:latin typeface="Trebuchet MS" panose="020B0603020202020204" pitchFamily="34" charset="0"/>
                          <a:cs typeface="Corbel"/>
                        </a:rPr>
                        <a:t>/</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80"/>
                        </a:spcBef>
                      </a:pPr>
                      <a:r>
                        <a:rPr sz="1400" dirty="0">
                          <a:latin typeface="Trebuchet MS" panose="020B0603020202020204" pitchFamily="34" charset="0"/>
                          <a:cs typeface="Corbel"/>
                        </a:rPr>
                        <a:t>Division</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80"/>
                        </a:spcBef>
                      </a:pPr>
                      <a:r>
                        <a:rPr sz="1400" dirty="0">
                          <a:latin typeface="Trebuchet MS" panose="020B0603020202020204" pitchFamily="34" charset="0"/>
                          <a:cs typeface="Corbel"/>
                        </a:rPr>
                        <a:t>Divides</a:t>
                      </a:r>
                      <a:r>
                        <a:rPr sz="1400" spc="-10" dirty="0">
                          <a:latin typeface="Trebuchet MS" panose="020B0603020202020204" pitchFamily="34" charset="0"/>
                          <a:cs typeface="Corbel"/>
                        </a:rPr>
                        <a:t> </a:t>
                      </a:r>
                      <a:r>
                        <a:rPr sz="1400" spc="-5" dirty="0">
                          <a:latin typeface="Trebuchet MS" panose="020B0603020202020204" pitchFamily="34" charset="0"/>
                          <a:cs typeface="Corbel"/>
                        </a:rPr>
                        <a:t>one</a:t>
                      </a:r>
                      <a:r>
                        <a:rPr sz="1400" spc="-15" dirty="0">
                          <a:latin typeface="Trebuchet MS" panose="020B0603020202020204" pitchFamily="34" charset="0"/>
                          <a:cs typeface="Corbel"/>
                        </a:rPr>
                        <a:t> </a:t>
                      </a:r>
                      <a:r>
                        <a:rPr sz="1400" dirty="0">
                          <a:latin typeface="Trebuchet MS" panose="020B0603020202020204" pitchFamily="34" charset="0"/>
                          <a:cs typeface="Corbel"/>
                        </a:rPr>
                        <a:t>value</a:t>
                      </a:r>
                      <a:r>
                        <a:rPr sz="1400" spc="-20" dirty="0">
                          <a:latin typeface="Trebuchet MS" panose="020B0603020202020204" pitchFamily="34" charset="0"/>
                          <a:cs typeface="Corbel"/>
                        </a:rPr>
                        <a:t> </a:t>
                      </a:r>
                      <a:r>
                        <a:rPr sz="1400" dirty="0">
                          <a:latin typeface="Trebuchet MS" panose="020B0603020202020204" pitchFamily="34" charset="0"/>
                          <a:cs typeface="Corbel"/>
                        </a:rPr>
                        <a:t>by</a:t>
                      </a:r>
                      <a:r>
                        <a:rPr sz="1400" spc="-20" dirty="0">
                          <a:latin typeface="Trebuchet MS" panose="020B0603020202020204" pitchFamily="34" charset="0"/>
                          <a:cs typeface="Corbel"/>
                        </a:rPr>
                        <a:t> </a:t>
                      </a:r>
                      <a:r>
                        <a:rPr sz="1400" dirty="0">
                          <a:latin typeface="Trebuchet MS" panose="020B0603020202020204" pitchFamily="34" charset="0"/>
                          <a:cs typeface="Corbel"/>
                        </a:rPr>
                        <a:t>another</a:t>
                      </a: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3175" algn="ctr">
                        <a:lnSpc>
                          <a:spcPct val="100000"/>
                        </a:lnSpc>
                        <a:spcBef>
                          <a:spcPts val="380"/>
                        </a:spcBef>
                      </a:pPr>
                      <a:r>
                        <a:rPr sz="1400" dirty="0">
                          <a:latin typeface="Trebuchet MS" panose="020B0603020202020204" pitchFamily="34" charset="0"/>
                          <a:cs typeface="Corbel"/>
                        </a:rPr>
                        <a:t>x</a:t>
                      </a:r>
                      <a:r>
                        <a:rPr sz="1400" spc="-30" dirty="0">
                          <a:latin typeface="Trebuchet MS" panose="020B0603020202020204" pitchFamily="34" charset="0"/>
                          <a:cs typeface="Corbel"/>
                        </a:rPr>
                        <a:t> </a:t>
                      </a:r>
                      <a:r>
                        <a:rPr sz="1400" dirty="0">
                          <a:latin typeface="Trebuchet MS" panose="020B0603020202020204" pitchFamily="34" charset="0"/>
                          <a:cs typeface="Corbel"/>
                        </a:rPr>
                        <a:t>/</a:t>
                      </a:r>
                      <a:r>
                        <a:rPr sz="1400" spc="-45" dirty="0">
                          <a:latin typeface="Trebuchet MS" panose="020B0603020202020204" pitchFamily="34" charset="0"/>
                          <a:cs typeface="Corbel"/>
                        </a:rPr>
                        <a:t> </a:t>
                      </a:r>
                      <a:r>
                        <a:rPr sz="1400" dirty="0">
                          <a:latin typeface="Trebuchet MS" panose="020B0603020202020204" pitchFamily="34" charset="0"/>
                          <a:cs typeface="Corbel"/>
                        </a:rPr>
                        <a:t>y</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47733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8419" algn="ctr">
                        <a:lnSpc>
                          <a:spcPct val="100000"/>
                        </a:lnSpc>
                        <a:spcBef>
                          <a:spcPts val="380"/>
                        </a:spcBef>
                      </a:pPr>
                      <a:r>
                        <a:rPr sz="1400" dirty="0">
                          <a:latin typeface="Trebuchet MS" panose="020B0603020202020204" pitchFamily="34" charset="0"/>
                          <a:cs typeface="Corbel"/>
                        </a:rPr>
                        <a:t>%</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635" algn="ctr">
                        <a:lnSpc>
                          <a:spcPct val="100000"/>
                        </a:lnSpc>
                        <a:spcBef>
                          <a:spcPts val="380"/>
                        </a:spcBef>
                      </a:pPr>
                      <a:r>
                        <a:rPr sz="1400" dirty="0">
                          <a:latin typeface="Trebuchet MS" panose="020B0603020202020204" pitchFamily="34" charset="0"/>
                          <a:cs typeface="Corbel"/>
                        </a:rPr>
                        <a:t>Modulus</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270" algn="ctr">
                        <a:lnSpc>
                          <a:spcPct val="100000"/>
                        </a:lnSpc>
                        <a:spcBef>
                          <a:spcPts val="380"/>
                        </a:spcBef>
                      </a:pPr>
                      <a:r>
                        <a:rPr sz="1400" spc="-5" dirty="0">
                          <a:latin typeface="Trebuchet MS" panose="020B0603020202020204" pitchFamily="34" charset="0"/>
                          <a:cs typeface="Corbel"/>
                        </a:rPr>
                        <a:t>Returns</a:t>
                      </a:r>
                      <a:r>
                        <a:rPr sz="1400" spc="-25" dirty="0">
                          <a:latin typeface="Trebuchet MS" panose="020B0603020202020204" pitchFamily="34" charset="0"/>
                          <a:cs typeface="Corbel"/>
                        </a:rPr>
                        <a:t> </a:t>
                      </a:r>
                      <a:r>
                        <a:rPr sz="1400" spc="-5" dirty="0">
                          <a:latin typeface="Trebuchet MS" panose="020B0603020202020204" pitchFamily="34" charset="0"/>
                          <a:cs typeface="Corbel"/>
                        </a:rPr>
                        <a:t>the</a:t>
                      </a:r>
                      <a:r>
                        <a:rPr sz="1400" spc="-20" dirty="0">
                          <a:latin typeface="Trebuchet MS" panose="020B0603020202020204" pitchFamily="34" charset="0"/>
                          <a:cs typeface="Corbel"/>
                        </a:rPr>
                        <a:t> </a:t>
                      </a:r>
                      <a:r>
                        <a:rPr sz="1400" dirty="0">
                          <a:latin typeface="Trebuchet MS" panose="020B0603020202020204" pitchFamily="34" charset="0"/>
                          <a:cs typeface="Corbel"/>
                        </a:rPr>
                        <a:t>division</a:t>
                      </a:r>
                      <a:r>
                        <a:rPr sz="1400" spc="-5" dirty="0">
                          <a:latin typeface="Trebuchet MS" panose="020B0603020202020204" pitchFamily="34" charset="0"/>
                          <a:cs typeface="Corbel"/>
                        </a:rPr>
                        <a:t> </a:t>
                      </a:r>
                      <a:r>
                        <a:rPr sz="1400" dirty="0">
                          <a:latin typeface="Trebuchet MS" panose="020B0603020202020204" pitchFamily="34" charset="0"/>
                          <a:cs typeface="Corbel"/>
                        </a:rPr>
                        <a:t>remainder</a:t>
                      </a: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270" algn="ctr">
                        <a:lnSpc>
                          <a:spcPct val="100000"/>
                        </a:lnSpc>
                        <a:spcBef>
                          <a:spcPts val="380"/>
                        </a:spcBef>
                      </a:pPr>
                      <a:r>
                        <a:rPr sz="1400" dirty="0">
                          <a:latin typeface="Trebuchet MS" panose="020B0603020202020204" pitchFamily="34" charset="0"/>
                          <a:cs typeface="Corbel"/>
                        </a:rPr>
                        <a:t>x</a:t>
                      </a:r>
                      <a:r>
                        <a:rPr sz="1400" spc="-30" dirty="0">
                          <a:latin typeface="Trebuchet MS" panose="020B0603020202020204" pitchFamily="34" charset="0"/>
                          <a:cs typeface="Corbel"/>
                        </a:rPr>
                        <a:t> </a:t>
                      </a:r>
                      <a:r>
                        <a:rPr sz="1400" dirty="0">
                          <a:latin typeface="Trebuchet MS" panose="020B0603020202020204" pitchFamily="34" charset="0"/>
                          <a:cs typeface="Corbel"/>
                        </a:rPr>
                        <a:t>%</a:t>
                      </a:r>
                      <a:r>
                        <a:rPr sz="1400" spc="-45" dirty="0">
                          <a:latin typeface="Trebuchet MS" panose="020B0603020202020204" pitchFamily="34" charset="0"/>
                          <a:cs typeface="Corbel"/>
                        </a:rPr>
                        <a:t> </a:t>
                      </a:r>
                      <a:r>
                        <a:rPr sz="1400" dirty="0">
                          <a:latin typeface="Trebuchet MS" panose="020B0603020202020204" pitchFamily="34" charset="0"/>
                          <a:cs typeface="Corbel"/>
                        </a:rPr>
                        <a:t>y</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10005"/>
                  </a:ext>
                </a:extLst>
              </a:tr>
              <a:tr h="47731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8419" algn="ctr">
                        <a:lnSpc>
                          <a:spcPct val="100000"/>
                        </a:lnSpc>
                        <a:spcBef>
                          <a:spcPts val="384"/>
                        </a:spcBef>
                      </a:pPr>
                      <a:r>
                        <a:rPr sz="1400" dirty="0">
                          <a:latin typeface="Trebuchet MS" panose="020B0603020202020204" pitchFamily="34" charset="0"/>
                          <a:cs typeface="Corbel"/>
                        </a:rPr>
                        <a:t>++</a:t>
                      </a:r>
                      <a:endParaRPr sz="1400">
                        <a:latin typeface="Trebuchet MS" panose="020B0603020202020204" pitchFamily="34" charset="0"/>
                        <a:cs typeface="Corbel"/>
                      </a:endParaRPr>
                    </a:p>
                  </a:txBody>
                  <a:tcPr marL="0" marR="0" marT="48894"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84"/>
                        </a:spcBef>
                      </a:pPr>
                      <a:r>
                        <a:rPr sz="1400" dirty="0">
                          <a:latin typeface="Trebuchet MS" panose="020B0603020202020204" pitchFamily="34" charset="0"/>
                          <a:cs typeface="Corbel"/>
                        </a:rPr>
                        <a:t>Increment</a:t>
                      </a:r>
                    </a:p>
                  </a:txBody>
                  <a:tcPr marL="0" marR="0" marT="48894"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R="473709" algn="r">
                        <a:lnSpc>
                          <a:spcPct val="100000"/>
                        </a:lnSpc>
                        <a:spcBef>
                          <a:spcPts val="384"/>
                        </a:spcBef>
                      </a:pPr>
                      <a:r>
                        <a:rPr sz="1400" dirty="0">
                          <a:latin typeface="Trebuchet MS" panose="020B0603020202020204" pitchFamily="34" charset="0"/>
                          <a:cs typeface="Corbel"/>
                        </a:rPr>
                        <a:t>Increases</a:t>
                      </a:r>
                      <a:r>
                        <a:rPr sz="1400" spc="-10" dirty="0">
                          <a:latin typeface="Trebuchet MS" panose="020B0603020202020204" pitchFamily="34" charset="0"/>
                          <a:cs typeface="Corbel"/>
                        </a:rPr>
                        <a:t> </a:t>
                      </a:r>
                      <a:r>
                        <a:rPr sz="1400" dirty="0">
                          <a:latin typeface="Trebuchet MS" panose="020B0603020202020204" pitchFamily="34" charset="0"/>
                          <a:cs typeface="Corbel"/>
                        </a:rPr>
                        <a:t>the</a:t>
                      </a:r>
                      <a:r>
                        <a:rPr sz="1400" spc="-20" dirty="0">
                          <a:latin typeface="Trebuchet MS" panose="020B0603020202020204" pitchFamily="34" charset="0"/>
                          <a:cs typeface="Corbel"/>
                        </a:rPr>
                        <a:t> </a:t>
                      </a:r>
                      <a:r>
                        <a:rPr sz="1400" dirty="0">
                          <a:latin typeface="Trebuchet MS" panose="020B0603020202020204" pitchFamily="34" charset="0"/>
                          <a:cs typeface="Corbel"/>
                        </a:rPr>
                        <a:t>value</a:t>
                      </a:r>
                      <a:r>
                        <a:rPr sz="1400" spc="-20" dirty="0">
                          <a:latin typeface="Trebuchet MS" panose="020B0603020202020204" pitchFamily="34" charset="0"/>
                          <a:cs typeface="Corbel"/>
                        </a:rPr>
                        <a:t> </a:t>
                      </a:r>
                      <a:r>
                        <a:rPr sz="1400" dirty="0">
                          <a:latin typeface="Trebuchet MS" panose="020B0603020202020204" pitchFamily="34" charset="0"/>
                          <a:cs typeface="Corbel"/>
                        </a:rPr>
                        <a:t>of</a:t>
                      </a:r>
                      <a:r>
                        <a:rPr sz="1400" spc="-25" dirty="0">
                          <a:latin typeface="Trebuchet MS" panose="020B0603020202020204" pitchFamily="34" charset="0"/>
                          <a:cs typeface="Corbel"/>
                        </a:rPr>
                        <a:t> </a:t>
                      </a:r>
                      <a:r>
                        <a:rPr sz="1400" dirty="0">
                          <a:latin typeface="Trebuchet MS" panose="020B0603020202020204" pitchFamily="34" charset="0"/>
                          <a:cs typeface="Corbel"/>
                        </a:rPr>
                        <a:t>a variable</a:t>
                      </a:r>
                      <a:r>
                        <a:rPr sz="1400" spc="5" dirty="0">
                          <a:latin typeface="Trebuchet MS" panose="020B0603020202020204" pitchFamily="34" charset="0"/>
                          <a:cs typeface="Corbel"/>
                        </a:rPr>
                        <a:t> </a:t>
                      </a:r>
                      <a:r>
                        <a:rPr sz="1400" dirty="0">
                          <a:latin typeface="Trebuchet MS" panose="020B0603020202020204" pitchFamily="34" charset="0"/>
                          <a:cs typeface="Corbel"/>
                        </a:rPr>
                        <a:t>by</a:t>
                      </a:r>
                      <a:r>
                        <a:rPr sz="1400" spc="-15" dirty="0">
                          <a:latin typeface="Trebuchet MS" panose="020B0603020202020204" pitchFamily="34" charset="0"/>
                          <a:cs typeface="Corbel"/>
                        </a:rPr>
                        <a:t> </a:t>
                      </a:r>
                      <a:r>
                        <a:rPr sz="1400" dirty="0">
                          <a:latin typeface="Trebuchet MS" panose="020B0603020202020204" pitchFamily="34" charset="0"/>
                          <a:cs typeface="Corbel"/>
                        </a:rPr>
                        <a:t>1</a:t>
                      </a:r>
                    </a:p>
                  </a:txBody>
                  <a:tcPr marL="0" marR="0" marT="48894"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635" algn="ctr">
                        <a:lnSpc>
                          <a:spcPct val="100000"/>
                        </a:lnSpc>
                        <a:spcBef>
                          <a:spcPts val="384"/>
                        </a:spcBef>
                      </a:pPr>
                      <a:r>
                        <a:rPr sz="1400" dirty="0">
                          <a:latin typeface="Trebuchet MS" panose="020B0603020202020204" pitchFamily="34" charset="0"/>
                          <a:cs typeface="Corbel"/>
                        </a:rPr>
                        <a:t>++x</a:t>
                      </a:r>
                      <a:r>
                        <a:rPr sz="1400" spc="-25" dirty="0">
                          <a:latin typeface="Trebuchet MS" panose="020B0603020202020204" pitchFamily="34" charset="0"/>
                          <a:cs typeface="Corbel"/>
                        </a:rPr>
                        <a:t> </a:t>
                      </a:r>
                      <a:r>
                        <a:rPr sz="1400" dirty="0">
                          <a:latin typeface="Trebuchet MS" panose="020B0603020202020204" pitchFamily="34" charset="0"/>
                          <a:cs typeface="Corbel"/>
                        </a:rPr>
                        <a:t>/</a:t>
                      </a:r>
                      <a:r>
                        <a:rPr sz="1400" spc="-45" dirty="0">
                          <a:latin typeface="Trebuchet MS" panose="020B0603020202020204" pitchFamily="34" charset="0"/>
                          <a:cs typeface="Corbel"/>
                        </a:rPr>
                        <a:t> </a:t>
                      </a:r>
                      <a:r>
                        <a:rPr sz="1400" dirty="0">
                          <a:latin typeface="Trebuchet MS" panose="020B0603020202020204" pitchFamily="34" charset="0"/>
                          <a:cs typeface="Corbel"/>
                        </a:rPr>
                        <a:t>x++</a:t>
                      </a:r>
                    </a:p>
                  </a:txBody>
                  <a:tcPr marL="0" marR="0" marT="48894" marB="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47731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58419" algn="ctr">
                        <a:lnSpc>
                          <a:spcPct val="100000"/>
                        </a:lnSpc>
                        <a:spcBef>
                          <a:spcPts val="380"/>
                        </a:spcBef>
                      </a:pPr>
                      <a:r>
                        <a:rPr sz="1400" spc="-5" dirty="0">
                          <a:latin typeface="Trebuchet MS" panose="020B0603020202020204" pitchFamily="34" charset="0"/>
                          <a:cs typeface="Corbel"/>
                        </a:rPr>
                        <a:t>--</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DDDDDD"/>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algn="ctr">
                        <a:lnSpc>
                          <a:spcPct val="100000"/>
                        </a:lnSpc>
                        <a:spcBef>
                          <a:spcPts val="380"/>
                        </a:spcBef>
                      </a:pPr>
                      <a:r>
                        <a:rPr sz="1400" dirty="0">
                          <a:latin typeface="Trebuchet MS" panose="020B0603020202020204" pitchFamily="34" charset="0"/>
                          <a:cs typeface="Corbel"/>
                        </a:rPr>
                        <a:t>Decrement</a:t>
                      </a:r>
                      <a:endParaRPr sz="140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DDDDDD"/>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R="434340" algn="r">
                        <a:lnSpc>
                          <a:spcPct val="100000"/>
                        </a:lnSpc>
                        <a:spcBef>
                          <a:spcPts val="380"/>
                        </a:spcBef>
                      </a:pPr>
                      <a:r>
                        <a:rPr sz="1400" dirty="0">
                          <a:latin typeface="Trebuchet MS" panose="020B0603020202020204" pitchFamily="34" charset="0"/>
                          <a:cs typeface="Corbel"/>
                        </a:rPr>
                        <a:t>Decreases</a:t>
                      </a:r>
                      <a:r>
                        <a:rPr sz="1400" spc="-15" dirty="0">
                          <a:latin typeface="Trebuchet MS" panose="020B0603020202020204" pitchFamily="34" charset="0"/>
                          <a:cs typeface="Corbel"/>
                        </a:rPr>
                        <a:t> </a:t>
                      </a:r>
                      <a:r>
                        <a:rPr sz="1400" spc="-5" dirty="0">
                          <a:latin typeface="Trebuchet MS" panose="020B0603020202020204" pitchFamily="34" charset="0"/>
                          <a:cs typeface="Corbel"/>
                        </a:rPr>
                        <a:t>the</a:t>
                      </a:r>
                      <a:r>
                        <a:rPr sz="1400" spc="-15" dirty="0">
                          <a:latin typeface="Trebuchet MS" panose="020B0603020202020204" pitchFamily="34" charset="0"/>
                          <a:cs typeface="Corbel"/>
                        </a:rPr>
                        <a:t> </a:t>
                      </a:r>
                      <a:r>
                        <a:rPr sz="1400" dirty="0">
                          <a:latin typeface="Trebuchet MS" panose="020B0603020202020204" pitchFamily="34" charset="0"/>
                          <a:cs typeface="Corbel"/>
                        </a:rPr>
                        <a:t>value</a:t>
                      </a:r>
                      <a:r>
                        <a:rPr sz="1400" spc="-15" dirty="0">
                          <a:latin typeface="Trebuchet MS" panose="020B0603020202020204" pitchFamily="34" charset="0"/>
                          <a:cs typeface="Corbel"/>
                        </a:rPr>
                        <a:t> </a:t>
                      </a:r>
                      <a:r>
                        <a:rPr sz="1400" dirty="0">
                          <a:latin typeface="Trebuchet MS" panose="020B0603020202020204" pitchFamily="34" charset="0"/>
                          <a:cs typeface="Corbel"/>
                        </a:rPr>
                        <a:t>of</a:t>
                      </a:r>
                      <a:r>
                        <a:rPr sz="1400" spc="-5" dirty="0">
                          <a:latin typeface="Trebuchet MS" panose="020B0603020202020204" pitchFamily="34" charset="0"/>
                          <a:cs typeface="Corbel"/>
                        </a:rPr>
                        <a:t> </a:t>
                      </a:r>
                      <a:r>
                        <a:rPr sz="1400" dirty="0">
                          <a:latin typeface="Trebuchet MS" panose="020B0603020202020204" pitchFamily="34" charset="0"/>
                          <a:cs typeface="Corbel"/>
                        </a:rPr>
                        <a:t>a variable</a:t>
                      </a:r>
                      <a:r>
                        <a:rPr sz="1400" spc="-15" dirty="0">
                          <a:latin typeface="Trebuchet MS" panose="020B0603020202020204" pitchFamily="34" charset="0"/>
                          <a:cs typeface="Corbel"/>
                        </a:rPr>
                        <a:t> </a:t>
                      </a:r>
                      <a:r>
                        <a:rPr sz="1400" dirty="0">
                          <a:latin typeface="Trebuchet MS" panose="020B0603020202020204" pitchFamily="34" charset="0"/>
                          <a:cs typeface="Corbel"/>
                        </a:rPr>
                        <a:t>by</a:t>
                      </a:r>
                      <a:r>
                        <a:rPr sz="1400" spc="-10" dirty="0">
                          <a:latin typeface="Trebuchet MS" panose="020B0603020202020204" pitchFamily="34" charset="0"/>
                          <a:cs typeface="Corbel"/>
                        </a:rPr>
                        <a:t> </a:t>
                      </a:r>
                      <a:r>
                        <a:rPr sz="1400" dirty="0">
                          <a:latin typeface="Trebuchet MS" panose="020B0603020202020204" pitchFamily="34" charset="0"/>
                          <a:cs typeface="Corbel"/>
                        </a:rPr>
                        <a:t>1</a:t>
                      </a: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DDDDDD"/>
                      </a:solidFill>
                      <a:prstDash val="solid"/>
                    </a:lnB>
                    <a:lnTlToBr w="12700" cmpd="sng">
                      <a:noFill/>
                      <a:prstDash val="solid"/>
                    </a:lnTlToBr>
                    <a:lnBlToTr w="12700" cmpd="sng">
                      <a:noFill/>
                      <a:prstDash val="solid"/>
                    </a:lnBlToTr>
                    <a:solidFill>
                      <a:srgbClr val="E7E9EB"/>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a:sym typeface="Arial"/>
                        </a:defRPr>
                      </a:lvl9pPr>
                    </a:lstStyle>
                    <a:p>
                      <a:pPr marL="1270" algn="ctr">
                        <a:lnSpc>
                          <a:spcPct val="100000"/>
                        </a:lnSpc>
                        <a:spcBef>
                          <a:spcPts val="380"/>
                        </a:spcBef>
                      </a:pPr>
                      <a:r>
                        <a:rPr sz="1400" spc="-5" dirty="0">
                          <a:latin typeface="Trebuchet MS" panose="020B0603020202020204" pitchFamily="34" charset="0"/>
                          <a:cs typeface="Corbel"/>
                        </a:rPr>
                        <a:t>--x</a:t>
                      </a:r>
                      <a:r>
                        <a:rPr sz="1400" spc="-35" dirty="0">
                          <a:latin typeface="Trebuchet MS" panose="020B0603020202020204" pitchFamily="34" charset="0"/>
                          <a:cs typeface="Corbel"/>
                        </a:rPr>
                        <a:t> </a:t>
                      </a:r>
                      <a:r>
                        <a:rPr sz="1400" dirty="0">
                          <a:latin typeface="Trebuchet MS" panose="020B0603020202020204" pitchFamily="34" charset="0"/>
                          <a:cs typeface="Corbel"/>
                        </a:rPr>
                        <a:t>/</a:t>
                      </a:r>
                      <a:r>
                        <a:rPr sz="1400" spc="-30" dirty="0">
                          <a:latin typeface="Trebuchet MS" panose="020B0603020202020204" pitchFamily="34" charset="0"/>
                          <a:cs typeface="Corbel"/>
                        </a:rPr>
                        <a:t> </a:t>
                      </a:r>
                      <a:r>
                        <a:rPr sz="1400" spc="-5" dirty="0">
                          <a:latin typeface="Trebuchet MS" panose="020B0603020202020204" pitchFamily="34" charset="0"/>
                          <a:cs typeface="Corbel"/>
                        </a:rPr>
                        <a:t>x--</a:t>
                      </a:r>
                      <a:endParaRPr sz="1400" dirty="0">
                        <a:latin typeface="Trebuchet MS" panose="020B0603020202020204" pitchFamily="34" charset="0"/>
                        <a:cs typeface="Corbel"/>
                      </a:endParaRPr>
                    </a:p>
                  </a:txBody>
                  <a:tcPr marL="0" marR="0" marT="48260" marB="0">
                    <a:lnL w="9525">
                      <a:solidFill>
                        <a:srgbClr val="CCCCCC"/>
                      </a:solidFill>
                      <a:prstDash val="solid"/>
                    </a:lnL>
                    <a:lnR w="9525">
                      <a:solidFill>
                        <a:srgbClr val="CCCCCC"/>
                      </a:solidFill>
                      <a:prstDash val="solid"/>
                    </a:lnR>
                    <a:lnT w="9525">
                      <a:solidFill>
                        <a:srgbClr val="CCCCCC"/>
                      </a:solidFill>
                      <a:prstDash val="solid"/>
                    </a:lnT>
                    <a:lnB w="9525">
                      <a:solidFill>
                        <a:srgbClr val="DDDDDD"/>
                      </a:solidFill>
                      <a:prstDash val="soli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333858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9" y="118500"/>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2" name="object 3">
            <a:extLst>
              <a:ext uri="{FF2B5EF4-FFF2-40B4-BE49-F238E27FC236}">
                <a16:creationId xmlns:a16="http://schemas.microsoft.com/office/drawing/2014/main" id="{FE35C15A-F104-659D-A385-92A49A5E31A7}"/>
              </a:ext>
            </a:extLst>
          </p:cNvPr>
          <p:cNvSpPr txBox="1"/>
          <p:nvPr/>
        </p:nvSpPr>
        <p:spPr>
          <a:xfrm>
            <a:off x="265450" y="712776"/>
            <a:ext cx="3317240" cy="320601"/>
          </a:xfrm>
          <a:prstGeom prst="rect">
            <a:avLst/>
          </a:prstGeom>
        </p:spPr>
        <p:txBody>
          <a:bodyPr vert="horz" wrap="square" lIns="0" tIns="12700" rIns="0" bIns="0" rtlCol="0">
            <a:spAutoFit/>
          </a:bodyPr>
          <a:lstStyle/>
          <a:p>
            <a:pPr marL="12700">
              <a:spcBef>
                <a:spcPts val="100"/>
              </a:spcBef>
              <a:buClrTx/>
              <a:buFontTx/>
              <a:buNone/>
            </a:pPr>
            <a:r>
              <a:rPr lang="en-IN" sz="2000" b="1" kern="1200" dirty="0">
                <a:solidFill>
                  <a:srgbClr val="0070C0"/>
                </a:solidFill>
                <a:latin typeface="Trebuchet MS" panose="020B0603020202020204" pitchFamily="34" charset="0"/>
                <a:ea typeface="+mn-ea"/>
                <a:cs typeface="Times New Roman"/>
              </a:rPr>
              <a:t>Relational Operators</a:t>
            </a:r>
            <a:endParaRPr sz="2400" kern="1200" dirty="0">
              <a:solidFill>
                <a:srgbClr val="0070C0"/>
              </a:solidFill>
              <a:latin typeface="Trebuchet MS" panose="020B0603020202020204" pitchFamily="34" charset="0"/>
              <a:ea typeface="+mn-ea"/>
              <a:cs typeface="Times New Roman"/>
            </a:endParaRPr>
          </a:p>
        </p:txBody>
      </p:sp>
      <p:graphicFrame>
        <p:nvGraphicFramePr>
          <p:cNvPr id="5" name="Table 4">
            <a:extLst>
              <a:ext uri="{FF2B5EF4-FFF2-40B4-BE49-F238E27FC236}">
                <a16:creationId xmlns:a16="http://schemas.microsoft.com/office/drawing/2014/main" id="{485D6359-E112-7DA8-3D59-E267F2C0D016}"/>
              </a:ext>
            </a:extLst>
          </p:cNvPr>
          <p:cNvGraphicFramePr>
            <a:graphicFrameLocks noGrp="1"/>
          </p:cNvGraphicFramePr>
          <p:nvPr>
            <p:extLst>
              <p:ext uri="{D42A27DB-BD31-4B8C-83A1-F6EECF244321}">
                <p14:modId xmlns:p14="http://schemas.microsoft.com/office/powerpoint/2010/main" val="1040763421"/>
              </p:ext>
            </p:extLst>
          </p:nvPr>
        </p:nvGraphicFramePr>
        <p:xfrm>
          <a:off x="265450" y="1104433"/>
          <a:ext cx="8500177" cy="3957313"/>
        </p:xfrm>
        <a:graphic>
          <a:graphicData uri="http://schemas.openxmlformats.org/drawingml/2006/table">
            <a:tbl>
              <a:tblPr firstRow="1" firstCol="1" bandRow="1"/>
              <a:tblGrid>
                <a:gridCol w="810247">
                  <a:extLst>
                    <a:ext uri="{9D8B030D-6E8A-4147-A177-3AD203B41FA5}">
                      <a16:colId xmlns:a16="http://schemas.microsoft.com/office/drawing/2014/main" val="4141728816"/>
                    </a:ext>
                  </a:extLst>
                </a:gridCol>
                <a:gridCol w="1160744">
                  <a:extLst>
                    <a:ext uri="{9D8B030D-6E8A-4147-A177-3AD203B41FA5}">
                      <a16:colId xmlns:a16="http://schemas.microsoft.com/office/drawing/2014/main" val="1732385751"/>
                    </a:ext>
                  </a:extLst>
                </a:gridCol>
                <a:gridCol w="4810392">
                  <a:extLst>
                    <a:ext uri="{9D8B030D-6E8A-4147-A177-3AD203B41FA5}">
                      <a16:colId xmlns:a16="http://schemas.microsoft.com/office/drawing/2014/main" val="2627601645"/>
                    </a:ext>
                  </a:extLst>
                </a:gridCol>
                <a:gridCol w="1718794">
                  <a:extLst>
                    <a:ext uri="{9D8B030D-6E8A-4147-A177-3AD203B41FA5}">
                      <a16:colId xmlns:a16="http://schemas.microsoft.com/office/drawing/2014/main" val="2792382478"/>
                    </a:ext>
                  </a:extLst>
                </a:gridCol>
              </a:tblGrid>
              <a:tr h="224801">
                <a:tc>
                  <a:txBody>
                    <a:bodyPr/>
                    <a:lstStyle/>
                    <a:p>
                      <a:pPr algn="ct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Operator</a:t>
                      </a:r>
                      <a:endParaRPr lang="en-IN" sz="13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Name </a:t>
                      </a:r>
                      <a:endParaRPr lang="en-IN" sz="1300">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Description</a:t>
                      </a:r>
                      <a:endParaRPr lang="en-IN" sz="130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Example</a:t>
                      </a:r>
                      <a:endParaRPr lang="en-IN" sz="130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441384792"/>
                  </a:ext>
                </a:extLst>
              </a:tr>
              <a:tr h="475210">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Equal to </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Checks if the values of two operands are equal or not, if yes then condition becomes true.</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 B) is not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76308860"/>
                  </a:ext>
                </a:extLst>
              </a:tr>
              <a:tr h="475210">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Not equal to </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Checks if the values of two operands are equal or not, if values are not equal then condition becomes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 B) is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82401425"/>
                  </a:ext>
                </a:extLst>
              </a:tr>
              <a:tr h="475210">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&gt; </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Greater than</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Checks if the value of left operand is greater than the value of right operand, if yes then condition becomes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&gt; B) is not true.</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10028375"/>
                  </a:ext>
                </a:extLst>
              </a:tr>
              <a:tr h="475210">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&lt; </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Less than </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Checks if the value of left operand is less than the value of right operand, if yes then condition becomes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&lt; B) is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4034823"/>
                  </a:ext>
                </a:extLst>
              </a:tr>
              <a:tr h="504550">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&gt;=</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Greater than equal to </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Checks if the value of left operand is greater than or equal to the value of right operand, if yes then condition becomes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&gt;= B) is not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82728400"/>
                  </a:ext>
                </a:extLst>
              </a:tr>
              <a:tr h="498190">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&lt;=</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Less than equal to</a:t>
                      </a:r>
                      <a:endParaRPr lang="en-IN" sz="1300" b="1">
                        <a:effectLst/>
                        <a:latin typeface="Trebuchet MS" panose="020B0603020202020204" pitchFamily="34" charset="0"/>
                        <a:ea typeface="Calibri" panose="020F0502020204030204" pitchFamily="34" charset="0"/>
                        <a:cs typeface="Times New Roman" panose="02020603050405020304" pitchFamily="18" charset="0"/>
                      </a:endParaRPr>
                    </a:p>
                  </a:txBody>
                  <a:tcPr marL="6945" marR="6945" marT="6945" marB="694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Checks if the value of left operand is less than or equal to the value of right operand, if yes then condition becomes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3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&lt;= B) is true.</a:t>
                      </a:r>
                      <a:endParaRPr lang="en-IN" sz="13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55562" marR="55562" marT="55562" marB="55562">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89860672"/>
                  </a:ext>
                </a:extLst>
              </a:tr>
            </a:tbl>
          </a:graphicData>
        </a:graphic>
      </p:graphicFrame>
    </p:spTree>
    <p:extLst>
      <p:ext uri="{BB962C8B-B14F-4D97-AF65-F5344CB8AC3E}">
        <p14:creationId xmlns:p14="http://schemas.microsoft.com/office/powerpoint/2010/main" val="20130231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9" y="118500"/>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2" name="object 3">
            <a:extLst>
              <a:ext uri="{FF2B5EF4-FFF2-40B4-BE49-F238E27FC236}">
                <a16:creationId xmlns:a16="http://schemas.microsoft.com/office/drawing/2014/main" id="{FE35C15A-F104-659D-A385-92A49A5E31A7}"/>
              </a:ext>
            </a:extLst>
          </p:cNvPr>
          <p:cNvSpPr txBox="1"/>
          <p:nvPr/>
        </p:nvSpPr>
        <p:spPr>
          <a:xfrm>
            <a:off x="318002" y="755470"/>
            <a:ext cx="3317240" cy="320601"/>
          </a:xfrm>
          <a:prstGeom prst="rect">
            <a:avLst/>
          </a:prstGeom>
        </p:spPr>
        <p:txBody>
          <a:bodyPr vert="horz" wrap="square" lIns="0" tIns="12700" rIns="0" bIns="0" rtlCol="0">
            <a:spAutoFit/>
          </a:bodyPr>
          <a:lstStyle/>
          <a:p>
            <a:pPr marL="12700">
              <a:spcBef>
                <a:spcPts val="100"/>
              </a:spcBef>
              <a:buClrTx/>
              <a:buFontTx/>
              <a:buNone/>
            </a:pPr>
            <a:r>
              <a:rPr lang="en-IN" sz="2000" b="1" kern="1200" dirty="0">
                <a:solidFill>
                  <a:srgbClr val="0070C0"/>
                </a:solidFill>
                <a:latin typeface="Trebuchet MS" panose="020B0603020202020204" pitchFamily="34" charset="0"/>
                <a:ea typeface="+mn-ea"/>
                <a:cs typeface="Times New Roman"/>
              </a:rPr>
              <a:t>Logical Operators </a:t>
            </a:r>
            <a:endParaRPr lang="en-IN" sz="2400" kern="1200" dirty="0">
              <a:solidFill>
                <a:srgbClr val="0070C0"/>
              </a:solidFill>
              <a:latin typeface="Trebuchet MS" panose="020B0603020202020204" pitchFamily="34" charset="0"/>
              <a:ea typeface="+mn-ea"/>
              <a:cs typeface="Times New Roman"/>
            </a:endParaRPr>
          </a:p>
        </p:txBody>
      </p:sp>
      <p:graphicFrame>
        <p:nvGraphicFramePr>
          <p:cNvPr id="4" name="Table 3">
            <a:extLst>
              <a:ext uri="{FF2B5EF4-FFF2-40B4-BE49-F238E27FC236}">
                <a16:creationId xmlns:a16="http://schemas.microsoft.com/office/drawing/2014/main" id="{96B538C1-BCB5-8E4D-28BC-B3D297EDEDD5}"/>
              </a:ext>
            </a:extLst>
          </p:cNvPr>
          <p:cNvGraphicFramePr>
            <a:graphicFrameLocks noGrp="1"/>
          </p:cNvGraphicFramePr>
          <p:nvPr>
            <p:extLst>
              <p:ext uri="{D42A27DB-BD31-4B8C-83A1-F6EECF244321}">
                <p14:modId xmlns:p14="http://schemas.microsoft.com/office/powerpoint/2010/main" val="4102430265"/>
              </p:ext>
            </p:extLst>
          </p:nvPr>
        </p:nvGraphicFramePr>
        <p:xfrm>
          <a:off x="548024" y="1303130"/>
          <a:ext cx="7544942" cy="3135240"/>
        </p:xfrm>
        <a:graphic>
          <a:graphicData uri="http://schemas.openxmlformats.org/drawingml/2006/table">
            <a:tbl>
              <a:tblPr firstRow="1" firstCol="1" bandRow="1"/>
              <a:tblGrid>
                <a:gridCol w="1239392">
                  <a:extLst>
                    <a:ext uri="{9D8B030D-6E8A-4147-A177-3AD203B41FA5}">
                      <a16:colId xmlns:a16="http://schemas.microsoft.com/office/drawing/2014/main" val="496304363"/>
                    </a:ext>
                  </a:extLst>
                </a:gridCol>
                <a:gridCol w="1097517">
                  <a:extLst>
                    <a:ext uri="{9D8B030D-6E8A-4147-A177-3AD203B41FA5}">
                      <a16:colId xmlns:a16="http://schemas.microsoft.com/office/drawing/2014/main" val="1379576762"/>
                    </a:ext>
                  </a:extLst>
                </a:gridCol>
                <a:gridCol w="3657849">
                  <a:extLst>
                    <a:ext uri="{9D8B030D-6E8A-4147-A177-3AD203B41FA5}">
                      <a16:colId xmlns:a16="http://schemas.microsoft.com/office/drawing/2014/main" val="2938647422"/>
                    </a:ext>
                  </a:extLst>
                </a:gridCol>
                <a:gridCol w="1550184">
                  <a:extLst>
                    <a:ext uri="{9D8B030D-6E8A-4147-A177-3AD203B41FA5}">
                      <a16:colId xmlns:a16="http://schemas.microsoft.com/office/drawing/2014/main" val="86233184"/>
                    </a:ext>
                  </a:extLst>
                </a:gridCol>
              </a:tblGrid>
              <a:tr h="373037">
                <a:tc>
                  <a:txBody>
                    <a:bodyPr/>
                    <a:lstStyle/>
                    <a:p>
                      <a:pPr algn="ctr">
                        <a:lnSpc>
                          <a:spcPct val="107000"/>
                        </a:lnSpc>
                        <a:spcAft>
                          <a:spcPts val="800"/>
                        </a:spcAft>
                      </a:pPr>
                      <a:r>
                        <a:rPr lang="en-IN" sz="1400" b="1"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Operator</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800"/>
                        </a:spcAft>
                      </a:pPr>
                      <a:r>
                        <a:rPr lang="en-IN" sz="14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Name </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9525" marR="9525" marT="9525" marB="952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800"/>
                        </a:spcAft>
                      </a:pPr>
                      <a:r>
                        <a:rPr lang="en-IN" sz="14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Description</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800"/>
                        </a:spcAft>
                      </a:pPr>
                      <a:r>
                        <a:rPr lang="en-IN" sz="1400" b="1">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Example</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557396882"/>
                  </a:ext>
                </a:extLst>
              </a:tr>
              <a:tr h="840307">
                <a:tc>
                  <a:txBody>
                    <a:bodyPr/>
                    <a:lstStyle/>
                    <a:p>
                      <a:pPr>
                        <a:lnSpc>
                          <a:spcPct val="107000"/>
                        </a:lnSpc>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&amp;&amp;</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AND</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9525" marR="9525" marT="9525" marB="952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Called Logical AND operator. If both the operands are non-zero, then condition becomes true.</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&amp;&amp; B) is false.</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15729688"/>
                  </a:ext>
                </a:extLst>
              </a:tr>
              <a:tr h="840307">
                <a:tc>
                  <a:txBody>
                    <a:bodyPr/>
                    <a:lstStyle/>
                    <a:p>
                      <a:pPr>
                        <a:lnSpc>
                          <a:spcPct val="107000"/>
                        </a:lnSpc>
                        <a:spcAft>
                          <a:spcPts val="800"/>
                        </a:spcAft>
                      </a:pPr>
                      <a:r>
                        <a:rPr lang="en-IN" sz="1400" dirty="0">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OR </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9525" marR="9525" marT="9525" marB="952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Called Logical OR Operator. If any of the two operands is non-zero, then condition becomes true.</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 B) is true.</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10981619"/>
                  </a:ext>
                </a:extLst>
              </a:tr>
              <a:tr h="1073943">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NOT </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9525" marR="9525" marT="9525" marB="9525">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Called Logical NOT Operator. Use to reverses the logical state of its operand. If a condition is true, then Logical NOT operator will make false.</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800"/>
                        </a:spcAft>
                      </a:pPr>
                      <a:r>
                        <a:rPr lang="en-IN" sz="1400" dirty="0">
                          <a:solidFill>
                            <a:srgbClr val="212529"/>
                          </a:solidFill>
                          <a:effectLst/>
                          <a:latin typeface="Trebuchet MS" panose="020B0603020202020204" pitchFamily="34" charset="0"/>
                          <a:ea typeface="Times New Roman" panose="02020603050405020304" pitchFamily="18" charset="0"/>
                          <a:cs typeface="Times New Roman" panose="02020603050405020304" pitchFamily="18" charset="0"/>
                        </a:rPr>
                        <a:t>!(A &amp;&amp; B) is true.</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37117963"/>
                  </a:ext>
                </a:extLst>
              </a:tr>
            </a:tbl>
          </a:graphicData>
        </a:graphic>
      </p:graphicFrame>
    </p:spTree>
    <p:extLst>
      <p:ext uri="{BB962C8B-B14F-4D97-AF65-F5344CB8AC3E}">
        <p14:creationId xmlns:p14="http://schemas.microsoft.com/office/powerpoint/2010/main" val="2239215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9" y="118500"/>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2" name="object 3">
            <a:extLst>
              <a:ext uri="{FF2B5EF4-FFF2-40B4-BE49-F238E27FC236}">
                <a16:creationId xmlns:a16="http://schemas.microsoft.com/office/drawing/2014/main" id="{FE35C15A-F104-659D-A385-92A49A5E31A7}"/>
              </a:ext>
            </a:extLst>
          </p:cNvPr>
          <p:cNvSpPr txBox="1"/>
          <p:nvPr/>
        </p:nvSpPr>
        <p:spPr>
          <a:xfrm>
            <a:off x="318002" y="755470"/>
            <a:ext cx="3317240" cy="320601"/>
          </a:xfrm>
          <a:prstGeom prst="rect">
            <a:avLst/>
          </a:prstGeom>
        </p:spPr>
        <p:txBody>
          <a:bodyPr vert="horz" wrap="square" lIns="0" tIns="12700" rIns="0" bIns="0" rtlCol="0">
            <a:spAutoFit/>
          </a:bodyPr>
          <a:lstStyle/>
          <a:p>
            <a:pPr marL="12700">
              <a:spcBef>
                <a:spcPts val="100"/>
              </a:spcBef>
              <a:buClrTx/>
            </a:pPr>
            <a:r>
              <a:rPr lang="en-IN" sz="2000" b="1" kern="1200" dirty="0">
                <a:solidFill>
                  <a:srgbClr val="0070C0"/>
                </a:solidFill>
                <a:latin typeface="Trebuchet MS" panose="020B0603020202020204" pitchFamily="34" charset="0"/>
                <a:ea typeface="+mn-ea"/>
                <a:cs typeface="Times New Roman"/>
              </a:rPr>
              <a:t>Bitwise Operators</a:t>
            </a:r>
          </a:p>
        </p:txBody>
      </p:sp>
      <p:graphicFrame>
        <p:nvGraphicFramePr>
          <p:cNvPr id="5" name="Table 4">
            <a:extLst>
              <a:ext uri="{FF2B5EF4-FFF2-40B4-BE49-F238E27FC236}">
                <a16:creationId xmlns:a16="http://schemas.microsoft.com/office/drawing/2014/main" id="{E5C231B6-B088-5E45-FD04-5DF9CDB4FBCD}"/>
              </a:ext>
            </a:extLst>
          </p:cNvPr>
          <p:cNvGraphicFramePr>
            <a:graphicFrameLocks noGrp="1"/>
          </p:cNvGraphicFramePr>
          <p:nvPr/>
        </p:nvGraphicFramePr>
        <p:xfrm>
          <a:off x="285126" y="1088525"/>
          <a:ext cx="8540872" cy="3908567"/>
        </p:xfrm>
        <a:graphic>
          <a:graphicData uri="http://schemas.openxmlformats.org/drawingml/2006/table">
            <a:tbl>
              <a:tblPr/>
              <a:tblGrid>
                <a:gridCol w="854086">
                  <a:extLst>
                    <a:ext uri="{9D8B030D-6E8A-4147-A177-3AD203B41FA5}">
                      <a16:colId xmlns:a16="http://schemas.microsoft.com/office/drawing/2014/main" val="580686353"/>
                    </a:ext>
                  </a:extLst>
                </a:gridCol>
                <a:gridCol w="3977981">
                  <a:extLst>
                    <a:ext uri="{9D8B030D-6E8A-4147-A177-3AD203B41FA5}">
                      <a16:colId xmlns:a16="http://schemas.microsoft.com/office/drawing/2014/main" val="1575846180"/>
                    </a:ext>
                  </a:extLst>
                </a:gridCol>
                <a:gridCol w="3708805">
                  <a:extLst>
                    <a:ext uri="{9D8B030D-6E8A-4147-A177-3AD203B41FA5}">
                      <a16:colId xmlns:a16="http://schemas.microsoft.com/office/drawing/2014/main" val="87063969"/>
                    </a:ext>
                  </a:extLst>
                </a:gridCol>
              </a:tblGrid>
              <a:tr h="362293">
                <a:tc>
                  <a:txBody>
                    <a:bodyPr/>
                    <a:lstStyle/>
                    <a:p>
                      <a:pPr algn="ctr" fontAlgn="t"/>
                      <a:r>
                        <a:rPr lang="en-IN" sz="1300" dirty="0">
                          <a:effectLst/>
                          <a:latin typeface="Trebuchet MS" panose="020B0603020202020204" pitchFamily="34" charset="0"/>
                        </a:rPr>
                        <a:t>Operator</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300" dirty="0">
                          <a:effectLst/>
                          <a:latin typeface="Trebuchet MS" panose="020B0603020202020204" pitchFamily="34" charset="0"/>
                        </a:rPr>
                        <a:t>Description</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300">
                          <a:effectLst/>
                          <a:latin typeface="Trebuchet MS" panose="020B0603020202020204" pitchFamily="34" charset="0"/>
                        </a:rPr>
                        <a:t>Example</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086916140"/>
                  </a:ext>
                </a:extLst>
              </a:tr>
              <a:tr h="495769">
                <a:tc>
                  <a:txBody>
                    <a:bodyPr/>
                    <a:lstStyle/>
                    <a:p>
                      <a:pPr algn="ctr" fontAlgn="t"/>
                      <a:r>
                        <a:rPr lang="en-US" sz="1300" dirty="0">
                          <a:effectLst/>
                          <a:latin typeface="Times New Roman" panose="02020603050405020304" pitchFamily="18" charset="0"/>
                          <a:cs typeface="Times New Roman" panose="02020603050405020304" pitchFamily="18" charset="0"/>
                        </a:rPr>
                        <a:t>&amp;</a:t>
                      </a:r>
                      <a:endParaRPr lang="en-IN" sz="1300" dirty="0">
                        <a:effectLst/>
                        <a:latin typeface="Times New Roman" panose="02020603050405020304" pitchFamily="18" charset="0"/>
                        <a:cs typeface="Times New Roman" panose="02020603050405020304" pitchFamily="18" charset="0"/>
                      </a:endParaRP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dirty="0">
                          <a:effectLst/>
                          <a:latin typeface="Trebuchet MS" panose="020B0603020202020204" pitchFamily="34" charset="0"/>
                        </a:rPr>
                        <a:t>Binary AND Operator copies a bit to the result if it exists in both operands.</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300" dirty="0">
                          <a:effectLst/>
                          <a:latin typeface="Trebuchet MS" panose="020B0603020202020204" pitchFamily="34" charset="0"/>
                        </a:rPr>
                        <a:t>(A </a:t>
                      </a:r>
                      <a:r>
                        <a:rPr lang="en-IN" sz="1300" dirty="0">
                          <a:effectLst/>
                          <a:latin typeface="Times New Roman" panose="02020603050405020304" pitchFamily="18" charset="0"/>
                          <a:cs typeface="Times New Roman" panose="02020603050405020304" pitchFamily="18" charset="0"/>
                        </a:rPr>
                        <a:t>&amp;</a:t>
                      </a:r>
                      <a:r>
                        <a:rPr lang="en-IN" sz="1300" dirty="0">
                          <a:effectLst/>
                          <a:latin typeface="Trebuchet MS" panose="020B0603020202020204" pitchFamily="34" charset="0"/>
                        </a:rPr>
                        <a:t> B) will give 12 which is 0000 1100</a:t>
                      </a:r>
                    </a:p>
                  </a:txBody>
                  <a:tcPr marL="46927" marR="46927" marT="46927" marB="4692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187757691"/>
                  </a:ext>
                </a:extLst>
              </a:tr>
              <a:tr h="435928">
                <a:tc>
                  <a:txBody>
                    <a:bodyPr/>
                    <a:lstStyle/>
                    <a:p>
                      <a:pPr algn="ctr" fontAlgn="t"/>
                      <a:r>
                        <a:rPr lang="en-IN" sz="1300" dirty="0">
                          <a:effectLst/>
                          <a:latin typeface="Times New Roman" panose="02020603050405020304" pitchFamily="18" charset="0"/>
                          <a:cs typeface="Times New Roman" panose="02020603050405020304" pitchFamily="18" charset="0"/>
                        </a:rPr>
                        <a:t>|</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dirty="0">
                          <a:effectLst/>
                          <a:latin typeface="Trebuchet MS" panose="020B0603020202020204" pitchFamily="34" charset="0"/>
                        </a:rPr>
                        <a:t>Binary OR Operator copies a bit if it exists in either operand.</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a:effectLst/>
                          <a:latin typeface="Trebuchet MS" panose="020B0603020202020204" pitchFamily="34" charset="0"/>
                        </a:rPr>
                        <a:t>(A | B) will give 61 which is 0011 1101</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40615788"/>
                  </a:ext>
                </a:extLst>
              </a:tr>
              <a:tr h="495769">
                <a:tc>
                  <a:txBody>
                    <a:bodyPr/>
                    <a:lstStyle/>
                    <a:p>
                      <a:pPr algn="ctr" fontAlgn="t"/>
                      <a:r>
                        <a:rPr lang="en-IN" sz="1300" dirty="0">
                          <a:effectLst/>
                          <a:latin typeface="Times New Roman" panose="02020603050405020304" pitchFamily="18" charset="0"/>
                          <a:cs typeface="Times New Roman" panose="02020603050405020304" pitchFamily="18" charset="0"/>
                        </a:rPr>
                        <a:t>^</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dirty="0">
                          <a:effectLst/>
                          <a:latin typeface="Trebuchet MS" panose="020B0603020202020204" pitchFamily="34" charset="0"/>
                        </a:rPr>
                        <a:t>Binary XOR Operator copies the bit if it is set in one operand but not both.</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300">
                          <a:effectLst/>
                          <a:latin typeface="Trebuchet MS" panose="020B0603020202020204" pitchFamily="34" charset="0"/>
                        </a:rPr>
                        <a:t>(A ^ B) will give 49 which is 0011 0001</a:t>
                      </a:r>
                    </a:p>
                  </a:txBody>
                  <a:tcPr marL="46927" marR="46927" marT="46927" marB="4692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16988722"/>
                  </a:ext>
                </a:extLst>
              </a:tr>
              <a:tr h="495769">
                <a:tc>
                  <a:txBody>
                    <a:bodyPr/>
                    <a:lstStyle/>
                    <a:p>
                      <a:pPr algn="ctr" fontAlgn="t"/>
                      <a:r>
                        <a:rPr lang="en-IN" sz="1300" dirty="0">
                          <a:effectLst/>
                          <a:latin typeface="Times New Roman" panose="02020603050405020304" pitchFamily="18" charset="0"/>
                          <a:cs typeface="Times New Roman" panose="02020603050405020304" pitchFamily="18" charset="0"/>
                        </a:rPr>
                        <a:t>~</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dirty="0">
                          <a:effectLst/>
                          <a:latin typeface="Trebuchet MS" panose="020B0603020202020204" pitchFamily="34" charset="0"/>
                        </a:rPr>
                        <a:t>Binary Ones Complement Operator is unary and has the effect of 'flipping' bits.</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dirty="0">
                          <a:effectLst/>
                          <a:latin typeface="Trebuchet MS" panose="020B0603020202020204" pitchFamily="34" charset="0"/>
                        </a:rPr>
                        <a:t>(~A ) will give -61 which is 1100 0011 in 2's complement form due to a signed binary number.</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9754631"/>
                  </a:ext>
                </a:extLst>
              </a:tr>
              <a:tr h="629245">
                <a:tc>
                  <a:txBody>
                    <a:bodyPr/>
                    <a:lstStyle/>
                    <a:p>
                      <a:pPr algn="ctr" fontAlgn="t"/>
                      <a:r>
                        <a:rPr lang="en-IN" sz="1300" dirty="0">
                          <a:effectLst/>
                          <a:latin typeface="Times New Roman" panose="02020603050405020304" pitchFamily="18" charset="0"/>
                          <a:cs typeface="Times New Roman" panose="02020603050405020304" pitchFamily="18" charset="0"/>
                        </a:rPr>
                        <a:t>&lt;&lt;</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a:effectLst/>
                          <a:latin typeface="Trebuchet MS" panose="020B0603020202020204" pitchFamily="34" charset="0"/>
                        </a:rPr>
                        <a:t>Binary Left Shift Operator. The left operands value is moved left by the number of bits specified by the right operand.</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300" dirty="0">
                          <a:effectLst/>
                          <a:latin typeface="Trebuchet MS" panose="020B0603020202020204" pitchFamily="34" charset="0"/>
                        </a:rPr>
                        <a:t>A &lt;&lt; 2 will give 240 which is 1111 0000</a:t>
                      </a:r>
                    </a:p>
                  </a:txBody>
                  <a:tcPr marL="46927" marR="46927" marT="46927" marB="4692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35539582"/>
                  </a:ext>
                </a:extLst>
              </a:tr>
              <a:tr h="629245">
                <a:tc>
                  <a:txBody>
                    <a:bodyPr/>
                    <a:lstStyle/>
                    <a:p>
                      <a:pPr algn="ctr" fontAlgn="t"/>
                      <a:r>
                        <a:rPr lang="en-IN" sz="1300" dirty="0">
                          <a:effectLst/>
                          <a:latin typeface="Times New Roman" panose="02020603050405020304" pitchFamily="18" charset="0"/>
                          <a:cs typeface="Times New Roman" panose="02020603050405020304" pitchFamily="18" charset="0"/>
                        </a:rPr>
                        <a:t>&gt;&gt;</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300" dirty="0">
                          <a:effectLst/>
                          <a:latin typeface="Trebuchet MS" panose="020B0603020202020204" pitchFamily="34" charset="0"/>
                        </a:rPr>
                        <a:t>Binary Right Shift Operator. The left operands value is moved right by the number of bits specified by the right operand.</a:t>
                      </a:r>
                    </a:p>
                  </a:txBody>
                  <a:tcPr marL="46927" marR="46927" marT="46927" marB="4692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300" dirty="0">
                          <a:effectLst/>
                          <a:latin typeface="Trebuchet MS" panose="020B0603020202020204" pitchFamily="34" charset="0"/>
                        </a:rPr>
                        <a:t>A &gt;&gt; 2 will give 15 which is 0000 1111</a:t>
                      </a:r>
                    </a:p>
                  </a:txBody>
                  <a:tcPr marL="46927" marR="46927" marT="46927" marB="4692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94290782"/>
                  </a:ext>
                </a:extLst>
              </a:tr>
            </a:tbl>
          </a:graphicData>
        </a:graphic>
      </p:graphicFrame>
    </p:spTree>
    <p:extLst>
      <p:ext uri="{BB962C8B-B14F-4D97-AF65-F5344CB8AC3E}">
        <p14:creationId xmlns:p14="http://schemas.microsoft.com/office/powerpoint/2010/main" val="140422694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9" y="118500"/>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2" name="object 3">
            <a:extLst>
              <a:ext uri="{FF2B5EF4-FFF2-40B4-BE49-F238E27FC236}">
                <a16:creationId xmlns:a16="http://schemas.microsoft.com/office/drawing/2014/main" id="{FE35C15A-F104-659D-A385-92A49A5E31A7}"/>
              </a:ext>
            </a:extLst>
          </p:cNvPr>
          <p:cNvSpPr txBox="1"/>
          <p:nvPr/>
        </p:nvSpPr>
        <p:spPr>
          <a:xfrm>
            <a:off x="318002" y="755470"/>
            <a:ext cx="3317240" cy="320601"/>
          </a:xfrm>
          <a:prstGeom prst="rect">
            <a:avLst/>
          </a:prstGeom>
        </p:spPr>
        <p:txBody>
          <a:bodyPr vert="horz" wrap="square" lIns="0" tIns="12700" rIns="0" bIns="0" rtlCol="0">
            <a:spAutoFit/>
          </a:bodyPr>
          <a:lstStyle/>
          <a:p>
            <a:pPr marL="12700">
              <a:spcBef>
                <a:spcPts val="100"/>
              </a:spcBef>
              <a:buClrTx/>
            </a:pPr>
            <a:r>
              <a:rPr lang="en-IN" sz="2000" b="1" kern="1200" dirty="0">
                <a:solidFill>
                  <a:srgbClr val="0070C0"/>
                </a:solidFill>
                <a:latin typeface="Trebuchet MS" panose="020B0603020202020204" pitchFamily="34" charset="0"/>
                <a:ea typeface="+mn-ea"/>
                <a:cs typeface="Times New Roman"/>
              </a:rPr>
              <a:t>Assignment Operators</a:t>
            </a:r>
          </a:p>
        </p:txBody>
      </p:sp>
      <p:graphicFrame>
        <p:nvGraphicFramePr>
          <p:cNvPr id="6" name="Table 5">
            <a:extLst>
              <a:ext uri="{FF2B5EF4-FFF2-40B4-BE49-F238E27FC236}">
                <a16:creationId xmlns:a16="http://schemas.microsoft.com/office/drawing/2014/main" id="{D5C63506-C8B2-26D7-135F-6CDCB90C3A74}"/>
              </a:ext>
            </a:extLst>
          </p:cNvPr>
          <p:cNvGraphicFramePr>
            <a:graphicFrameLocks noGrp="1"/>
          </p:cNvGraphicFramePr>
          <p:nvPr>
            <p:extLst>
              <p:ext uri="{D42A27DB-BD31-4B8C-83A1-F6EECF244321}">
                <p14:modId xmlns:p14="http://schemas.microsoft.com/office/powerpoint/2010/main" val="2593553502"/>
              </p:ext>
            </p:extLst>
          </p:nvPr>
        </p:nvGraphicFramePr>
        <p:xfrm>
          <a:off x="318002" y="1094788"/>
          <a:ext cx="8540873" cy="3705360"/>
        </p:xfrm>
        <a:graphic>
          <a:graphicData uri="http://schemas.openxmlformats.org/drawingml/2006/table">
            <a:tbl>
              <a:tblPr/>
              <a:tblGrid>
                <a:gridCol w="743543">
                  <a:extLst>
                    <a:ext uri="{9D8B030D-6E8A-4147-A177-3AD203B41FA5}">
                      <a16:colId xmlns:a16="http://schemas.microsoft.com/office/drawing/2014/main" val="924857606"/>
                    </a:ext>
                  </a:extLst>
                </a:gridCol>
                <a:gridCol w="5675586">
                  <a:extLst>
                    <a:ext uri="{9D8B030D-6E8A-4147-A177-3AD203B41FA5}">
                      <a16:colId xmlns:a16="http://schemas.microsoft.com/office/drawing/2014/main" val="1539352952"/>
                    </a:ext>
                  </a:extLst>
                </a:gridCol>
                <a:gridCol w="2121744">
                  <a:extLst>
                    <a:ext uri="{9D8B030D-6E8A-4147-A177-3AD203B41FA5}">
                      <a16:colId xmlns:a16="http://schemas.microsoft.com/office/drawing/2014/main" val="208453804"/>
                    </a:ext>
                  </a:extLst>
                </a:gridCol>
              </a:tblGrid>
              <a:tr h="217818">
                <a:tc>
                  <a:txBody>
                    <a:bodyPr/>
                    <a:lstStyle/>
                    <a:p>
                      <a:pPr algn="ctr" fontAlgn="t"/>
                      <a:r>
                        <a:rPr lang="en-IN" sz="1100" b="1" dirty="0">
                          <a:effectLst/>
                          <a:latin typeface="Trebuchet MS" panose="020B0603020202020204" pitchFamily="34" charset="0"/>
                        </a:rPr>
                        <a:t>Operator</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100" b="1" dirty="0">
                          <a:effectLst/>
                          <a:latin typeface="Trebuchet MS" panose="020B0603020202020204" pitchFamily="34" charset="0"/>
                        </a:rPr>
                        <a:t>Description</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100" b="1">
                          <a:effectLst/>
                          <a:latin typeface="Trebuchet MS" panose="020B0603020202020204" pitchFamily="34" charset="0"/>
                        </a:rPr>
                        <a:t>Example</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662621848"/>
                  </a:ext>
                </a:extLst>
              </a:tr>
              <a:tr h="298066">
                <a:tc>
                  <a:txBody>
                    <a:bodyPr/>
                    <a:lstStyle/>
                    <a:p>
                      <a:pPr algn="ctr" fontAlgn="t"/>
                      <a:r>
                        <a:rPr lang="en-IN" sz="1100" b="1" dirty="0">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Simple assignment operator, Assigns values from right side operands to left side operand.</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a:effectLst/>
                          <a:latin typeface="Trebuchet MS" panose="020B0603020202020204" pitchFamily="34" charset="0"/>
                        </a:rPr>
                        <a:t>C = A + B will assign value of A + B into C</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75750407"/>
                  </a:ext>
                </a:extLst>
              </a:tr>
              <a:tr h="378315">
                <a:tc>
                  <a:txBody>
                    <a:bodyPr/>
                    <a:lstStyle/>
                    <a:p>
                      <a:pPr algn="ctr" fontAlgn="t"/>
                      <a:r>
                        <a:rPr lang="en-IN" sz="1100" b="1" dirty="0">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Add AND assignment operator, It adds right operand to the left operand and assign the result to left operand.</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a:effectLst/>
                          <a:latin typeface="Trebuchet MS" panose="020B0603020202020204" pitchFamily="34" charset="0"/>
                        </a:rPr>
                        <a:t>C += A is equivalent to C = C + A</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02065901"/>
                  </a:ext>
                </a:extLst>
              </a:tr>
              <a:tr h="378315">
                <a:tc>
                  <a:txBody>
                    <a:bodyPr/>
                    <a:lstStyle/>
                    <a:p>
                      <a:pPr algn="ctr" fontAlgn="t"/>
                      <a:r>
                        <a:rPr lang="en-IN" sz="1100" b="1" dirty="0">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Subtract AND assignment operator, It subtracts right operand from the left operand and assign the result to left operand.</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a:effectLst/>
                          <a:latin typeface="Trebuchet MS" panose="020B0603020202020204" pitchFamily="34" charset="0"/>
                        </a:rPr>
                        <a:t>C -= A is equivalent to C = C - A</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17409652"/>
                  </a:ext>
                </a:extLst>
              </a:tr>
              <a:tr h="378315">
                <a:tc>
                  <a:txBody>
                    <a:bodyPr/>
                    <a:lstStyle/>
                    <a:p>
                      <a:pPr algn="ctr" fontAlgn="t"/>
                      <a:r>
                        <a:rPr lang="en-IN" sz="1100" b="1" dirty="0">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Multiply AND assignment operator, It multiplies right operand with the left operand and assign the result to left operand.</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a:effectLst/>
                          <a:latin typeface="Trebuchet MS" panose="020B0603020202020204" pitchFamily="34" charset="0"/>
                        </a:rPr>
                        <a:t>C *= A is equivalent to C = C * A</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089538783"/>
                  </a:ext>
                </a:extLst>
              </a:tr>
              <a:tr h="378315">
                <a:tc>
                  <a:txBody>
                    <a:bodyPr/>
                    <a:lstStyle/>
                    <a:p>
                      <a:pPr algn="ctr" fontAlgn="t"/>
                      <a:r>
                        <a:rPr lang="en-IN" sz="1100" b="1" dirty="0">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Divide AND assignment operator, It divides left operand with the right operand and assign the result to left operand.</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 A is equivalent to C = C / A</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34975741"/>
                  </a:ext>
                </a:extLst>
              </a:tr>
              <a:tr h="378315">
                <a:tc>
                  <a:txBody>
                    <a:bodyPr/>
                    <a:lstStyle/>
                    <a:p>
                      <a:pPr algn="ctr" fontAlgn="t"/>
                      <a:r>
                        <a:rPr lang="en-IN" sz="1100" b="1">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Modulus AND assignment operator, It takes modulus using two operands and assign the result to left operand.</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 A is equivalent to C = C % A</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40565923"/>
                  </a:ext>
                </a:extLst>
              </a:tr>
              <a:tr h="217818">
                <a:tc>
                  <a:txBody>
                    <a:bodyPr/>
                    <a:lstStyle/>
                    <a:p>
                      <a:pPr algn="ctr" fontAlgn="t"/>
                      <a:r>
                        <a:rPr lang="en-IN" sz="1100" b="1" dirty="0">
                          <a:effectLst/>
                          <a:latin typeface="Times New Roman" panose="02020603050405020304" pitchFamily="18" charset="0"/>
                          <a:cs typeface="Times New Roman" panose="02020603050405020304" pitchFamily="18" charset="0"/>
                        </a:rPr>
                        <a:t>&lt;&lt;=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Left shift AND assignment operator.</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&lt;&lt;= 2 is same as C = C &lt;&lt; 2</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66059817"/>
                  </a:ext>
                </a:extLst>
              </a:tr>
              <a:tr h="217818">
                <a:tc>
                  <a:txBody>
                    <a:bodyPr/>
                    <a:lstStyle/>
                    <a:p>
                      <a:pPr algn="ctr" fontAlgn="t"/>
                      <a:r>
                        <a:rPr lang="en-IN" sz="1100" b="1" dirty="0">
                          <a:effectLst/>
                          <a:latin typeface="Times New Roman" panose="02020603050405020304" pitchFamily="18" charset="0"/>
                          <a:cs typeface="Times New Roman" panose="02020603050405020304" pitchFamily="18" charset="0"/>
                        </a:rPr>
                        <a:t>&gt;&gt;=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Right shift AND assignment operator.</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&gt;&gt;= 2 is same as C = C &gt;&gt; 2</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8365894"/>
                  </a:ext>
                </a:extLst>
              </a:tr>
              <a:tr h="137569">
                <a:tc>
                  <a:txBody>
                    <a:bodyPr/>
                    <a:lstStyle/>
                    <a:p>
                      <a:pPr algn="ctr" fontAlgn="t"/>
                      <a:r>
                        <a:rPr lang="en-IN" sz="1100" b="1" dirty="0">
                          <a:effectLst/>
                          <a:latin typeface="Times New Roman" panose="02020603050405020304" pitchFamily="18" charset="0"/>
                          <a:cs typeface="Times New Roman" panose="02020603050405020304" pitchFamily="18" charset="0"/>
                        </a:rPr>
                        <a:t>&amp;=</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Bitwise AND assignment operator.</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&amp;= 2 is same as C = C &amp; 2</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34872118"/>
                  </a:ext>
                </a:extLst>
              </a:tr>
              <a:tr h="217818">
                <a:tc>
                  <a:txBody>
                    <a:bodyPr/>
                    <a:lstStyle/>
                    <a:p>
                      <a:pPr algn="ctr" fontAlgn="t"/>
                      <a:r>
                        <a:rPr lang="en-IN" sz="1100" b="1" dirty="0">
                          <a:effectLst/>
                          <a:latin typeface="Times New Roman" panose="02020603050405020304" pitchFamily="18" charset="0"/>
                          <a:cs typeface="Times New Roman" panose="02020603050405020304" pitchFamily="18"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dirty="0">
                          <a:effectLst/>
                          <a:latin typeface="Trebuchet MS" panose="020B0603020202020204" pitchFamily="34" charset="0"/>
                        </a:rPr>
                        <a:t>Bitwise exclusive OR and assignment operator.</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 2 is same as C = C ^ 2</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84355760"/>
                  </a:ext>
                </a:extLst>
              </a:tr>
              <a:tr h="217818">
                <a:tc>
                  <a:txBody>
                    <a:bodyPr/>
                    <a:lstStyle/>
                    <a:p>
                      <a:pPr algn="ctr" fontAlgn="t"/>
                      <a:r>
                        <a:rPr lang="en-IN" sz="1100" b="1" dirty="0">
                          <a:effectLst/>
                          <a:latin typeface="Trebuchet MS" panose="020B0603020202020204" pitchFamily="34" charset="0"/>
                        </a:rPr>
                        <a:t>|=</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100" b="1">
                          <a:effectLst/>
                          <a:latin typeface="Trebuchet MS" panose="020B0603020202020204" pitchFamily="34" charset="0"/>
                        </a:rPr>
                        <a:t>Bitwise inclusive OR and assignment operator.</a:t>
                      </a:r>
                    </a:p>
                  </a:txBody>
                  <a:tcPr marL="28660" marR="28660" marT="28660" marB="2866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IN" sz="1100" b="1" dirty="0">
                          <a:effectLst/>
                          <a:latin typeface="Trebuchet MS" panose="020B0603020202020204" pitchFamily="34" charset="0"/>
                        </a:rPr>
                        <a:t>C |= 2 is same as C = C | 2</a:t>
                      </a:r>
                    </a:p>
                  </a:txBody>
                  <a:tcPr marL="28660" marR="28660" marT="28660" marB="2866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97367144"/>
                  </a:ext>
                </a:extLst>
              </a:tr>
            </a:tbl>
          </a:graphicData>
        </a:graphic>
      </p:graphicFrame>
    </p:spTree>
    <p:extLst>
      <p:ext uri="{BB962C8B-B14F-4D97-AF65-F5344CB8AC3E}">
        <p14:creationId xmlns:p14="http://schemas.microsoft.com/office/powerpoint/2010/main" val="7104210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9" y="118500"/>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Tokens – Operators</a:t>
            </a:r>
          </a:p>
        </p:txBody>
      </p:sp>
      <p:sp>
        <p:nvSpPr>
          <p:cNvPr id="2" name="object 3">
            <a:extLst>
              <a:ext uri="{FF2B5EF4-FFF2-40B4-BE49-F238E27FC236}">
                <a16:creationId xmlns:a16="http://schemas.microsoft.com/office/drawing/2014/main" id="{FE35C15A-F104-659D-A385-92A49A5E31A7}"/>
              </a:ext>
            </a:extLst>
          </p:cNvPr>
          <p:cNvSpPr txBox="1"/>
          <p:nvPr/>
        </p:nvSpPr>
        <p:spPr>
          <a:xfrm>
            <a:off x="318002" y="755470"/>
            <a:ext cx="3317240" cy="320601"/>
          </a:xfrm>
          <a:prstGeom prst="rect">
            <a:avLst/>
          </a:prstGeom>
        </p:spPr>
        <p:txBody>
          <a:bodyPr vert="horz" wrap="square" lIns="0" tIns="12700" rIns="0" bIns="0" rtlCol="0">
            <a:spAutoFit/>
          </a:bodyPr>
          <a:lstStyle/>
          <a:p>
            <a:pPr marL="12700">
              <a:spcBef>
                <a:spcPts val="100"/>
              </a:spcBef>
              <a:buClrTx/>
            </a:pPr>
            <a:r>
              <a:rPr lang="en-IN" sz="2000" b="1" kern="1200" dirty="0">
                <a:solidFill>
                  <a:srgbClr val="0070C0"/>
                </a:solidFill>
                <a:latin typeface="Trebuchet MS" panose="020B0603020202020204" pitchFamily="34" charset="0"/>
                <a:ea typeface="+mn-ea"/>
                <a:cs typeface="Times New Roman"/>
              </a:rPr>
              <a:t>Special  Operators</a:t>
            </a:r>
          </a:p>
        </p:txBody>
      </p:sp>
      <p:graphicFrame>
        <p:nvGraphicFramePr>
          <p:cNvPr id="5" name="Table 4">
            <a:extLst>
              <a:ext uri="{FF2B5EF4-FFF2-40B4-BE49-F238E27FC236}">
                <a16:creationId xmlns:a16="http://schemas.microsoft.com/office/drawing/2014/main" id="{180E2E62-11FC-31A8-AA16-7958C8482F5D}"/>
              </a:ext>
            </a:extLst>
          </p:cNvPr>
          <p:cNvGraphicFramePr>
            <a:graphicFrameLocks noGrp="1"/>
          </p:cNvGraphicFramePr>
          <p:nvPr>
            <p:extLst>
              <p:ext uri="{D42A27DB-BD31-4B8C-83A1-F6EECF244321}">
                <p14:modId xmlns:p14="http://schemas.microsoft.com/office/powerpoint/2010/main" val="606833767"/>
              </p:ext>
            </p:extLst>
          </p:nvPr>
        </p:nvGraphicFramePr>
        <p:xfrm>
          <a:off x="316719" y="1199837"/>
          <a:ext cx="8542156" cy="3737795"/>
        </p:xfrm>
        <a:graphic>
          <a:graphicData uri="http://schemas.openxmlformats.org/drawingml/2006/table">
            <a:tbl>
              <a:tblPr>
                <a:tableStyleId>{21E4AEA4-8DFA-4A89-87EB-49C32662AFE0}</a:tableStyleId>
              </a:tblPr>
              <a:tblGrid>
                <a:gridCol w="517650">
                  <a:extLst>
                    <a:ext uri="{9D8B030D-6E8A-4147-A177-3AD203B41FA5}">
                      <a16:colId xmlns:a16="http://schemas.microsoft.com/office/drawing/2014/main" val="1925828220"/>
                    </a:ext>
                  </a:extLst>
                </a:gridCol>
                <a:gridCol w="1554287">
                  <a:extLst>
                    <a:ext uri="{9D8B030D-6E8A-4147-A177-3AD203B41FA5}">
                      <a16:colId xmlns:a16="http://schemas.microsoft.com/office/drawing/2014/main" val="3358650197"/>
                    </a:ext>
                  </a:extLst>
                </a:gridCol>
                <a:gridCol w="3925612">
                  <a:extLst>
                    <a:ext uri="{9D8B030D-6E8A-4147-A177-3AD203B41FA5}">
                      <a16:colId xmlns:a16="http://schemas.microsoft.com/office/drawing/2014/main" val="430951666"/>
                    </a:ext>
                  </a:extLst>
                </a:gridCol>
                <a:gridCol w="2544607">
                  <a:extLst>
                    <a:ext uri="{9D8B030D-6E8A-4147-A177-3AD203B41FA5}">
                      <a16:colId xmlns:a16="http://schemas.microsoft.com/office/drawing/2014/main" val="3428574785"/>
                    </a:ext>
                  </a:extLst>
                </a:gridCol>
              </a:tblGrid>
              <a:tr h="290269">
                <a:tc>
                  <a:txBody>
                    <a:bodyPr/>
                    <a:lstStyle/>
                    <a:p>
                      <a:pPr algn="ctr" fontAlgn="t">
                        <a:lnSpc>
                          <a:spcPct val="107000"/>
                        </a:lnSpc>
                        <a:spcAft>
                          <a:spcPts val="800"/>
                        </a:spcAft>
                      </a:pPr>
                      <a:r>
                        <a:rPr lang="en-IN" sz="1200" b="1" dirty="0" err="1">
                          <a:solidFill>
                            <a:srgbClr val="000000"/>
                          </a:solidFill>
                          <a:effectLst/>
                        </a:rPr>
                        <a:t>S.No</a:t>
                      </a:r>
                      <a:r>
                        <a:rPr lang="en-IN" sz="1200" b="1" dirty="0">
                          <a:solidFill>
                            <a:srgbClr val="000000"/>
                          </a:solidFill>
                          <a:effectLst/>
                        </a:rPr>
                        <a:t> </a:t>
                      </a:r>
                      <a:endParaRPr lang="en-IN" sz="12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1" dirty="0">
                          <a:solidFill>
                            <a:srgbClr val="000000"/>
                          </a:solidFill>
                          <a:effectLst/>
                        </a:rPr>
                        <a:t> Operator </a:t>
                      </a:r>
                      <a:endParaRPr lang="en-IN" sz="12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1" dirty="0">
                          <a:solidFill>
                            <a:srgbClr val="000000"/>
                          </a:solidFill>
                          <a:effectLst/>
                        </a:rPr>
                        <a:t>Description </a:t>
                      </a:r>
                      <a:endParaRPr lang="en-IN" sz="12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1" dirty="0">
                          <a:solidFill>
                            <a:srgbClr val="000000"/>
                          </a:solidFill>
                          <a:effectLst/>
                        </a:rPr>
                        <a:t>Example</a:t>
                      </a:r>
                      <a:endParaRPr lang="en-IN" sz="12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715822173"/>
                  </a:ext>
                </a:extLst>
              </a:tr>
              <a:tr h="290269">
                <a:tc>
                  <a:txBody>
                    <a:bodyPr/>
                    <a:lstStyle/>
                    <a:p>
                      <a:pPr algn="ctr" fontAlgn="t">
                        <a:lnSpc>
                          <a:spcPct val="107000"/>
                        </a:lnSpc>
                        <a:spcAft>
                          <a:spcPts val="800"/>
                        </a:spcAft>
                      </a:pPr>
                      <a:r>
                        <a:rPr lang="en-IN" sz="1200" b="0" dirty="0">
                          <a:solidFill>
                            <a:srgbClr val="000000"/>
                          </a:solidFill>
                          <a:effectLst/>
                        </a:rPr>
                        <a:t>1</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err="1">
                          <a:solidFill>
                            <a:srgbClr val="000000"/>
                          </a:solidFill>
                          <a:effectLst/>
                        </a:rPr>
                        <a:t>sizeof</a:t>
                      </a:r>
                      <a:r>
                        <a:rPr lang="en-IN" sz="1200" b="0" dirty="0">
                          <a:solidFill>
                            <a:srgbClr val="000000"/>
                          </a:solidFill>
                          <a:effectLst/>
                        </a:rPr>
                        <a:t>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0" dirty="0" err="1">
                          <a:solidFill>
                            <a:srgbClr val="313131"/>
                          </a:solidFill>
                          <a:effectLst/>
                        </a:rPr>
                        <a:t>sizeof</a:t>
                      </a:r>
                      <a:r>
                        <a:rPr lang="en-IN" sz="1200" b="0" dirty="0">
                          <a:solidFill>
                            <a:srgbClr val="313131"/>
                          </a:solidFill>
                          <a:effectLst/>
                        </a:rPr>
                        <a:t> operator</a:t>
                      </a:r>
                      <a:r>
                        <a:rPr lang="en-IN" sz="1200" b="0" dirty="0">
                          <a:solidFill>
                            <a:srgbClr val="000000"/>
                          </a:solidFill>
                          <a:effectLst/>
                        </a:rPr>
                        <a:t> returns the size of a variable.</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err="1">
                          <a:solidFill>
                            <a:srgbClr val="000000"/>
                          </a:solidFill>
                          <a:effectLst/>
                        </a:rPr>
                        <a:t>sizeof</a:t>
                      </a:r>
                      <a:r>
                        <a:rPr lang="en-IN" sz="1200" b="0" dirty="0">
                          <a:solidFill>
                            <a:srgbClr val="000000"/>
                          </a:solidFill>
                          <a:effectLst/>
                        </a:rPr>
                        <a:t>(a), where ‘a’ is integer, and will return 4.</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883510966"/>
                  </a:ext>
                </a:extLst>
              </a:tr>
              <a:tr h="608958">
                <a:tc>
                  <a:txBody>
                    <a:bodyPr/>
                    <a:lstStyle/>
                    <a:p>
                      <a:pPr algn="ctr" fontAlgn="t">
                        <a:lnSpc>
                          <a:spcPct val="107000"/>
                        </a:lnSpc>
                        <a:spcAft>
                          <a:spcPts val="800"/>
                        </a:spcAft>
                      </a:pPr>
                      <a:r>
                        <a:rPr lang="en-IN" sz="1200" b="0" dirty="0">
                          <a:solidFill>
                            <a:srgbClr val="000000"/>
                          </a:solidFill>
                          <a:effectLst/>
                        </a:rPr>
                        <a:t>2</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a:solidFill>
                            <a:srgbClr val="000000"/>
                          </a:solidFill>
                          <a:effectLst/>
                        </a:rPr>
                        <a:t>? :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b="0" dirty="0">
                          <a:solidFill>
                            <a:srgbClr val="000000"/>
                          </a:solidFill>
                          <a:effectLst/>
                        </a:rPr>
                        <a:t>Exp1 ? Exp2 : Exp3;</a:t>
                      </a:r>
                      <a:endParaRPr lang="en-IN" sz="1200" b="0" dirty="0">
                        <a:effectLst/>
                      </a:endParaRPr>
                    </a:p>
                    <a:p>
                      <a:pPr algn="just" fontAlgn="t">
                        <a:lnSpc>
                          <a:spcPct val="107000"/>
                        </a:lnSpc>
                        <a:spcAft>
                          <a:spcPts val="800"/>
                        </a:spcAft>
                      </a:pPr>
                      <a:r>
                        <a:rPr lang="en-IN" sz="1200" b="0" dirty="0">
                          <a:solidFill>
                            <a:srgbClr val="000000"/>
                          </a:solidFill>
                          <a:effectLst/>
                        </a:rPr>
                        <a:t>If Condition is true then it returns value of X otherwise returns value of Y.</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a:solidFill>
                            <a:srgbClr val="000000"/>
                          </a:solidFill>
                          <a:effectLst/>
                        </a:rPr>
                        <a:t> </a:t>
                      </a:r>
                      <a:endParaRPr lang="en-IN" sz="1200" b="0" dirty="0">
                        <a:effectLst/>
                      </a:endParaRPr>
                    </a:p>
                    <a:p>
                      <a:pPr algn="just" fontAlgn="t">
                        <a:lnSpc>
                          <a:spcPct val="107000"/>
                        </a:lnSpc>
                        <a:spcAft>
                          <a:spcPts val="800"/>
                        </a:spcAft>
                      </a:pPr>
                      <a:r>
                        <a:rPr lang="en-IN" sz="1200" b="0" dirty="0">
                          <a:solidFill>
                            <a:srgbClr val="000000"/>
                          </a:solidFill>
                          <a:effectLst/>
                        </a:rPr>
                        <a:t> var = (y &lt; 10) ? 30 : 40;</a:t>
                      </a:r>
                      <a:r>
                        <a:rPr lang="en-IN" sz="1200" b="0" dirty="0">
                          <a:effectLst/>
                        </a:rPr>
                        <a:t> </a:t>
                      </a:r>
                      <a:r>
                        <a:rPr lang="en-IN" sz="1200" b="0" dirty="0">
                          <a:solidFill>
                            <a:srgbClr val="000000"/>
                          </a:solidFill>
                          <a:effectLst/>
                        </a:rPr>
                        <a:t>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890607521"/>
                  </a:ext>
                </a:extLst>
              </a:tr>
              <a:tr h="792281">
                <a:tc>
                  <a:txBody>
                    <a:bodyPr/>
                    <a:lstStyle/>
                    <a:p>
                      <a:pPr algn="ctr" fontAlgn="t">
                        <a:lnSpc>
                          <a:spcPct val="107000"/>
                        </a:lnSpc>
                        <a:spcAft>
                          <a:spcPts val="800"/>
                        </a:spcAft>
                      </a:pPr>
                      <a:r>
                        <a:rPr lang="en-IN" sz="1200" b="0" dirty="0">
                          <a:solidFill>
                            <a:srgbClr val="000000"/>
                          </a:solidFill>
                          <a:effectLst/>
                        </a:rPr>
                        <a:t>3</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a:solidFill>
                            <a:srgbClr val="000000"/>
                          </a:solidFill>
                          <a:effectLst/>
                        </a:rPr>
                        <a:t>,</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0" dirty="0">
                          <a:solidFill>
                            <a:srgbClr val="313131"/>
                          </a:solidFill>
                          <a:effectLst/>
                        </a:rPr>
                        <a:t>Comma operator</a:t>
                      </a:r>
                      <a:r>
                        <a:rPr lang="en-IN" sz="1200" b="0" dirty="0">
                          <a:solidFill>
                            <a:srgbClr val="000000"/>
                          </a:solidFill>
                          <a:effectLst/>
                        </a:rPr>
                        <a:t> causes a sequence of operations to be performed. The value of the entire comma expression is the value of the last expression of the comma-separated list.</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a:solidFill>
                            <a:srgbClr val="000000"/>
                          </a:solidFill>
                          <a:effectLst/>
                        </a:rPr>
                        <a:t>var = (count = 19, </a:t>
                      </a:r>
                      <a:r>
                        <a:rPr lang="en-IN" sz="1200" b="0" dirty="0" err="1">
                          <a:solidFill>
                            <a:srgbClr val="000000"/>
                          </a:solidFill>
                          <a:effectLst/>
                        </a:rPr>
                        <a:t>incr</a:t>
                      </a:r>
                      <a:r>
                        <a:rPr lang="en-IN" sz="1200" b="0" dirty="0">
                          <a:solidFill>
                            <a:srgbClr val="000000"/>
                          </a:solidFill>
                          <a:effectLst/>
                        </a:rPr>
                        <a:t> = 10, count+1);</a:t>
                      </a:r>
                      <a:r>
                        <a:rPr lang="en-IN" sz="1200" b="0" dirty="0">
                          <a:effectLst/>
                        </a:rPr>
                        <a:t> </a:t>
                      </a:r>
                      <a:r>
                        <a:rPr lang="en-IN" sz="1200" b="0" dirty="0">
                          <a:solidFill>
                            <a:srgbClr val="000000"/>
                          </a:solidFill>
                          <a:effectLst/>
                        </a:rPr>
                        <a:t>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66111940"/>
                  </a:ext>
                </a:extLst>
              </a:tr>
              <a:tr h="396141">
                <a:tc>
                  <a:txBody>
                    <a:bodyPr/>
                    <a:lstStyle/>
                    <a:p>
                      <a:pPr algn="ctr" fontAlgn="t">
                        <a:lnSpc>
                          <a:spcPct val="107000"/>
                        </a:lnSpc>
                        <a:spcAft>
                          <a:spcPts val="800"/>
                        </a:spcAft>
                      </a:pPr>
                      <a:r>
                        <a:rPr lang="en-IN" sz="1200" b="0" dirty="0">
                          <a:solidFill>
                            <a:srgbClr val="000000"/>
                          </a:solidFill>
                          <a:effectLst/>
                        </a:rPr>
                        <a:t>4</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a:solidFill>
                            <a:srgbClr val="000000"/>
                          </a:solidFill>
                          <a:effectLst/>
                        </a:rPr>
                        <a:t>. (dot) and -&gt; (arrow)</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0" dirty="0">
                          <a:solidFill>
                            <a:srgbClr val="000000"/>
                          </a:solidFill>
                          <a:effectLst/>
                        </a:rPr>
                        <a:t>Member operators are used to reference individual members of classes, structures, and unions.</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a:solidFill>
                            <a:srgbClr val="000000"/>
                          </a:solidFill>
                          <a:effectLst/>
                        </a:rPr>
                        <a:t>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666812035"/>
                  </a:ext>
                </a:extLst>
              </a:tr>
              <a:tr h="396141">
                <a:tc>
                  <a:txBody>
                    <a:bodyPr/>
                    <a:lstStyle/>
                    <a:p>
                      <a:pPr algn="ctr" fontAlgn="t">
                        <a:lnSpc>
                          <a:spcPct val="107000"/>
                        </a:lnSpc>
                        <a:spcAft>
                          <a:spcPts val="800"/>
                        </a:spcAft>
                      </a:pPr>
                      <a:r>
                        <a:rPr lang="en-IN" sz="1200" b="0" dirty="0">
                          <a:solidFill>
                            <a:srgbClr val="000000"/>
                          </a:solidFill>
                          <a:effectLst/>
                        </a:rPr>
                        <a:t>5</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a:solidFill>
                            <a:srgbClr val="000000"/>
                          </a:solidFill>
                          <a:effectLst/>
                        </a:rPr>
                        <a:t>Cast</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0" dirty="0">
                          <a:solidFill>
                            <a:srgbClr val="000000"/>
                          </a:solidFill>
                          <a:effectLst/>
                        </a:rPr>
                        <a:t>Casting operators convert one data type to another. For example,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a:solidFill>
                            <a:srgbClr val="000000"/>
                          </a:solidFill>
                          <a:effectLst/>
                        </a:rPr>
                        <a:t>int(2.2000) would return 2.</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169163001"/>
                  </a:ext>
                </a:extLst>
              </a:tr>
              <a:tr h="351969">
                <a:tc>
                  <a:txBody>
                    <a:bodyPr/>
                    <a:lstStyle/>
                    <a:p>
                      <a:pPr algn="ctr" fontAlgn="t">
                        <a:lnSpc>
                          <a:spcPct val="107000"/>
                        </a:lnSpc>
                        <a:spcAft>
                          <a:spcPts val="800"/>
                        </a:spcAft>
                      </a:pPr>
                      <a:r>
                        <a:rPr lang="en-IN" sz="1200" b="0" dirty="0">
                          <a:solidFill>
                            <a:srgbClr val="000000"/>
                          </a:solidFill>
                          <a:effectLst/>
                        </a:rPr>
                        <a:t>6</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a:solidFill>
                            <a:srgbClr val="000000"/>
                          </a:solidFill>
                          <a:effectLst/>
                        </a:rPr>
                        <a:t>&amp;</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0" dirty="0">
                          <a:solidFill>
                            <a:srgbClr val="313131"/>
                          </a:solidFill>
                          <a:effectLst/>
                        </a:rPr>
                        <a:t>Pointer operator &amp;</a:t>
                      </a:r>
                      <a:r>
                        <a:rPr lang="en-IN" sz="1200" b="0" dirty="0">
                          <a:solidFill>
                            <a:srgbClr val="000000"/>
                          </a:solidFill>
                          <a:effectLst/>
                        </a:rPr>
                        <a:t> returns the address of a variable.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a:solidFill>
                            <a:srgbClr val="000000"/>
                          </a:solidFill>
                          <a:effectLst/>
                        </a:rPr>
                        <a:t> For example &amp;a; will give actual address of the variable.</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654367637"/>
                  </a:ext>
                </a:extLst>
              </a:tr>
              <a:tr h="290269">
                <a:tc>
                  <a:txBody>
                    <a:bodyPr/>
                    <a:lstStyle/>
                    <a:p>
                      <a:pPr algn="ctr" fontAlgn="t">
                        <a:lnSpc>
                          <a:spcPct val="107000"/>
                        </a:lnSpc>
                        <a:spcAft>
                          <a:spcPts val="800"/>
                        </a:spcAft>
                      </a:pPr>
                      <a:r>
                        <a:rPr lang="en-IN" sz="1200" b="0" dirty="0">
                          <a:solidFill>
                            <a:srgbClr val="000000"/>
                          </a:solidFill>
                          <a:effectLst/>
                        </a:rPr>
                        <a:t>7</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l" fontAlgn="t">
                        <a:lnSpc>
                          <a:spcPct val="107000"/>
                        </a:lnSpc>
                        <a:spcAft>
                          <a:spcPts val="800"/>
                        </a:spcAft>
                      </a:pPr>
                      <a:r>
                        <a:rPr lang="en-IN" sz="1200" b="0" dirty="0">
                          <a:solidFill>
                            <a:srgbClr val="000000"/>
                          </a:solidFill>
                          <a:effectLst/>
                        </a:rPr>
                        <a:t>*</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23371" marR="23371" marT="23371" marB="23371"/>
                </a:tc>
                <a:tc>
                  <a:txBody>
                    <a:bodyPr/>
                    <a:lstStyle/>
                    <a:p>
                      <a:pPr algn="just" fontAlgn="t">
                        <a:lnSpc>
                          <a:spcPct val="107000"/>
                        </a:lnSpc>
                        <a:spcAft>
                          <a:spcPts val="800"/>
                        </a:spcAft>
                      </a:pPr>
                      <a:r>
                        <a:rPr lang="en-IN" sz="1200" b="0" dirty="0">
                          <a:solidFill>
                            <a:srgbClr val="313131"/>
                          </a:solidFill>
                          <a:effectLst/>
                        </a:rPr>
                        <a:t>Pointer operator *</a:t>
                      </a:r>
                      <a:r>
                        <a:rPr lang="en-IN" sz="1200" b="0" dirty="0">
                          <a:solidFill>
                            <a:srgbClr val="000000"/>
                          </a:solidFill>
                          <a:effectLst/>
                        </a:rPr>
                        <a:t> is pointer to a variable.  </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tc>
                  <a:txBody>
                    <a:bodyPr/>
                    <a:lstStyle/>
                    <a:p>
                      <a:pPr algn="just" fontAlgn="t">
                        <a:lnSpc>
                          <a:spcPct val="107000"/>
                        </a:lnSpc>
                        <a:spcAft>
                          <a:spcPts val="800"/>
                        </a:spcAft>
                      </a:pPr>
                      <a:r>
                        <a:rPr lang="en-IN" sz="1200" b="0" dirty="0">
                          <a:solidFill>
                            <a:srgbClr val="000000"/>
                          </a:solidFill>
                          <a:effectLst/>
                        </a:rPr>
                        <a:t>For example *var; will pointer to a variable var.</a:t>
                      </a:r>
                      <a:endParaRPr lang="en-IN" sz="1200" b="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773700770"/>
                  </a:ext>
                </a:extLst>
              </a:tr>
            </a:tbl>
          </a:graphicData>
        </a:graphic>
      </p:graphicFrame>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19428934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9" y="118500"/>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800" b="1" dirty="0">
                <a:solidFill>
                  <a:srgbClr val="FFFFFF"/>
                </a:solidFill>
                <a:latin typeface="Trebuchet MS" panose="020B0603020202020204" pitchFamily="34" charset="0"/>
              </a:rPr>
              <a:t>Some C++ </a:t>
            </a:r>
            <a:r>
              <a:rPr kumimoji="0" lang="en-IN" sz="2800" b="1" i="0" u="none" strike="noStrike" kern="0" cap="none" spc="0" normalizeH="0" baseline="0" noProof="0" dirty="0">
                <a:ln>
                  <a:noFill/>
                </a:ln>
                <a:solidFill>
                  <a:srgbClr val="FFFFFF"/>
                </a:solidFill>
                <a:effectLst/>
                <a:uLnTx/>
                <a:uFillTx/>
                <a:latin typeface="Trebuchet MS" panose="020B0603020202020204" pitchFamily="34" charset="0"/>
                <a:cs typeface="Arial"/>
                <a:sym typeface="Arial"/>
              </a:rPr>
              <a:t>Operators</a:t>
            </a:r>
          </a:p>
        </p:txBody>
      </p:sp>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49E24AAE-5761-6993-5798-7FB5F3CCCEED}"/>
              </a:ext>
            </a:extLst>
          </p:cNvPr>
          <p:cNvSpPr txBox="1"/>
          <p:nvPr/>
        </p:nvSpPr>
        <p:spPr>
          <a:xfrm>
            <a:off x="419098" y="744300"/>
            <a:ext cx="7908474" cy="4387804"/>
          </a:xfrm>
          <a:prstGeom prst="rect">
            <a:avLst/>
          </a:prstGeom>
          <a:noFill/>
        </p:spPr>
        <p:txBody>
          <a:bodyPr wrap="square">
            <a:spAutoFit/>
          </a:bodyPr>
          <a:lstStyle/>
          <a:p>
            <a:pPr marL="12700" marR="0" lvl="0" indent="0" algn="l" defTabSz="914400" rtl="0" eaLnBrk="1" fontAlgn="auto" latinLnBrk="0" hangingPunct="1">
              <a:lnSpc>
                <a:spcPct val="100000"/>
              </a:lnSpc>
              <a:spcBef>
                <a:spcPts val="1060"/>
              </a:spcBef>
              <a:spcAft>
                <a:spcPts val="0"/>
              </a:spcAft>
              <a:buClrTx/>
              <a:buSzTx/>
              <a:buFontTx/>
              <a:buNone/>
              <a:tabLst/>
              <a:defRPr/>
            </a:pPr>
            <a:r>
              <a:rPr kumimoji="0" lang="en-IN" sz="18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New operators</a:t>
            </a:r>
            <a:r>
              <a:rPr kumimoji="0" lang="en-IN" sz="1800" b="1" i="0" u="sng" strike="noStrike" kern="1200" cap="none" spc="-4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(All</a:t>
            </a:r>
            <a:r>
              <a:rPr kumimoji="0" lang="en-IN" sz="1800" b="1" i="0" u="sng" strike="noStrike" kern="1200" cap="none" spc="-2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C</a:t>
            </a:r>
            <a:r>
              <a:rPr kumimoji="0" lang="en-IN" sz="1800" b="1" i="0" u="sng" strike="noStrike" kern="1200" cap="none" spc="-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operators</a:t>
            </a:r>
            <a:r>
              <a:rPr kumimoji="0" lang="en-IN" sz="1800" b="1" i="0" u="sng" strike="noStrike" kern="1200" cap="none" spc="-3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1" i="0" u="sng" strike="noStrike" kern="1200" cap="none" spc="-10" normalizeH="0" baseline="0" noProof="0" dirty="0">
                <a:ln>
                  <a:noFill/>
                </a:ln>
                <a:solidFill>
                  <a:srgbClr val="0070C0"/>
                </a:solidFill>
                <a:effectLst/>
                <a:uLnTx/>
                <a:uFillTx/>
                <a:latin typeface="Trebuchet MS" panose="020B0603020202020204" pitchFamily="34" charset="0"/>
                <a:ea typeface="+mn-ea"/>
                <a:cs typeface="Times New Roman"/>
              </a:rPr>
              <a:t>are </a:t>
            </a:r>
            <a:r>
              <a:rPr kumimoji="0" lang="en-IN" sz="18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valid</a:t>
            </a:r>
            <a:r>
              <a:rPr kumimoji="0" lang="en-IN" sz="1800" b="1" i="0" u="sng" strike="noStrike" kern="1200" cap="none" spc="-2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1" i="0" u="sng" strike="noStrike" kern="1200" cap="none" spc="-5" normalizeH="0" baseline="0" noProof="0" dirty="0">
                <a:ln>
                  <a:noFill/>
                </a:ln>
                <a:solidFill>
                  <a:srgbClr val="0070C0"/>
                </a:solidFill>
                <a:effectLst/>
                <a:uLnTx/>
                <a:uFillTx/>
                <a:latin typeface="Trebuchet MS" panose="020B0603020202020204" pitchFamily="34" charset="0"/>
                <a:ea typeface="+mn-ea"/>
                <a:cs typeface="Times New Roman"/>
              </a:rPr>
              <a:t>in</a:t>
            </a:r>
            <a:r>
              <a:rPr kumimoji="0" lang="en-IN" sz="1800" b="1" i="0" u="sng" strike="noStrike" kern="1200" cap="none" spc="-1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C++)</a:t>
            </a:r>
            <a:endParaRPr kumimoji="0" lang="en-IN" sz="1800" b="0" i="0" u="sng"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endParaRPr>
          </a:p>
          <a:p>
            <a:pPr marL="12700" marR="0" lvl="0" indent="0" algn="l" defTabSz="914400" rtl="0" eaLnBrk="1" fontAlgn="auto" latinLnBrk="0" hangingPunct="1">
              <a:lnSpc>
                <a:spcPct val="100000"/>
              </a:lnSpc>
              <a:spcBef>
                <a:spcPts val="965"/>
              </a:spcBef>
              <a:spcAft>
                <a:spcPts val="0"/>
              </a:spcAft>
              <a:buClrTx/>
              <a:buSzTx/>
              <a:buFontTx/>
              <a:buNone/>
              <a:tabLst>
                <a:tab pos="678815" algn="l"/>
              </a:tabLst>
              <a:defRPr/>
            </a:pP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&lt;&lt;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Insertion</a:t>
            </a:r>
            <a:r>
              <a:rPr kumimoji="0" lang="en-IN" sz="1800" b="0" i="0" u="none" strike="noStrike" kern="1200" cap="none" spc="-6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a:t>
            </a:r>
          </a:p>
          <a:p>
            <a:pPr marL="12700" marR="0" lvl="0" indent="0" algn="l" defTabSz="914400" rtl="0" eaLnBrk="1" fontAlgn="auto" latinLnBrk="0" hangingPunct="1">
              <a:lnSpc>
                <a:spcPct val="100000"/>
              </a:lnSpc>
              <a:spcBef>
                <a:spcPts val="960"/>
              </a:spcBef>
              <a:spcAft>
                <a:spcPts val="0"/>
              </a:spcAft>
              <a:buClrTx/>
              <a:buSzTx/>
              <a:buFontTx/>
              <a:buNone/>
              <a:tabLst>
                <a:tab pos="678815" algn="l"/>
              </a:tabLst>
              <a:defRPr/>
            </a:pP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&gt;&gt;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Extraction</a:t>
            </a:r>
            <a:r>
              <a:rPr kumimoji="0" lang="en-IN" sz="1800" b="0" i="0" u="none" strike="noStrike" kern="1200" cap="none" spc="-5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a:t>
            </a:r>
          </a:p>
          <a:p>
            <a:pPr marL="12700" marR="0" lvl="0" indent="0" algn="l" defTabSz="914400" rtl="0" eaLnBrk="1" fontAlgn="auto" latinLnBrk="0" hangingPunct="1">
              <a:lnSpc>
                <a:spcPct val="100000"/>
              </a:lnSpc>
              <a:spcBef>
                <a:spcPts val="960"/>
              </a:spcBef>
              <a:spcAft>
                <a:spcPts val="0"/>
              </a:spcAft>
              <a:buClrTx/>
              <a:buSzTx/>
              <a:buFontTx/>
              <a:buNone/>
              <a:tabLst>
                <a:tab pos="786765" algn="l"/>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t>
            </a:r>
            <a:r>
              <a:rPr kumimoji="0" lang="en-IN" sz="1800" b="0"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	Scope</a:t>
            </a:r>
            <a:r>
              <a:rPr kumimoji="0" lang="en-IN" sz="1800" b="0" i="0" u="none" strike="noStrike" kern="1200" cap="none" spc="-2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Resolution</a:t>
            </a:r>
            <a:r>
              <a:rPr kumimoji="0" lang="en-IN" sz="1800" b="0" i="0" u="none" strike="noStrike" kern="1200" cap="none" spc="-2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a:t>
            </a:r>
          </a:p>
          <a:p>
            <a:pPr marL="12700" marR="0" lvl="0" indent="0" algn="l" defTabSz="914400" rtl="0" eaLnBrk="1" fontAlgn="auto" latinLnBrk="0" hangingPunct="1">
              <a:lnSpc>
                <a:spcPct val="100000"/>
              </a:lnSpc>
              <a:spcBef>
                <a:spcPts val="960"/>
              </a:spcBef>
              <a:spcAft>
                <a:spcPts val="0"/>
              </a:spcAft>
              <a:buClrTx/>
              <a:buSzTx/>
              <a:buFontTx/>
              <a:buNone/>
              <a:tabLst>
                <a:tab pos="786765" algn="l"/>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t>
            </a:r>
            <a:r>
              <a:rPr kumimoji="0" lang="en-IN" sz="1800" b="0"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 *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Pointer-to-member</a:t>
            </a:r>
            <a:r>
              <a:rPr kumimoji="0" lang="en-IN" sz="1800" b="0" i="0" u="none" strike="noStrike" kern="1200" cap="none" spc="-5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declaration</a:t>
            </a:r>
          </a:p>
          <a:p>
            <a:pPr marL="12700" marR="0" lvl="0" indent="0" algn="l" defTabSz="914400" rtl="0" eaLnBrk="1" fontAlgn="auto" latinLnBrk="0" hangingPunct="1">
              <a:lnSpc>
                <a:spcPct val="100000"/>
              </a:lnSpc>
              <a:spcBef>
                <a:spcPts val="960"/>
              </a:spcBef>
              <a:spcAft>
                <a:spcPts val="0"/>
              </a:spcAft>
              <a:buClrTx/>
              <a:buSzTx/>
              <a:buFontTx/>
              <a:buNone/>
              <a:tabLst>
                <a:tab pos="747395" algn="l"/>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-&gt;*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Pointer-to-member</a:t>
            </a:r>
            <a:r>
              <a:rPr kumimoji="0" lang="en-IN" sz="1800" b="0" i="0" u="none" strike="noStrike" kern="1200" cap="none" spc="-5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a:t>
            </a:r>
          </a:p>
          <a:p>
            <a:pPr marL="12700" marR="1671320" lvl="0" indent="0" algn="l" defTabSz="914400" rtl="0" eaLnBrk="1" fontAlgn="auto" latinLnBrk="0" hangingPunct="1">
              <a:lnSpc>
                <a:spcPct val="140000"/>
              </a:lnSpc>
              <a:spcBef>
                <a:spcPts val="0"/>
              </a:spcBef>
              <a:spcAft>
                <a:spcPts val="0"/>
              </a:spcAft>
              <a:buClrTx/>
              <a:buSzTx/>
              <a:buFontTx/>
              <a:buNone/>
              <a:tabLst>
                <a:tab pos="767080" algn="l"/>
                <a:tab pos="808355" algn="l"/>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Pointer-to-member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 </a:t>
            </a:r>
            <a:r>
              <a:rPr kumimoji="0" lang="en-IN" sz="1800" b="0" i="0" u="none" strike="noStrike" kern="1200" cap="none" spc="-484" normalizeH="0" baseline="0" noProof="0" dirty="0">
                <a:ln>
                  <a:noFill/>
                </a:ln>
                <a:solidFill>
                  <a:prstClr val="black"/>
                </a:solidFill>
                <a:effectLst/>
                <a:uLnTx/>
                <a:uFillTx/>
                <a:latin typeface="Trebuchet MS" panose="020B0603020202020204" pitchFamily="34" charset="0"/>
                <a:ea typeface="+mn-ea"/>
                <a:cs typeface="Times New Roman"/>
              </a:rPr>
              <a:t> </a:t>
            </a:r>
          </a:p>
          <a:p>
            <a:pPr marL="12700" marR="1671320" lvl="0" indent="0" algn="l" defTabSz="914400" rtl="0" eaLnBrk="1" fontAlgn="auto" latinLnBrk="0" hangingPunct="1">
              <a:lnSpc>
                <a:spcPct val="140000"/>
              </a:lnSpc>
              <a:spcBef>
                <a:spcPts val="0"/>
              </a:spcBef>
              <a:spcAft>
                <a:spcPts val="0"/>
              </a:spcAft>
              <a:buClrTx/>
              <a:buSzTx/>
              <a:buFontTx/>
              <a:buNone/>
              <a:tabLst>
                <a:tab pos="767080" algn="l"/>
                <a:tab pos="808355" algn="l"/>
              </a:tabLst>
              <a:defRPr/>
            </a:pP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delete		 Memory Release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p>
          <a:p>
            <a:pPr marL="12700" marR="1671320" lvl="0" indent="0" algn="l" defTabSz="914400" rtl="0" eaLnBrk="1" fontAlgn="auto" latinLnBrk="0" hangingPunct="1">
              <a:lnSpc>
                <a:spcPct val="140000"/>
              </a:lnSpc>
              <a:spcBef>
                <a:spcPts val="0"/>
              </a:spcBef>
              <a:spcAft>
                <a:spcPts val="0"/>
              </a:spcAft>
              <a:buClrTx/>
              <a:buSzTx/>
              <a:buFontTx/>
              <a:buNone/>
              <a:tabLst>
                <a:tab pos="767080" algn="l"/>
                <a:tab pos="808355" algn="l"/>
              </a:tabLst>
              <a:defRPr/>
            </a:pPr>
            <a:r>
              <a:rPr kumimoji="0" lang="en-IN" sz="18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rPr>
              <a:t>endl</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	 Line</a:t>
            </a:r>
            <a:r>
              <a:rPr kumimoji="0" lang="en-IN" sz="1800" b="0"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Feed</a:t>
            </a:r>
            <a:r>
              <a:rPr kumimoji="0" lang="en-IN" sz="1800" b="0" i="0" u="none" strike="noStrike" kern="1200" cap="none" spc="-2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a:t>
            </a:r>
          </a:p>
          <a:p>
            <a:pPr marL="12700" marR="1621155" lvl="0" indent="0" algn="l" defTabSz="914400" rtl="0" eaLnBrk="1" fontAlgn="auto" latinLnBrk="0" hangingPunct="1">
              <a:lnSpc>
                <a:spcPts val="3360"/>
              </a:lnSpc>
              <a:spcBef>
                <a:spcPts val="105"/>
              </a:spcBef>
              <a:spcAft>
                <a:spcPts val="0"/>
              </a:spcAft>
              <a:buClrTx/>
              <a:buSzTx/>
              <a:buFontTx/>
              <a:buNone/>
              <a:tabLst>
                <a:tab pos="732155" algn="l"/>
                <a:tab pos="753110" algn="l"/>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new		 M</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e</a:t>
            </a:r>
            <a:r>
              <a:rPr kumimoji="0" lang="en-IN" sz="1800" b="0" i="0" u="none" strike="noStrike" kern="1200" cap="none" spc="-25" normalizeH="0" baseline="0" noProof="0" dirty="0">
                <a:ln>
                  <a:noFill/>
                </a:ln>
                <a:solidFill>
                  <a:prstClr val="black"/>
                </a:solidFill>
                <a:effectLst/>
                <a:uLnTx/>
                <a:uFillTx/>
                <a:latin typeface="Trebuchet MS" panose="020B0603020202020204" pitchFamily="34" charset="0"/>
                <a:ea typeface="+mn-ea"/>
                <a:cs typeface="Times New Roman"/>
              </a:rPr>
              <a:t>m</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r</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y</a:t>
            </a:r>
            <a:r>
              <a:rPr kumimoji="0" lang="en-IN" sz="1800" b="0"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Alloca</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t</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ion</a:t>
            </a:r>
            <a:r>
              <a:rPr kumimoji="0" lang="en-IN" sz="1800" b="0" i="0" u="none" strike="noStrike" kern="1200" cap="none" spc="-2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p</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erator  </a:t>
            </a:r>
          </a:p>
          <a:p>
            <a:pPr marL="12700" marR="1621155" lvl="0" indent="0" algn="l" defTabSz="914400" rtl="0" eaLnBrk="1" fontAlgn="auto" latinLnBrk="0" hangingPunct="1">
              <a:lnSpc>
                <a:spcPts val="3360"/>
              </a:lnSpc>
              <a:spcBef>
                <a:spcPts val="105"/>
              </a:spcBef>
              <a:spcAft>
                <a:spcPts val="0"/>
              </a:spcAft>
              <a:buClrTx/>
              <a:buSzTx/>
              <a:buFontTx/>
              <a:buNone/>
              <a:tabLst>
                <a:tab pos="732155" algn="l"/>
                <a:tab pos="753110" algn="l"/>
              </a:tabLst>
              <a:defRPr/>
            </a:pPr>
            <a:r>
              <a:rPr kumimoji="0" lang="en-IN" sz="1800" b="0" i="0" u="none" strike="noStrike" kern="1200" cap="none" spc="-5" normalizeH="0" baseline="0" noProof="0" dirty="0" err="1">
                <a:ln>
                  <a:noFill/>
                </a:ln>
                <a:solidFill>
                  <a:prstClr val="black"/>
                </a:solidFill>
                <a:effectLst/>
                <a:uLnTx/>
                <a:uFillTx/>
                <a:latin typeface="Trebuchet MS" panose="020B0603020202020204" pitchFamily="34" charset="0"/>
                <a:ea typeface="+mn-ea"/>
                <a:cs typeface="Times New Roman"/>
              </a:rPr>
              <a:t>setw</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Field</a:t>
            </a:r>
            <a:r>
              <a:rPr kumimoji="0" lang="en-IN" sz="1800" b="0" i="0" u="none" strike="noStrike" kern="1200" cap="none" spc="-5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Width</a:t>
            </a:r>
            <a:r>
              <a:rPr kumimoji="0" lang="en-IN" sz="1800" b="0" i="0" u="none" strike="noStrike" kern="1200" cap="none" spc="-3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Operator</a:t>
            </a:r>
          </a:p>
        </p:txBody>
      </p:sp>
    </p:spTree>
    <p:extLst>
      <p:ext uri="{BB962C8B-B14F-4D97-AF65-F5344CB8AC3E}">
        <p14:creationId xmlns:p14="http://schemas.microsoft.com/office/powerpoint/2010/main" val="357972074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1"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7" y="118500"/>
            <a:ext cx="809087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Memory</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management</a:t>
            </a:r>
            <a:r>
              <a:rPr kumimoji="0" lang="en-IN" sz="2400" b="1" i="0" u="none" strike="noStrike" kern="0" cap="none" spc="12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operators </a:t>
            </a:r>
            <a:r>
              <a:rPr kumimoji="0" lang="en-IN" sz="2400" b="1" i="0" u="none" strike="noStrike" kern="0" cap="none" spc="-88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(new(),</a:t>
            </a:r>
            <a:r>
              <a:rPr kumimoji="0" lang="en-IN" sz="2400" b="1" i="0" u="none" strike="noStrike" kern="0" cap="none" spc="-14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delete())</a:t>
            </a:r>
            <a:endParaRPr kumimoji="0" lang="en-IN" sz="2400" b="1" i="0" u="none" strike="noStrike" kern="0" cap="none" spc="0" normalizeH="0" baseline="0" noProof="0" dirty="0">
              <a:ln>
                <a:noFill/>
              </a:ln>
              <a:solidFill>
                <a:srgbClr val="FFFFFF"/>
              </a:solidFill>
              <a:effectLst/>
              <a:uLnTx/>
              <a:uFillTx/>
              <a:latin typeface="Trebuchet MS" panose="020B0603020202020204" pitchFamily="34" charset="0"/>
              <a:cs typeface="Times New Roman" panose="02020603050405020304" pitchFamily="18" charset="0"/>
              <a:sym typeface="Arial"/>
            </a:endParaRPr>
          </a:p>
        </p:txBody>
      </p:sp>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TextBox 3">
            <a:extLst>
              <a:ext uri="{FF2B5EF4-FFF2-40B4-BE49-F238E27FC236}">
                <a16:creationId xmlns:a16="http://schemas.microsoft.com/office/drawing/2014/main" id="{0D262C77-A227-0FE5-AE2F-16C6A4F9582E}"/>
              </a:ext>
            </a:extLst>
          </p:cNvPr>
          <p:cNvSpPr txBox="1"/>
          <p:nvPr/>
        </p:nvSpPr>
        <p:spPr>
          <a:xfrm>
            <a:off x="318023" y="856967"/>
            <a:ext cx="8314349" cy="3780971"/>
          </a:xfrm>
          <a:prstGeom prst="rect">
            <a:avLst/>
          </a:prstGeom>
          <a:noFill/>
        </p:spPr>
        <p:txBody>
          <a:bodyPr wrap="square">
            <a:spAutoFit/>
          </a:bodyPr>
          <a:lstStyle/>
          <a:p>
            <a:pPr marL="298450" marR="5080" lvl="0" indent="-28575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C++</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allows</a:t>
            </a:r>
            <a:r>
              <a:rPr kumimoji="0" lang="en-IN" sz="1800" b="0" i="0" u="none" strike="noStrike" kern="1200" cap="none" spc="254"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us</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to</a:t>
            </a:r>
            <a:r>
              <a:rPr kumimoji="0" lang="en-IN" sz="1800" b="0" i="0" u="none" strike="noStrike" kern="1200" cap="none" spc="26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allocate</a:t>
            </a:r>
            <a:r>
              <a:rPr kumimoji="0" lang="en-IN" sz="1800" b="0" i="0" u="none" strike="noStrike" kern="1200" cap="none" spc="27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memory</a:t>
            </a:r>
            <a:r>
              <a:rPr kumimoji="0" lang="en-IN" sz="1800" b="0" i="0" u="none" strike="noStrike" kern="1200" cap="none" spc="26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of</a:t>
            </a:r>
            <a:r>
              <a:rPr kumimoji="0" lang="en-IN" sz="1800" b="0" i="0" u="none" strike="noStrike" kern="1200" cap="none" spc="254"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variable</a:t>
            </a:r>
            <a:r>
              <a:rPr kumimoji="0" lang="en-IN" sz="1800" b="0" i="0" u="none" strike="noStrike" kern="1200" cap="none" spc="27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or</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an</a:t>
            </a:r>
            <a:r>
              <a:rPr kumimoji="0" lang="en-IN" sz="1800" b="0" i="0" u="none" strike="noStrike" kern="1200" cap="none" spc="25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array</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in</a:t>
            </a:r>
            <a:r>
              <a:rPr kumimoji="0" lang="en-IN" sz="1800" b="0" i="0" u="none" strike="noStrike" kern="1200" cap="none" spc="26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run</a:t>
            </a:r>
            <a:r>
              <a:rPr kumimoji="0" lang="en-IN" sz="1800" b="0" i="0" u="none" strike="noStrike" kern="1200" cap="none" spc="254"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time.</a:t>
            </a:r>
            <a:r>
              <a:rPr kumimoji="0" lang="en-IN" sz="1800" b="0" i="0" u="none" strike="noStrike" kern="1200" cap="none" spc="26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This</a:t>
            </a:r>
            <a:r>
              <a:rPr kumimoji="0" lang="en-IN" sz="1800" b="0" i="0" u="none" strike="noStrike" kern="1200" cap="none" spc="26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is </a:t>
            </a:r>
            <a:r>
              <a:rPr kumimoji="0" lang="en-IN" sz="1800" b="0" i="0" u="none" strike="noStrike" kern="1200" cap="none" spc="-58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known</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as</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rgbClr val="0070C0"/>
                </a:solidFill>
                <a:effectLst/>
                <a:uLnTx/>
                <a:uFillTx/>
                <a:latin typeface="Trebuchet MS" panose="020B0603020202020204" pitchFamily="34" charset="0"/>
                <a:ea typeface="+mn-ea"/>
                <a:cs typeface="Times New Roman"/>
              </a:rPr>
              <a:t>dynamic</a:t>
            </a:r>
            <a:r>
              <a:rPr kumimoji="0" lang="en-IN" sz="1800" b="0" i="0" u="none" strike="noStrike" kern="1200" cap="none" spc="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srgbClr val="0070C0"/>
                </a:solidFill>
                <a:effectLst/>
                <a:uLnTx/>
                <a:uFillTx/>
                <a:latin typeface="Trebuchet MS" panose="020B0603020202020204" pitchFamily="34" charset="0"/>
                <a:ea typeface="+mn-ea"/>
                <a:cs typeface="Times New Roman"/>
              </a:rPr>
              <a:t>memory</a:t>
            </a:r>
            <a:r>
              <a:rPr kumimoji="0" lang="en-IN" sz="1800" b="0" i="0" u="none" strike="noStrike" kern="1200" cap="none" spc="3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rgbClr val="0070C0"/>
                </a:solidFill>
                <a:effectLst/>
                <a:uLnTx/>
                <a:uFillTx/>
                <a:latin typeface="Trebuchet MS" panose="020B0603020202020204" pitchFamily="34" charset="0"/>
                <a:ea typeface="+mn-ea"/>
                <a:cs typeface="Times New Roman"/>
              </a:rPr>
              <a:t>allocation</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endParaRPr>
          </a:p>
          <a:p>
            <a:pPr marL="298450" marR="6985" lvl="0" indent="-28575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In</a:t>
            </a:r>
            <a:r>
              <a:rPr kumimoji="0" lang="en-IN" sz="1800" b="0" i="0" u="none" strike="noStrike" kern="1200" cap="none" spc="10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other</a:t>
            </a:r>
            <a:r>
              <a:rPr kumimoji="0" lang="en-IN" sz="1800" b="0" i="0" u="none" strike="noStrike" kern="1200" cap="none" spc="10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programming</a:t>
            </a:r>
            <a:r>
              <a:rPr kumimoji="0" lang="en-IN" sz="1800" b="0" i="0" u="none" strike="noStrike" kern="1200" cap="none" spc="114"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languages</a:t>
            </a:r>
            <a:r>
              <a:rPr kumimoji="0" lang="en-IN" sz="1800" b="0"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such</a:t>
            </a:r>
            <a:r>
              <a:rPr kumimoji="0" lang="en-IN" sz="1800" b="0"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as</a:t>
            </a:r>
            <a:r>
              <a:rPr kumimoji="0" lang="en-IN" sz="1800" b="0"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Java</a:t>
            </a:r>
            <a:r>
              <a:rPr kumimoji="0" lang="en-IN" sz="1800" b="1"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and</a:t>
            </a:r>
            <a:r>
              <a:rPr kumimoji="0" lang="en-IN" sz="1800" b="1" i="0" u="none" strike="noStrike" kern="1200" cap="none" spc="10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Python,</a:t>
            </a:r>
            <a:r>
              <a:rPr kumimoji="0" lang="en-IN" sz="1800" b="1"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1"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compiler</a:t>
            </a:r>
            <a:r>
              <a:rPr kumimoji="0" lang="en-IN" sz="1800" b="1" i="0" u="none" strike="noStrike" kern="1200" cap="none" spc="10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automatically </a:t>
            </a:r>
            <a:r>
              <a:rPr kumimoji="0" lang="en-IN" sz="1800" b="1" i="0" u="none" strike="noStrike" kern="1200" cap="none" spc="-58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manages</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1"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memories</a:t>
            </a:r>
            <a:r>
              <a:rPr kumimoji="0" lang="en-IN" sz="1800" b="1"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allocated</a:t>
            </a:r>
            <a:r>
              <a:rPr kumimoji="0" lang="en-IN" sz="1800" b="1" i="0" u="none" strike="noStrike" kern="1200" cap="none" spc="-4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to</a:t>
            </a:r>
            <a:r>
              <a:rPr kumimoji="0" lang="en-IN" sz="1800" b="1"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variables</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t>
            </a:r>
            <a:r>
              <a:rPr kumimoji="0" lang="en-IN" sz="1800" b="0" i="0" u="none" strike="noStrike" kern="1200" cap="none" spc="-4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But this</a:t>
            </a:r>
            <a:r>
              <a:rPr kumimoji="0" lang="en-IN" sz="1800" b="0" i="0" u="none" strike="noStrike" kern="1200" cap="none" spc="-2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is</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not</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0" i="0" u="none" strike="noStrike" kern="1200" cap="none" spc="-2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case</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in</a:t>
            </a:r>
            <a:r>
              <a:rPr kumimoji="0" lang="en-IN" sz="1800" b="0"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C++.</a:t>
            </a:r>
          </a:p>
          <a:p>
            <a:pPr marL="298450" marR="6985" lvl="0" indent="-28575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In</a:t>
            </a:r>
            <a:r>
              <a:rPr kumimoji="0" lang="en-IN" sz="1800" b="0" i="0" u="none" strike="noStrike" kern="1200" cap="none" spc="24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C++,</a:t>
            </a:r>
            <a:r>
              <a:rPr kumimoji="0" lang="en-IN" sz="1800" b="0" i="0" u="none" strike="noStrike" kern="1200" cap="none" spc="23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we</a:t>
            </a:r>
            <a:r>
              <a:rPr kumimoji="0" lang="en-IN" sz="1800" b="0" i="0" u="none" strike="noStrike" kern="1200" cap="none" spc="24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need</a:t>
            </a:r>
            <a:r>
              <a:rPr kumimoji="0" lang="en-IN" sz="1800" b="0" i="0" u="none" strike="noStrike" kern="1200" cap="none" spc="229"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to</a:t>
            </a:r>
            <a:r>
              <a:rPr kumimoji="0" lang="en-IN" sz="1800" b="0" i="0" u="none" strike="noStrike" kern="1200" cap="none" spc="24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deallocate</a:t>
            </a:r>
            <a:r>
              <a:rPr kumimoji="0" lang="en-IN" sz="1800" b="0" i="0" u="none" strike="noStrike" kern="1200" cap="none" spc="24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0" i="0" u="none" strike="noStrike" kern="1200" cap="none" spc="24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dynamically</a:t>
            </a:r>
            <a:r>
              <a:rPr kumimoji="0" lang="en-IN" sz="1800" b="0" i="0" u="none" strike="noStrike" kern="1200" cap="none" spc="24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allocated</a:t>
            </a:r>
            <a:r>
              <a:rPr kumimoji="0" lang="en-IN" sz="1800" b="0" i="0" u="none" strike="noStrike" kern="1200" cap="none" spc="25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memory</a:t>
            </a:r>
            <a:r>
              <a:rPr kumimoji="0" lang="en-IN" sz="1800" b="0" i="0" u="none" strike="noStrike" kern="1200" cap="none" spc="254"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manually</a:t>
            </a:r>
            <a:r>
              <a:rPr kumimoji="0" lang="en-IN" sz="1800" b="0" i="0" u="none" strike="noStrike" kern="1200" cap="none" spc="24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after</a:t>
            </a:r>
            <a:r>
              <a:rPr kumimoji="0" lang="en-IN" sz="1800" b="0" i="0" u="none" strike="noStrike" kern="1200" cap="none" spc="23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we </a:t>
            </a:r>
            <a:r>
              <a:rPr kumimoji="0" lang="en-IN" sz="1800" b="0" i="0" u="none" strike="noStrike" kern="1200" cap="none" spc="-58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have</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no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use</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for</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variable.</a:t>
            </a:r>
          </a:p>
          <a:p>
            <a:pPr marL="298450" marR="5080" lvl="0" indent="-28575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IN" sz="1800" b="0" i="0" u="none" strike="noStrike" kern="1200" cap="none" spc="-110" normalizeH="0" baseline="0" noProof="0" dirty="0">
                <a:ln>
                  <a:noFill/>
                </a:ln>
                <a:solidFill>
                  <a:prstClr val="black"/>
                </a:solidFill>
                <a:effectLst/>
                <a:uLnTx/>
                <a:uFillTx/>
                <a:latin typeface="Trebuchet MS" panose="020B0603020202020204" pitchFamily="34" charset="0"/>
                <a:ea typeface="+mn-ea"/>
                <a:cs typeface="Times New Roman"/>
              </a:rPr>
              <a:t>We</a:t>
            </a:r>
            <a:r>
              <a:rPr kumimoji="0" lang="en-IN" sz="1800" b="0" i="0" u="none" strike="noStrike" kern="1200" cap="none" spc="32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can</a:t>
            </a:r>
            <a:r>
              <a:rPr kumimoji="0" lang="en-IN" sz="1800" b="0" i="0" u="none" strike="noStrike" kern="1200" cap="none" spc="315"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allocate</a:t>
            </a:r>
            <a:r>
              <a:rPr kumimoji="0" lang="en-IN" sz="1800" b="0" i="0" u="none" strike="noStrike" kern="1200" cap="none" spc="32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and</a:t>
            </a:r>
            <a:r>
              <a:rPr kumimoji="0" lang="en-IN" sz="1800" b="0" i="0" u="none" strike="noStrike" kern="1200" cap="none" spc="3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then</a:t>
            </a:r>
            <a:r>
              <a:rPr kumimoji="0" lang="en-IN" sz="1800" b="0" i="0" u="none" strike="noStrike" kern="1200" cap="none" spc="32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deallocate</a:t>
            </a:r>
            <a:r>
              <a:rPr kumimoji="0" lang="en-IN" sz="1800" b="0" i="0" u="none" strike="noStrike" kern="1200" cap="none" spc="31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memory</a:t>
            </a:r>
            <a:r>
              <a:rPr kumimoji="0" lang="en-IN" sz="1800" b="0" i="0" u="none" strike="noStrike" kern="1200" cap="none" spc="33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dynamically</a:t>
            </a:r>
            <a:r>
              <a:rPr kumimoji="0" lang="en-IN" sz="1800" b="0" i="0" u="none" strike="noStrike" kern="1200" cap="none" spc="33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cs typeface="Times New Roman"/>
              </a:rPr>
              <a:t>using</a:t>
            </a:r>
            <a:r>
              <a:rPr kumimoji="0" lang="en-IN" sz="1800" b="0" i="0" u="none" strike="noStrike" kern="1200" cap="none" spc="32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rPr>
              <a:t>the</a:t>
            </a:r>
            <a:r>
              <a:rPr kumimoji="0" lang="en-IN" sz="1800" b="0" i="0" u="none" strike="noStrike" kern="1200" cap="none" spc="330" normalizeH="0" baseline="0" noProof="0" dirty="0">
                <a:ln>
                  <a:noFill/>
                </a:ln>
                <a:solidFill>
                  <a:prstClr val="black"/>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srgbClr val="0070C0"/>
                </a:solidFill>
                <a:effectLst/>
                <a:uLnTx/>
                <a:uFillTx/>
                <a:latin typeface="Trebuchet MS" panose="020B0603020202020204" pitchFamily="34" charset="0"/>
                <a:ea typeface="+mn-ea"/>
                <a:cs typeface="Times New Roman"/>
              </a:rPr>
              <a:t>new</a:t>
            </a:r>
            <a:r>
              <a:rPr kumimoji="0" lang="en-IN" sz="1800" b="0" i="0" u="none" strike="noStrike" kern="1200" cap="none" spc="31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and</a:t>
            </a:r>
            <a:r>
              <a:rPr kumimoji="0" lang="en-IN" sz="1800" b="0" i="0" u="none" strike="noStrike" kern="1200" cap="none" spc="32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delete </a:t>
            </a:r>
            <a:r>
              <a:rPr kumimoji="0" lang="en-IN" sz="1800" b="0" i="0" u="none" strike="noStrike" kern="1200" cap="none" spc="-58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operators</a:t>
            </a:r>
            <a:r>
              <a:rPr kumimoji="0" lang="en-IN" sz="1800" b="0" i="0" u="none" strike="noStrike" kern="1200" cap="none" spc="-2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15" normalizeH="0" baseline="0" noProof="0" dirty="0">
                <a:ln>
                  <a:noFill/>
                </a:ln>
                <a:solidFill>
                  <a:prstClr val="black"/>
                </a:solidFill>
                <a:effectLst/>
                <a:uLnTx/>
                <a:uFillTx/>
                <a:latin typeface="Trebuchet MS" panose="020B0603020202020204" pitchFamily="34" charset="0"/>
                <a:ea typeface="+mn-ea"/>
                <a:cs typeface="Times New Roman"/>
              </a:rPr>
              <a:t>respectively.</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endParaRPr>
          </a:p>
        </p:txBody>
      </p:sp>
    </p:spTree>
    <p:extLst>
      <p:ext uri="{BB962C8B-B14F-4D97-AF65-F5344CB8AC3E}">
        <p14:creationId xmlns:p14="http://schemas.microsoft.com/office/powerpoint/2010/main" val="232389327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1446"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7" y="118500"/>
            <a:ext cx="809087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Memory</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management</a:t>
            </a:r>
            <a:r>
              <a:rPr kumimoji="0" lang="en-IN" sz="2400" b="1" i="0" u="none" strike="noStrike" kern="0" cap="none" spc="12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operators </a:t>
            </a:r>
            <a:r>
              <a:rPr kumimoji="0" lang="en-IN" sz="2400" b="1" i="0" u="none" strike="noStrike" kern="0" cap="none" spc="-88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(new(),</a:t>
            </a:r>
            <a:r>
              <a:rPr kumimoji="0" lang="en-IN" sz="2400" b="1" i="0" u="none" strike="noStrike" kern="0" cap="none" spc="-14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delete())</a:t>
            </a:r>
            <a:endParaRPr kumimoji="0" lang="en-IN" sz="2400" b="1" i="0" u="none" strike="noStrike" kern="0" cap="none" spc="0" normalizeH="0" baseline="0" noProof="0" dirty="0">
              <a:ln>
                <a:noFill/>
              </a:ln>
              <a:solidFill>
                <a:srgbClr val="FFFFFF"/>
              </a:solidFill>
              <a:effectLst/>
              <a:uLnTx/>
              <a:uFillTx/>
              <a:latin typeface="Trebuchet MS" panose="020B0603020202020204" pitchFamily="34" charset="0"/>
              <a:cs typeface="Times New Roman" panose="02020603050405020304" pitchFamily="18" charset="0"/>
              <a:sym typeface="Arial"/>
            </a:endParaRPr>
          </a:p>
        </p:txBody>
      </p:sp>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TextBox 4">
            <a:extLst>
              <a:ext uri="{FF2B5EF4-FFF2-40B4-BE49-F238E27FC236}">
                <a16:creationId xmlns:a16="http://schemas.microsoft.com/office/drawing/2014/main" id="{AECB2B53-81BF-F3DD-C071-B3DF6DA82075}"/>
              </a:ext>
            </a:extLst>
          </p:cNvPr>
          <p:cNvSpPr txBox="1"/>
          <p:nvPr/>
        </p:nvSpPr>
        <p:spPr>
          <a:xfrm>
            <a:off x="313069" y="715789"/>
            <a:ext cx="8645874" cy="4404219"/>
          </a:xfrm>
          <a:prstGeom prst="rect">
            <a:avLst/>
          </a:prstGeom>
          <a:noFill/>
        </p:spPr>
        <p:txBody>
          <a:bodyPr wrap="square">
            <a:spAutoFit/>
          </a:bodyPr>
          <a:lstStyle/>
          <a:p>
            <a:pPr marL="12700" marR="0" lvl="0" indent="0" algn="l" defTabSz="914400" rtl="0" eaLnBrk="1" fontAlgn="auto" latinLnBrk="0" hangingPunct="1">
              <a:lnSpc>
                <a:spcPct val="150000"/>
              </a:lnSpc>
              <a:spcBef>
                <a:spcPts val="1015"/>
              </a:spcBef>
              <a:spcAft>
                <a:spcPts val="0"/>
              </a:spcAft>
              <a:buClrTx/>
              <a:buSzTx/>
              <a:buFontTx/>
              <a:buNone/>
              <a:tabLst/>
              <a:defRPr/>
            </a:pPr>
            <a:r>
              <a:rPr kumimoji="0" lang="en-IN" sz="2000" b="1" i="0" strike="noStrike" kern="1200" cap="none" spc="-5"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C++</a:t>
            </a:r>
            <a:r>
              <a:rPr kumimoji="0" lang="en-IN" sz="2000" b="1" i="0" strike="noStrike" kern="1200" cap="none" spc="-25"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 </a:t>
            </a:r>
            <a:r>
              <a:rPr kumimoji="0" lang="en-IN" sz="2000" b="1" i="0" strike="noStrike" kern="1200" cap="none" spc="-5"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New</a:t>
            </a:r>
            <a:r>
              <a:rPr kumimoji="0" lang="en-IN" sz="2000" b="1" i="0" strike="noStrike" kern="1200" cap="none" spc="-15"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 </a:t>
            </a:r>
            <a:r>
              <a:rPr kumimoji="0" lang="en-IN" sz="2000" b="1" i="0" strike="noStrike" kern="1200" cap="none" spc="0"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Operator</a:t>
            </a:r>
            <a:endParaRPr kumimoji="0" lang="en-IN" sz="2000" b="1" i="0"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endParaRPr>
          </a:p>
          <a:p>
            <a:pPr marL="12700" marR="0" lvl="0" indent="0" algn="l" defTabSz="914400" rtl="0" eaLnBrk="1" fontAlgn="auto" latinLnBrk="0" hangingPunct="1">
              <a:lnSpc>
                <a:spcPct val="150000"/>
              </a:lnSpc>
              <a:spcBef>
                <a:spcPts val="915"/>
              </a:spcBef>
              <a:spcAft>
                <a:spcPts val="0"/>
              </a:spcAft>
              <a:buClrTx/>
              <a:buSzTx/>
              <a:buFontTx/>
              <a:buNone/>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The</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new</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operator</a:t>
            </a:r>
            <a:r>
              <a:rPr kumimoji="0" lang="en-IN" sz="18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allocates</a:t>
            </a:r>
            <a:r>
              <a:rPr kumimoji="0" lang="en-IN" sz="1800" b="0" i="0" u="none" strike="noStrike" kern="1200" cap="none" spc="-4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memory</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to</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 variable.</a:t>
            </a:r>
            <a:r>
              <a:rPr kumimoji="0" lang="en-IN" sz="1800" b="0" i="0" u="none" strike="noStrike" kern="1200" cap="none" spc="-4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For</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example,</a:t>
            </a:r>
            <a:endPar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endParaRPr>
          </a:p>
          <a:p>
            <a:pPr marL="12700" marR="0" lvl="0" indent="0" algn="l" defTabSz="914400" rtl="0" eaLnBrk="1" fontAlgn="auto" latinLnBrk="0" hangingPunct="1">
              <a:lnSpc>
                <a:spcPct val="150000"/>
              </a:lnSpc>
              <a:spcBef>
                <a:spcPts val="0"/>
              </a:spcBef>
              <a:spcAft>
                <a:spcPts val="0"/>
              </a:spcAft>
              <a:buClrTx/>
              <a:buSzTx/>
              <a:buFontTx/>
              <a:buNone/>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t>
            </a:r>
            <a:r>
              <a:rPr kumimoji="0" lang="en-IN" sz="1800" b="0" i="0" u="none" strike="noStrike" kern="1200" cap="none" spc="-4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declare</a:t>
            </a:r>
            <a:r>
              <a:rPr kumimoji="0" lang="en-IN" sz="1800" b="0" i="0" u="none" strike="noStrike" kern="1200" cap="none" spc="-4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an</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int</a:t>
            </a:r>
            <a:r>
              <a:rPr kumimoji="0" lang="en-IN" sz="18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pointer</a:t>
            </a:r>
          </a:p>
          <a:p>
            <a:pPr marL="12700" marR="0" lvl="0" indent="0" algn="l" defTabSz="914400" rtl="0" eaLnBrk="1" fontAlgn="auto" latinLnBrk="0" hangingPunct="1">
              <a:lnSpc>
                <a:spcPct val="150000"/>
              </a:lnSpc>
              <a:spcBef>
                <a:spcPts val="910"/>
              </a:spcBef>
              <a:spcAft>
                <a:spcPts val="0"/>
              </a:spcAft>
              <a:buClrTx/>
              <a:buSzTx/>
              <a:buFontTx/>
              <a:buNone/>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int*</a:t>
            </a:r>
            <a:r>
              <a:rPr kumimoji="0" lang="en-IN" sz="1800" b="0" i="0" u="none" strike="noStrike" kern="1200" cap="none" spc="-6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30" normalizeH="0" baseline="0" noProof="0" dirty="0" err="1">
                <a:ln>
                  <a:noFill/>
                </a:ln>
                <a:solidFill>
                  <a:srgbClr val="0070C0"/>
                </a:solidFill>
                <a:effectLst/>
                <a:uLnTx/>
                <a:uFillTx/>
                <a:latin typeface="Trebuchet MS" panose="020B0603020202020204" pitchFamily="34" charset="0"/>
                <a:ea typeface="+mn-ea"/>
                <a:cs typeface="Times New Roman"/>
              </a:rPr>
              <a:t>pointVar</a:t>
            </a:r>
            <a:r>
              <a:rPr kumimoji="0" lang="en-IN" sz="1800" b="0" i="0" u="none" strike="noStrike" kern="1200" cap="none" spc="-30" normalizeH="0" baseline="0" noProof="0" dirty="0">
                <a:ln>
                  <a:noFill/>
                </a:ln>
                <a:solidFill>
                  <a:srgbClr val="0070C0"/>
                </a:solidFill>
                <a:effectLst/>
                <a:uLnTx/>
                <a:uFillTx/>
                <a:latin typeface="Trebuchet MS" panose="020B0603020202020204" pitchFamily="34" charset="0"/>
                <a:ea typeface="+mn-ea"/>
                <a:cs typeface="Times New Roman"/>
              </a:rPr>
              <a:t>;</a:t>
            </a:r>
            <a:endPar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endParaRPr>
          </a:p>
          <a:p>
            <a:pPr marL="12700" marR="0" lvl="0" indent="0" algn="l" defTabSz="914400" rtl="0" eaLnBrk="1" fontAlgn="auto" latinLnBrk="0" hangingPunct="1">
              <a:lnSpc>
                <a:spcPct val="150000"/>
              </a:lnSpc>
              <a:spcBef>
                <a:spcPts val="915"/>
              </a:spcBef>
              <a:spcAft>
                <a:spcPts val="0"/>
              </a:spcAft>
              <a:buClrTx/>
              <a:buSzTx/>
              <a:buFontTx/>
              <a:buNone/>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t>
            </a:r>
            <a:r>
              <a:rPr kumimoji="0" lang="en-IN" sz="18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dynamically</a:t>
            </a:r>
            <a:r>
              <a:rPr kumimoji="0" lang="en-IN" sz="18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allocate</a:t>
            </a:r>
            <a:r>
              <a:rPr kumimoji="0" lang="en-IN" sz="1800" b="0" i="0" u="none" strike="noStrike" kern="1200" cap="none" spc="-5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memory</a:t>
            </a:r>
            <a:endPar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endParaRPr>
          </a:p>
          <a:p>
            <a:pPr marL="12700" marR="4640580" lvl="0" indent="0" algn="l" defTabSz="914400" rtl="0" eaLnBrk="1" fontAlgn="auto" latinLnBrk="0" hangingPunct="1">
              <a:lnSpc>
                <a:spcPct val="150000"/>
              </a:lnSpc>
              <a:spcBef>
                <a:spcPts val="0"/>
              </a:spcBef>
              <a:spcAft>
                <a:spcPts val="0"/>
              </a:spcAft>
              <a:buClrTx/>
              <a:buSzTx/>
              <a:buFontTx/>
              <a:buNone/>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t>
            </a:r>
            <a:r>
              <a:rPr kumimoji="0" lang="en-IN" sz="1800" b="0" i="0" u="none" strike="noStrike" kern="1200" cap="none" spc="-4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using</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the</a:t>
            </a:r>
            <a:r>
              <a:rPr kumimoji="0" lang="en-IN" sz="1800" b="0" i="0" u="none" strike="noStrike" kern="1200" cap="none" spc="-4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new</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keyword </a:t>
            </a:r>
            <a:r>
              <a:rPr kumimoji="0" lang="en-IN" sz="1800" b="0" i="0" u="none" strike="noStrike" kern="1200" cap="none" spc="-585" normalizeH="0" baseline="0" noProof="0" dirty="0">
                <a:ln>
                  <a:noFill/>
                </a:ln>
                <a:solidFill>
                  <a:schemeClr val="tx1"/>
                </a:solidFill>
                <a:effectLst/>
                <a:uLnTx/>
                <a:uFillTx/>
                <a:latin typeface="Trebuchet MS" panose="020B0603020202020204" pitchFamily="34" charset="0"/>
                <a:ea typeface="+mn-ea"/>
                <a:cs typeface="Times New Roman"/>
              </a:rPr>
              <a:t> 	</a:t>
            </a:r>
          </a:p>
          <a:p>
            <a:pPr marL="12700" marR="4640580" lvl="0" indent="0" algn="l" defTabSz="914400" rtl="0" eaLnBrk="1" fontAlgn="auto" latinLnBrk="0" hangingPunct="1">
              <a:lnSpc>
                <a:spcPct val="150000"/>
              </a:lnSpc>
              <a:spcBef>
                <a:spcPts val="0"/>
              </a:spcBef>
              <a:spcAft>
                <a:spcPts val="0"/>
              </a:spcAft>
              <a:buClrTx/>
              <a:buSzTx/>
              <a:buFontTx/>
              <a:buNone/>
              <a:tabLst/>
              <a:defRPr/>
            </a:pPr>
            <a:r>
              <a:rPr lang="en-IN" sz="1800" kern="1200" spc="-585" dirty="0">
                <a:solidFill>
                  <a:schemeClr val="tx1"/>
                </a:solidFill>
                <a:latin typeface="Trebuchet MS" panose="020B0603020202020204" pitchFamily="34" charset="0"/>
                <a:ea typeface="+mn-ea"/>
                <a:cs typeface="Times New Roman"/>
              </a:rPr>
              <a:t>	</a:t>
            </a:r>
            <a:r>
              <a:rPr kumimoji="0" lang="en-IN" sz="1800" b="0" i="0" u="none" strike="noStrike" kern="1200" cap="none" spc="-35" normalizeH="0" baseline="0" noProof="0" dirty="0" err="1">
                <a:ln>
                  <a:noFill/>
                </a:ln>
                <a:solidFill>
                  <a:srgbClr val="0070C0"/>
                </a:solidFill>
                <a:effectLst/>
                <a:uLnTx/>
                <a:uFillTx/>
                <a:latin typeface="Trebuchet MS" panose="020B0603020202020204" pitchFamily="34" charset="0"/>
                <a:ea typeface="+mn-ea"/>
                <a:cs typeface="Times New Roman"/>
              </a:rPr>
              <a:t>pointVar</a:t>
            </a:r>
            <a:r>
              <a:rPr kumimoji="0" lang="en-IN" sz="1800" b="0" i="0" u="none" strike="noStrike" kern="1200" cap="none" spc="-2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a:t>
            </a:r>
            <a:r>
              <a:rPr kumimoji="0" lang="en-IN" sz="1800" b="0" i="0" u="none" strike="noStrike" kern="1200" cap="none" spc="-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new</a:t>
            </a:r>
            <a:r>
              <a:rPr kumimoji="0" lang="en-IN" sz="1800" b="0" i="0" u="none" strike="noStrike" kern="1200" cap="none" spc="-1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int;</a:t>
            </a:r>
          </a:p>
          <a:p>
            <a:pPr marL="12700" marR="0" lvl="0" indent="0" algn="l" defTabSz="914400" rtl="0" eaLnBrk="1" fontAlgn="auto" latinLnBrk="0" hangingPunct="1">
              <a:lnSpc>
                <a:spcPct val="150000"/>
              </a:lnSpc>
              <a:spcBef>
                <a:spcPts val="915"/>
              </a:spcBef>
              <a:spcAft>
                <a:spcPts val="0"/>
              </a:spcAft>
              <a:buClrTx/>
              <a:buSzTx/>
              <a:buFontTx/>
              <a:buNone/>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t>
            </a:r>
            <a:r>
              <a:rPr kumimoji="0" lang="en-IN" sz="1800" b="0" i="0" u="none" strike="noStrike" kern="1200" cap="none" spc="-3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assign</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value</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to</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allocated</a:t>
            </a:r>
            <a:r>
              <a:rPr kumimoji="0" lang="en-IN" sz="1800" b="0" i="0" u="none" strike="noStrike" kern="1200" cap="none" spc="-5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memory</a:t>
            </a:r>
            <a:endPar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endParaRPr>
          </a:p>
          <a:p>
            <a:pPr marL="12700" marR="0" lvl="0" indent="0" algn="l" defTabSz="914400" rtl="0" eaLnBrk="1" fontAlgn="auto" latinLnBrk="0" hangingPunct="1">
              <a:lnSpc>
                <a:spcPct val="150000"/>
              </a:lnSpc>
              <a:spcBef>
                <a:spcPts val="910"/>
              </a:spcBef>
              <a:spcAft>
                <a:spcPts val="0"/>
              </a:spcAft>
              <a:buClrTx/>
              <a:buSzTx/>
              <a:buFontTx/>
              <a:buNone/>
              <a:tabLst/>
              <a:defRPr/>
            </a:pPr>
            <a:r>
              <a:rPr kumimoji="0" lang="en-IN" sz="1800" b="0" i="0" u="none" strike="noStrike" kern="1200" cap="none" spc="-3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30" normalizeH="0" baseline="0" noProof="0" dirty="0" err="1">
                <a:ln>
                  <a:noFill/>
                </a:ln>
                <a:solidFill>
                  <a:srgbClr val="0070C0"/>
                </a:solidFill>
                <a:effectLst/>
                <a:uLnTx/>
                <a:uFillTx/>
                <a:latin typeface="Trebuchet MS" panose="020B0603020202020204" pitchFamily="34" charset="0"/>
                <a:ea typeface="+mn-ea"/>
                <a:cs typeface="Times New Roman"/>
              </a:rPr>
              <a:t>pointVar</a:t>
            </a:r>
            <a:r>
              <a:rPr kumimoji="0" lang="en-IN" sz="1800" b="0" i="0" u="none" strike="noStrike" kern="1200" cap="none" spc="-45"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a:t>
            </a:r>
            <a:r>
              <a:rPr kumimoji="0" lang="en-IN" sz="1800" b="0" i="0" u="none" strike="noStrike" kern="1200" cap="none" spc="-3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45;</a:t>
            </a:r>
          </a:p>
        </p:txBody>
      </p:sp>
    </p:spTree>
    <p:extLst>
      <p:ext uri="{BB962C8B-B14F-4D97-AF65-F5344CB8AC3E}">
        <p14:creationId xmlns:p14="http://schemas.microsoft.com/office/powerpoint/2010/main" val="25729369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1446"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7" y="118500"/>
            <a:ext cx="809087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Memory</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management</a:t>
            </a:r>
            <a:r>
              <a:rPr kumimoji="0" lang="en-IN" sz="2400" b="1" i="0" u="none" strike="noStrike" kern="0" cap="none" spc="12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operators </a:t>
            </a:r>
            <a:r>
              <a:rPr kumimoji="0" lang="en-IN" sz="2400" b="1" i="0" u="none" strike="noStrike" kern="0" cap="none" spc="-88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(new(),</a:t>
            </a:r>
            <a:r>
              <a:rPr kumimoji="0" lang="en-IN" sz="2400" b="1" i="0" u="none" strike="noStrike" kern="0" cap="none" spc="-14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delete())</a:t>
            </a:r>
            <a:endParaRPr kumimoji="0" lang="en-IN" sz="2400" b="1" i="0" u="none" strike="noStrike" kern="0" cap="none" spc="0" normalizeH="0" baseline="0" noProof="0" dirty="0">
              <a:ln>
                <a:noFill/>
              </a:ln>
              <a:solidFill>
                <a:srgbClr val="FFFFFF"/>
              </a:solidFill>
              <a:effectLst/>
              <a:uLnTx/>
              <a:uFillTx/>
              <a:latin typeface="Trebuchet MS" panose="020B0603020202020204" pitchFamily="34" charset="0"/>
              <a:cs typeface="Times New Roman" panose="02020603050405020304" pitchFamily="18" charset="0"/>
              <a:sym typeface="Arial"/>
            </a:endParaRPr>
          </a:p>
        </p:txBody>
      </p:sp>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39233FE1-7CC4-F9C1-7CDB-2C7656DAA80F}"/>
              </a:ext>
            </a:extLst>
          </p:cNvPr>
          <p:cNvSpPr txBox="1"/>
          <p:nvPr/>
        </p:nvSpPr>
        <p:spPr>
          <a:xfrm>
            <a:off x="213434" y="798442"/>
            <a:ext cx="8547470" cy="35963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700" dirty="0">
                <a:latin typeface="Trebuchet MS" panose="020B0603020202020204" pitchFamily="34" charset="0"/>
              </a:rPr>
              <a:t>Here, we have dynamically allocated memory for an int variable using the new  operator.</a:t>
            </a:r>
          </a:p>
          <a:p>
            <a:pPr marL="285750" indent="-285750">
              <a:lnSpc>
                <a:spcPct val="150000"/>
              </a:lnSpc>
              <a:buFont typeface="Arial" panose="020B0604020202020204" pitchFamily="34" charset="0"/>
              <a:buChar char="•"/>
            </a:pPr>
            <a:r>
              <a:rPr lang="en-IN" sz="1700" dirty="0">
                <a:latin typeface="Trebuchet MS" panose="020B0603020202020204" pitchFamily="34" charset="0"/>
              </a:rPr>
              <a:t> Notice that we have used the pointer </a:t>
            </a:r>
            <a:r>
              <a:rPr lang="en-IN" sz="1700" dirty="0" err="1">
                <a:latin typeface="Trebuchet MS" panose="020B0603020202020204" pitchFamily="34" charset="0"/>
              </a:rPr>
              <a:t>pointVar</a:t>
            </a:r>
            <a:r>
              <a:rPr lang="en-IN" sz="1700" dirty="0">
                <a:latin typeface="Trebuchet MS" panose="020B0603020202020204" pitchFamily="34" charset="0"/>
              </a:rPr>
              <a:t> to allocate the memory dynamically.</a:t>
            </a:r>
          </a:p>
          <a:p>
            <a:pPr marL="285750" indent="-285750">
              <a:lnSpc>
                <a:spcPct val="150000"/>
              </a:lnSpc>
              <a:buFont typeface="Arial" panose="020B0604020202020204" pitchFamily="34" charset="0"/>
              <a:buChar char="•"/>
            </a:pPr>
            <a:r>
              <a:rPr lang="en-IN" sz="1700" dirty="0">
                <a:latin typeface="Trebuchet MS" panose="020B0603020202020204" pitchFamily="34" charset="0"/>
              </a:rPr>
              <a:t>This is because the new operator </a:t>
            </a:r>
            <a:r>
              <a:rPr lang="en-IN" sz="1700" b="1" dirty="0">
                <a:latin typeface="Trebuchet MS" panose="020B0603020202020204" pitchFamily="34" charset="0"/>
              </a:rPr>
              <a:t>returns the address of the memory location</a:t>
            </a:r>
            <a:r>
              <a:rPr lang="en-IN" sz="1700" dirty="0">
                <a:latin typeface="Trebuchet MS" panose="020B0603020202020204" pitchFamily="34" charset="0"/>
              </a:rPr>
              <a:t>.</a:t>
            </a:r>
          </a:p>
          <a:p>
            <a:pPr marL="285750" indent="-285750">
              <a:lnSpc>
                <a:spcPct val="150000"/>
              </a:lnSpc>
              <a:buFont typeface="Arial" panose="020B0604020202020204" pitchFamily="34" charset="0"/>
              <a:buChar char="•"/>
            </a:pPr>
            <a:r>
              <a:rPr lang="en-IN" sz="1700" dirty="0">
                <a:latin typeface="Trebuchet MS" panose="020B0603020202020204" pitchFamily="34" charset="0"/>
              </a:rPr>
              <a:t> In the case of an array, the new operator returns the address of the </a:t>
            </a:r>
            <a:r>
              <a:rPr lang="en-IN" sz="1700" b="1" dirty="0">
                <a:latin typeface="Trebuchet MS" panose="020B0603020202020204" pitchFamily="34" charset="0"/>
              </a:rPr>
              <a:t>first element of the  array</a:t>
            </a:r>
            <a:r>
              <a:rPr lang="en-IN" sz="1700" dirty="0">
                <a:latin typeface="Trebuchet MS" panose="020B0603020202020204" pitchFamily="34" charset="0"/>
              </a:rPr>
              <a:t>.</a:t>
            </a:r>
          </a:p>
          <a:p>
            <a:pPr marL="285750" indent="-285750">
              <a:lnSpc>
                <a:spcPct val="150000"/>
              </a:lnSpc>
              <a:buFont typeface="Arial" panose="020B0604020202020204" pitchFamily="34" charset="0"/>
              <a:buChar char="•"/>
            </a:pPr>
            <a:r>
              <a:rPr lang="en-IN" sz="1700" dirty="0">
                <a:latin typeface="Trebuchet MS" panose="020B0603020202020204" pitchFamily="34" charset="0"/>
              </a:rPr>
              <a:t> From the example above, we can see that the syntax for using the new operator is</a:t>
            </a:r>
          </a:p>
          <a:p>
            <a:pPr>
              <a:lnSpc>
                <a:spcPct val="150000"/>
              </a:lnSpc>
            </a:pPr>
            <a:r>
              <a:rPr lang="en-IN" sz="1800" dirty="0">
                <a:latin typeface="Trebuchet MS" panose="020B0603020202020204" pitchFamily="34" charset="0"/>
              </a:rPr>
              <a:t>	</a:t>
            </a:r>
            <a:r>
              <a:rPr lang="en-IN" sz="1800" b="1" dirty="0" err="1">
                <a:solidFill>
                  <a:srgbClr val="0070C0"/>
                </a:solidFill>
                <a:latin typeface="Trebuchet MS" panose="020B0603020202020204" pitchFamily="34" charset="0"/>
              </a:rPr>
              <a:t>pointerVariable</a:t>
            </a:r>
            <a:r>
              <a:rPr lang="en-IN" sz="1800" b="1" dirty="0">
                <a:solidFill>
                  <a:srgbClr val="0070C0"/>
                </a:solidFill>
                <a:latin typeface="Trebuchet MS" panose="020B0603020202020204" pitchFamily="34" charset="0"/>
              </a:rPr>
              <a:t> = new </a:t>
            </a:r>
            <a:r>
              <a:rPr lang="en-IN" sz="1800" b="1" dirty="0" err="1">
                <a:solidFill>
                  <a:srgbClr val="0070C0"/>
                </a:solidFill>
                <a:latin typeface="Trebuchet MS" panose="020B0603020202020204" pitchFamily="34" charset="0"/>
              </a:rPr>
              <a:t>dataType</a:t>
            </a:r>
            <a:r>
              <a:rPr lang="en-IN" sz="1800" b="1" dirty="0">
                <a:solidFill>
                  <a:srgbClr val="0070C0"/>
                </a:solidFill>
                <a:latin typeface="Trebuchet MS" panose="020B0603020202020204" pitchFamily="34" charset="0"/>
              </a:rPr>
              <a:t>;</a:t>
            </a:r>
            <a:endParaRPr lang="en-IN" b="1"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40751053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292878"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7" y="118500"/>
            <a:ext cx="809087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Memory</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management</a:t>
            </a:r>
            <a:r>
              <a:rPr kumimoji="0" lang="en-IN" sz="2400" b="1" i="0" u="none" strike="noStrike" kern="0" cap="none" spc="12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operators </a:t>
            </a:r>
            <a:r>
              <a:rPr kumimoji="0" lang="en-IN" sz="2400" b="1" i="0" u="none" strike="noStrike" kern="0" cap="none" spc="-88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(new(),</a:t>
            </a:r>
            <a:r>
              <a:rPr kumimoji="0" lang="en-IN" sz="2400" b="1" i="0" u="none" strike="noStrike" kern="0" cap="none" spc="-14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delete())</a:t>
            </a:r>
            <a:endParaRPr kumimoji="0" lang="en-IN" sz="2400" b="1" i="0" u="none" strike="noStrike" kern="0" cap="none" spc="0" normalizeH="0" baseline="0" noProof="0" dirty="0">
              <a:ln>
                <a:noFill/>
              </a:ln>
              <a:solidFill>
                <a:srgbClr val="FFFFFF"/>
              </a:solidFill>
              <a:effectLst/>
              <a:uLnTx/>
              <a:uFillTx/>
              <a:latin typeface="Trebuchet MS" panose="020B0603020202020204" pitchFamily="34" charset="0"/>
              <a:cs typeface="Times New Roman" panose="02020603050405020304" pitchFamily="18" charset="0"/>
              <a:sym typeface="Arial"/>
            </a:endParaRPr>
          </a:p>
        </p:txBody>
      </p:sp>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554B85D4-6BF8-4EF0-A911-39FCE93F3414}"/>
              </a:ext>
            </a:extLst>
          </p:cNvPr>
          <p:cNvSpPr txBox="1"/>
          <p:nvPr/>
        </p:nvSpPr>
        <p:spPr>
          <a:xfrm>
            <a:off x="372810" y="819628"/>
            <a:ext cx="8398330" cy="3741986"/>
          </a:xfrm>
          <a:prstGeom prst="rect">
            <a:avLst/>
          </a:prstGeom>
          <a:noFill/>
        </p:spPr>
        <p:txBody>
          <a:bodyPr wrap="square">
            <a:spAutoFit/>
          </a:bodyPr>
          <a:lstStyle/>
          <a:p>
            <a:pPr marL="12700" marR="0" lvl="0" indent="0" algn="l" defTabSz="914400" rtl="0" eaLnBrk="1" fontAlgn="auto" latinLnBrk="0" hangingPunct="1">
              <a:lnSpc>
                <a:spcPct val="150000"/>
              </a:lnSpc>
              <a:spcBef>
                <a:spcPts val="1010"/>
              </a:spcBef>
              <a:spcAft>
                <a:spcPts val="0"/>
              </a:spcAft>
              <a:buClrTx/>
              <a:buSzTx/>
              <a:buFontTx/>
              <a:buNone/>
              <a:tabLst/>
              <a:defRPr/>
            </a:pPr>
            <a:r>
              <a:rPr kumimoji="0" lang="en-IN" sz="2000" b="1" i="0" strike="noStrike" kern="1200" cap="none" spc="-5"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C++</a:t>
            </a:r>
            <a:r>
              <a:rPr kumimoji="0" lang="en-IN" sz="2000" b="1" i="0" strike="noStrike" kern="1200" cap="none" spc="-30"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 </a:t>
            </a:r>
            <a:r>
              <a:rPr kumimoji="0" lang="en-IN" sz="2000" b="1" i="0" strike="noStrike" kern="1200" cap="none" spc="0"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delete</a:t>
            </a:r>
            <a:r>
              <a:rPr kumimoji="0" lang="en-IN" sz="2000" b="1" i="0" strike="noStrike" kern="1200" cap="none" spc="-40"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 </a:t>
            </a:r>
            <a:r>
              <a:rPr kumimoji="0" lang="en-IN" sz="2000" b="1" i="0" strike="noStrike" kern="1200" cap="none" spc="0" normalizeH="0" baseline="0" noProof="0" dirty="0">
                <a:ln>
                  <a:noFill/>
                </a:ln>
                <a:solidFill>
                  <a:srgbClr val="0070C0"/>
                </a:solidFill>
                <a:effectLst/>
                <a:uLnTx/>
                <a:uFill>
                  <a:solidFill>
                    <a:srgbClr val="000000"/>
                  </a:solidFill>
                </a:uFill>
                <a:latin typeface="Trebuchet MS" panose="020B0603020202020204" pitchFamily="34" charset="0"/>
                <a:ea typeface="+mn-ea"/>
                <a:cs typeface="Times New Roman"/>
              </a:rPr>
              <a:t>Operator</a:t>
            </a:r>
            <a:endParaRPr kumimoji="0" lang="en-IN" sz="2000" b="1" i="0"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endParaRPr>
          </a:p>
          <a:p>
            <a:pPr marL="298450" marR="5080" lvl="0" indent="-285750" algn="l" defTabSz="914400" rtl="0" eaLnBrk="1" fontAlgn="auto" latinLnBrk="0" hangingPunct="1">
              <a:lnSpc>
                <a:spcPct val="150000"/>
              </a:lnSpc>
              <a:spcBef>
                <a:spcPts val="1240"/>
              </a:spcBef>
              <a:spcAft>
                <a:spcPts val="0"/>
              </a:spcAft>
              <a:buClrTx/>
              <a:buSzTx/>
              <a:buFont typeface="Arial" panose="020B0604020202020204" pitchFamily="34" charset="0"/>
              <a:buChar char="•"/>
              <a:tabLst/>
              <a:defRPr/>
            </a:pPr>
            <a:r>
              <a:rPr kumimoji="0" lang="en-IN" sz="1800" b="0" i="0" u="none" strike="noStrike" kern="1200" cap="none" spc="-1535" normalizeH="0" baseline="0" noProof="0" dirty="0">
                <a:ln>
                  <a:noFill/>
                </a:ln>
                <a:solidFill>
                  <a:schemeClr val="tx1"/>
                </a:solidFill>
                <a:effectLst/>
                <a:uLnTx/>
                <a:uFillTx/>
                <a:latin typeface="Trebuchet MS" panose="020B0603020202020204" pitchFamily="34" charset="0"/>
                <a:ea typeface="+mn-ea"/>
                <a:cs typeface="Microsoft Sans Serif"/>
              </a:rPr>
              <a:t>🞄</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Once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we</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no longer</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need</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to</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use</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a</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variab</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l</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e</a:t>
            </a:r>
            <a:r>
              <a:rPr kumimoji="0" lang="en-IN" sz="1800" b="0" i="0" u="none" strike="noStrike" kern="1200" cap="none" spc="-3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that</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we</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have</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dec</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l</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ar</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e</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d</a:t>
            </a:r>
            <a:r>
              <a:rPr kumimoji="0" lang="en-IN" sz="1800" b="0" i="0" u="none" strike="noStrike" kern="1200" cap="none" spc="-4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dyna</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m</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ic</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a</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l</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l</a:t>
            </a:r>
            <a:r>
              <a:rPr kumimoji="0" lang="en-IN" sz="1800" b="0" i="0" u="none" strike="noStrike" kern="1200" cap="none" spc="-160" normalizeH="0" baseline="0" noProof="0" dirty="0">
                <a:ln>
                  <a:noFill/>
                </a:ln>
                <a:solidFill>
                  <a:schemeClr val="tx1"/>
                </a:solidFill>
                <a:effectLst/>
                <a:uLnTx/>
                <a:uFillTx/>
                <a:latin typeface="Trebuchet MS" panose="020B0603020202020204" pitchFamily="34" charset="0"/>
                <a:ea typeface="+mn-ea"/>
                <a:cs typeface="Times New Roman"/>
              </a:rPr>
              <a:t>y</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we</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can  </a:t>
            </a:r>
            <a:r>
              <a:rPr kumimoji="0" lang="en-IN" sz="1800" b="1"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deallocate</a:t>
            </a:r>
            <a:r>
              <a:rPr kumimoji="0" lang="en-IN" sz="1800" b="1" i="0" u="none" strike="noStrike" kern="1200" cap="none" spc="-6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1"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the </a:t>
            </a:r>
            <a:r>
              <a:rPr kumimoji="0" lang="en-IN" sz="1800" b="1"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memory</a:t>
            </a:r>
            <a:r>
              <a:rPr kumimoji="0" lang="en-IN" sz="1800" b="1"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occupied</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by the</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variable.</a:t>
            </a:r>
          </a:p>
          <a:p>
            <a:pPr marL="298450" marR="0" lvl="0" indent="-285750" algn="l" defTabSz="914400" rtl="0" eaLnBrk="1" fontAlgn="auto" latinLnBrk="0" hangingPunct="1">
              <a:lnSpc>
                <a:spcPct val="150000"/>
              </a:lnSpc>
              <a:spcBef>
                <a:spcPts val="1680"/>
              </a:spcBef>
              <a:spcAft>
                <a:spcPts val="0"/>
              </a:spcAft>
              <a:buClrTx/>
              <a:buSzTx/>
              <a:buFont typeface="Arial" panose="020B0604020202020204" pitchFamily="34" charset="0"/>
              <a:buChar char="•"/>
              <a:tabLst/>
              <a:defRPr/>
            </a:pP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For</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t</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his,</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the</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del</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e</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te</a:t>
            </a:r>
            <a:r>
              <a:rPr kumimoji="0" lang="en-IN" sz="18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operator</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is</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used. It</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re</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t</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urns</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the </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m</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e</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m</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ory</a:t>
            </a:r>
            <a:r>
              <a:rPr kumimoji="0" lang="en-IN" sz="1800" b="0" i="0" u="none" strike="noStrike" kern="1200" cap="none" spc="2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to</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the opera</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t</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ing</a:t>
            </a:r>
            <a:r>
              <a:rPr kumimoji="0" lang="en-IN" sz="1800" b="0" i="0" u="none" strike="noStrike" kern="1200" cap="none" spc="-3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sys</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te</a:t>
            </a:r>
            <a:r>
              <a:rPr kumimoji="0" lang="en-IN" sz="1800" b="0" i="0" u="none" strike="noStrike" kern="1200" cap="none" spc="-20" normalizeH="0" baseline="0" noProof="0" dirty="0">
                <a:ln>
                  <a:noFill/>
                </a:ln>
                <a:solidFill>
                  <a:schemeClr val="tx1"/>
                </a:solidFill>
                <a:effectLst/>
                <a:uLnTx/>
                <a:uFillTx/>
                <a:latin typeface="Trebuchet MS" panose="020B0603020202020204" pitchFamily="34" charset="0"/>
                <a:ea typeface="+mn-ea"/>
                <a:cs typeface="Times New Roman"/>
              </a:rPr>
              <a:t>m</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This is</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known</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as</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memory</a:t>
            </a:r>
            <a:r>
              <a:rPr kumimoji="0" lang="en-IN" sz="18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deallocation.</a:t>
            </a:r>
            <a:endPar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endParaRPr>
          </a:p>
          <a:p>
            <a:pPr marL="298450" marR="0" lvl="0" indent="-285750" algn="l" defTabSz="914400" rtl="0" eaLnBrk="1" fontAlgn="auto" latinLnBrk="0" hangingPunct="1">
              <a:lnSpc>
                <a:spcPct val="150000"/>
              </a:lnSpc>
              <a:spcBef>
                <a:spcPts val="172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The</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syntax</a:t>
            </a:r>
            <a:r>
              <a:rPr kumimoji="0" lang="en-IN" sz="1800" b="0" i="0" u="none" strike="noStrike" kern="1200" cap="none" spc="-1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for</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th</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i</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s</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operator</a:t>
            </a:r>
            <a:r>
              <a:rPr kumimoji="0" lang="en-IN" sz="1800" b="0" i="0" u="none" strike="noStrike" kern="1200" cap="none" spc="-15"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1800" b="0" i="0" u="none" strike="noStrike" kern="1200" cap="none" spc="-5" normalizeH="0" baseline="0" noProof="0" dirty="0">
                <a:ln>
                  <a:noFill/>
                </a:ln>
                <a:solidFill>
                  <a:schemeClr val="tx1"/>
                </a:solidFill>
                <a:effectLst/>
                <a:uLnTx/>
                <a:uFillTx/>
                <a:latin typeface="Trebuchet MS" panose="020B0603020202020204" pitchFamily="34" charset="0"/>
                <a:ea typeface="+mn-ea"/>
                <a:cs typeface="Times New Roman"/>
              </a:rPr>
              <a:t>is,</a:t>
            </a:r>
            <a:endParaRPr kumimoji="0" lang="en-IN" sz="1800" b="0"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endParaRPr>
          </a:p>
          <a:p>
            <a:pPr marL="12700" marR="0" lvl="0" indent="0" algn="l" defTabSz="914400" rtl="0" eaLnBrk="1" fontAlgn="auto" latinLnBrk="0" hangingPunct="1">
              <a:lnSpc>
                <a:spcPct val="150000"/>
              </a:lnSpc>
              <a:spcBef>
                <a:spcPts val="910"/>
              </a:spcBef>
              <a:spcAft>
                <a:spcPts val="0"/>
              </a:spcAft>
              <a:buClrTx/>
              <a:buSzTx/>
              <a:buFontTx/>
              <a:buNone/>
              <a:tabLst/>
              <a:defRPr/>
            </a:pPr>
            <a:r>
              <a:rPr kumimoji="0" lang="en-IN" sz="1800" b="1" i="0" u="none" strike="noStrike" kern="1200" cap="none" spc="0" normalizeH="0" baseline="0" noProof="0" dirty="0">
                <a:ln>
                  <a:noFill/>
                </a:ln>
                <a:solidFill>
                  <a:schemeClr val="tx1"/>
                </a:solidFill>
                <a:effectLst/>
                <a:uLnTx/>
                <a:uFillTx/>
                <a:latin typeface="Trebuchet MS" panose="020B0603020202020204" pitchFamily="34" charset="0"/>
                <a:ea typeface="+mn-ea"/>
                <a:cs typeface="Times New Roman"/>
              </a:rPr>
              <a:t>	</a:t>
            </a:r>
            <a:r>
              <a:rPr kumimoji="0" lang="en-IN" sz="20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rPr>
              <a:t>delete</a:t>
            </a:r>
            <a:r>
              <a:rPr kumimoji="0" lang="en-IN" sz="2000" b="1" i="0" u="none" strike="noStrike" kern="1200" cap="none" spc="-40" normalizeH="0" baseline="0" noProof="0" dirty="0">
                <a:ln>
                  <a:noFill/>
                </a:ln>
                <a:solidFill>
                  <a:srgbClr val="0070C0"/>
                </a:solidFill>
                <a:effectLst/>
                <a:uLnTx/>
                <a:uFillTx/>
                <a:latin typeface="Trebuchet MS" panose="020B0603020202020204" pitchFamily="34" charset="0"/>
                <a:ea typeface="+mn-ea"/>
                <a:cs typeface="Times New Roman"/>
              </a:rPr>
              <a:t> </a:t>
            </a:r>
            <a:r>
              <a:rPr kumimoji="0" lang="en-IN" sz="2000" b="1" i="0" u="none" strike="noStrike" kern="1200" cap="none" spc="-15" normalizeH="0" baseline="0" noProof="0" dirty="0" err="1">
                <a:ln>
                  <a:noFill/>
                </a:ln>
                <a:solidFill>
                  <a:srgbClr val="0070C0"/>
                </a:solidFill>
                <a:effectLst/>
                <a:uLnTx/>
                <a:uFillTx/>
                <a:latin typeface="Trebuchet MS" panose="020B0603020202020204" pitchFamily="34" charset="0"/>
                <a:ea typeface="+mn-ea"/>
                <a:cs typeface="Times New Roman"/>
              </a:rPr>
              <a:t>pointerVariable</a:t>
            </a:r>
            <a:r>
              <a:rPr kumimoji="0" lang="en-IN" sz="2000" b="1" i="0" u="none" strike="noStrike" kern="1200" cap="none" spc="-15" normalizeH="0" baseline="0" noProof="0" dirty="0">
                <a:ln>
                  <a:noFill/>
                </a:ln>
                <a:solidFill>
                  <a:srgbClr val="0070C0"/>
                </a:solidFill>
                <a:effectLst/>
                <a:uLnTx/>
                <a:uFillTx/>
                <a:latin typeface="Trebuchet MS" panose="020B0603020202020204" pitchFamily="34" charset="0"/>
                <a:ea typeface="+mn-ea"/>
                <a:cs typeface="Times New Roman"/>
              </a:rPr>
              <a:t>;</a:t>
            </a:r>
            <a:endParaRPr kumimoji="0" lang="en-IN" sz="16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endParaRPr>
          </a:p>
        </p:txBody>
      </p:sp>
    </p:spTree>
    <p:extLst>
      <p:ext uri="{BB962C8B-B14F-4D97-AF65-F5344CB8AC3E}">
        <p14:creationId xmlns:p14="http://schemas.microsoft.com/office/powerpoint/2010/main" val="128508745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41446"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1DAF33FE-D183-516E-A504-364ED33F5422}"/>
              </a:ext>
            </a:extLst>
          </p:cNvPr>
          <p:cNvSpPr txBox="1"/>
          <p:nvPr/>
        </p:nvSpPr>
        <p:spPr>
          <a:xfrm>
            <a:off x="116957" y="118500"/>
            <a:ext cx="809087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Memory</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management</a:t>
            </a:r>
            <a:r>
              <a:rPr kumimoji="0" lang="en-IN" sz="2400" b="1" i="0" u="none" strike="noStrike" kern="0" cap="none" spc="12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10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operators </a:t>
            </a:r>
            <a:r>
              <a:rPr kumimoji="0" lang="en-IN" sz="2400" b="1" i="0" u="none" strike="noStrike" kern="0" cap="none" spc="-885"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5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(new(),</a:t>
            </a:r>
            <a:r>
              <a:rPr kumimoji="0" lang="en-IN" sz="2400" b="1" i="0" u="none" strike="noStrike" kern="0" cap="none" spc="-14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 </a:t>
            </a:r>
            <a:r>
              <a:rPr kumimoji="0" lang="en-IN" sz="2400" b="1" i="0" u="none" strike="noStrike" kern="0" cap="none" spc="-60" normalizeH="0" baseline="0" noProof="0" dirty="0">
                <a:ln>
                  <a:noFill/>
                </a:ln>
                <a:solidFill>
                  <a:prstClr val="white"/>
                </a:solidFill>
                <a:effectLst/>
                <a:uLnTx/>
                <a:uFillTx/>
                <a:latin typeface="Trebuchet MS" panose="020B0603020202020204" pitchFamily="34" charset="0"/>
                <a:ea typeface="+mj-ea"/>
                <a:cs typeface="Times New Roman" panose="02020603050405020304" pitchFamily="18" charset="0"/>
              </a:rPr>
              <a:t>delete())</a:t>
            </a:r>
            <a:endParaRPr kumimoji="0" lang="en-IN" sz="2400" b="1" i="0" u="none" strike="noStrike" kern="0" cap="none" spc="0" normalizeH="0" baseline="0" noProof="0" dirty="0">
              <a:ln>
                <a:noFill/>
              </a:ln>
              <a:solidFill>
                <a:srgbClr val="FFFFFF"/>
              </a:solidFill>
              <a:effectLst/>
              <a:uLnTx/>
              <a:uFillTx/>
              <a:latin typeface="Trebuchet MS" panose="020B0603020202020204" pitchFamily="34" charset="0"/>
              <a:cs typeface="Times New Roman" panose="02020603050405020304" pitchFamily="18" charset="0"/>
              <a:sym typeface="Arial"/>
            </a:endParaRPr>
          </a:p>
        </p:txBody>
      </p:sp>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183C3A92-06C7-70EA-70CA-B0506E8416E1}"/>
              </a:ext>
            </a:extLst>
          </p:cNvPr>
          <p:cNvSpPr txBox="1"/>
          <p:nvPr/>
        </p:nvSpPr>
        <p:spPr>
          <a:xfrm>
            <a:off x="274699" y="724003"/>
            <a:ext cx="5157272" cy="4109779"/>
          </a:xfrm>
          <a:prstGeom prst="rect">
            <a:avLst/>
          </a:prstGeom>
          <a:noFill/>
        </p:spPr>
        <p:txBody>
          <a:bodyPr wrap="square">
            <a:spAutoFit/>
          </a:bodyPr>
          <a:lstStyle/>
          <a:p>
            <a:pPr>
              <a:lnSpc>
                <a:spcPct val="150000"/>
              </a:lnSpc>
            </a:pPr>
            <a:r>
              <a:rPr lang="en-IN" sz="1600" dirty="0">
                <a:latin typeface="Trebuchet MS" panose="020B0603020202020204" pitchFamily="34" charset="0"/>
              </a:rPr>
              <a:t>// declare an int pointer</a:t>
            </a:r>
          </a:p>
          <a:p>
            <a:pPr>
              <a:lnSpc>
                <a:spcPct val="150000"/>
              </a:lnSpc>
            </a:pPr>
            <a:r>
              <a:rPr lang="en-IN" sz="1600" dirty="0">
                <a:latin typeface="Trebuchet MS" panose="020B0603020202020204" pitchFamily="34" charset="0"/>
              </a:rPr>
              <a:t>	</a:t>
            </a:r>
            <a:r>
              <a:rPr lang="en-IN" sz="1600" dirty="0">
                <a:solidFill>
                  <a:srgbClr val="0070C0"/>
                </a:solidFill>
                <a:latin typeface="Trebuchet MS" panose="020B0603020202020204" pitchFamily="34" charset="0"/>
              </a:rPr>
              <a:t>int* </a:t>
            </a:r>
            <a:r>
              <a:rPr lang="en-IN" sz="1600" dirty="0" err="1">
                <a:solidFill>
                  <a:srgbClr val="0070C0"/>
                </a:solidFill>
                <a:latin typeface="Trebuchet MS" panose="020B0603020202020204" pitchFamily="34" charset="0"/>
              </a:rPr>
              <a:t>pointVar</a:t>
            </a:r>
            <a:r>
              <a:rPr lang="en-IN" sz="1600" dirty="0">
                <a:solidFill>
                  <a:srgbClr val="0070C0"/>
                </a:solidFill>
                <a:latin typeface="Trebuchet MS" panose="020B0603020202020204" pitchFamily="34" charset="0"/>
              </a:rPr>
              <a:t>;</a:t>
            </a:r>
          </a:p>
          <a:p>
            <a:pPr>
              <a:lnSpc>
                <a:spcPct val="150000"/>
              </a:lnSpc>
            </a:pPr>
            <a:r>
              <a:rPr lang="en-IN" sz="1600" dirty="0">
                <a:latin typeface="Trebuchet MS" panose="020B0603020202020204" pitchFamily="34" charset="0"/>
              </a:rPr>
              <a:t>// dynamically allocate memory</a:t>
            </a:r>
          </a:p>
          <a:p>
            <a:pPr>
              <a:lnSpc>
                <a:spcPct val="150000"/>
              </a:lnSpc>
            </a:pPr>
            <a:r>
              <a:rPr lang="en-IN" sz="1600" dirty="0">
                <a:latin typeface="Trebuchet MS" panose="020B0603020202020204" pitchFamily="34" charset="0"/>
              </a:rPr>
              <a:t>// for an int variable  </a:t>
            </a:r>
          </a:p>
          <a:p>
            <a:pPr>
              <a:lnSpc>
                <a:spcPct val="150000"/>
              </a:lnSpc>
            </a:pPr>
            <a:r>
              <a:rPr lang="en-IN" sz="1600" dirty="0">
                <a:latin typeface="Trebuchet MS" panose="020B0603020202020204" pitchFamily="34" charset="0"/>
              </a:rPr>
              <a:t>	</a:t>
            </a:r>
            <a:r>
              <a:rPr lang="en-IN" sz="1600" dirty="0" err="1">
                <a:solidFill>
                  <a:srgbClr val="0070C0"/>
                </a:solidFill>
                <a:latin typeface="Trebuchet MS" panose="020B0603020202020204" pitchFamily="34" charset="0"/>
              </a:rPr>
              <a:t>pointVar</a:t>
            </a:r>
            <a:r>
              <a:rPr lang="en-IN" sz="1600" dirty="0">
                <a:solidFill>
                  <a:srgbClr val="0070C0"/>
                </a:solidFill>
                <a:latin typeface="Trebuchet MS" panose="020B0603020202020204" pitchFamily="34" charset="0"/>
              </a:rPr>
              <a:t> = new int;</a:t>
            </a:r>
          </a:p>
          <a:p>
            <a:pPr>
              <a:lnSpc>
                <a:spcPct val="150000"/>
              </a:lnSpc>
            </a:pPr>
            <a:r>
              <a:rPr lang="en-IN" sz="1600" dirty="0">
                <a:latin typeface="Trebuchet MS" panose="020B0603020202020204" pitchFamily="34" charset="0"/>
              </a:rPr>
              <a:t>// assign value to the variable memory</a:t>
            </a:r>
          </a:p>
          <a:p>
            <a:pPr>
              <a:lnSpc>
                <a:spcPct val="150000"/>
              </a:lnSpc>
            </a:pPr>
            <a:r>
              <a:rPr lang="en-IN" sz="1600" dirty="0">
                <a:latin typeface="Trebuchet MS" panose="020B0603020202020204" pitchFamily="34" charset="0"/>
              </a:rPr>
              <a:t>	</a:t>
            </a:r>
            <a:r>
              <a:rPr lang="en-IN" sz="1600" dirty="0">
                <a:solidFill>
                  <a:srgbClr val="0070C0"/>
                </a:solidFill>
                <a:latin typeface="Trebuchet MS" panose="020B0603020202020204" pitchFamily="34" charset="0"/>
              </a:rPr>
              <a:t>*</a:t>
            </a:r>
            <a:r>
              <a:rPr lang="en-IN" sz="1600" dirty="0" err="1">
                <a:solidFill>
                  <a:srgbClr val="0070C0"/>
                </a:solidFill>
                <a:latin typeface="Trebuchet MS" panose="020B0603020202020204" pitchFamily="34" charset="0"/>
              </a:rPr>
              <a:t>pointVar</a:t>
            </a:r>
            <a:r>
              <a:rPr lang="en-IN" sz="1600" dirty="0">
                <a:solidFill>
                  <a:srgbClr val="0070C0"/>
                </a:solidFill>
                <a:latin typeface="Trebuchet MS" panose="020B0603020202020204" pitchFamily="34" charset="0"/>
              </a:rPr>
              <a:t> = 45;</a:t>
            </a:r>
          </a:p>
          <a:p>
            <a:pPr>
              <a:lnSpc>
                <a:spcPct val="150000"/>
              </a:lnSpc>
            </a:pPr>
            <a:r>
              <a:rPr lang="en-IN" sz="1600" dirty="0">
                <a:latin typeface="Trebuchet MS" panose="020B0603020202020204" pitchFamily="34" charset="0"/>
              </a:rPr>
              <a:t>// print the value stored in memory</a:t>
            </a:r>
          </a:p>
          <a:p>
            <a:pPr>
              <a:lnSpc>
                <a:spcPct val="150000"/>
              </a:lnSpc>
            </a:pPr>
            <a:r>
              <a:rPr lang="en-IN" sz="1600" dirty="0">
                <a:latin typeface="Trebuchet MS" panose="020B0603020202020204" pitchFamily="34" charset="0"/>
              </a:rPr>
              <a:t>	</a:t>
            </a:r>
            <a:r>
              <a:rPr lang="en-IN" sz="1600" dirty="0" err="1">
                <a:solidFill>
                  <a:srgbClr val="0070C0"/>
                </a:solidFill>
                <a:latin typeface="Trebuchet MS" panose="020B0603020202020204" pitchFamily="34" charset="0"/>
              </a:rPr>
              <a:t>cout</a:t>
            </a:r>
            <a:r>
              <a:rPr lang="en-IN" sz="1600" dirty="0">
                <a:solidFill>
                  <a:srgbClr val="0070C0"/>
                </a:solidFill>
                <a:latin typeface="Trebuchet MS" panose="020B0603020202020204" pitchFamily="34" charset="0"/>
              </a:rPr>
              <a:t> &lt;&lt; *</a:t>
            </a:r>
            <a:r>
              <a:rPr lang="en-IN" sz="1600" dirty="0" err="1">
                <a:solidFill>
                  <a:srgbClr val="0070C0"/>
                </a:solidFill>
                <a:latin typeface="Trebuchet MS" panose="020B0603020202020204" pitchFamily="34" charset="0"/>
              </a:rPr>
              <a:t>pointVar</a:t>
            </a:r>
            <a:r>
              <a:rPr lang="en-IN" sz="1600" dirty="0">
                <a:solidFill>
                  <a:srgbClr val="0070C0"/>
                </a:solidFill>
                <a:latin typeface="Trebuchet MS" panose="020B0603020202020204" pitchFamily="34" charset="0"/>
              </a:rPr>
              <a:t>;               </a:t>
            </a:r>
            <a:endParaRPr lang="en-IN" sz="1600" dirty="0">
              <a:solidFill>
                <a:srgbClr val="FF0000"/>
              </a:solidFill>
              <a:latin typeface="Trebuchet MS" panose="020B0603020202020204" pitchFamily="34" charset="0"/>
            </a:endParaRPr>
          </a:p>
          <a:p>
            <a:pPr>
              <a:lnSpc>
                <a:spcPct val="150000"/>
              </a:lnSpc>
            </a:pPr>
            <a:r>
              <a:rPr lang="en-IN" sz="1600" dirty="0">
                <a:latin typeface="Trebuchet MS" panose="020B0603020202020204" pitchFamily="34" charset="0"/>
              </a:rPr>
              <a:t>// deallocate the memory  </a:t>
            </a:r>
          </a:p>
          <a:p>
            <a:pPr>
              <a:lnSpc>
                <a:spcPct val="150000"/>
              </a:lnSpc>
            </a:pPr>
            <a:r>
              <a:rPr lang="en-IN" sz="1600" dirty="0">
                <a:latin typeface="Trebuchet MS" panose="020B0603020202020204" pitchFamily="34" charset="0"/>
              </a:rPr>
              <a:t>	</a:t>
            </a:r>
            <a:r>
              <a:rPr lang="en-IN" sz="1600" dirty="0">
                <a:solidFill>
                  <a:srgbClr val="0070C0"/>
                </a:solidFill>
                <a:latin typeface="Trebuchet MS" panose="020B0603020202020204" pitchFamily="34" charset="0"/>
              </a:rPr>
              <a:t>delete </a:t>
            </a:r>
            <a:r>
              <a:rPr lang="en-IN" sz="1600" dirty="0" err="1">
                <a:solidFill>
                  <a:srgbClr val="0070C0"/>
                </a:solidFill>
                <a:latin typeface="Trebuchet MS" panose="020B0603020202020204" pitchFamily="34" charset="0"/>
              </a:rPr>
              <a:t>pointVar</a:t>
            </a:r>
            <a:r>
              <a:rPr lang="en-IN" sz="1600" dirty="0">
                <a:solidFill>
                  <a:srgbClr val="0070C0"/>
                </a:solidFill>
                <a:latin typeface="Trebuchet MS" panose="020B0603020202020204" pitchFamily="34" charset="0"/>
              </a:rPr>
              <a:t>;</a:t>
            </a:r>
          </a:p>
        </p:txBody>
      </p:sp>
      <p:sp>
        <p:nvSpPr>
          <p:cNvPr id="10" name="TextBox 9">
            <a:extLst>
              <a:ext uri="{FF2B5EF4-FFF2-40B4-BE49-F238E27FC236}">
                <a16:creationId xmlns:a16="http://schemas.microsoft.com/office/drawing/2014/main" id="{35CE0E23-E439-F438-DD78-DEDE571EC6A5}"/>
              </a:ext>
            </a:extLst>
          </p:cNvPr>
          <p:cNvSpPr txBox="1"/>
          <p:nvPr/>
        </p:nvSpPr>
        <p:spPr>
          <a:xfrm>
            <a:off x="4474029" y="1720003"/>
            <a:ext cx="4384846" cy="1893788"/>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Here, we have dynamically allocated memory for an int variable using the pointer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pointVar</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After printing the contents of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pointVar</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we deallocated the memory using delete.</a:t>
            </a:r>
          </a:p>
        </p:txBody>
      </p:sp>
    </p:spTree>
    <p:extLst>
      <p:ext uri="{BB962C8B-B14F-4D97-AF65-F5344CB8AC3E}">
        <p14:creationId xmlns:p14="http://schemas.microsoft.com/office/powerpoint/2010/main" val="273584543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65425"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object 2">
            <a:extLst>
              <a:ext uri="{FF2B5EF4-FFF2-40B4-BE49-F238E27FC236}">
                <a16:creationId xmlns:a16="http://schemas.microsoft.com/office/drawing/2014/main" id="{2619D678-8709-9FB6-7DD1-39ED72AFE08A}"/>
              </a:ext>
            </a:extLst>
          </p:cNvPr>
          <p:cNvSpPr txBox="1"/>
          <p:nvPr/>
        </p:nvSpPr>
        <p:spPr>
          <a:xfrm>
            <a:off x="177321" y="780137"/>
            <a:ext cx="5243764" cy="3879011"/>
          </a:xfrm>
          <a:prstGeom prst="rect">
            <a:avLst/>
          </a:prstGeom>
        </p:spPr>
        <p:txBody>
          <a:bodyPr vert="horz" wrap="square" lIns="0" tIns="12700" rIns="0" bIns="0" rtlCol="0">
            <a:spAutoFit/>
          </a:bodyPr>
          <a:lstStyle/>
          <a:p>
            <a:pPr marL="317500" marR="1059180">
              <a:lnSpc>
                <a:spcPct val="131700"/>
              </a:lnSpc>
              <a:buClrTx/>
              <a:buFontTx/>
              <a:buNone/>
            </a:pPr>
            <a:r>
              <a:rPr lang="en-IN" sz="1600" kern="1200" dirty="0">
                <a:solidFill>
                  <a:prstClr val="black"/>
                </a:solidFill>
                <a:latin typeface="Trebuchet MS" panose="020B0603020202020204" pitchFamily="34" charset="0"/>
                <a:ea typeface="+mn-ea"/>
                <a:cs typeface="Times New Roman"/>
              </a:rPr>
              <a:t>#include &lt;iostream&gt;</a:t>
            </a:r>
          </a:p>
          <a:p>
            <a:pPr marL="317500" marR="1059180">
              <a:lnSpc>
                <a:spcPct val="131700"/>
              </a:lnSpc>
              <a:buClrTx/>
              <a:buFontTx/>
              <a:buNone/>
            </a:pPr>
            <a:r>
              <a:rPr lang="en-IN" sz="1600" kern="1200" dirty="0">
                <a:solidFill>
                  <a:prstClr val="black"/>
                </a:solidFill>
                <a:latin typeface="Trebuchet MS" panose="020B0603020202020204" pitchFamily="34" charset="0"/>
                <a:ea typeface="+mn-ea"/>
                <a:cs typeface="Times New Roman"/>
              </a:rPr>
              <a:t>using namespace std;</a:t>
            </a:r>
          </a:p>
          <a:p>
            <a:pPr marL="317500" marR="1059180">
              <a:lnSpc>
                <a:spcPct val="131700"/>
              </a:lnSpc>
              <a:buClrTx/>
              <a:buFontTx/>
              <a:buNone/>
            </a:pPr>
            <a:r>
              <a:rPr lang="en-IN" sz="1600" kern="1200" dirty="0">
                <a:solidFill>
                  <a:prstClr val="black"/>
                </a:solidFill>
                <a:latin typeface="Trebuchet MS" panose="020B0603020202020204" pitchFamily="34" charset="0"/>
                <a:ea typeface="+mn-ea"/>
                <a:cs typeface="Times New Roman"/>
              </a:rPr>
              <a:t>int main()</a:t>
            </a:r>
          </a:p>
          <a:p>
            <a:pPr marL="317500" marR="1059180">
              <a:lnSpc>
                <a:spcPct val="131700"/>
              </a:lnSpc>
              <a:buClrTx/>
              <a:buFontTx/>
              <a:buNone/>
            </a:pPr>
            <a:r>
              <a:rPr lang="en-IN" sz="1600" kern="1200" dirty="0">
                <a:solidFill>
                  <a:prstClr val="black"/>
                </a:solidFill>
                <a:latin typeface="Trebuchet MS" panose="020B0603020202020204" pitchFamily="34" charset="0"/>
                <a:ea typeface="+mn-ea"/>
                <a:cs typeface="Times New Roman"/>
              </a:rPr>
              <a:t>{</a:t>
            </a:r>
          </a:p>
          <a:p>
            <a:pPr marL="317500" marR="1059180">
              <a:lnSpc>
                <a:spcPct val="131700"/>
              </a:lnSpc>
              <a:buClrTx/>
              <a:buFontTx/>
              <a:buNone/>
            </a:pPr>
            <a:r>
              <a:rPr lang="en-IN" sz="1600" kern="1200" dirty="0">
                <a:solidFill>
                  <a:srgbClr val="0070C0"/>
                </a:solidFill>
                <a:latin typeface="Trebuchet MS" panose="020B0603020202020204" pitchFamily="34" charset="0"/>
                <a:ea typeface="+mn-ea"/>
                <a:cs typeface="Times New Roman"/>
              </a:rPr>
              <a:t>// declare an int pointer</a:t>
            </a:r>
          </a:p>
          <a:p>
            <a:pPr marL="317500" marR="1059180">
              <a:lnSpc>
                <a:spcPct val="131700"/>
              </a:lnSpc>
              <a:buClrTx/>
              <a:buFontTx/>
              <a:buNone/>
            </a:pPr>
            <a:r>
              <a:rPr lang="en-IN" sz="1600" kern="1200" dirty="0">
                <a:solidFill>
                  <a:prstClr val="black"/>
                </a:solidFill>
                <a:latin typeface="Trebuchet MS" panose="020B0603020202020204" pitchFamily="34" charset="0"/>
                <a:ea typeface="+mn-ea"/>
                <a:cs typeface="Times New Roman"/>
              </a:rPr>
              <a:t>int* </a:t>
            </a:r>
            <a:r>
              <a:rPr lang="en-IN" sz="1600" kern="1200" dirty="0" err="1">
                <a:solidFill>
                  <a:prstClr val="black"/>
                </a:solidFill>
                <a:latin typeface="Trebuchet MS" panose="020B0603020202020204" pitchFamily="34" charset="0"/>
                <a:ea typeface="+mn-ea"/>
                <a:cs typeface="Times New Roman"/>
              </a:rPr>
              <a:t>pointInt</a:t>
            </a:r>
            <a:r>
              <a:rPr lang="en-IN" sz="1600" kern="1200" dirty="0">
                <a:solidFill>
                  <a:prstClr val="black"/>
                </a:solidFill>
                <a:latin typeface="Trebuchet MS" panose="020B0603020202020204" pitchFamily="34" charset="0"/>
                <a:ea typeface="+mn-ea"/>
                <a:cs typeface="Times New Roman"/>
              </a:rPr>
              <a:t>;</a:t>
            </a:r>
          </a:p>
          <a:p>
            <a:pPr marL="317500" marR="1059180">
              <a:lnSpc>
                <a:spcPct val="131700"/>
              </a:lnSpc>
              <a:buClrTx/>
              <a:buFontTx/>
              <a:buNone/>
            </a:pPr>
            <a:r>
              <a:rPr lang="en-IN" sz="1600" kern="1200" dirty="0">
                <a:solidFill>
                  <a:srgbClr val="0070C0"/>
                </a:solidFill>
                <a:latin typeface="Trebuchet MS" panose="020B0603020202020204" pitchFamily="34" charset="0"/>
                <a:ea typeface="+mn-ea"/>
                <a:cs typeface="Times New Roman"/>
              </a:rPr>
              <a:t>// declare a float pointer</a:t>
            </a:r>
          </a:p>
          <a:p>
            <a:pPr marL="317500" marR="1059180">
              <a:lnSpc>
                <a:spcPct val="131700"/>
              </a:lnSpc>
              <a:buClrTx/>
              <a:buFontTx/>
              <a:buNone/>
            </a:pPr>
            <a:r>
              <a:rPr lang="en-IN" sz="1600" kern="1200" dirty="0">
                <a:solidFill>
                  <a:prstClr val="black"/>
                </a:solidFill>
                <a:latin typeface="Trebuchet MS" panose="020B0603020202020204" pitchFamily="34" charset="0"/>
                <a:ea typeface="+mn-ea"/>
                <a:cs typeface="Times New Roman"/>
              </a:rPr>
              <a:t>float* </a:t>
            </a:r>
            <a:r>
              <a:rPr lang="en-IN" sz="1600" kern="1200" dirty="0" err="1">
                <a:solidFill>
                  <a:prstClr val="black"/>
                </a:solidFill>
                <a:latin typeface="Trebuchet MS" panose="020B0603020202020204" pitchFamily="34" charset="0"/>
                <a:ea typeface="+mn-ea"/>
                <a:cs typeface="Times New Roman"/>
              </a:rPr>
              <a:t>pointFloat</a:t>
            </a:r>
            <a:r>
              <a:rPr lang="en-IN" sz="1600" kern="1200" dirty="0">
                <a:solidFill>
                  <a:prstClr val="black"/>
                </a:solidFill>
                <a:latin typeface="Trebuchet MS" panose="020B0603020202020204" pitchFamily="34" charset="0"/>
                <a:ea typeface="+mn-ea"/>
                <a:cs typeface="Times New Roman"/>
              </a:rPr>
              <a:t>;</a:t>
            </a:r>
          </a:p>
          <a:p>
            <a:pPr marL="317500" marR="1059180">
              <a:lnSpc>
                <a:spcPct val="131700"/>
              </a:lnSpc>
              <a:buClrTx/>
              <a:buFontTx/>
              <a:buNone/>
            </a:pPr>
            <a:r>
              <a:rPr lang="en-IN" sz="1600" kern="1200" dirty="0">
                <a:solidFill>
                  <a:srgbClr val="0070C0"/>
                </a:solidFill>
                <a:latin typeface="Trebuchet MS" panose="020B0603020202020204" pitchFamily="34" charset="0"/>
                <a:ea typeface="+mn-ea"/>
                <a:cs typeface="Times New Roman"/>
              </a:rPr>
              <a:t>// dynamically allocate memory</a:t>
            </a:r>
          </a:p>
          <a:p>
            <a:pPr marL="317500" marR="1059180">
              <a:lnSpc>
                <a:spcPct val="131700"/>
              </a:lnSpc>
              <a:buClrTx/>
              <a:buFontTx/>
              <a:buNone/>
            </a:pPr>
            <a:r>
              <a:rPr lang="en-IN" sz="1600" kern="1200" dirty="0" err="1">
                <a:solidFill>
                  <a:prstClr val="black"/>
                </a:solidFill>
                <a:latin typeface="Trebuchet MS" panose="020B0603020202020204" pitchFamily="34" charset="0"/>
                <a:ea typeface="+mn-ea"/>
                <a:cs typeface="Times New Roman"/>
              </a:rPr>
              <a:t>pointInt</a:t>
            </a:r>
            <a:r>
              <a:rPr lang="en-IN" sz="1600" kern="1200" dirty="0">
                <a:solidFill>
                  <a:prstClr val="black"/>
                </a:solidFill>
                <a:latin typeface="Trebuchet MS" panose="020B0603020202020204" pitchFamily="34" charset="0"/>
                <a:ea typeface="+mn-ea"/>
                <a:cs typeface="Times New Roman"/>
              </a:rPr>
              <a:t> = new int;</a:t>
            </a:r>
          </a:p>
          <a:p>
            <a:pPr marL="317500" marR="1059180">
              <a:lnSpc>
                <a:spcPct val="131700"/>
              </a:lnSpc>
              <a:buClrTx/>
              <a:buFontTx/>
              <a:buNone/>
            </a:pPr>
            <a:r>
              <a:rPr lang="en-IN" sz="1600" kern="1200" dirty="0" err="1">
                <a:solidFill>
                  <a:prstClr val="black"/>
                </a:solidFill>
                <a:latin typeface="Trebuchet MS" panose="020B0603020202020204" pitchFamily="34" charset="0"/>
                <a:ea typeface="+mn-ea"/>
                <a:cs typeface="Times New Roman"/>
              </a:rPr>
              <a:t>pointFloat</a:t>
            </a:r>
            <a:r>
              <a:rPr lang="en-IN" sz="1600" kern="1200" dirty="0">
                <a:solidFill>
                  <a:prstClr val="black"/>
                </a:solidFill>
                <a:latin typeface="Trebuchet MS" panose="020B0603020202020204" pitchFamily="34" charset="0"/>
                <a:ea typeface="+mn-ea"/>
                <a:cs typeface="Times New Roman"/>
              </a:rPr>
              <a:t> = new float;</a:t>
            </a:r>
          </a:p>
          <a:p>
            <a:pPr marL="317500" marR="1059180">
              <a:lnSpc>
                <a:spcPct val="131700"/>
              </a:lnSpc>
              <a:buClrTx/>
              <a:buFontTx/>
              <a:buNone/>
            </a:pPr>
            <a:endParaRPr sz="1600" kern="1200" dirty="0">
              <a:solidFill>
                <a:prstClr val="black"/>
              </a:solidFill>
              <a:latin typeface="Trebuchet MS" panose="020B0603020202020204" pitchFamily="34" charset="0"/>
              <a:ea typeface="+mn-ea"/>
              <a:cs typeface="Times New Roman"/>
            </a:endParaRPr>
          </a:p>
        </p:txBody>
      </p:sp>
      <p:sp>
        <p:nvSpPr>
          <p:cNvPr id="4" name="object 3">
            <a:extLst>
              <a:ext uri="{FF2B5EF4-FFF2-40B4-BE49-F238E27FC236}">
                <a16:creationId xmlns:a16="http://schemas.microsoft.com/office/drawing/2014/main" id="{134E71DD-5C18-47D4-E38B-EF494D9C81DD}"/>
              </a:ext>
            </a:extLst>
          </p:cNvPr>
          <p:cNvSpPr txBox="1">
            <a:spLocks/>
          </p:cNvSpPr>
          <p:nvPr/>
        </p:nvSpPr>
        <p:spPr>
          <a:xfrm>
            <a:off x="346363" y="228316"/>
            <a:ext cx="8946515" cy="382156"/>
          </a:xfrm>
          <a:prstGeom prst="rect">
            <a:avLst/>
          </a:prstGeom>
        </p:spPr>
        <p:txBody>
          <a:bodyPr vert="horz" wrap="square" lIns="0" tIns="12700" rIns="0" bIns="0" rtlCol="0">
            <a:spAutoFit/>
          </a:bodyPr>
          <a:lstStyle>
            <a:lvl1pPr>
              <a:defRPr sz="4300" b="1" i="0">
                <a:solidFill>
                  <a:schemeClr val="bg1"/>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2400" spc="-60" dirty="0">
                <a:solidFill>
                  <a:prstClr val="white"/>
                </a:solidFill>
                <a:latin typeface="Trebuchet MS" panose="020B0603020202020204" pitchFamily="34" charset="0"/>
                <a:cs typeface="Times New Roman" panose="02020603050405020304" pitchFamily="18" charset="0"/>
              </a:rPr>
              <a:t>Dynamic Memory Allocation in C++</a:t>
            </a:r>
          </a:p>
        </p:txBody>
      </p:sp>
      <p:sp>
        <p:nvSpPr>
          <p:cNvPr id="9" name="TextBox 8">
            <a:extLst>
              <a:ext uri="{FF2B5EF4-FFF2-40B4-BE49-F238E27FC236}">
                <a16:creationId xmlns:a16="http://schemas.microsoft.com/office/drawing/2014/main" id="{56805533-9BFD-52DA-DEC9-764ABD8D9D66}"/>
              </a:ext>
            </a:extLst>
          </p:cNvPr>
          <p:cNvSpPr txBox="1"/>
          <p:nvPr/>
        </p:nvSpPr>
        <p:spPr>
          <a:xfrm>
            <a:off x="4456965" y="773413"/>
            <a:ext cx="5536121" cy="3633495"/>
          </a:xfrm>
          <a:prstGeom prst="rect">
            <a:avLst/>
          </a:prstGeom>
          <a:noFill/>
        </p:spPr>
        <p:txBody>
          <a:bodyPr wrap="square">
            <a:spAutoFit/>
          </a:bodyPr>
          <a:lstStyle/>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sym typeface="Arial"/>
              </a:rPr>
              <a:t>// assigning value to the memory</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pointInt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 45;</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pointFloat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 45.45f;</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cout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&lt;&lt; *</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pointInt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&lt;&lt; </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endl</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cout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&lt;&lt; *</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pointFloat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&lt;&lt; </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endl</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sym typeface="Arial"/>
              </a:rPr>
              <a:t>// deallocate the memory</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delete </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pointInt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delete </a:t>
            </a:r>
            <a:r>
              <a:rPr kumimoji="0" lang="en-IN" sz="1600" b="0" i="0" u="none" strike="noStrike" kern="1200" cap="none" spc="0" normalizeH="0" baseline="0" noProof="0" dirty="0" err="1">
                <a:ln>
                  <a:noFill/>
                </a:ln>
                <a:solidFill>
                  <a:prstClr val="black"/>
                </a:solidFill>
                <a:effectLst/>
                <a:uLnTx/>
                <a:uFillTx/>
                <a:latin typeface="Trebuchet MS" panose="020B0603020202020204" pitchFamily="34" charset="0"/>
                <a:ea typeface="+mn-ea"/>
                <a:cs typeface="Times New Roman"/>
                <a:sym typeface="Arial"/>
              </a:rPr>
              <a:t>pointFloat</a:t>
            </a: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  return 0;</a:t>
            </a: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Times New Roman"/>
                <a:sym typeface="Arial"/>
              </a:rPr>
              <a:t>}</a:t>
            </a:r>
          </a:p>
          <a:p>
            <a:pPr marL="317500" marR="1059180" lvl="0" indent="0" algn="l" defTabSz="914400" rtl="0" eaLnBrk="1" fontAlgn="auto" latinLnBrk="0" hangingPunct="1">
              <a:lnSpc>
                <a:spcPct val="131700"/>
              </a:lnSpc>
              <a:spcBef>
                <a:spcPts val="0"/>
              </a:spcBef>
              <a:spcAft>
                <a:spcPts val="0"/>
              </a:spcAft>
              <a:buClrTx/>
              <a:buSzTx/>
              <a:buFontTx/>
              <a:buNone/>
              <a:tabLst/>
              <a:defRPr/>
            </a:pPr>
            <a:endParaRPr lang="en-IN" sz="1600" kern="1200" dirty="0">
              <a:solidFill>
                <a:prstClr val="black"/>
              </a:solidFill>
              <a:latin typeface="Trebuchet MS" panose="020B0603020202020204" pitchFamily="34" charset="0"/>
              <a:ea typeface="+mn-ea"/>
              <a:cs typeface="Times New Roman"/>
            </a:endParaRPr>
          </a:p>
          <a:p>
            <a:pPr marL="317500" marR="1059180" lvl="0" indent="0" algn="l" defTabSz="914400" rtl="0" eaLnBrk="1" fontAlgn="auto" latinLnBrk="0" hangingPunct="1">
              <a:lnSpc>
                <a:spcPct val="1317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imes New Roman"/>
                <a:sym typeface="Arial"/>
              </a:rPr>
              <a:t>Output:</a:t>
            </a:r>
          </a:p>
        </p:txBody>
      </p:sp>
      <p:pic>
        <p:nvPicPr>
          <p:cNvPr id="12" name="Picture 11">
            <a:extLst>
              <a:ext uri="{FF2B5EF4-FFF2-40B4-BE49-F238E27FC236}">
                <a16:creationId xmlns:a16="http://schemas.microsoft.com/office/drawing/2014/main" id="{E3F7478F-9846-1653-715B-43F8F81088E1}"/>
              </a:ext>
            </a:extLst>
          </p:cNvPr>
          <p:cNvPicPr>
            <a:picLocks noChangeAspect="1"/>
          </p:cNvPicPr>
          <p:nvPr/>
        </p:nvPicPr>
        <p:blipFill>
          <a:blip r:embed="rId6"/>
          <a:stretch>
            <a:fillRect/>
          </a:stretch>
        </p:blipFill>
        <p:spPr>
          <a:xfrm>
            <a:off x="5694236" y="4214194"/>
            <a:ext cx="1716839" cy="700990"/>
          </a:xfrm>
          <a:prstGeom prst="rect">
            <a:avLst/>
          </a:prstGeom>
        </p:spPr>
      </p:pic>
    </p:spTree>
    <p:extLst>
      <p:ext uri="{BB962C8B-B14F-4D97-AF65-F5344CB8AC3E}">
        <p14:creationId xmlns:p14="http://schemas.microsoft.com/office/powerpoint/2010/main" val="392904761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65425"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object 3">
            <a:extLst>
              <a:ext uri="{FF2B5EF4-FFF2-40B4-BE49-F238E27FC236}">
                <a16:creationId xmlns:a16="http://schemas.microsoft.com/office/drawing/2014/main" id="{134E71DD-5C18-47D4-E38B-EF494D9C81DD}"/>
              </a:ext>
            </a:extLst>
          </p:cNvPr>
          <p:cNvSpPr txBox="1">
            <a:spLocks/>
          </p:cNvSpPr>
          <p:nvPr/>
        </p:nvSpPr>
        <p:spPr>
          <a:xfrm>
            <a:off x="281520" y="140543"/>
            <a:ext cx="8946515" cy="443711"/>
          </a:xfrm>
          <a:prstGeom prst="rect">
            <a:avLst/>
          </a:prstGeom>
        </p:spPr>
        <p:txBody>
          <a:bodyPr vert="horz" wrap="square" lIns="0" tIns="12700" rIns="0" bIns="0" rtlCol="0">
            <a:spAutoFit/>
          </a:bodyPr>
          <a:lstStyle>
            <a:lvl1pPr>
              <a:defRPr sz="4300" b="1" i="0">
                <a:solidFill>
                  <a:schemeClr val="bg1"/>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2800" spc="-50" dirty="0">
                <a:latin typeface="Trebuchet MS" panose="020B0603020202020204" pitchFamily="34" charset="0"/>
                <a:cs typeface="Times New Roman" panose="02020603050405020304" pitchFamily="18" charset="0"/>
              </a:rPr>
              <a:t>Library</a:t>
            </a:r>
            <a:r>
              <a:rPr lang="en-IN" sz="2800" spc="80" dirty="0">
                <a:latin typeface="Trebuchet MS" panose="020B0603020202020204" pitchFamily="34" charset="0"/>
                <a:cs typeface="Times New Roman" panose="02020603050405020304" pitchFamily="18" charset="0"/>
              </a:rPr>
              <a:t> </a:t>
            </a:r>
            <a:r>
              <a:rPr lang="en-IN" sz="2800" spc="-35" dirty="0">
                <a:latin typeface="Trebuchet MS" panose="020B0603020202020204" pitchFamily="34" charset="0"/>
                <a:cs typeface="Times New Roman" panose="02020603050405020304" pitchFamily="18" charset="0"/>
              </a:rPr>
              <a:t>Functions</a:t>
            </a:r>
            <a:endParaRPr lang="en-IN" sz="2800" spc="-60" dirty="0">
              <a:solidFill>
                <a:prstClr val="white"/>
              </a:solidFill>
              <a:latin typeface="Trebuchet MS" panose="020B0603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9B9A940-0222-4BBC-BF23-587B184987E1}"/>
              </a:ext>
            </a:extLst>
          </p:cNvPr>
          <p:cNvSpPr txBox="1"/>
          <p:nvPr/>
        </p:nvSpPr>
        <p:spPr>
          <a:xfrm>
            <a:off x="281520" y="720047"/>
            <a:ext cx="8688309" cy="41964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The library contains the function implementation, and by including the header file for the corresponding library, we can use the required function in our program. </a:t>
            </a:r>
          </a:p>
          <a:p>
            <a:pPr marL="285750" indent="-285750">
              <a:lnSpc>
                <a:spcPct val="150000"/>
              </a:lnSpc>
              <a:buFont typeface="Arial" panose="020B0604020202020204" pitchFamily="34" charset="0"/>
              <a:buChar char="•"/>
            </a:pPr>
            <a:r>
              <a:rPr lang="en-IN" sz="1800" dirty="0">
                <a:solidFill>
                  <a:schemeClr val="tx1"/>
                </a:solidFill>
                <a:latin typeface="Trebuchet MS" panose="020B0603020202020204" pitchFamily="34" charset="0"/>
              </a:rPr>
              <a:t>The C++ Standard Library provides a rich collection of functions for performing common </a:t>
            </a:r>
            <a:r>
              <a:rPr lang="en-IN" sz="1800" dirty="0">
                <a:solidFill>
                  <a:srgbClr val="0070C0"/>
                </a:solidFill>
                <a:latin typeface="Trebuchet MS" panose="020B0603020202020204" pitchFamily="34" charset="0"/>
              </a:rPr>
              <a:t>mathematical calculations, string manipulations, character manipulations, input/output, error checking </a:t>
            </a:r>
            <a:r>
              <a:rPr lang="en-IN" sz="1800" dirty="0">
                <a:solidFill>
                  <a:schemeClr val="tx1"/>
                </a:solidFill>
                <a:latin typeface="Trebuchet MS" panose="020B0603020202020204" pitchFamily="34" charset="0"/>
              </a:rPr>
              <a:t>and many other useful operations. </a:t>
            </a:r>
          </a:p>
          <a:p>
            <a:pPr marL="285750" indent="-285750">
              <a:lnSpc>
                <a:spcPct val="150000"/>
              </a:lnSpc>
              <a:buFont typeface="Arial" panose="020B0604020202020204" pitchFamily="34" charset="0"/>
              <a:buChar char="•"/>
            </a:pPr>
            <a:r>
              <a:rPr lang="en-IN" sz="1800" dirty="0">
                <a:solidFill>
                  <a:schemeClr val="tx1"/>
                </a:solidFill>
                <a:latin typeface="Trebuchet MS" panose="020B0603020202020204" pitchFamily="34" charset="0"/>
              </a:rPr>
              <a:t>This makes the programmer's job easier, because these functions provide many of the capabilities programmers need. </a:t>
            </a:r>
          </a:p>
          <a:p>
            <a:pPr marL="285750" indent="-285750">
              <a:lnSpc>
                <a:spcPct val="150000"/>
              </a:lnSpc>
              <a:buFont typeface="Arial" panose="020B0604020202020204" pitchFamily="34" charset="0"/>
              <a:buChar char="•"/>
            </a:pPr>
            <a:r>
              <a:rPr lang="en-IN" sz="1800" dirty="0">
                <a:solidFill>
                  <a:schemeClr val="tx1"/>
                </a:solidFill>
                <a:latin typeface="Trebuchet MS" panose="020B0603020202020204" pitchFamily="34" charset="0"/>
              </a:rPr>
              <a:t>The C++ Standard Library functions are provided as part of the C++ programming environment.</a:t>
            </a:r>
          </a:p>
        </p:txBody>
      </p:sp>
    </p:spTree>
    <p:extLst>
      <p:ext uri="{BB962C8B-B14F-4D97-AF65-F5344CB8AC3E}">
        <p14:creationId xmlns:p14="http://schemas.microsoft.com/office/powerpoint/2010/main" val="180608115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65425"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object 3">
            <a:extLst>
              <a:ext uri="{FF2B5EF4-FFF2-40B4-BE49-F238E27FC236}">
                <a16:creationId xmlns:a16="http://schemas.microsoft.com/office/drawing/2014/main" id="{134E71DD-5C18-47D4-E38B-EF494D9C81DD}"/>
              </a:ext>
            </a:extLst>
          </p:cNvPr>
          <p:cNvSpPr txBox="1">
            <a:spLocks/>
          </p:cNvSpPr>
          <p:nvPr/>
        </p:nvSpPr>
        <p:spPr>
          <a:xfrm>
            <a:off x="281520" y="140543"/>
            <a:ext cx="8946515" cy="443711"/>
          </a:xfrm>
          <a:prstGeom prst="rect">
            <a:avLst/>
          </a:prstGeom>
        </p:spPr>
        <p:txBody>
          <a:bodyPr vert="horz" wrap="square" lIns="0" tIns="12700" rIns="0" bIns="0" rtlCol="0">
            <a:spAutoFit/>
          </a:bodyPr>
          <a:lstStyle>
            <a:lvl1pPr>
              <a:defRPr sz="4300" b="1" i="0">
                <a:solidFill>
                  <a:schemeClr val="bg1"/>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2800" spc="-50" dirty="0">
                <a:latin typeface="Trebuchet MS" panose="020B0603020202020204" pitchFamily="34" charset="0"/>
                <a:cs typeface="Times New Roman" panose="02020603050405020304" pitchFamily="18" charset="0"/>
              </a:rPr>
              <a:t>Library</a:t>
            </a:r>
            <a:r>
              <a:rPr lang="en-IN" sz="2800" spc="80" dirty="0">
                <a:latin typeface="Trebuchet MS" panose="020B0603020202020204" pitchFamily="34" charset="0"/>
                <a:cs typeface="Times New Roman" panose="02020603050405020304" pitchFamily="18" charset="0"/>
              </a:rPr>
              <a:t> </a:t>
            </a:r>
            <a:r>
              <a:rPr lang="en-IN" sz="2800" spc="-35" dirty="0">
                <a:latin typeface="Trebuchet MS" panose="020B0603020202020204" pitchFamily="34" charset="0"/>
                <a:cs typeface="Times New Roman" panose="02020603050405020304" pitchFamily="18" charset="0"/>
              </a:rPr>
              <a:t>Functions</a:t>
            </a:r>
            <a:endParaRPr lang="en-IN" sz="2800" spc="-60" dirty="0">
              <a:solidFill>
                <a:prstClr val="white"/>
              </a:solidFill>
              <a:latin typeface="Trebuchet MS" panose="020B060302020202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248EA67-75EC-695A-A204-0EB578F1246A}"/>
              </a:ext>
            </a:extLst>
          </p:cNvPr>
          <p:cNvGraphicFramePr>
            <a:graphicFrameLocks noGrp="1"/>
          </p:cNvGraphicFramePr>
          <p:nvPr>
            <p:extLst>
              <p:ext uri="{D42A27DB-BD31-4B8C-83A1-F6EECF244321}">
                <p14:modId xmlns:p14="http://schemas.microsoft.com/office/powerpoint/2010/main" val="455504613"/>
              </p:ext>
            </p:extLst>
          </p:nvPr>
        </p:nvGraphicFramePr>
        <p:xfrm>
          <a:off x="383577" y="830489"/>
          <a:ext cx="8129052" cy="4138744"/>
        </p:xfrm>
        <a:graphic>
          <a:graphicData uri="http://schemas.openxmlformats.org/drawingml/2006/table">
            <a:tbl>
              <a:tblPr firstRow="1" firstCol="1" bandRow="1"/>
              <a:tblGrid>
                <a:gridCol w="2194991">
                  <a:extLst>
                    <a:ext uri="{9D8B030D-6E8A-4147-A177-3AD203B41FA5}">
                      <a16:colId xmlns:a16="http://schemas.microsoft.com/office/drawing/2014/main" val="2415764261"/>
                    </a:ext>
                  </a:extLst>
                </a:gridCol>
                <a:gridCol w="5934061">
                  <a:extLst>
                    <a:ext uri="{9D8B030D-6E8A-4147-A177-3AD203B41FA5}">
                      <a16:colId xmlns:a16="http://schemas.microsoft.com/office/drawing/2014/main" val="3988212467"/>
                    </a:ext>
                  </a:extLst>
                </a:gridCol>
              </a:tblGrid>
              <a:tr h="323616">
                <a:tc>
                  <a:txBody>
                    <a:bodyPr/>
                    <a:lstStyle/>
                    <a:p>
                      <a:pPr algn="ctr">
                        <a:lnSpc>
                          <a:spcPct val="107000"/>
                        </a:lnSpc>
                        <a:spcAft>
                          <a:spcPts val="800"/>
                        </a:spcAft>
                      </a:pP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C++ Standard Library Header File</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b="1" spc="10">
                          <a:effectLst/>
                          <a:latin typeface="Trebuchet MS" panose="020B0603020202020204" pitchFamily="34" charset="0"/>
                          <a:ea typeface="Times New Roman" panose="02020603050405020304" pitchFamily="18" charset="0"/>
                          <a:cs typeface="Times New Roman" panose="02020603050405020304" pitchFamily="18" charset="0"/>
                        </a:rPr>
                        <a:t>Description</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658350409"/>
                  </a:ext>
                </a:extLst>
              </a:tr>
              <a:tr h="617505">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a:t>
                      </a:r>
                      <a:r>
                        <a:rPr lang="en-IN" sz="1400" b="1" spc="10" dirty="0" err="1">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cstdlib</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 &gt;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This library consists of several general-purpose functions like conversion related, sequence generation related, dynamic memory management related, etc.</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4057028831"/>
                  </a:ext>
                </a:extLst>
              </a:tr>
              <a:tr h="312757">
                <a:tc>
                  <a:txBody>
                    <a:bodyPr/>
                    <a:lstStyle/>
                    <a:p>
                      <a:pPr algn="ctr">
                        <a:lnSpc>
                          <a:spcPct val="107000"/>
                        </a:lnSpc>
                        <a:spcAft>
                          <a:spcPts val="800"/>
                        </a:spcAft>
                      </a:pP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&lt; </a:t>
                      </a:r>
                      <a:r>
                        <a:rPr lang="en-IN" sz="1400" b="1" spc="10" dirty="0" err="1">
                          <a:effectLst/>
                          <a:latin typeface="Trebuchet MS" panose="020B0603020202020204" pitchFamily="34" charset="0"/>
                          <a:ea typeface="Times New Roman" panose="02020603050405020304" pitchFamily="18" charset="0"/>
                          <a:cs typeface="Times New Roman" panose="02020603050405020304" pitchFamily="18" charset="0"/>
                        </a:rPr>
                        <a:t>ctime</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 &gt;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It contains functions to get and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manipulate the date and time.</a:t>
                      </a:r>
                      <a:endParaRPr lang="en-IN" sz="14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4065626435"/>
                  </a:ext>
                </a:extLst>
              </a:tr>
              <a:tr h="312757">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a:t>
                      </a:r>
                      <a:r>
                        <a:rPr lang="en-IN" sz="1400" b="1" spc="10" dirty="0" err="1">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iomanip</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 &gt;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This library contains IO manipulators that are used to </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format the stream of data.</a:t>
                      </a:r>
                      <a:endParaRPr lang="en-IN" sz="14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3079236189"/>
                  </a:ext>
                </a:extLst>
              </a:tr>
              <a:tr h="312757">
                <a:tc>
                  <a:txBody>
                    <a:bodyPr/>
                    <a:lstStyle/>
                    <a:p>
                      <a:pPr algn="ctr">
                        <a:lnSpc>
                          <a:spcPct val="107000"/>
                        </a:lnSpc>
                        <a:spcAft>
                          <a:spcPts val="800"/>
                        </a:spcAft>
                      </a:pPr>
                      <a:r>
                        <a:rPr lang="en-IN" sz="1400" b="1" spc="10">
                          <a:effectLst/>
                          <a:latin typeface="Trebuchet MS" panose="020B0603020202020204" pitchFamily="34" charset="0"/>
                          <a:ea typeface="Times New Roman" panose="02020603050405020304" pitchFamily="18" charset="0"/>
                          <a:cs typeface="Times New Roman" panose="02020603050405020304" pitchFamily="18" charset="0"/>
                        </a:rPr>
                        <a:t>&lt; string &gt;</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This library contains the function and classes that are useful to work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with the string in C++.</a:t>
                      </a:r>
                      <a:endParaRPr lang="en-IN" sz="1400" b="1"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1967829254"/>
                  </a:ext>
                </a:extLst>
              </a:tr>
              <a:tr h="312757">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a:t>
                      </a:r>
                      <a:r>
                        <a:rPr lang="en-IN" sz="1400" b="1" spc="10" dirty="0" err="1">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cstring</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 &gt;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It consists of </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the string handling functions </a:t>
                      </a: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for c-styled strings.</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4279214538"/>
                  </a:ext>
                </a:extLst>
              </a:tr>
              <a:tr h="465131">
                <a:tc>
                  <a:txBody>
                    <a:bodyPr/>
                    <a:lstStyle/>
                    <a:p>
                      <a:pPr algn="ctr">
                        <a:lnSpc>
                          <a:spcPct val="107000"/>
                        </a:lnSpc>
                        <a:spcAft>
                          <a:spcPts val="800"/>
                        </a:spcAft>
                      </a:pP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&lt; </a:t>
                      </a:r>
                      <a:r>
                        <a:rPr lang="en-IN" sz="1400" b="1" spc="10" dirty="0" err="1">
                          <a:effectLst/>
                          <a:latin typeface="Trebuchet MS" panose="020B0603020202020204" pitchFamily="34" charset="0"/>
                          <a:ea typeface="Times New Roman" panose="02020603050405020304" pitchFamily="18" charset="0"/>
                          <a:cs typeface="Times New Roman" panose="02020603050405020304" pitchFamily="18" charset="0"/>
                        </a:rPr>
                        <a:t>climits</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 &gt;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This library defines the constant for the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fundamental integral types</a:t>
                      </a: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 We generally use these constants for comparisons.</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2190220810"/>
                  </a:ext>
                </a:extLst>
              </a:tr>
              <a:tr h="922253">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vector &gt; &lt; list &gt; &lt; deque &gt; &lt; queue &gt; &lt; stack &gt; &lt; map &gt; &lt; set &gt; &lt; </a:t>
                      </a:r>
                      <a:r>
                        <a:rPr lang="en-IN" sz="1400" b="1" spc="10" dirty="0" err="1">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bitset</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 &gt;</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These all header files are corresponding to the container of the standard template library of C++. Each container exhibits unique properties and is used to store data. The implementation of the data type is written in the associated library.</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7416" marR="7416" marT="7416" marB="74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733484762"/>
                  </a:ext>
                </a:extLst>
              </a:tr>
            </a:tbl>
          </a:graphicData>
        </a:graphic>
      </p:graphicFrame>
    </p:spTree>
    <p:extLst>
      <p:ext uri="{BB962C8B-B14F-4D97-AF65-F5344CB8AC3E}">
        <p14:creationId xmlns:p14="http://schemas.microsoft.com/office/powerpoint/2010/main" val="42751637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65425" y="0"/>
            <a:ext cx="9251432"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object 3">
            <a:extLst>
              <a:ext uri="{FF2B5EF4-FFF2-40B4-BE49-F238E27FC236}">
                <a16:creationId xmlns:a16="http://schemas.microsoft.com/office/drawing/2014/main" id="{134E71DD-5C18-47D4-E38B-EF494D9C81DD}"/>
              </a:ext>
            </a:extLst>
          </p:cNvPr>
          <p:cNvSpPr txBox="1">
            <a:spLocks/>
          </p:cNvSpPr>
          <p:nvPr/>
        </p:nvSpPr>
        <p:spPr>
          <a:xfrm>
            <a:off x="281520" y="140543"/>
            <a:ext cx="8946515" cy="443711"/>
          </a:xfrm>
          <a:prstGeom prst="rect">
            <a:avLst/>
          </a:prstGeom>
        </p:spPr>
        <p:txBody>
          <a:bodyPr vert="horz" wrap="square" lIns="0" tIns="12700" rIns="0" bIns="0" rtlCol="0">
            <a:spAutoFit/>
          </a:bodyPr>
          <a:lstStyle>
            <a:lvl1pPr>
              <a:defRPr sz="4300" b="1" i="0">
                <a:solidFill>
                  <a:schemeClr val="bg1"/>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2800" spc="-50" dirty="0">
                <a:latin typeface="Trebuchet MS" panose="020B0603020202020204" pitchFamily="34" charset="0"/>
                <a:cs typeface="Times New Roman" panose="02020603050405020304" pitchFamily="18" charset="0"/>
              </a:rPr>
              <a:t>Library</a:t>
            </a:r>
            <a:r>
              <a:rPr lang="en-IN" sz="2800" spc="80" dirty="0">
                <a:latin typeface="Trebuchet MS" panose="020B0603020202020204" pitchFamily="34" charset="0"/>
                <a:cs typeface="Times New Roman" panose="02020603050405020304" pitchFamily="18" charset="0"/>
              </a:rPr>
              <a:t> </a:t>
            </a:r>
            <a:r>
              <a:rPr lang="en-IN" sz="2800" spc="-35" dirty="0">
                <a:latin typeface="Trebuchet MS" panose="020B0603020202020204" pitchFamily="34" charset="0"/>
                <a:cs typeface="Times New Roman" panose="02020603050405020304" pitchFamily="18" charset="0"/>
              </a:rPr>
              <a:t>Functions</a:t>
            </a:r>
            <a:endParaRPr lang="en-IN" sz="2800" spc="-60" dirty="0">
              <a:solidFill>
                <a:prstClr val="white"/>
              </a:solidFill>
              <a:latin typeface="Trebuchet MS" panose="020B060302020202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31BC529-64C8-A867-D05F-0B9BE1BAFE09}"/>
              </a:ext>
            </a:extLst>
          </p:cNvPr>
          <p:cNvGraphicFramePr>
            <a:graphicFrameLocks noGrp="1"/>
          </p:cNvGraphicFramePr>
          <p:nvPr>
            <p:extLst>
              <p:ext uri="{D42A27DB-BD31-4B8C-83A1-F6EECF244321}">
                <p14:modId xmlns:p14="http://schemas.microsoft.com/office/powerpoint/2010/main" val="990831546"/>
              </p:ext>
            </p:extLst>
          </p:nvPr>
        </p:nvGraphicFramePr>
        <p:xfrm>
          <a:off x="402919" y="817706"/>
          <a:ext cx="8338112" cy="3705384"/>
        </p:xfrm>
        <a:graphic>
          <a:graphicData uri="http://schemas.openxmlformats.org/drawingml/2006/table">
            <a:tbl>
              <a:tblPr firstRow="1" firstCol="1" bandRow="1"/>
              <a:tblGrid>
                <a:gridCol w="1924971">
                  <a:extLst>
                    <a:ext uri="{9D8B030D-6E8A-4147-A177-3AD203B41FA5}">
                      <a16:colId xmlns:a16="http://schemas.microsoft.com/office/drawing/2014/main" val="254870711"/>
                    </a:ext>
                  </a:extLst>
                </a:gridCol>
                <a:gridCol w="6413141">
                  <a:extLst>
                    <a:ext uri="{9D8B030D-6E8A-4147-A177-3AD203B41FA5}">
                      <a16:colId xmlns:a16="http://schemas.microsoft.com/office/drawing/2014/main" val="1977559496"/>
                    </a:ext>
                  </a:extLst>
                </a:gridCol>
              </a:tblGrid>
              <a:tr h="184640">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C++ Standard Library Header File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b="1" spc="1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3483034266"/>
                  </a:ext>
                </a:extLst>
              </a:tr>
              <a:tr h="537218">
                <a:tc>
                  <a:txBody>
                    <a:bodyPr/>
                    <a:lstStyle/>
                    <a:p>
                      <a:pPr algn="ctr">
                        <a:lnSpc>
                          <a:spcPct val="107000"/>
                        </a:lnSpc>
                        <a:spcAft>
                          <a:spcPts val="800"/>
                        </a:spcAft>
                      </a:pP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&lt; iterator &gt;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a:effectLst/>
                          <a:latin typeface="Trebuchet MS" panose="020B0603020202020204" pitchFamily="34" charset="0"/>
                          <a:ea typeface="Times New Roman" panose="02020603050405020304" pitchFamily="18" charset="0"/>
                          <a:cs typeface="Times New Roman" panose="02020603050405020304" pitchFamily="18" charset="0"/>
                        </a:rPr>
                        <a:t>It contains classes and functions related to iterators that help us in accessing the data of containers.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3276209940"/>
                  </a:ext>
                </a:extLst>
              </a:tr>
              <a:tr h="360929">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algorithm &gt;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It provides various general purpose </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algorithms to operate </a:t>
                      </a: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on the containers.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2561881349"/>
                  </a:ext>
                </a:extLst>
              </a:tr>
              <a:tr h="537218">
                <a:tc>
                  <a:txBody>
                    <a:bodyPr/>
                    <a:lstStyle/>
                    <a:p>
                      <a:pPr algn="ctr">
                        <a:lnSpc>
                          <a:spcPct val="107000"/>
                        </a:lnSpc>
                        <a:spcAft>
                          <a:spcPts val="800"/>
                        </a:spcAft>
                      </a:pP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&lt; utility &gt;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This is the normal utility library which provides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various functions in unrelated domains.</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1732785479"/>
                  </a:ext>
                </a:extLst>
              </a:tr>
              <a:tr h="360929">
                <a:tc>
                  <a:txBody>
                    <a:bodyPr/>
                    <a:lstStyle/>
                    <a:p>
                      <a:pPr algn="ctr">
                        <a:lnSpc>
                          <a:spcPct val="107000"/>
                        </a:lnSpc>
                        <a:spcAft>
                          <a:spcPts val="800"/>
                        </a:spcAft>
                      </a:pP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functional &gt;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The functionality provided by this library is used by the </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algorithm library</a:t>
                      </a: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2052862713"/>
                  </a:ext>
                </a:extLst>
              </a:tr>
              <a:tr h="537218">
                <a:tc>
                  <a:txBody>
                    <a:bodyPr/>
                    <a:lstStyle/>
                    <a:p>
                      <a:pPr algn="ctr">
                        <a:lnSpc>
                          <a:spcPct val="107000"/>
                        </a:lnSpc>
                        <a:spcAft>
                          <a:spcPts val="800"/>
                        </a:spcAft>
                      </a:pPr>
                      <a:r>
                        <a:rPr lang="en-IN" sz="1400" b="1" spc="10">
                          <a:effectLst/>
                          <a:latin typeface="Trebuchet MS" panose="020B0603020202020204" pitchFamily="34" charset="0"/>
                          <a:ea typeface="Times New Roman" panose="02020603050405020304" pitchFamily="18" charset="0"/>
                          <a:cs typeface="Times New Roman" panose="02020603050405020304" pitchFamily="18" charset="0"/>
                        </a:rPr>
                        <a:t>&lt; exception &gt;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It contains classes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for exception handling a</a:t>
                      </a: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nd other related functions to assist the error handling.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3075525997"/>
                  </a:ext>
                </a:extLst>
              </a:tr>
              <a:tr h="537218">
                <a:tc>
                  <a:txBody>
                    <a:bodyPr/>
                    <a:lstStyle/>
                    <a:p>
                      <a:pPr algn="ctr">
                        <a:lnSpc>
                          <a:spcPct val="107000"/>
                        </a:lnSpc>
                        <a:spcAft>
                          <a:spcPts val="800"/>
                        </a:spcAft>
                      </a:pPr>
                      <a:r>
                        <a:rPr lang="en-IN" sz="1400" b="1" spc="1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&lt; iostream &gt;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As the name suggests, this library contains functions and streams for standard input and </a:t>
                      </a:r>
                      <a:r>
                        <a:rPr lang="en-IN" sz="1400" b="1" spc="1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rPr>
                        <a:t>standard output in C++.</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1964531483"/>
                  </a:ext>
                </a:extLst>
              </a:tr>
              <a:tr h="360929">
                <a:tc>
                  <a:txBody>
                    <a:bodyPr/>
                    <a:lstStyle/>
                    <a:p>
                      <a:pPr algn="ctr">
                        <a:lnSpc>
                          <a:spcPct val="107000"/>
                        </a:lnSpc>
                        <a:spcAft>
                          <a:spcPts val="800"/>
                        </a:spcAft>
                      </a:pPr>
                      <a:r>
                        <a:rPr lang="en-IN" sz="1400" b="1" spc="10">
                          <a:effectLst/>
                          <a:latin typeface="Trebuchet MS" panose="020B0603020202020204" pitchFamily="34" charset="0"/>
                          <a:ea typeface="Times New Roman" panose="02020603050405020304" pitchFamily="18" charset="0"/>
                          <a:cs typeface="Times New Roman" panose="02020603050405020304" pitchFamily="18" charset="0"/>
                        </a:rPr>
                        <a:t>&lt; cassert &gt;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tc>
                  <a:txBody>
                    <a:bodyPr/>
                    <a:lstStyle/>
                    <a:p>
                      <a:pPr algn="ctr">
                        <a:lnSpc>
                          <a:spcPct val="107000"/>
                        </a:lnSpc>
                        <a:spcAft>
                          <a:spcPts val="800"/>
                        </a:spcAft>
                      </a:pP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It contains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macros and functions </a:t>
                      </a: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that are used in the </a:t>
                      </a:r>
                      <a:r>
                        <a:rPr lang="en-IN" sz="1400" b="1" spc="10" dirty="0">
                          <a:effectLst/>
                          <a:latin typeface="Trebuchet MS" panose="020B0603020202020204" pitchFamily="34" charset="0"/>
                          <a:ea typeface="Times New Roman" panose="02020603050405020304" pitchFamily="18" charset="0"/>
                          <a:cs typeface="Times New Roman" panose="02020603050405020304" pitchFamily="18" charset="0"/>
                        </a:rPr>
                        <a:t>debugging</a:t>
                      </a:r>
                      <a:r>
                        <a:rPr lang="en-IN" sz="1400" spc="10" dirty="0">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580" marR="8580" marT="8580" marB="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C"/>
                    </a:solidFill>
                  </a:tcPr>
                </a:tc>
                <a:extLst>
                  <a:ext uri="{0D108BD9-81ED-4DB2-BD59-A6C34878D82A}">
                    <a16:rowId xmlns:a16="http://schemas.microsoft.com/office/drawing/2014/main" val="2556869630"/>
                  </a:ext>
                </a:extLst>
              </a:tr>
            </a:tbl>
          </a:graphicData>
        </a:graphic>
      </p:graphicFrame>
      <p:sp>
        <p:nvSpPr>
          <p:cNvPr id="5" name="Rectangle 1">
            <a:extLst>
              <a:ext uri="{FF2B5EF4-FFF2-40B4-BE49-F238E27FC236}">
                <a16:creationId xmlns:a16="http://schemas.microsoft.com/office/drawing/2014/main" id="{5E1A849D-3560-4205-6D37-886AE018D0E9}"/>
              </a:ext>
            </a:extLst>
          </p:cNvPr>
          <p:cNvSpPr>
            <a:spLocks noChangeArrowheads="1"/>
          </p:cNvSpPr>
          <p:nvPr/>
        </p:nvSpPr>
        <p:spPr bwMode="auto">
          <a:xfrm>
            <a:off x="1827213" y="10334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7965260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316857"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object 3">
            <a:extLst>
              <a:ext uri="{FF2B5EF4-FFF2-40B4-BE49-F238E27FC236}">
                <a16:creationId xmlns:a16="http://schemas.microsoft.com/office/drawing/2014/main" id="{134E71DD-5C18-47D4-E38B-EF494D9C81DD}"/>
              </a:ext>
            </a:extLst>
          </p:cNvPr>
          <p:cNvSpPr txBox="1">
            <a:spLocks/>
          </p:cNvSpPr>
          <p:nvPr/>
        </p:nvSpPr>
        <p:spPr>
          <a:xfrm>
            <a:off x="281520" y="140543"/>
            <a:ext cx="8946515" cy="443711"/>
          </a:xfrm>
          <a:prstGeom prst="rect">
            <a:avLst/>
          </a:prstGeom>
        </p:spPr>
        <p:txBody>
          <a:bodyPr vert="horz" wrap="square" lIns="0" tIns="12700" rIns="0" bIns="0" rtlCol="0">
            <a:spAutoFit/>
          </a:bodyPr>
          <a:lstStyle>
            <a:lvl1pPr>
              <a:defRPr sz="4300" b="1" i="0">
                <a:solidFill>
                  <a:schemeClr val="bg1"/>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2800" spc="-50" dirty="0">
                <a:latin typeface="Trebuchet MS" panose="020B0603020202020204" pitchFamily="34" charset="0"/>
                <a:cs typeface="Times New Roman" panose="02020603050405020304" pitchFamily="18" charset="0"/>
              </a:rPr>
              <a:t>Library</a:t>
            </a:r>
            <a:r>
              <a:rPr lang="en-IN" sz="2800" spc="80" dirty="0">
                <a:latin typeface="Trebuchet MS" panose="020B0603020202020204" pitchFamily="34" charset="0"/>
                <a:cs typeface="Times New Roman" panose="02020603050405020304" pitchFamily="18" charset="0"/>
              </a:rPr>
              <a:t> </a:t>
            </a:r>
            <a:r>
              <a:rPr lang="en-IN" sz="2800" spc="-35" dirty="0">
                <a:latin typeface="Trebuchet MS" panose="020B0603020202020204" pitchFamily="34" charset="0"/>
                <a:cs typeface="Times New Roman" panose="02020603050405020304" pitchFamily="18" charset="0"/>
              </a:rPr>
              <a:t>Functions</a:t>
            </a:r>
            <a:endParaRPr lang="en-IN" sz="2800" spc="-60" dirty="0">
              <a:solidFill>
                <a:prstClr val="white"/>
              </a:solidFill>
              <a:latin typeface="Trebuchet MS" panose="020B060302020202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5E1A849D-3560-4205-6D37-886AE018D0E9}"/>
              </a:ext>
            </a:extLst>
          </p:cNvPr>
          <p:cNvSpPr>
            <a:spLocks noChangeArrowheads="1"/>
          </p:cNvSpPr>
          <p:nvPr/>
        </p:nvSpPr>
        <p:spPr bwMode="auto">
          <a:xfrm>
            <a:off x="1827213" y="10334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 name="Table 1">
            <a:extLst>
              <a:ext uri="{FF2B5EF4-FFF2-40B4-BE49-F238E27FC236}">
                <a16:creationId xmlns:a16="http://schemas.microsoft.com/office/drawing/2014/main" id="{51E77710-68A2-46DB-6110-25D66F62E582}"/>
              </a:ext>
            </a:extLst>
          </p:cNvPr>
          <p:cNvGraphicFramePr>
            <a:graphicFrameLocks noGrp="1"/>
          </p:cNvGraphicFramePr>
          <p:nvPr>
            <p:extLst>
              <p:ext uri="{D42A27DB-BD31-4B8C-83A1-F6EECF244321}">
                <p14:modId xmlns:p14="http://schemas.microsoft.com/office/powerpoint/2010/main" val="2879822979"/>
              </p:ext>
            </p:extLst>
          </p:nvPr>
        </p:nvGraphicFramePr>
        <p:xfrm>
          <a:off x="893934" y="2524126"/>
          <a:ext cx="7217228" cy="2220295"/>
        </p:xfrm>
        <a:graphic>
          <a:graphicData uri="http://schemas.openxmlformats.org/drawingml/2006/table">
            <a:tbl>
              <a:tblPr firstRow="1" firstCol="1" bandRow="1"/>
              <a:tblGrid>
                <a:gridCol w="1396521">
                  <a:extLst>
                    <a:ext uri="{9D8B030D-6E8A-4147-A177-3AD203B41FA5}">
                      <a16:colId xmlns:a16="http://schemas.microsoft.com/office/drawing/2014/main" val="1207582349"/>
                    </a:ext>
                  </a:extLst>
                </a:gridCol>
                <a:gridCol w="5820707">
                  <a:extLst>
                    <a:ext uri="{9D8B030D-6E8A-4147-A177-3AD203B41FA5}">
                      <a16:colId xmlns:a16="http://schemas.microsoft.com/office/drawing/2014/main" val="2623611303"/>
                    </a:ext>
                  </a:extLst>
                </a:gridCol>
              </a:tblGrid>
              <a:tr h="444059">
                <a:tc>
                  <a:txBody>
                    <a:bodyPr/>
                    <a:lstStyle/>
                    <a:p>
                      <a:pPr algn="ctr">
                        <a:lnSpc>
                          <a:spcPct val="107000"/>
                        </a:lnSpc>
                        <a:spcAft>
                          <a:spcPts val="800"/>
                        </a:spcAft>
                      </a:pP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log 10(x)</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Logarithm of number x to the base 10</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5617956"/>
                  </a:ext>
                </a:extLst>
              </a:tr>
              <a:tr h="444059">
                <a:tc>
                  <a:txBody>
                    <a:bodyPr/>
                    <a:lstStyle/>
                    <a:p>
                      <a:pPr algn="ctr">
                        <a:lnSpc>
                          <a:spcPct val="107000"/>
                        </a:lnSpc>
                        <a:spcAft>
                          <a:spcPts val="800"/>
                        </a:spcAft>
                      </a:pP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sqrt(x)</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Square root of x</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45521068"/>
                  </a:ext>
                </a:extLst>
              </a:tr>
              <a:tr h="444059">
                <a:tc>
                  <a:txBody>
                    <a:bodyPr/>
                    <a:lstStyle/>
                    <a:p>
                      <a:pPr algn="ctr">
                        <a:lnSpc>
                          <a:spcPct val="107000"/>
                        </a:lnSpc>
                        <a:spcAft>
                          <a:spcPts val="800"/>
                        </a:spcAft>
                      </a:pP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pow(x, y)</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x raised to the power y</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57717646"/>
                  </a:ext>
                </a:extLst>
              </a:tr>
              <a:tr h="444059">
                <a:tc>
                  <a:txBody>
                    <a:bodyPr/>
                    <a:lstStyle/>
                    <a:p>
                      <a:pPr algn="ctr">
                        <a:lnSpc>
                          <a:spcPct val="107000"/>
                        </a:lnSpc>
                        <a:spcAft>
                          <a:spcPts val="800"/>
                        </a:spcAft>
                      </a:pP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abs(x)</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Absolute value of integer number x</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55848343"/>
                  </a:ext>
                </a:extLst>
              </a:tr>
              <a:tr h="444059">
                <a:tc>
                  <a:txBody>
                    <a:bodyPr/>
                    <a:lstStyle/>
                    <a:p>
                      <a:pPr algn="ctr">
                        <a:lnSpc>
                          <a:spcPct val="107000"/>
                        </a:lnSpc>
                        <a:spcAft>
                          <a:spcPts val="800"/>
                        </a:spcAft>
                      </a:pP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fabs(x)</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Absolute value of real number x</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58007325"/>
                  </a:ext>
                </a:extLst>
              </a:tr>
            </a:tbl>
          </a:graphicData>
        </a:graphic>
      </p:graphicFrame>
      <p:sp>
        <p:nvSpPr>
          <p:cNvPr id="9" name="TextBox 8">
            <a:extLst>
              <a:ext uri="{FF2B5EF4-FFF2-40B4-BE49-F238E27FC236}">
                <a16:creationId xmlns:a16="http://schemas.microsoft.com/office/drawing/2014/main" id="{CEE2D578-25A6-54C9-B800-1A56A494E5EB}"/>
              </a:ext>
            </a:extLst>
          </p:cNvPr>
          <p:cNvSpPr txBox="1"/>
          <p:nvPr/>
        </p:nvSpPr>
        <p:spPr>
          <a:xfrm>
            <a:off x="281520" y="720047"/>
            <a:ext cx="7400761" cy="1703480"/>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en-US" altLang="en-US" sz="1800" b="1" i="0" u="none" strike="noStrike" kern="0" cap="none" spc="0" normalizeH="0" baseline="0" noProof="0" dirty="0">
                <a:ln>
                  <a:noFill/>
                </a:ln>
                <a:solidFill>
                  <a:srgbClr val="0070C0"/>
                </a:solidFill>
                <a:effectLst/>
                <a:uLnTx/>
                <a:uFillTx/>
                <a:latin typeface="Trebuchet MS" panose="020B0603020202020204" pitchFamily="34" charset="0"/>
                <a:ea typeface="Calibri" panose="020F0502020204030204" pitchFamily="34" charset="0"/>
                <a:cs typeface="Segoe UI" panose="020B0502040204020203" pitchFamily="34" charset="0"/>
                <a:sym typeface="Arial"/>
              </a:rPr>
              <a:t>Mathematical Functions</a:t>
            </a:r>
            <a:endParaRPr kumimoji="0" lang="en-US" altLang="en-US" sz="1800" b="0" i="0" u="none" strike="noStrike" kern="0" cap="none" spc="0" normalizeH="0" baseline="0" noProof="0" dirty="0">
              <a:ln>
                <a:noFill/>
              </a:ln>
              <a:solidFill>
                <a:srgbClr val="343A40"/>
              </a:solidFill>
              <a:effectLst/>
              <a:uLnTx/>
              <a:uFillTx/>
              <a:latin typeface="Trebuchet MS" panose="020B0603020202020204" pitchFamily="34" charset="0"/>
              <a:ea typeface="Calibri" panose="020F0502020204030204" pitchFamily="34" charset="0"/>
              <a:cs typeface="Segoe UI" panose="020B0502040204020203" pitchFamily="34" charset="0"/>
              <a:sym typeface="Arial"/>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800" b="0" i="0" u="none" strike="noStrike" kern="0" cap="none" spc="0" normalizeH="0" baseline="0" noProof="0" dirty="0">
                <a:ln>
                  <a:noFill/>
                </a:ln>
                <a:solidFill>
                  <a:schemeClr val="tx1"/>
                </a:solidFill>
                <a:effectLst/>
                <a:uLnTx/>
                <a:uFillTx/>
                <a:latin typeface="Trebuchet MS" panose="020B0603020202020204" pitchFamily="34" charset="0"/>
                <a:ea typeface="Calibri" panose="020F0502020204030204" pitchFamily="34" charset="0"/>
                <a:cs typeface="Segoe UI" panose="020B0502040204020203" pitchFamily="34" charset="0"/>
                <a:sym typeface="Arial"/>
              </a:rPr>
              <a:t>Some of the important mathematical functions in header file &lt;</a:t>
            </a:r>
            <a:r>
              <a:rPr kumimoji="0" lang="en-US" altLang="en-US" sz="1800" b="1" i="0" u="none" strike="noStrike" kern="0" cap="none" spc="0" normalizeH="0" baseline="0" noProof="0" dirty="0" err="1">
                <a:ln>
                  <a:noFill/>
                </a:ln>
                <a:solidFill>
                  <a:schemeClr val="tx1"/>
                </a:solidFill>
                <a:effectLst/>
                <a:uLnTx/>
                <a:uFillTx/>
                <a:latin typeface="Trebuchet MS" panose="020B0603020202020204" pitchFamily="34" charset="0"/>
                <a:ea typeface="Calibri" panose="020F0502020204030204" pitchFamily="34" charset="0"/>
                <a:cs typeface="Segoe UI" panose="020B0502040204020203" pitchFamily="34" charset="0"/>
                <a:sym typeface="Arial"/>
              </a:rPr>
              <a:t>cmath</a:t>
            </a:r>
            <a:r>
              <a:rPr kumimoji="0" lang="en-US" altLang="en-US" sz="1800" b="1" i="0" u="none" strike="noStrike" kern="0" cap="none" spc="0" normalizeH="0" baseline="0" noProof="0" dirty="0">
                <a:ln>
                  <a:noFill/>
                </a:ln>
                <a:solidFill>
                  <a:schemeClr val="tx1"/>
                </a:solidFill>
                <a:effectLst/>
                <a:uLnTx/>
                <a:uFillTx/>
                <a:latin typeface="Trebuchet MS" panose="020B0603020202020204" pitchFamily="34" charset="0"/>
                <a:ea typeface="Calibri" panose="020F0502020204030204" pitchFamily="34" charset="0"/>
                <a:cs typeface="Segoe UI" panose="020B0502040204020203" pitchFamily="34" charset="0"/>
                <a:sym typeface="Arial"/>
              </a:rPr>
              <a:t>&gt; </a:t>
            </a:r>
            <a:r>
              <a:rPr kumimoji="0" lang="en-US" altLang="en-US" sz="1800" b="0" i="0" u="none" strike="noStrike" kern="0" cap="none" spc="0" normalizeH="0" baseline="0" noProof="0" dirty="0">
                <a:ln>
                  <a:noFill/>
                </a:ln>
                <a:solidFill>
                  <a:schemeClr val="tx1"/>
                </a:solidFill>
                <a:effectLst/>
                <a:uLnTx/>
                <a:uFillTx/>
                <a:latin typeface="Trebuchet MS" panose="020B0603020202020204" pitchFamily="34" charset="0"/>
                <a:ea typeface="Calibri" panose="020F0502020204030204" pitchFamily="34" charset="0"/>
                <a:cs typeface="Segoe UI" panose="020B0502040204020203" pitchFamily="34" charset="0"/>
                <a:sym typeface="Arial"/>
              </a:rPr>
              <a:t>are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lang="en-US" altLang="en-US" sz="1800" dirty="0">
                <a:solidFill>
                  <a:schemeClr val="tx1"/>
                </a:solidFill>
                <a:latin typeface="Trebuchet MS" panose="020B0603020202020204" pitchFamily="34" charset="0"/>
                <a:cs typeface="Segoe UI" panose="020B0502040204020203" pitchFamily="34" charset="0"/>
              </a:rPr>
              <a:t>Example: </a:t>
            </a:r>
            <a:endParaRPr kumimoji="0" lang="en-US" altLang="en-US" sz="1100" b="0" i="0" u="none" strike="noStrike" kern="0" cap="none" spc="0" normalizeH="0" baseline="0" noProof="0" dirty="0">
              <a:ln>
                <a:noFill/>
              </a:ln>
              <a:solidFill>
                <a:schemeClr val="tx1"/>
              </a:solidFill>
              <a:effectLst/>
              <a:uLnTx/>
              <a:uFillTx/>
              <a:latin typeface="Trebuchet MS" panose="020B0603020202020204" pitchFamily="34" charset="0"/>
              <a:sym typeface="Arial"/>
            </a:endParaRPr>
          </a:p>
        </p:txBody>
      </p:sp>
    </p:spTree>
    <p:extLst>
      <p:ext uri="{BB962C8B-B14F-4D97-AF65-F5344CB8AC3E}">
        <p14:creationId xmlns:p14="http://schemas.microsoft.com/office/powerpoint/2010/main" val="37311956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316857"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7" name="Rectangle 2">
            <a:extLst>
              <a:ext uri="{FF2B5EF4-FFF2-40B4-BE49-F238E27FC236}">
                <a16:creationId xmlns:a16="http://schemas.microsoft.com/office/drawing/2014/main" id="{FBC94C6E-B1FC-1864-AC60-5DC85250F9DD}"/>
              </a:ext>
            </a:extLst>
          </p:cNvPr>
          <p:cNvSpPr>
            <a:spLocks noChangeArrowheads="1"/>
          </p:cNvSpPr>
          <p:nvPr/>
        </p:nvSpPr>
        <p:spPr bwMode="auto">
          <a:xfrm>
            <a:off x="2466975" y="11445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object 3">
            <a:extLst>
              <a:ext uri="{FF2B5EF4-FFF2-40B4-BE49-F238E27FC236}">
                <a16:creationId xmlns:a16="http://schemas.microsoft.com/office/drawing/2014/main" id="{134E71DD-5C18-47D4-E38B-EF494D9C81DD}"/>
              </a:ext>
            </a:extLst>
          </p:cNvPr>
          <p:cNvSpPr txBox="1">
            <a:spLocks/>
          </p:cNvSpPr>
          <p:nvPr/>
        </p:nvSpPr>
        <p:spPr>
          <a:xfrm>
            <a:off x="281520" y="140543"/>
            <a:ext cx="8946515" cy="443711"/>
          </a:xfrm>
          <a:prstGeom prst="rect">
            <a:avLst/>
          </a:prstGeom>
        </p:spPr>
        <p:txBody>
          <a:bodyPr vert="horz" wrap="square" lIns="0" tIns="12700" rIns="0" bIns="0" rtlCol="0">
            <a:spAutoFit/>
          </a:bodyPr>
          <a:lstStyle>
            <a:lvl1pPr>
              <a:defRPr sz="4300" b="1" i="0">
                <a:solidFill>
                  <a:schemeClr val="bg1"/>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2800" spc="-50" dirty="0">
                <a:latin typeface="Trebuchet MS" panose="020B0603020202020204" pitchFamily="34" charset="0"/>
                <a:cs typeface="Times New Roman" panose="02020603050405020304" pitchFamily="18" charset="0"/>
              </a:rPr>
              <a:t>Library</a:t>
            </a:r>
            <a:r>
              <a:rPr lang="en-IN" sz="2800" spc="80" dirty="0">
                <a:latin typeface="Trebuchet MS" panose="020B0603020202020204" pitchFamily="34" charset="0"/>
                <a:cs typeface="Times New Roman" panose="02020603050405020304" pitchFamily="18" charset="0"/>
              </a:rPr>
              <a:t> </a:t>
            </a:r>
            <a:r>
              <a:rPr lang="en-IN" sz="2800" spc="-35" dirty="0">
                <a:latin typeface="Trebuchet MS" panose="020B0603020202020204" pitchFamily="34" charset="0"/>
                <a:cs typeface="Times New Roman" panose="02020603050405020304" pitchFamily="18" charset="0"/>
              </a:rPr>
              <a:t>Functions</a:t>
            </a:r>
            <a:endParaRPr lang="en-IN" sz="2800" spc="-60" dirty="0">
              <a:solidFill>
                <a:prstClr val="white"/>
              </a:solidFill>
              <a:latin typeface="Trebuchet MS" panose="020B0603020202020204" pitchFamily="34" charset="0"/>
              <a:cs typeface="Times New Roman" panose="02020603050405020304" pitchFamily="18" charset="0"/>
            </a:endParaRPr>
          </a:p>
        </p:txBody>
      </p:sp>
      <p:sp>
        <p:nvSpPr>
          <p:cNvPr id="5" name="Rectangle 1">
            <a:extLst>
              <a:ext uri="{FF2B5EF4-FFF2-40B4-BE49-F238E27FC236}">
                <a16:creationId xmlns:a16="http://schemas.microsoft.com/office/drawing/2014/main" id="{5E1A849D-3560-4205-6D37-886AE018D0E9}"/>
              </a:ext>
            </a:extLst>
          </p:cNvPr>
          <p:cNvSpPr>
            <a:spLocks noChangeArrowheads="1"/>
          </p:cNvSpPr>
          <p:nvPr/>
        </p:nvSpPr>
        <p:spPr bwMode="auto">
          <a:xfrm>
            <a:off x="1827213" y="10334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CEE2D578-25A6-54C9-B800-1A56A494E5EB}"/>
              </a:ext>
            </a:extLst>
          </p:cNvPr>
          <p:cNvSpPr txBox="1"/>
          <p:nvPr/>
        </p:nvSpPr>
        <p:spPr>
          <a:xfrm>
            <a:off x="161777" y="668213"/>
            <a:ext cx="8577355" cy="1338828"/>
          </a:xfrm>
          <a:prstGeom prst="rect">
            <a:avLst/>
          </a:prstGeom>
          <a:noFill/>
        </p:spPr>
        <p:txBody>
          <a:bodyPr wrap="square">
            <a:spAutoFit/>
          </a:bodyPr>
          <a:lstStyle/>
          <a:p>
            <a:pPr eaLnBrk="0" fontAlgn="base" hangingPunct="0">
              <a:lnSpc>
                <a:spcPct val="150000"/>
              </a:lnSpc>
              <a:spcBef>
                <a:spcPct val="0"/>
              </a:spcBef>
              <a:spcAft>
                <a:spcPct val="0"/>
              </a:spcAft>
              <a:buClrTx/>
              <a:defRPr/>
            </a:pPr>
            <a:r>
              <a:rPr lang="en-IN" sz="1800" b="1" dirty="0">
                <a:solidFill>
                  <a:srgbClr val="0070C0"/>
                </a:solidFill>
                <a:latin typeface="Trebuchet MS" panose="020B0603020202020204" pitchFamily="34" charset="0"/>
                <a:cs typeface="Segoe UI" panose="020B0502040204020203" pitchFamily="34" charset="0"/>
              </a:rPr>
              <a:t>Character Functions</a:t>
            </a:r>
          </a:p>
          <a:p>
            <a:pPr marL="285750" indent="-285750" eaLnBrk="0" fontAlgn="base" hangingPunct="0">
              <a:spcBef>
                <a:spcPct val="0"/>
              </a:spcBef>
              <a:spcAft>
                <a:spcPct val="0"/>
              </a:spcAft>
              <a:buClrTx/>
              <a:buFont typeface="Arial" panose="020B0604020202020204" pitchFamily="34" charset="0"/>
              <a:buChar char="•"/>
              <a:defRPr/>
            </a:pPr>
            <a:r>
              <a:rPr lang="en-IN" sz="18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All the character functions require </a:t>
            </a:r>
            <a:r>
              <a:rPr lang="en-IN" sz="1800" b="1"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&lt;</a:t>
            </a:r>
            <a:r>
              <a:rPr lang="en-IN" sz="1800" b="1" dirty="0" err="1">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cctype</a:t>
            </a:r>
            <a:r>
              <a:rPr lang="en-IN" sz="1800" b="1"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&gt; </a:t>
            </a:r>
            <a:r>
              <a:rPr lang="en-IN" sz="18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header file. The following table lists the function.</a:t>
            </a:r>
          </a:p>
          <a:p>
            <a:pPr marL="285750" indent="-285750" eaLnBrk="0" fontAlgn="base" hangingPunct="0">
              <a:spcBef>
                <a:spcPct val="0"/>
              </a:spcBef>
              <a:spcAft>
                <a:spcPct val="0"/>
              </a:spcAft>
              <a:buClrTx/>
              <a:buFont typeface="Arial" panose="020B0604020202020204" pitchFamily="34" charset="0"/>
              <a:buChar char="•"/>
              <a:defRPr/>
            </a:pPr>
            <a:r>
              <a:rPr kumimoji="0" lang="en-IN" altLang="en-US" sz="1800" b="0" i="0" u="none" strike="noStrike" kern="0" cap="none" spc="0" normalizeH="0" baseline="0" noProof="0" dirty="0">
                <a:ln>
                  <a:noFill/>
                </a:ln>
                <a:solidFill>
                  <a:schemeClr val="tx1"/>
                </a:solidFill>
                <a:uLnTx/>
                <a:uFillTx/>
                <a:latin typeface="Segoe UI" panose="020B0502040204020203" pitchFamily="34" charset="0"/>
                <a:ea typeface="Calibri" panose="020F0502020204030204" pitchFamily="34" charset="0"/>
                <a:cs typeface="Times New Roman" panose="02020603050405020304" pitchFamily="18" charset="0"/>
                <a:sym typeface="Arial"/>
              </a:rPr>
              <a:t>Example: </a:t>
            </a:r>
            <a:endParaRPr kumimoji="0" lang="en-US" altLang="en-US" sz="1800" b="0" i="0" u="none" strike="noStrike" kern="0" cap="none" spc="0" normalizeH="0" baseline="0" noProof="0" dirty="0">
              <a:ln>
                <a:noFill/>
              </a:ln>
              <a:solidFill>
                <a:schemeClr val="tx1"/>
              </a:solidFill>
              <a:effectLst/>
              <a:uLnTx/>
              <a:uFillTx/>
              <a:latin typeface="Trebuchet MS" panose="020B0603020202020204" pitchFamily="34" charset="0"/>
              <a:ea typeface="Calibri" panose="020F0502020204030204" pitchFamily="34" charset="0"/>
              <a:cs typeface="Segoe UI" panose="020B0502040204020203" pitchFamily="34" charset="0"/>
              <a:sym typeface="Arial"/>
            </a:endParaRPr>
          </a:p>
        </p:txBody>
      </p:sp>
      <p:graphicFrame>
        <p:nvGraphicFramePr>
          <p:cNvPr id="3" name="Table 2">
            <a:extLst>
              <a:ext uri="{FF2B5EF4-FFF2-40B4-BE49-F238E27FC236}">
                <a16:creationId xmlns:a16="http://schemas.microsoft.com/office/drawing/2014/main" id="{64FEA5F3-6A42-9FC6-E442-5707992EBD90}"/>
              </a:ext>
            </a:extLst>
          </p:cNvPr>
          <p:cNvGraphicFramePr>
            <a:graphicFrameLocks noGrp="1"/>
          </p:cNvGraphicFramePr>
          <p:nvPr>
            <p:extLst>
              <p:ext uri="{D42A27DB-BD31-4B8C-83A1-F6EECF244321}">
                <p14:modId xmlns:p14="http://schemas.microsoft.com/office/powerpoint/2010/main" val="2276662944"/>
              </p:ext>
            </p:extLst>
          </p:nvPr>
        </p:nvGraphicFramePr>
        <p:xfrm>
          <a:off x="161777" y="2007041"/>
          <a:ext cx="8820446" cy="3131687"/>
        </p:xfrm>
        <a:graphic>
          <a:graphicData uri="http://schemas.openxmlformats.org/drawingml/2006/table">
            <a:tbl>
              <a:tblPr firstRow="1" firstCol="1" bandRow="1"/>
              <a:tblGrid>
                <a:gridCol w="1413112">
                  <a:extLst>
                    <a:ext uri="{9D8B030D-6E8A-4147-A177-3AD203B41FA5}">
                      <a16:colId xmlns:a16="http://schemas.microsoft.com/office/drawing/2014/main" val="2101964124"/>
                    </a:ext>
                  </a:extLst>
                </a:gridCol>
                <a:gridCol w="7407334">
                  <a:extLst>
                    <a:ext uri="{9D8B030D-6E8A-4147-A177-3AD203B41FA5}">
                      <a16:colId xmlns:a16="http://schemas.microsoft.com/office/drawing/2014/main" val="1175350833"/>
                    </a:ext>
                  </a:extLst>
                </a:gridCol>
              </a:tblGrid>
              <a:tr h="299954">
                <a:tc>
                  <a:txBody>
                    <a:bodyPr/>
                    <a:lstStyle/>
                    <a:p>
                      <a:pPr>
                        <a:lnSpc>
                          <a:spcPct val="107000"/>
                        </a:lnSpc>
                        <a:spcAft>
                          <a:spcPts val="800"/>
                        </a:spcAft>
                      </a:pPr>
                      <a:r>
                        <a:rPr lang="en-IN" sz="1600" b="1"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Function</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b="1"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Meaning</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45721315"/>
                  </a:ext>
                </a:extLst>
              </a:tr>
              <a:tr h="353768">
                <a:tc>
                  <a:txBody>
                    <a:bodyPr/>
                    <a:lstStyle/>
                    <a:p>
                      <a:pPr>
                        <a:lnSpc>
                          <a:spcPct val="107000"/>
                        </a:lnSpc>
                        <a:spcAft>
                          <a:spcPts val="800"/>
                        </a:spcAft>
                      </a:pPr>
                      <a:r>
                        <a:rPr lang="en-IN" sz="1600" dirty="0" err="1">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isalpha</a:t>
                      </a: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(c)</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returns True if C is an uppercase letter and False if c is lowercase.</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22161920"/>
                  </a:ext>
                </a:extLst>
              </a:tr>
              <a:tr h="353768">
                <a:tc>
                  <a:txBody>
                    <a:bodyPr/>
                    <a:lstStyle/>
                    <a:p>
                      <a:pPr>
                        <a:lnSpc>
                          <a:spcPct val="107000"/>
                        </a:lnSpc>
                        <a:spcAft>
                          <a:spcPts val="800"/>
                        </a:spcAft>
                      </a:pPr>
                      <a:r>
                        <a:rPr lang="en-IN" sz="1600" dirty="0" err="1">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isdigit</a:t>
                      </a: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(c)</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returns True if c is a digit (0 through 9) otherwise False.</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95938679"/>
                  </a:ext>
                </a:extLst>
              </a:tr>
              <a:tr h="709125">
                <a:tc>
                  <a:txBody>
                    <a:bodyPr/>
                    <a:lstStyle/>
                    <a:p>
                      <a:pPr>
                        <a:lnSpc>
                          <a:spcPct val="107000"/>
                        </a:lnSpc>
                        <a:spcAft>
                          <a:spcPts val="800"/>
                        </a:spcAft>
                      </a:pPr>
                      <a:r>
                        <a:rPr lang="en-IN" sz="1600" dirty="0" err="1">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isalnum</a:t>
                      </a: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(c)</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returns True if c is a digit from 0 through 9 or an alphabetic character (either uppercase or lowercase) otherwise False.</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11322580"/>
                  </a:ext>
                </a:extLst>
              </a:tr>
              <a:tr h="353768">
                <a:tc>
                  <a:txBody>
                    <a:bodyPr/>
                    <a:lstStyle/>
                    <a:p>
                      <a:pPr>
                        <a:lnSpc>
                          <a:spcPct val="107000"/>
                        </a:lnSpc>
                        <a:spcAft>
                          <a:spcPts val="800"/>
                        </a:spcAft>
                      </a:pPr>
                      <a:r>
                        <a:rPr lang="en-IN" sz="160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islower(c)</a:t>
                      </a:r>
                      <a:endParaRPr lang="en-IN" sz="120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returns True if C is a lowercase letter otherwise False.</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54645828"/>
                  </a:ext>
                </a:extLst>
              </a:tr>
              <a:tr h="353768">
                <a:tc>
                  <a:txBody>
                    <a:bodyPr/>
                    <a:lstStyle/>
                    <a:p>
                      <a:pPr>
                        <a:lnSpc>
                          <a:spcPct val="107000"/>
                        </a:lnSpc>
                        <a:spcAft>
                          <a:spcPts val="800"/>
                        </a:spcAft>
                      </a:pPr>
                      <a:r>
                        <a:rPr lang="en-IN" sz="1600" dirty="0" err="1">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isupper</a:t>
                      </a: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(c)</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returns True if C is an uppercase letter otherwise False.</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25115613"/>
                  </a:ext>
                </a:extLst>
              </a:tr>
              <a:tr h="353768">
                <a:tc>
                  <a:txBody>
                    <a:bodyPr/>
                    <a:lstStyle/>
                    <a:p>
                      <a:pPr>
                        <a:lnSpc>
                          <a:spcPct val="107000"/>
                        </a:lnSpc>
                        <a:spcAft>
                          <a:spcPts val="800"/>
                        </a:spcAft>
                      </a:pPr>
                      <a:r>
                        <a:rPr lang="en-IN" sz="1600" dirty="0" err="1">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toupper</a:t>
                      </a: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(c)</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converts c to uppercase letter.</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6237928"/>
                  </a:ext>
                </a:extLst>
              </a:tr>
              <a:tr h="353768">
                <a:tc>
                  <a:txBody>
                    <a:bodyPr/>
                    <a:lstStyle/>
                    <a:p>
                      <a:pPr>
                        <a:lnSpc>
                          <a:spcPct val="107000"/>
                        </a:lnSpc>
                        <a:spcAft>
                          <a:spcPts val="800"/>
                        </a:spcAft>
                      </a:pPr>
                      <a:r>
                        <a:rPr lang="en-IN" sz="1600" dirty="0" err="1">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tolower</a:t>
                      </a:r>
                      <a:r>
                        <a:rPr lang="en-IN" sz="16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(c)</a:t>
                      </a:r>
                      <a:endParaRPr lang="en-IN" sz="12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07000"/>
                        </a:lnSpc>
                        <a:spcAft>
                          <a:spcPts val="800"/>
                        </a:spcAft>
                      </a:pPr>
                      <a:r>
                        <a:rPr lang="en-IN" sz="1600" dirty="0">
                          <a:solidFill>
                            <a:schemeClr val="tx1"/>
                          </a:solidFill>
                          <a:effectLst/>
                          <a:latin typeface="Trebuchet MS" panose="020B0603020202020204" pitchFamily="34" charset="0"/>
                          <a:ea typeface="Times New Roman" panose="02020603050405020304" pitchFamily="18" charset="0"/>
                          <a:cs typeface="Times New Roman" panose="02020603050405020304" pitchFamily="18" charset="0"/>
                        </a:rPr>
                        <a:t>It converts c to lowercase letter.</a:t>
                      </a:r>
                      <a:endParaRPr lang="en-IN" sz="12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8687" marR="8687" marT="8687" marB="8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40638114"/>
                  </a:ext>
                </a:extLst>
              </a:tr>
            </a:tbl>
          </a:graphicData>
        </a:graphic>
      </p:graphicFrame>
    </p:spTree>
    <p:extLst>
      <p:ext uri="{BB962C8B-B14F-4D97-AF65-F5344CB8AC3E}">
        <p14:creationId xmlns:p14="http://schemas.microsoft.com/office/powerpoint/2010/main" val="49136660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F26501B1-1B14-20E0-A4E1-399DB0363CCF}"/>
              </a:ext>
            </a:extLst>
          </p:cNvPr>
          <p:cNvSpPr txBox="1"/>
          <p:nvPr/>
        </p:nvSpPr>
        <p:spPr>
          <a:xfrm>
            <a:off x="285125" y="148588"/>
            <a:ext cx="4640316" cy="584775"/>
          </a:xfrm>
          <a:prstGeom prst="rect">
            <a:avLst/>
          </a:prstGeom>
          <a:noFill/>
        </p:spPr>
        <p:txBody>
          <a:bodyPr wrap="square">
            <a:spAutoFit/>
          </a:bodyPr>
          <a:lstStyle/>
          <a:p>
            <a:r>
              <a:rPr lang="en-IN" sz="3200" b="1" dirty="0">
                <a:solidFill>
                  <a:schemeClr val="bg1"/>
                </a:solidFill>
                <a:latin typeface="Trebuchet MS" panose="020B0603020202020204" pitchFamily="34" charset="0"/>
              </a:rPr>
              <a:t>Directives</a:t>
            </a:r>
          </a:p>
        </p:txBody>
      </p:sp>
      <p:sp>
        <p:nvSpPr>
          <p:cNvPr id="3" name="TextBox 2">
            <a:extLst>
              <a:ext uri="{FF2B5EF4-FFF2-40B4-BE49-F238E27FC236}">
                <a16:creationId xmlns:a16="http://schemas.microsoft.com/office/drawing/2014/main" id="{D72D4348-9FDE-E22D-E3C0-8020B019CCAA}"/>
              </a:ext>
            </a:extLst>
          </p:cNvPr>
          <p:cNvSpPr txBox="1"/>
          <p:nvPr/>
        </p:nvSpPr>
        <p:spPr>
          <a:xfrm>
            <a:off x="285124" y="877201"/>
            <a:ext cx="8207235" cy="3739485"/>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Preprocessor Directives</a:t>
            </a:r>
          </a:p>
          <a:p>
            <a:pPr marL="285750" indent="-285750">
              <a:lnSpc>
                <a:spcPct val="150000"/>
              </a:lnSpc>
              <a:buFont typeface="Arial" panose="020B0604020202020204" pitchFamily="34" charset="0"/>
              <a:buChar char="•"/>
            </a:pPr>
            <a:r>
              <a:rPr lang="en-IN" sz="1800" dirty="0">
                <a:latin typeface="Trebuchet MS" panose="020B0603020202020204" pitchFamily="34" charset="0"/>
              </a:rPr>
              <a:t>Preprocessor programs provide preprocessor directives that tell the compiler to preprocess the source code before compiling.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All of these preprocessor directives begin with a </a:t>
            </a:r>
            <a:r>
              <a:rPr lang="en-IN" sz="1800" dirty="0">
                <a:solidFill>
                  <a:srgbClr val="FF0000"/>
                </a:solidFill>
                <a:latin typeface="Trebuchet MS" panose="020B0603020202020204" pitchFamily="34" charset="0"/>
              </a:rPr>
              <a:t>‘#’ (hash) symbol</a:t>
            </a:r>
            <a:r>
              <a:rPr lang="en-IN" sz="1800" dirty="0">
                <a:latin typeface="Trebuchet MS" panose="020B0603020202020204" pitchFamily="34" charset="0"/>
              </a:rPr>
              <a: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The ‘#’ symbol indicates that whatever statement starts with a </a:t>
            </a:r>
            <a:r>
              <a:rPr lang="en-IN" sz="1800" dirty="0">
                <a:solidFill>
                  <a:schemeClr val="tx1"/>
                </a:solidFill>
                <a:latin typeface="Trebuchet MS" panose="020B0603020202020204" pitchFamily="34" charset="0"/>
              </a:rPr>
              <a:t>‘#’ will go to the preprocessor program</a:t>
            </a:r>
            <a:r>
              <a:rPr lang="en-IN" sz="1800" dirty="0">
                <a:latin typeface="Trebuchet MS" panose="020B0603020202020204" pitchFamily="34" charset="0"/>
              </a:rPr>
              <a:t> to get executed.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Examples of some preprocessor directives are: </a:t>
            </a:r>
          </a:p>
          <a:p>
            <a:pPr>
              <a:lnSpc>
                <a:spcPct val="150000"/>
              </a:lnSpc>
            </a:pPr>
            <a:r>
              <a:rPr lang="en-IN" sz="1800" dirty="0">
                <a:latin typeface="Trebuchet MS" panose="020B0603020202020204" pitchFamily="34" charset="0"/>
              </a:rPr>
              <a:t>	</a:t>
            </a:r>
            <a:r>
              <a:rPr lang="en-IN" sz="1800" dirty="0">
                <a:solidFill>
                  <a:srgbClr val="FF0000"/>
                </a:solidFill>
                <a:latin typeface="Trebuchet MS" panose="020B0603020202020204" pitchFamily="34" charset="0"/>
              </a:rPr>
              <a:t>#include, #define, #ifndef</a:t>
            </a:r>
            <a:r>
              <a:rPr lang="en-IN" sz="1800" dirty="0">
                <a:latin typeface="Trebuchet MS" panose="020B0603020202020204" pitchFamily="34" charset="0"/>
              </a:rPr>
              <a:t> etc. </a:t>
            </a:r>
          </a:p>
          <a:p>
            <a:endParaRPr lang="en-IN" sz="1800" dirty="0">
              <a:latin typeface="Trebuchet MS" panose="020B0603020202020204" pitchFamily="34" charset="0"/>
            </a:endParaRPr>
          </a:p>
        </p:txBody>
      </p:sp>
    </p:spTree>
    <p:extLst>
      <p:ext uri="{BB962C8B-B14F-4D97-AF65-F5344CB8AC3E}">
        <p14:creationId xmlns:p14="http://schemas.microsoft.com/office/powerpoint/2010/main" val="32779750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F26501B1-1B14-20E0-A4E1-399DB0363CCF}"/>
              </a:ext>
            </a:extLst>
          </p:cNvPr>
          <p:cNvSpPr txBox="1"/>
          <p:nvPr/>
        </p:nvSpPr>
        <p:spPr>
          <a:xfrm>
            <a:off x="285125" y="148588"/>
            <a:ext cx="4640316" cy="584775"/>
          </a:xfrm>
          <a:prstGeom prst="rect">
            <a:avLst/>
          </a:prstGeom>
          <a:noFill/>
        </p:spPr>
        <p:txBody>
          <a:bodyPr wrap="square">
            <a:spAutoFit/>
          </a:bodyPr>
          <a:lstStyle/>
          <a:p>
            <a:r>
              <a:rPr lang="en-IN" sz="3200" b="1" dirty="0">
                <a:solidFill>
                  <a:schemeClr val="bg1"/>
                </a:solidFill>
                <a:latin typeface="Trebuchet MS" panose="020B0603020202020204" pitchFamily="34" charset="0"/>
              </a:rPr>
              <a:t>Directives</a:t>
            </a:r>
          </a:p>
        </p:txBody>
      </p:sp>
      <p:sp>
        <p:nvSpPr>
          <p:cNvPr id="6" name="TextBox 5">
            <a:extLst>
              <a:ext uri="{FF2B5EF4-FFF2-40B4-BE49-F238E27FC236}">
                <a16:creationId xmlns:a16="http://schemas.microsoft.com/office/drawing/2014/main" id="{606FC5D9-45DD-16DD-D0BB-C85ACDB77E0D}"/>
              </a:ext>
            </a:extLst>
          </p:cNvPr>
          <p:cNvSpPr txBox="1"/>
          <p:nvPr/>
        </p:nvSpPr>
        <p:spPr>
          <a:xfrm>
            <a:off x="285125" y="733363"/>
            <a:ext cx="8607831" cy="4326313"/>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There are 2 Main Types of Preprocessor Directives: </a:t>
            </a:r>
          </a:p>
          <a:p>
            <a:pPr marL="719138" lvl="1" indent="-360363">
              <a:lnSpc>
                <a:spcPct val="150000"/>
              </a:lnSpc>
              <a:buFont typeface="+mj-lt"/>
              <a:buAutoNum type="arabicParenR"/>
              <a:defRPr/>
            </a:pPr>
            <a:r>
              <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Inclusion Directive</a:t>
            </a:r>
          </a:p>
          <a:p>
            <a:pPr marL="719138" lvl="1" indent="-360363">
              <a:lnSpc>
                <a:spcPct val="150000"/>
              </a:lnSpc>
              <a:buFont typeface="+mj-lt"/>
              <a:buAutoNum type="arabicParenR"/>
              <a:defRPr/>
            </a:pPr>
            <a:r>
              <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Macro Definition Directive</a:t>
            </a:r>
          </a:p>
          <a:p>
            <a:pPr lvl="1">
              <a:lnSpc>
                <a:spcPct val="150000"/>
              </a:lnSpc>
              <a:defRPr/>
            </a:pPr>
            <a:r>
              <a:rPr lang="en-IN" sz="1800" b="1" dirty="0">
                <a:solidFill>
                  <a:srgbClr val="FF0000"/>
                </a:solidFill>
                <a:latin typeface="Trebuchet MS" panose="020B0603020202020204" pitchFamily="34" charset="0"/>
              </a:rPr>
              <a:t>1)  Inclusion</a:t>
            </a:r>
            <a:r>
              <a:rPr kumimoji="0" lang="en-IN" sz="1800" b="1" i="0" u="none" strike="noStrike" kern="0" cap="none" spc="0" normalizeH="0" baseline="0" noProof="0" dirty="0">
                <a:ln>
                  <a:noFill/>
                </a:ln>
                <a:solidFill>
                  <a:srgbClr val="FF0000"/>
                </a:solidFill>
                <a:effectLst/>
                <a:uLnTx/>
                <a:uFillTx/>
                <a:latin typeface="Trebuchet MS" panose="020B0603020202020204" pitchFamily="34" charset="0"/>
                <a:sym typeface="Arial"/>
              </a:rPr>
              <a:t> </a:t>
            </a:r>
            <a:r>
              <a:rPr lang="en-IN" sz="1800" b="1" dirty="0">
                <a:solidFill>
                  <a:srgbClr val="FF0000"/>
                </a:solidFill>
                <a:latin typeface="Trebuchet MS" panose="020B0603020202020204" pitchFamily="34" charset="0"/>
              </a:rPr>
              <a:t>Directive</a:t>
            </a:r>
          </a:p>
          <a:p>
            <a:pPr marL="557213" lvl="1" indent="-285750">
              <a:lnSpc>
                <a:spcPct val="150000"/>
              </a:lnSpc>
              <a:buFont typeface="Wingdings" panose="05000000000000000000" pitchFamily="2" charset="2"/>
              <a:buChar char="Ø"/>
              <a:defRPr/>
            </a:pPr>
            <a:r>
              <a:rPr lang="en-IN" sz="1800" b="0" i="0" dirty="0">
                <a:solidFill>
                  <a:srgbClr val="273239"/>
                </a:solidFill>
                <a:effectLst/>
                <a:latin typeface="Trebuchet MS" panose="020B0603020202020204" pitchFamily="34" charset="0"/>
              </a:rPr>
              <a:t>This type of preprocessor </a:t>
            </a:r>
            <a:r>
              <a:rPr lang="en-IN" sz="1800" b="1" i="0" dirty="0">
                <a:solidFill>
                  <a:srgbClr val="273239"/>
                </a:solidFill>
                <a:effectLst/>
                <a:latin typeface="Trebuchet MS" panose="020B0603020202020204" pitchFamily="34" charset="0"/>
              </a:rPr>
              <a:t>directive tells the compiler to include a file in the source code program. </a:t>
            </a:r>
          </a:p>
          <a:p>
            <a:pPr marL="557213" lvl="1" indent="-285750">
              <a:lnSpc>
                <a:spcPct val="150000"/>
              </a:lnSpc>
              <a:buFont typeface="Wingdings" panose="05000000000000000000" pitchFamily="2" charset="2"/>
              <a:buChar char="Ø"/>
              <a:defRPr/>
            </a:pPr>
            <a:r>
              <a:rPr lang="en-IN" sz="1800" b="0" i="0" dirty="0">
                <a:solidFill>
                  <a:srgbClr val="273239"/>
                </a:solidFill>
                <a:effectLst/>
                <a:latin typeface="Trebuchet MS" panose="020B0603020202020204" pitchFamily="34" charset="0"/>
              </a:rPr>
              <a:t>There are two types of files that can be included by the user in the program: </a:t>
            </a:r>
          </a:p>
          <a:p>
            <a:pPr marL="719137" lvl="2">
              <a:lnSpc>
                <a:spcPct val="150000"/>
              </a:lnSpc>
              <a:defRPr/>
            </a:pPr>
            <a:r>
              <a:rPr lang="en-IN" sz="1800" b="1" dirty="0">
                <a:solidFill>
                  <a:srgbClr val="0070C0"/>
                </a:solidFill>
                <a:latin typeface="Trebuchet MS" panose="020B0603020202020204" pitchFamily="34" charset="0"/>
              </a:rPr>
              <a:t>- </a:t>
            </a:r>
            <a:r>
              <a:rPr lang="en-IN" sz="1800" b="1" i="0" dirty="0">
                <a:solidFill>
                  <a:srgbClr val="0070C0"/>
                </a:solidFill>
                <a:effectLst/>
                <a:latin typeface="Trebuchet MS" panose="020B0603020202020204" pitchFamily="34" charset="0"/>
              </a:rPr>
              <a:t>Header files or Standard files</a:t>
            </a:r>
          </a:p>
          <a:p>
            <a:pPr marL="719137" lvl="2">
              <a:lnSpc>
                <a:spcPct val="150000"/>
              </a:lnSpc>
              <a:defRPr/>
            </a:pPr>
            <a:r>
              <a:rPr lang="en-IN" sz="1800" b="1" dirty="0">
                <a:solidFill>
                  <a:srgbClr val="0070C0"/>
                </a:solidFill>
                <a:latin typeface="Trebuchet MS" panose="020B0603020202020204" pitchFamily="34" charset="0"/>
              </a:rPr>
              <a:t>- User-defined files</a:t>
            </a:r>
          </a:p>
        </p:txBody>
      </p:sp>
    </p:spTree>
    <p:extLst>
      <p:ext uri="{BB962C8B-B14F-4D97-AF65-F5344CB8AC3E}">
        <p14:creationId xmlns:p14="http://schemas.microsoft.com/office/powerpoint/2010/main" val="384394315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F26501B1-1B14-20E0-A4E1-399DB0363CCF}"/>
              </a:ext>
            </a:extLst>
          </p:cNvPr>
          <p:cNvSpPr txBox="1"/>
          <p:nvPr/>
        </p:nvSpPr>
        <p:spPr>
          <a:xfrm>
            <a:off x="285125" y="148588"/>
            <a:ext cx="4640316" cy="584775"/>
          </a:xfrm>
          <a:prstGeom prst="rect">
            <a:avLst/>
          </a:prstGeom>
          <a:noFill/>
        </p:spPr>
        <p:txBody>
          <a:bodyPr wrap="square">
            <a:spAutoFit/>
          </a:bodyPr>
          <a:lstStyle/>
          <a:p>
            <a:r>
              <a:rPr lang="en-IN" sz="3200" b="1" dirty="0">
                <a:solidFill>
                  <a:schemeClr val="bg1"/>
                </a:solidFill>
                <a:latin typeface="Trebuchet MS" panose="020B0603020202020204" pitchFamily="34" charset="0"/>
              </a:rPr>
              <a:t>Directives</a:t>
            </a:r>
          </a:p>
        </p:txBody>
      </p:sp>
      <p:sp>
        <p:nvSpPr>
          <p:cNvPr id="3" name="TextBox 2">
            <a:extLst>
              <a:ext uri="{FF2B5EF4-FFF2-40B4-BE49-F238E27FC236}">
                <a16:creationId xmlns:a16="http://schemas.microsoft.com/office/drawing/2014/main" id="{2CCDDBFC-8128-8900-775F-9DBF40757339}"/>
              </a:ext>
            </a:extLst>
          </p:cNvPr>
          <p:cNvSpPr txBox="1"/>
          <p:nvPr/>
        </p:nvSpPr>
        <p:spPr>
          <a:xfrm>
            <a:off x="388921" y="877201"/>
            <a:ext cx="8101936" cy="3365473"/>
          </a:xfrm>
          <a:prstGeom prst="rect">
            <a:avLst/>
          </a:prstGeom>
          <a:noFill/>
        </p:spPr>
        <p:txBody>
          <a:bodyPr wrap="square">
            <a:spAutoFit/>
          </a:bodyPr>
          <a:lstStyle/>
          <a:p>
            <a:pPr marR="0" lvl="1" algn="l" defTabSz="914400" rtl="0" eaLnBrk="1" fontAlgn="auto" latinLnBrk="0" hangingPunct="1">
              <a:lnSpc>
                <a:spcPct val="150000"/>
              </a:lnSpc>
              <a:spcBef>
                <a:spcPts val="0"/>
              </a:spcBef>
              <a:spcAft>
                <a:spcPts val="0"/>
              </a:spcAft>
              <a:buClr>
                <a:srgbClr val="000000"/>
              </a:buClr>
              <a:buSzTx/>
              <a:tabLst/>
              <a:defRPr/>
            </a:pPr>
            <a:r>
              <a:rPr lang="en-IN" sz="1800" b="1" i="0" dirty="0">
                <a:solidFill>
                  <a:srgbClr val="0070C0"/>
                </a:solidFill>
                <a:effectLst/>
                <a:latin typeface="Trebuchet MS" panose="020B0603020202020204" pitchFamily="34" charset="0"/>
              </a:rPr>
              <a:t>Header files or Standard files</a:t>
            </a:r>
            <a:endParaRPr kumimoji="0" lang="en-IN" sz="18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endParaRPr>
          </a:p>
          <a:p>
            <a:pPr marL="557213" marR="0" lvl="1"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These files contain definitions of pre-defined functions like </a:t>
            </a:r>
            <a:r>
              <a:rPr lang="en-IN" sz="1800" b="1" dirty="0" err="1">
                <a:solidFill>
                  <a:srgbClr val="273239"/>
                </a:solidFill>
                <a:latin typeface="Trebuchet MS" panose="020B0603020202020204" pitchFamily="34" charset="0"/>
              </a:rPr>
              <a:t>cout</a:t>
            </a:r>
            <a:r>
              <a:rPr kumimoji="0" lang="en-IN" sz="1800" b="1"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 </a:t>
            </a:r>
            <a:r>
              <a:rPr lang="en-IN" sz="1800" b="1" dirty="0" err="1">
                <a:solidFill>
                  <a:srgbClr val="273239"/>
                </a:solidFill>
                <a:latin typeface="Trebuchet MS" panose="020B0603020202020204" pitchFamily="34" charset="0"/>
              </a:rPr>
              <a:t>cin</a:t>
            </a:r>
            <a:r>
              <a:rPr kumimoji="0" lang="en-IN" sz="1800" b="1"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etc. These files must be included to work with these functions.</a:t>
            </a:r>
          </a:p>
          <a:p>
            <a:pPr marL="557213" marR="0" lvl="1"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 Different functions are declared in different header files.</a:t>
            </a:r>
          </a:p>
          <a:p>
            <a:pPr marL="557213" marR="0" lvl="1"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IN" sz="1800" dirty="0">
                <a:solidFill>
                  <a:schemeClr val="tx1"/>
                </a:solidFill>
                <a:latin typeface="Trebuchet MS" panose="020B0603020202020204" pitchFamily="34" charset="0"/>
              </a:rPr>
              <a:t>Syntax:</a:t>
            </a:r>
          </a:p>
          <a:p>
            <a:pPr marL="271463" marR="0" lvl="1" algn="l" defTabSz="914400" rtl="0" eaLnBrk="1" fontAlgn="auto" latinLnBrk="0" hangingPunct="1">
              <a:lnSpc>
                <a:spcPct val="150000"/>
              </a:lnSpc>
              <a:spcBef>
                <a:spcPts val="0"/>
              </a:spcBef>
              <a:spcAft>
                <a:spcPts val="0"/>
              </a:spcAft>
              <a:buClr>
                <a:srgbClr val="000000"/>
              </a:buClr>
              <a:buSzTx/>
              <a:tabLst/>
              <a:defRPr/>
            </a:pPr>
            <a:r>
              <a:rPr lang="en-IN" sz="1800" dirty="0">
                <a:solidFill>
                  <a:srgbClr val="273239"/>
                </a:solidFill>
                <a:latin typeface="Trebuchet MS" panose="020B0603020202020204" pitchFamily="34" charset="0"/>
              </a:rPr>
              <a:t>	</a:t>
            </a:r>
            <a:r>
              <a:rPr lang="en-IN" sz="1800" dirty="0">
                <a:solidFill>
                  <a:srgbClr val="FF0000"/>
                </a:solidFill>
                <a:latin typeface="Trebuchet MS" panose="020B0603020202020204" pitchFamily="34" charset="0"/>
              </a:rPr>
              <a:t>#include&lt; </a:t>
            </a:r>
            <a:r>
              <a:rPr lang="en-IN" sz="1800" dirty="0" err="1">
                <a:solidFill>
                  <a:srgbClr val="FF0000"/>
                </a:solidFill>
                <a:latin typeface="Trebuchet MS" panose="020B0603020202020204" pitchFamily="34" charset="0"/>
              </a:rPr>
              <a:t>file_name</a:t>
            </a:r>
            <a:r>
              <a:rPr lang="en-IN" sz="1800" dirty="0">
                <a:solidFill>
                  <a:srgbClr val="FF0000"/>
                </a:solidFill>
                <a:latin typeface="Trebuchet MS" panose="020B0603020202020204" pitchFamily="34" charset="0"/>
              </a:rPr>
              <a:t> &gt;</a:t>
            </a:r>
          </a:p>
          <a:p>
            <a:pPr marL="557213" marR="0" lvl="1"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where </a:t>
            </a:r>
            <a:r>
              <a:rPr kumimoji="0" lang="en-IN" sz="1800" b="0" i="0" strike="noStrike" kern="0" cap="none" spc="0" normalizeH="0" baseline="0" noProof="0" dirty="0" err="1">
                <a:ln>
                  <a:noFill/>
                </a:ln>
                <a:solidFill>
                  <a:srgbClr val="FFC000"/>
                </a:solidFill>
                <a:effectLst/>
                <a:uLnTx/>
                <a:uFillTx/>
                <a:latin typeface="Trebuchet MS" panose="020B0603020202020204" pitchFamily="34" charset="0"/>
                <a:cs typeface="Arial"/>
                <a:sym typeface="Arial"/>
              </a:rPr>
              <a:t>file_name</a:t>
            </a:r>
            <a:r>
              <a:rPr kumimoji="0" lang="en-IN" sz="1800" b="0" i="0" strike="noStrike" kern="0" cap="none" spc="0" normalizeH="0" baseline="0" noProof="0" dirty="0">
                <a:ln>
                  <a:noFill/>
                </a:ln>
                <a:solidFill>
                  <a:srgbClr val="FFC000"/>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is the name of the file to be included. The </a:t>
            </a:r>
            <a:r>
              <a:rPr kumimoji="0" lang="en-IN" sz="1800" b="0" i="0" u="none" strike="noStrike" kern="0" cap="none" spc="0" normalizeH="0" baseline="0" noProof="0" dirty="0">
                <a:ln>
                  <a:noFill/>
                </a:ln>
                <a:solidFill>
                  <a:srgbClr val="FFC000"/>
                </a:solidFill>
                <a:effectLst/>
                <a:uLnTx/>
                <a:uFillTx/>
                <a:latin typeface="Trebuchet MS" panose="020B0603020202020204" pitchFamily="34" charset="0"/>
                <a:cs typeface="Arial"/>
                <a:sym typeface="Arial"/>
              </a:rPr>
              <a:t>‘&lt;‘ and ‘&gt;’ </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brackets tell the compiler to look for the file in the standard directory. </a:t>
            </a:r>
          </a:p>
        </p:txBody>
      </p:sp>
    </p:spTree>
    <p:extLst>
      <p:ext uri="{BB962C8B-B14F-4D97-AF65-F5344CB8AC3E}">
        <p14:creationId xmlns:p14="http://schemas.microsoft.com/office/powerpoint/2010/main" val="324306725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F26501B1-1B14-20E0-A4E1-399DB0363CCF}"/>
              </a:ext>
            </a:extLst>
          </p:cNvPr>
          <p:cNvSpPr txBox="1"/>
          <p:nvPr/>
        </p:nvSpPr>
        <p:spPr>
          <a:xfrm>
            <a:off x="285125" y="148588"/>
            <a:ext cx="4640316" cy="584775"/>
          </a:xfrm>
          <a:prstGeom prst="rect">
            <a:avLst/>
          </a:prstGeom>
          <a:noFill/>
        </p:spPr>
        <p:txBody>
          <a:bodyPr wrap="square">
            <a:spAutoFit/>
          </a:bodyPr>
          <a:lstStyle/>
          <a:p>
            <a:r>
              <a:rPr lang="en-IN" sz="3200" b="1" dirty="0">
                <a:solidFill>
                  <a:schemeClr val="bg1"/>
                </a:solidFill>
                <a:latin typeface="Trebuchet MS" panose="020B0603020202020204" pitchFamily="34" charset="0"/>
              </a:rPr>
              <a:t>Directives</a:t>
            </a:r>
          </a:p>
        </p:txBody>
      </p:sp>
      <p:sp>
        <p:nvSpPr>
          <p:cNvPr id="3" name="TextBox 2">
            <a:extLst>
              <a:ext uri="{FF2B5EF4-FFF2-40B4-BE49-F238E27FC236}">
                <a16:creationId xmlns:a16="http://schemas.microsoft.com/office/drawing/2014/main" id="{370F3D8C-3F84-27A4-342F-C350E718FFF8}"/>
              </a:ext>
            </a:extLst>
          </p:cNvPr>
          <p:cNvSpPr txBox="1"/>
          <p:nvPr/>
        </p:nvSpPr>
        <p:spPr>
          <a:xfrm>
            <a:off x="285126" y="733363"/>
            <a:ext cx="8573750" cy="4288803"/>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User-defined files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When a program becomes very large, it is a good practice to divide it into smaller files and include them whenever needed. These types of files are user-defined files.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Syntax: 	</a:t>
            </a:r>
            <a:r>
              <a:rPr lang="en-IN" sz="1800" dirty="0">
                <a:solidFill>
                  <a:srgbClr val="0070C0"/>
                </a:solidFill>
                <a:latin typeface="Trebuchet MS" panose="020B0603020202020204" pitchFamily="34" charset="0"/>
              </a:rPr>
              <a:t>#include "filename“</a:t>
            </a:r>
          </a:p>
          <a:p>
            <a:pPr lvl="1">
              <a:lnSpc>
                <a:spcPct val="150000"/>
              </a:lnSpc>
              <a:defRPr/>
            </a:pPr>
            <a:r>
              <a:rPr lang="en-IN" sz="2000" b="1" dirty="0">
                <a:solidFill>
                  <a:srgbClr val="FF0000"/>
                </a:solidFill>
                <a:latin typeface="Trebuchet MS" panose="020B0603020202020204" pitchFamily="34" charset="0"/>
              </a:rPr>
              <a:t>2) Macro Definition Directive</a:t>
            </a:r>
          </a:p>
          <a:p>
            <a:pPr marL="285750" indent="-285750" fontAlgn="base">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Macros are pieces of code in a program that is given some name.</a:t>
            </a:r>
          </a:p>
          <a:p>
            <a:pPr marL="285750" indent="-285750" fontAlgn="base">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Whenever this name is encountered by the compiler, the compiler replaces the name with the actual piece of code. The ‘#define’ directive is used to define a macro. </a:t>
            </a:r>
            <a:endParaRPr lang="en-IN" sz="18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398805031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F26501B1-1B14-20E0-A4E1-399DB0363CCF}"/>
              </a:ext>
            </a:extLst>
          </p:cNvPr>
          <p:cNvSpPr txBox="1"/>
          <p:nvPr/>
        </p:nvSpPr>
        <p:spPr>
          <a:xfrm>
            <a:off x="285125" y="148588"/>
            <a:ext cx="4640316" cy="584775"/>
          </a:xfrm>
          <a:prstGeom prst="rect">
            <a:avLst/>
          </a:prstGeom>
          <a:noFill/>
        </p:spPr>
        <p:txBody>
          <a:bodyPr wrap="square">
            <a:spAutoFit/>
          </a:bodyPr>
          <a:lstStyle/>
          <a:p>
            <a:r>
              <a:rPr lang="en-IN" sz="3200" b="1" dirty="0">
                <a:solidFill>
                  <a:schemeClr val="bg1"/>
                </a:solidFill>
                <a:latin typeface="Trebuchet MS" panose="020B0603020202020204" pitchFamily="34" charset="0"/>
              </a:rPr>
              <a:t>Directives</a:t>
            </a:r>
          </a:p>
        </p:txBody>
      </p:sp>
      <p:sp>
        <p:nvSpPr>
          <p:cNvPr id="11" name="TextBox 10">
            <a:extLst>
              <a:ext uri="{FF2B5EF4-FFF2-40B4-BE49-F238E27FC236}">
                <a16:creationId xmlns:a16="http://schemas.microsoft.com/office/drawing/2014/main" id="{B6E37AA7-EEB3-1317-65A5-DCDB0434A8B3}"/>
              </a:ext>
            </a:extLst>
          </p:cNvPr>
          <p:cNvSpPr txBox="1"/>
          <p:nvPr/>
        </p:nvSpPr>
        <p:spPr>
          <a:xfrm>
            <a:off x="285124" y="733363"/>
            <a:ext cx="5884447" cy="3924151"/>
          </a:xfrm>
          <a:prstGeom prst="rect">
            <a:avLst/>
          </a:prstGeom>
          <a:noFill/>
        </p:spPr>
        <p:txBody>
          <a:bodyPr wrap="square">
            <a:spAutoFit/>
          </a:bodyPr>
          <a:lstStyle/>
          <a:p>
            <a:pPr>
              <a:spcBef>
                <a:spcPts val="600"/>
              </a:spcBef>
            </a:pPr>
            <a:r>
              <a:rPr lang="en-IN" sz="1800" b="1" dirty="0">
                <a:solidFill>
                  <a:srgbClr val="FF0000"/>
                </a:solidFill>
                <a:latin typeface="Trebuchet MS" panose="020B0603020202020204" pitchFamily="34" charset="0"/>
              </a:rPr>
              <a:t>Macro Definition – Example </a:t>
            </a:r>
          </a:p>
          <a:p>
            <a:pPr marL="452438">
              <a:spcBef>
                <a:spcPts val="600"/>
              </a:spcBef>
            </a:pPr>
            <a:r>
              <a:rPr lang="en-IN" sz="1600" dirty="0">
                <a:latin typeface="Trebuchet MS" panose="020B0603020202020204" pitchFamily="34" charset="0"/>
              </a:rPr>
              <a:t>#include &lt;iostream&gt;</a:t>
            </a:r>
          </a:p>
          <a:p>
            <a:pPr marL="452438">
              <a:spcBef>
                <a:spcPts val="600"/>
              </a:spcBef>
            </a:pPr>
            <a:r>
              <a:rPr lang="en-IN" sz="1600" dirty="0">
                <a:latin typeface="Trebuchet MS" panose="020B0603020202020204" pitchFamily="34" charset="0"/>
              </a:rPr>
              <a:t>using namespace std;</a:t>
            </a:r>
          </a:p>
          <a:p>
            <a:pPr marL="452438">
              <a:spcBef>
                <a:spcPts val="600"/>
              </a:spcBef>
            </a:pPr>
            <a:r>
              <a:rPr lang="en-IN" sz="1600" dirty="0">
                <a:latin typeface="Trebuchet MS" panose="020B0603020202020204" pitchFamily="34" charset="0"/>
              </a:rPr>
              <a:t>#define LIMIT 5   </a:t>
            </a:r>
            <a:r>
              <a:rPr lang="en-IN" sz="1600" dirty="0">
                <a:solidFill>
                  <a:srgbClr val="0070C0"/>
                </a:solidFill>
                <a:latin typeface="Trebuchet MS" panose="020B0603020202020204" pitchFamily="34" charset="0"/>
              </a:rPr>
              <a:t>// macro definition</a:t>
            </a:r>
          </a:p>
          <a:p>
            <a:pPr marL="452438">
              <a:spcBef>
                <a:spcPts val="600"/>
              </a:spcBef>
            </a:pPr>
            <a:r>
              <a:rPr lang="en-IN" sz="1600" dirty="0">
                <a:latin typeface="Trebuchet MS" panose="020B0603020202020204" pitchFamily="34" charset="0"/>
              </a:rPr>
              <a:t>int main()</a:t>
            </a:r>
          </a:p>
          <a:p>
            <a:pPr marL="452438">
              <a:spcBef>
                <a:spcPts val="600"/>
              </a:spcBef>
            </a:pPr>
            <a:r>
              <a:rPr lang="en-IN" sz="1600" dirty="0">
                <a:latin typeface="Trebuchet MS" panose="020B0603020202020204" pitchFamily="34" charset="0"/>
              </a:rPr>
              <a:t>{</a:t>
            </a:r>
          </a:p>
          <a:p>
            <a:pPr marL="452438">
              <a:spcBef>
                <a:spcPts val="600"/>
              </a:spcBef>
            </a:pPr>
            <a:r>
              <a:rPr lang="en-IN" sz="1600" dirty="0">
                <a:latin typeface="Trebuchet MS" panose="020B0603020202020204" pitchFamily="34" charset="0"/>
              </a:rPr>
              <a:t>	for (int </a:t>
            </a:r>
            <a:r>
              <a:rPr lang="en-IN" sz="1600" dirty="0" err="1">
                <a:latin typeface="Trebuchet MS" panose="020B0603020202020204" pitchFamily="34" charset="0"/>
              </a:rPr>
              <a:t>i</a:t>
            </a:r>
            <a:r>
              <a:rPr lang="en-IN" sz="1600" dirty="0">
                <a:latin typeface="Trebuchet MS" panose="020B0603020202020204" pitchFamily="34" charset="0"/>
              </a:rPr>
              <a:t> = 0; </a:t>
            </a:r>
            <a:r>
              <a:rPr lang="en-IN" sz="1600" dirty="0" err="1">
                <a:latin typeface="Trebuchet MS" panose="020B0603020202020204" pitchFamily="34" charset="0"/>
              </a:rPr>
              <a:t>i</a:t>
            </a:r>
            <a:r>
              <a:rPr lang="en-IN" sz="1600" dirty="0">
                <a:latin typeface="Trebuchet MS" panose="020B0603020202020204" pitchFamily="34" charset="0"/>
              </a:rPr>
              <a:t> &lt; LIMIT; </a:t>
            </a:r>
            <a:r>
              <a:rPr lang="en-IN" sz="1600" dirty="0" err="1">
                <a:latin typeface="Trebuchet MS" panose="020B0603020202020204" pitchFamily="34" charset="0"/>
              </a:rPr>
              <a:t>i</a:t>
            </a:r>
            <a:r>
              <a:rPr lang="en-IN" sz="1600" dirty="0">
                <a:latin typeface="Trebuchet MS" panose="020B0603020202020204" pitchFamily="34" charset="0"/>
              </a:rPr>
              <a:t>++) </a:t>
            </a:r>
          </a:p>
          <a:p>
            <a:pPr marL="452438">
              <a:spcBef>
                <a:spcPts val="600"/>
              </a:spcBef>
            </a:pPr>
            <a:r>
              <a:rPr lang="en-IN" sz="1600" dirty="0">
                <a:latin typeface="Trebuchet MS" panose="020B0603020202020204" pitchFamily="34" charset="0"/>
              </a:rPr>
              <a:t>	{</a:t>
            </a:r>
          </a:p>
          <a:p>
            <a:pPr marL="452438">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a:t>
            </a:r>
            <a:r>
              <a:rPr lang="en-IN" sz="1600" dirty="0" err="1">
                <a:latin typeface="Trebuchet MS" panose="020B0603020202020204" pitchFamily="34" charset="0"/>
              </a:rPr>
              <a:t>i</a:t>
            </a:r>
            <a:r>
              <a:rPr lang="en-IN" sz="1600" dirty="0">
                <a:latin typeface="Trebuchet MS" panose="020B0603020202020204" pitchFamily="34" charset="0"/>
              </a:rPr>
              <a:t> &lt;&lt; "\n";</a:t>
            </a:r>
          </a:p>
          <a:p>
            <a:pPr marL="452438">
              <a:spcBef>
                <a:spcPts val="600"/>
              </a:spcBef>
            </a:pPr>
            <a:r>
              <a:rPr lang="en-IN" sz="1600" dirty="0">
                <a:latin typeface="Trebuchet MS" panose="020B0603020202020204" pitchFamily="34" charset="0"/>
              </a:rPr>
              <a:t>	}</a:t>
            </a:r>
          </a:p>
          <a:p>
            <a:pPr marL="452438">
              <a:spcBef>
                <a:spcPts val="600"/>
              </a:spcBef>
            </a:pPr>
            <a:r>
              <a:rPr lang="en-IN" sz="1600" dirty="0">
                <a:latin typeface="Trebuchet MS" panose="020B0603020202020204" pitchFamily="34" charset="0"/>
              </a:rPr>
              <a:t>	return 0;</a:t>
            </a:r>
          </a:p>
          <a:p>
            <a:pPr marL="452438">
              <a:spcBef>
                <a:spcPts val="600"/>
              </a:spcBef>
            </a:pPr>
            <a:r>
              <a:rPr lang="en-IN" sz="1600" dirty="0">
                <a:latin typeface="Trebuchet MS" panose="020B0603020202020204" pitchFamily="34" charset="0"/>
              </a:rPr>
              <a:t>}</a:t>
            </a:r>
            <a:endParaRPr lang="en-IN" sz="1200" dirty="0">
              <a:latin typeface="Trebuchet MS" panose="020B0603020202020204" pitchFamily="34" charset="0"/>
            </a:endParaRPr>
          </a:p>
        </p:txBody>
      </p:sp>
    </p:spTree>
    <p:extLst>
      <p:ext uri="{BB962C8B-B14F-4D97-AF65-F5344CB8AC3E}">
        <p14:creationId xmlns:p14="http://schemas.microsoft.com/office/powerpoint/2010/main" val="33500821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F452BF8E-8FAC-DC98-E631-E0E43FFED429}"/>
              </a:ext>
            </a:extLst>
          </p:cNvPr>
          <p:cNvSpPr txBox="1"/>
          <p:nvPr/>
        </p:nvSpPr>
        <p:spPr>
          <a:xfrm>
            <a:off x="367861" y="1052947"/>
            <a:ext cx="8208580" cy="336547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Decision making statement is depending on the condition block need to be executed or not which is decided by condition.</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If the condition is </a:t>
            </a:r>
            <a:r>
              <a:rPr lang="en-IN" sz="1800" b="0" i="0" dirty="0">
                <a:solidFill>
                  <a:srgbClr val="0070C0"/>
                </a:solidFill>
                <a:effectLst/>
                <a:latin typeface="Trebuchet MS" panose="020B0603020202020204" pitchFamily="34" charset="0"/>
              </a:rPr>
              <a:t>"true" </a:t>
            </a:r>
            <a:r>
              <a:rPr lang="en-IN" sz="1800" b="0" i="0" dirty="0">
                <a:solidFill>
                  <a:srgbClr val="000000"/>
                </a:solidFill>
                <a:effectLst/>
                <a:latin typeface="Trebuchet MS" panose="020B0603020202020204" pitchFamily="34" charset="0"/>
              </a:rPr>
              <a:t>statement block will be executed, if condition is </a:t>
            </a:r>
            <a:r>
              <a:rPr lang="en-IN" sz="1800" b="0" i="0" dirty="0">
                <a:solidFill>
                  <a:srgbClr val="0070C0"/>
                </a:solidFill>
                <a:effectLst/>
                <a:latin typeface="Trebuchet MS" panose="020B0603020202020204" pitchFamily="34" charset="0"/>
              </a:rPr>
              <a:t>"false" </a:t>
            </a:r>
            <a:r>
              <a:rPr lang="en-IN" sz="1800" b="0" i="0" dirty="0">
                <a:solidFill>
                  <a:srgbClr val="000000"/>
                </a:solidFill>
                <a:effectLst/>
                <a:latin typeface="Trebuchet MS" panose="020B0603020202020204" pitchFamily="34" charset="0"/>
              </a:rPr>
              <a:t>then statement block will not be executed.</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In C++ language there are three types of decision making statement.</a:t>
            </a:r>
          </a:p>
          <a:p>
            <a:pPr marL="71437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if</a:t>
            </a:r>
          </a:p>
          <a:p>
            <a:pPr marL="71437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if-else</a:t>
            </a:r>
          </a:p>
          <a:p>
            <a:pPr marL="71437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switch</a:t>
            </a:r>
            <a:endParaRPr lang="en-IN" b="0" i="0" dirty="0">
              <a:solidFill>
                <a:srgbClr val="000000"/>
              </a:solidFill>
              <a:effectLst/>
              <a:latin typeface="Trebuchet MS" panose="020B0603020202020204" pitchFamily="34" charset="0"/>
            </a:endParaRPr>
          </a:p>
        </p:txBody>
      </p:sp>
      <p:sp>
        <p:nvSpPr>
          <p:cNvPr id="5" name="TextBox 4">
            <a:extLst>
              <a:ext uri="{FF2B5EF4-FFF2-40B4-BE49-F238E27FC236}">
                <a16:creationId xmlns:a16="http://schemas.microsoft.com/office/drawing/2014/main" id="{4A10A536-F839-408F-D4D2-01CF73EA90D5}"/>
              </a:ext>
            </a:extLst>
          </p:cNvPr>
          <p:cNvSpPr txBox="1"/>
          <p:nvPr/>
        </p:nvSpPr>
        <p:spPr>
          <a:xfrm>
            <a:off x="207579" y="184264"/>
            <a:ext cx="6592614" cy="523220"/>
          </a:xfrm>
          <a:prstGeom prst="rect">
            <a:avLst/>
          </a:prstGeom>
          <a:noFill/>
        </p:spPr>
        <p:txBody>
          <a:bodyPr wrap="square">
            <a:spAutoFit/>
          </a:bodyPr>
          <a:lstStyle/>
          <a:p>
            <a:r>
              <a:rPr lang="en-IN" sz="2800" b="1" i="0" dirty="0">
                <a:solidFill>
                  <a:schemeClr val="bg1"/>
                </a:solidFill>
                <a:effectLst/>
                <a:latin typeface="Trebuchet MS" panose="020B0603020202020204" pitchFamily="34" charset="0"/>
              </a:rPr>
              <a:t>Decision Making Statement</a:t>
            </a:r>
          </a:p>
        </p:txBody>
      </p:sp>
    </p:spTree>
    <p:extLst>
      <p:ext uri="{BB962C8B-B14F-4D97-AF65-F5344CB8AC3E}">
        <p14:creationId xmlns:p14="http://schemas.microsoft.com/office/powerpoint/2010/main" val="343581452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4" name="TextBox 3">
            <a:extLst>
              <a:ext uri="{FF2B5EF4-FFF2-40B4-BE49-F238E27FC236}">
                <a16:creationId xmlns:a16="http://schemas.microsoft.com/office/drawing/2014/main" id="{07FEDDB1-FF29-687D-BE46-878DF93BA18E}"/>
              </a:ext>
            </a:extLst>
          </p:cNvPr>
          <p:cNvSpPr txBox="1"/>
          <p:nvPr/>
        </p:nvSpPr>
        <p:spPr>
          <a:xfrm>
            <a:off x="264042" y="825554"/>
            <a:ext cx="8546192" cy="37809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If statement is most basic statement of Decision making statement. It tells to program to execute a certain part of code only if particular condition is true.</a:t>
            </a:r>
          </a:p>
          <a:p>
            <a:pPr>
              <a:lnSpc>
                <a:spcPct val="150000"/>
              </a:lnSpc>
            </a:pPr>
            <a:endParaRPr lang="en-IN" sz="1800" dirty="0">
              <a:latin typeface="Trebuchet MS" panose="020B0603020202020204" pitchFamily="34" charset="0"/>
            </a:endParaRPr>
          </a:p>
          <a:p>
            <a:pPr>
              <a:lnSpc>
                <a:spcPct val="150000"/>
              </a:lnSpc>
            </a:pPr>
            <a:r>
              <a:rPr lang="en-IN" sz="1800" dirty="0">
                <a:latin typeface="Trebuchet MS" panose="020B0603020202020204" pitchFamily="34" charset="0"/>
              </a:rPr>
              <a:t>Syntax</a:t>
            </a:r>
          </a:p>
          <a:p>
            <a:pPr marL="357188" lvl="2">
              <a:lnSpc>
                <a:spcPct val="150000"/>
              </a:lnSpc>
            </a:pPr>
            <a:r>
              <a:rPr lang="en-IN" sz="1800" dirty="0">
                <a:latin typeface="Trebuchet MS" panose="020B0603020202020204" pitchFamily="34" charset="0"/>
              </a:rPr>
              <a:t>if(condition)</a:t>
            </a:r>
          </a:p>
          <a:p>
            <a:pPr marL="357188" lvl="2">
              <a:lnSpc>
                <a:spcPct val="150000"/>
              </a:lnSpc>
            </a:pPr>
            <a:r>
              <a:rPr lang="en-IN" sz="1800" dirty="0">
                <a:latin typeface="Trebuchet MS" panose="020B0603020202020204" pitchFamily="34" charset="0"/>
              </a:rPr>
              <a:t>{</a:t>
            </a:r>
          </a:p>
          <a:p>
            <a:pPr marL="357188" lvl="2">
              <a:lnSpc>
                <a:spcPct val="150000"/>
              </a:lnSpc>
            </a:pPr>
            <a:r>
              <a:rPr lang="en-IN" sz="1800" dirty="0">
                <a:latin typeface="Trebuchet MS" panose="020B0603020202020204" pitchFamily="34" charset="0"/>
              </a:rPr>
              <a:t>..........</a:t>
            </a:r>
          </a:p>
          <a:p>
            <a:pPr marL="357188" lvl="2">
              <a:lnSpc>
                <a:spcPct val="150000"/>
              </a:lnSpc>
            </a:pPr>
            <a:r>
              <a:rPr lang="en-IN" sz="1800" dirty="0">
                <a:latin typeface="Trebuchet MS" panose="020B0603020202020204" pitchFamily="34" charset="0"/>
              </a:rPr>
              <a:t>..........</a:t>
            </a:r>
          </a:p>
          <a:p>
            <a:pPr marL="357188" lvl="2">
              <a:lnSpc>
                <a:spcPct val="150000"/>
              </a:lnSpc>
            </a:pPr>
            <a:r>
              <a:rPr lang="en-IN" sz="1800" dirty="0">
                <a:latin typeface="Trebuchet MS" panose="020B0603020202020204" pitchFamily="34" charset="0"/>
              </a:rPr>
              <a:t>}</a:t>
            </a:r>
            <a:endParaRPr lang="en-IN" dirty="0">
              <a:latin typeface="Trebuchet MS" panose="020B0603020202020204" pitchFamily="34" charset="0"/>
            </a:endParaRPr>
          </a:p>
        </p:txBody>
      </p:sp>
      <p:sp>
        <p:nvSpPr>
          <p:cNvPr id="6" name="TextBox 5">
            <a:extLst>
              <a:ext uri="{FF2B5EF4-FFF2-40B4-BE49-F238E27FC236}">
                <a16:creationId xmlns:a16="http://schemas.microsoft.com/office/drawing/2014/main" id="{01E16C8D-6868-DAC9-DF03-65D0D9E34616}"/>
              </a:ext>
            </a:extLst>
          </p:cNvPr>
          <p:cNvSpPr txBox="1"/>
          <p:nvPr/>
        </p:nvSpPr>
        <p:spPr>
          <a:xfrm>
            <a:off x="186560" y="180436"/>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if Statement</a:t>
            </a:r>
          </a:p>
        </p:txBody>
      </p:sp>
    </p:spTree>
    <p:extLst>
      <p:ext uri="{BB962C8B-B14F-4D97-AF65-F5344CB8AC3E}">
        <p14:creationId xmlns:p14="http://schemas.microsoft.com/office/powerpoint/2010/main" val="42924741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6" name="TextBox 5">
            <a:extLst>
              <a:ext uri="{FF2B5EF4-FFF2-40B4-BE49-F238E27FC236}">
                <a16:creationId xmlns:a16="http://schemas.microsoft.com/office/drawing/2014/main" id="{01E16C8D-6868-DAC9-DF03-65D0D9E34616}"/>
              </a:ext>
            </a:extLst>
          </p:cNvPr>
          <p:cNvSpPr txBox="1"/>
          <p:nvPr/>
        </p:nvSpPr>
        <p:spPr>
          <a:xfrm>
            <a:off x="186560" y="180436"/>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if Statement - Example</a:t>
            </a:r>
          </a:p>
        </p:txBody>
      </p:sp>
      <p:sp>
        <p:nvSpPr>
          <p:cNvPr id="5" name="TextBox 4">
            <a:extLst>
              <a:ext uri="{FF2B5EF4-FFF2-40B4-BE49-F238E27FC236}">
                <a16:creationId xmlns:a16="http://schemas.microsoft.com/office/drawing/2014/main" id="{985A125A-2B06-B198-C6E5-ADB56C038BF2}"/>
              </a:ext>
            </a:extLst>
          </p:cNvPr>
          <p:cNvSpPr txBox="1"/>
          <p:nvPr/>
        </p:nvSpPr>
        <p:spPr>
          <a:xfrm>
            <a:off x="333704" y="879342"/>
            <a:ext cx="5331371" cy="3539430"/>
          </a:xfrm>
          <a:prstGeom prst="rect">
            <a:avLst/>
          </a:prstGeom>
          <a:noFill/>
        </p:spPr>
        <p:txBody>
          <a:bodyPr wrap="square">
            <a:spAutoFit/>
          </a:bodyPr>
          <a:lstStyle/>
          <a:p>
            <a:r>
              <a:rPr lang="en-IN" sz="1600" dirty="0">
                <a:solidFill>
                  <a:schemeClr val="tx1"/>
                </a:solidFill>
                <a:latin typeface="Trebuchet MS" panose="020B0603020202020204" pitchFamily="34" charset="0"/>
              </a:rPr>
              <a:t>#include&lt;iostream&gt;</a:t>
            </a:r>
          </a:p>
          <a:p>
            <a:r>
              <a:rPr lang="en-IN" sz="1600" dirty="0">
                <a:solidFill>
                  <a:schemeClr val="tx1"/>
                </a:solidFill>
                <a:latin typeface="Trebuchet MS" panose="020B0603020202020204" pitchFamily="34" charset="0"/>
              </a:rPr>
              <a:t>using namespace std;</a:t>
            </a:r>
          </a:p>
          <a:p>
            <a:r>
              <a:rPr lang="en-IN" sz="1600" dirty="0">
                <a:solidFill>
                  <a:schemeClr val="tx1"/>
                </a:solidFill>
                <a:latin typeface="Trebuchet MS" panose="020B0603020202020204" pitchFamily="34" charset="0"/>
              </a:rPr>
              <a:t>int main()</a:t>
            </a:r>
          </a:p>
          <a:p>
            <a:r>
              <a:rPr lang="en-IN" sz="1600" dirty="0">
                <a:solidFill>
                  <a:schemeClr val="tx1"/>
                </a:solidFill>
                <a:latin typeface="Trebuchet MS" panose="020B0603020202020204" pitchFamily="34" charset="0"/>
              </a:rPr>
              <a:t>{</a:t>
            </a:r>
          </a:p>
          <a:p>
            <a:r>
              <a:rPr lang="en-IN" sz="1600" dirty="0">
                <a:solidFill>
                  <a:schemeClr val="tx1"/>
                </a:solidFill>
                <a:latin typeface="Trebuchet MS" panose="020B0603020202020204" pitchFamily="34" charset="0"/>
              </a:rPr>
              <a:t>int time;</a:t>
            </a:r>
          </a:p>
          <a:p>
            <a:r>
              <a:rPr lang="en-IN" sz="1600" dirty="0" err="1">
                <a:solidFill>
                  <a:schemeClr val="tx1"/>
                </a:solidFill>
                <a:latin typeface="Trebuchet MS" panose="020B0603020202020204" pitchFamily="34" charset="0"/>
              </a:rPr>
              <a:t>cout</a:t>
            </a:r>
            <a:r>
              <a:rPr lang="en-IN" sz="1600" dirty="0">
                <a:solidFill>
                  <a:schemeClr val="tx1"/>
                </a:solidFill>
                <a:latin typeface="Trebuchet MS" panose="020B0603020202020204" pitchFamily="34" charset="0"/>
              </a:rPr>
              <a:t>&lt;&lt;“Enter time:”;</a:t>
            </a:r>
          </a:p>
          <a:p>
            <a:r>
              <a:rPr lang="en-IN" sz="1600" dirty="0" err="1">
                <a:solidFill>
                  <a:schemeClr val="tx1"/>
                </a:solidFill>
                <a:latin typeface="Trebuchet MS" panose="020B0603020202020204" pitchFamily="34" charset="0"/>
              </a:rPr>
              <a:t>cin</a:t>
            </a:r>
            <a:r>
              <a:rPr lang="en-IN" sz="1600" dirty="0">
                <a:solidFill>
                  <a:schemeClr val="tx1"/>
                </a:solidFill>
                <a:latin typeface="Trebuchet MS" panose="020B0603020202020204" pitchFamily="34" charset="0"/>
              </a:rPr>
              <a:t>&gt;&gt;time;</a:t>
            </a:r>
          </a:p>
          <a:p>
            <a:endParaRPr lang="en-IN" sz="1600" dirty="0">
              <a:solidFill>
                <a:schemeClr val="tx1"/>
              </a:solidFill>
              <a:latin typeface="Trebuchet MS" panose="020B0603020202020204" pitchFamily="34" charset="0"/>
            </a:endParaRPr>
          </a:p>
          <a:p>
            <a:r>
              <a:rPr lang="en-IN" sz="1600" dirty="0">
                <a:solidFill>
                  <a:schemeClr val="tx1"/>
                </a:solidFill>
                <a:latin typeface="Trebuchet MS" panose="020B0603020202020204" pitchFamily="34" charset="0"/>
              </a:rPr>
              <a:t>if(time&lt;12)</a:t>
            </a:r>
          </a:p>
          <a:p>
            <a:r>
              <a:rPr lang="en-IN" sz="1600" dirty="0">
                <a:solidFill>
                  <a:schemeClr val="tx1"/>
                </a:solidFill>
                <a:latin typeface="Trebuchet MS" panose="020B0603020202020204" pitchFamily="34" charset="0"/>
              </a:rPr>
              <a:t>{</a:t>
            </a:r>
          </a:p>
          <a:p>
            <a:r>
              <a:rPr lang="en-IN" sz="1600" dirty="0" err="1">
                <a:solidFill>
                  <a:schemeClr val="tx1"/>
                </a:solidFill>
                <a:latin typeface="Trebuchet MS" panose="020B0603020202020204" pitchFamily="34" charset="0"/>
              </a:rPr>
              <a:t>cout</a:t>
            </a:r>
            <a:r>
              <a:rPr lang="en-IN" sz="1600" dirty="0">
                <a:solidFill>
                  <a:schemeClr val="tx1"/>
                </a:solidFill>
                <a:latin typeface="Trebuchet MS" panose="020B0603020202020204" pitchFamily="34" charset="0"/>
              </a:rPr>
              <a:t>&lt;&lt;"Good morning";</a:t>
            </a:r>
          </a:p>
          <a:p>
            <a:r>
              <a:rPr lang="en-IN" sz="1600" dirty="0">
                <a:solidFill>
                  <a:schemeClr val="tx1"/>
                </a:solidFill>
                <a:latin typeface="Trebuchet MS" panose="020B0603020202020204" pitchFamily="34" charset="0"/>
              </a:rPr>
              <a:t>}</a:t>
            </a:r>
          </a:p>
          <a:p>
            <a:r>
              <a:rPr lang="en-IN" sz="1600" dirty="0">
                <a:solidFill>
                  <a:schemeClr val="tx1"/>
                </a:solidFill>
                <a:latin typeface="Trebuchet MS" panose="020B0603020202020204" pitchFamily="34" charset="0"/>
              </a:rPr>
              <a:t>return 0;</a:t>
            </a:r>
          </a:p>
          <a:p>
            <a:r>
              <a:rPr lang="en-IN" sz="1600" dirty="0">
                <a:solidFill>
                  <a:schemeClr val="tx1"/>
                </a:solidFill>
                <a:latin typeface="Trebuchet MS" panose="020B0603020202020204" pitchFamily="34" charset="0"/>
              </a:rPr>
              <a:t>}</a:t>
            </a:r>
            <a:endParaRPr lang="en-IN" sz="1800" dirty="0">
              <a:solidFill>
                <a:schemeClr val="tx1"/>
              </a:solidFill>
              <a:latin typeface="Trebuchet MS" panose="020B0603020202020204" pitchFamily="34" charset="0"/>
            </a:endParaRPr>
          </a:p>
        </p:txBody>
      </p:sp>
      <p:pic>
        <p:nvPicPr>
          <p:cNvPr id="8" name="Picture 7">
            <a:extLst>
              <a:ext uri="{FF2B5EF4-FFF2-40B4-BE49-F238E27FC236}">
                <a16:creationId xmlns:a16="http://schemas.microsoft.com/office/drawing/2014/main" id="{5E000016-1A38-A15A-06D8-1FD1ED4FDE34}"/>
              </a:ext>
            </a:extLst>
          </p:cNvPr>
          <p:cNvPicPr>
            <a:picLocks noChangeAspect="1"/>
          </p:cNvPicPr>
          <p:nvPr/>
        </p:nvPicPr>
        <p:blipFill>
          <a:blip r:embed="rId6"/>
          <a:stretch>
            <a:fillRect/>
          </a:stretch>
        </p:blipFill>
        <p:spPr>
          <a:xfrm>
            <a:off x="3924299" y="2343150"/>
            <a:ext cx="2069741" cy="946588"/>
          </a:xfrm>
          <a:prstGeom prst="rect">
            <a:avLst/>
          </a:prstGeom>
        </p:spPr>
      </p:pic>
    </p:spTree>
    <p:extLst>
      <p:ext uri="{BB962C8B-B14F-4D97-AF65-F5344CB8AC3E}">
        <p14:creationId xmlns:p14="http://schemas.microsoft.com/office/powerpoint/2010/main" val="305033341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5FA54BE2-82E4-ED92-4713-2A16B5A46ED5}"/>
              </a:ext>
            </a:extLst>
          </p:cNvPr>
          <p:cNvSpPr txBox="1"/>
          <p:nvPr/>
        </p:nvSpPr>
        <p:spPr>
          <a:xfrm>
            <a:off x="281153" y="783449"/>
            <a:ext cx="8577722" cy="421653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It can be used to execute one block of statement among two blocks.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If the condition is “true”, first block of statements to be executed. Otherwise else block of statements has been executed.</a:t>
            </a:r>
          </a:p>
          <a:p>
            <a:pPr marL="285750" indent="-285750">
              <a:lnSpc>
                <a:spcPct val="150000"/>
              </a:lnSpc>
              <a:buFont typeface="Arial" panose="020B0604020202020204" pitchFamily="34" charset="0"/>
              <a:buChar char="•"/>
            </a:pPr>
            <a:r>
              <a:rPr lang="en-IN" sz="1800" dirty="0">
                <a:solidFill>
                  <a:srgbClr val="0070C0"/>
                </a:solidFill>
                <a:latin typeface="Trebuchet MS" panose="020B0603020202020204" pitchFamily="34" charset="0"/>
              </a:rPr>
              <a:t>Syntax:</a:t>
            </a:r>
          </a:p>
          <a:p>
            <a:pPr marL="714375"/>
            <a:r>
              <a:rPr lang="en-IN" sz="1600" dirty="0">
                <a:latin typeface="Trebuchet MS" panose="020B0603020202020204" pitchFamily="34" charset="0"/>
              </a:rPr>
              <a:t>if(condition)</a:t>
            </a:r>
          </a:p>
          <a:p>
            <a:pPr marL="714375"/>
            <a:r>
              <a:rPr lang="en-IN" sz="1600" dirty="0">
                <a:latin typeface="Trebuchet MS" panose="020B0603020202020204" pitchFamily="34" charset="0"/>
              </a:rPr>
              <a:t>{</a:t>
            </a:r>
          </a:p>
          <a:p>
            <a:pPr marL="714375"/>
            <a:r>
              <a:rPr lang="en-IN" sz="1600" dirty="0">
                <a:latin typeface="Trebuchet MS" panose="020B0603020202020204" pitchFamily="34" charset="0"/>
              </a:rPr>
              <a:t>........</a:t>
            </a:r>
          </a:p>
          <a:p>
            <a:pPr marL="714375"/>
            <a:r>
              <a:rPr lang="en-IN" sz="1600" dirty="0">
                <a:latin typeface="Trebuchet MS" panose="020B0603020202020204" pitchFamily="34" charset="0"/>
              </a:rPr>
              <a:t>........</a:t>
            </a:r>
          </a:p>
          <a:p>
            <a:pPr marL="714375"/>
            <a:r>
              <a:rPr lang="en-IN" sz="1600" dirty="0">
                <a:latin typeface="Trebuchet MS" panose="020B0603020202020204" pitchFamily="34" charset="0"/>
              </a:rPr>
              <a:t>}</a:t>
            </a:r>
          </a:p>
          <a:p>
            <a:pPr marL="714375"/>
            <a:r>
              <a:rPr lang="en-IN" sz="1600" dirty="0">
                <a:latin typeface="Trebuchet MS" panose="020B0603020202020204" pitchFamily="34" charset="0"/>
              </a:rPr>
              <a:t>else</a:t>
            </a:r>
          </a:p>
          <a:p>
            <a:pPr marL="714375"/>
            <a:r>
              <a:rPr lang="en-IN" sz="1600" dirty="0">
                <a:latin typeface="Trebuchet MS" panose="020B0603020202020204" pitchFamily="34" charset="0"/>
              </a:rPr>
              <a:t>{</a:t>
            </a:r>
          </a:p>
          <a:p>
            <a:pPr marL="714375"/>
            <a:r>
              <a:rPr lang="en-IN" sz="1600" dirty="0">
                <a:latin typeface="Trebuchet MS" panose="020B0603020202020204" pitchFamily="34" charset="0"/>
              </a:rPr>
              <a:t>........ </a:t>
            </a:r>
          </a:p>
          <a:p>
            <a:pPr marL="714375"/>
            <a:r>
              <a:rPr lang="en-IN" sz="1600" dirty="0">
                <a:latin typeface="Trebuchet MS" panose="020B0603020202020204" pitchFamily="34" charset="0"/>
              </a:rPr>
              <a:t>........</a:t>
            </a:r>
          </a:p>
          <a:p>
            <a:pPr marL="714375"/>
            <a:r>
              <a:rPr lang="en-IN" sz="1600" dirty="0">
                <a:latin typeface="Trebuchet MS" panose="020B0603020202020204" pitchFamily="34" charset="0"/>
              </a:rPr>
              <a:t>}</a:t>
            </a:r>
            <a:endParaRPr lang="en-IN" sz="1200" dirty="0">
              <a:latin typeface="Trebuchet MS" panose="020B0603020202020204" pitchFamily="34" charset="0"/>
            </a:endParaRPr>
          </a:p>
        </p:txBody>
      </p:sp>
      <p:sp>
        <p:nvSpPr>
          <p:cNvPr id="5" name="TextBox 4">
            <a:extLst>
              <a:ext uri="{FF2B5EF4-FFF2-40B4-BE49-F238E27FC236}">
                <a16:creationId xmlns:a16="http://schemas.microsoft.com/office/drawing/2014/main" id="{EA39D20F-BA40-68F2-7209-DDEFBB545F18}"/>
              </a:ext>
            </a:extLst>
          </p:cNvPr>
          <p:cNvSpPr txBox="1"/>
          <p:nvPr/>
        </p:nvSpPr>
        <p:spPr>
          <a:xfrm>
            <a:off x="400607" y="174531"/>
            <a:ext cx="4640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if-else statement</a:t>
            </a:r>
          </a:p>
        </p:txBody>
      </p:sp>
    </p:spTree>
    <p:extLst>
      <p:ext uri="{BB962C8B-B14F-4D97-AF65-F5344CB8AC3E}">
        <p14:creationId xmlns:p14="http://schemas.microsoft.com/office/powerpoint/2010/main" val="194072703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EA39D20F-BA40-68F2-7209-DDEFBB545F18}"/>
              </a:ext>
            </a:extLst>
          </p:cNvPr>
          <p:cNvSpPr txBox="1"/>
          <p:nvPr/>
        </p:nvSpPr>
        <p:spPr>
          <a:xfrm>
            <a:off x="400607" y="174531"/>
            <a:ext cx="531872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if-else statement – Example</a:t>
            </a:r>
          </a:p>
        </p:txBody>
      </p:sp>
      <p:sp>
        <p:nvSpPr>
          <p:cNvPr id="4" name="TextBox 3">
            <a:extLst>
              <a:ext uri="{FF2B5EF4-FFF2-40B4-BE49-F238E27FC236}">
                <a16:creationId xmlns:a16="http://schemas.microsoft.com/office/drawing/2014/main" id="{48B2AA3D-2B18-2975-084C-95D0A6AD5477}"/>
              </a:ext>
            </a:extLst>
          </p:cNvPr>
          <p:cNvSpPr txBox="1"/>
          <p:nvPr/>
        </p:nvSpPr>
        <p:spPr>
          <a:xfrm>
            <a:off x="525517" y="783208"/>
            <a:ext cx="4921469" cy="4185761"/>
          </a:xfrm>
          <a:prstGeom prst="rect">
            <a:avLst/>
          </a:prstGeom>
          <a:noFill/>
        </p:spPr>
        <p:txBody>
          <a:bodyPr wrap="square">
            <a:spAutoFit/>
          </a:bodyPr>
          <a:lstStyle/>
          <a:p>
            <a:r>
              <a:rPr lang="en-IN" dirty="0">
                <a:latin typeface="Trebuchet MS" panose="020B0603020202020204" pitchFamily="34" charset="0"/>
              </a:rPr>
              <a:t>#include&lt;iostream&gt;</a:t>
            </a:r>
          </a:p>
          <a:p>
            <a:r>
              <a:rPr lang="en-IN" dirty="0">
                <a:latin typeface="Trebuchet MS" panose="020B0603020202020204" pitchFamily="34" charset="0"/>
              </a:rPr>
              <a:t>using namespace std;</a:t>
            </a:r>
          </a:p>
          <a:p>
            <a:r>
              <a:rPr lang="en-IN" dirty="0">
                <a:latin typeface="Trebuchet MS" panose="020B0603020202020204" pitchFamily="34" charset="0"/>
              </a:rPr>
              <a:t>int main()</a:t>
            </a:r>
          </a:p>
          <a:p>
            <a:r>
              <a:rPr lang="en-IN" dirty="0">
                <a:latin typeface="Trebuchet MS" panose="020B0603020202020204" pitchFamily="34" charset="0"/>
              </a:rPr>
              <a:t>{</a:t>
            </a:r>
          </a:p>
          <a:p>
            <a:r>
              <a:rPr lang="en-IN" dirty="0">
                <a:latin typeface="Trebuchet MS" panose="020B0603020202020204" pitchFamily="34" charset="0"/>
              </a:rPr>
              <a:t>int time;</a:t>
            </a:r>
          </a:p>
          <a:p>
            <a:r>
              <a:rPr lang="en-IN" dirty="0" err="1">
                <a:latin typeface="Trebuchet MS" panose="020B0603020202020204" pitchFamily="34" charset="0"/>
              </a:rPr>
              <a:t>cout</a:t>
            </a:r>
            <a:r>
              <a:rPr lang="en-IN" dirty="0">
                <a:latin typeface="Trebuchet MS" panose="020B0603020202020204" pitchFamily="34" charset="0"/>
              </a:rPr>
              <a:t>&lt;&lt;"Enter time:";</a:t>
            </a:r>
          </a:p>
          <a:p>
            <a:r>
              <a:rPr lang="en-IN" dirty="0" err="1">
                <a:latin typeface="Trebuchet MS" panose="020B0603020202020204" pitchFamily="34" charset="0"/>
              </a:rPr>
              <a:t>cin</a:t>
            </a:r>
            <a:r>
              <a:rPr lang="en-IN" dirty="0">
                <a:latin typeface="Trebuchet MS" panose="020B0603020202020204" pitchFamily="34" charset="0"/>
              </a:rPr>
              <a:t>&gt;&gt;time;</a:t>
            </a:r>
          </a:p>
          <a:p>
            <a:endParaRPr lang="en-IN" b="1" dirty="0">
              <a:latin typeface="Trebuchet MS" panose="020B0603020202020204" pitchFamily="34" charset="0"/>
            </a:endParaRPr>
          </a:p>
          <a:p>
            <a:r>
              <a:rPr lang="en-IN" b="1" dirty="0">
                <a:latin typeface="Trebuchet MS" panose="020B0603020202020204" pitchFamily="34" charset="0"/>
              </a:rPr>
              <a:t>if</a:t>
            </a:r>
            <a:r>
              <a:rPr lang="en-IN" dirty="0">
                <a:latin typeface="Trebuchet MS" panose="020B0603020202020204" pitchFamily="34" charset="0"/>
              </a:rPr>
              <a:t>(time&lt;12)</a:t>
            </a:r>
          </a:p>
          <a:p>
            <a:r>
              <a:rPr lang="en-IN" dirty="0">
                <a:latin typeface="Trebuchet MS" panose="020B0603020202020204" pitchFamily="34" charset="0"/>
              </a:rPr>
              <a:t>{</a:t>
            </a:r>
          </a:p>
          <a:p>
            <a:r>
              <a:rPr lang="en-IN" dirty="0" err="1">
                <a:latin typeface="Trebuchet MS" panose="020B0603020202020204" pitchFamily="34" charset="0"/>
              </a:rPr>
              <a:t>cout</a:t>
            </a:r>
            <a:r>
              <a:rPr lang="en-IN" dirty="0">
                <a:latin typeface="Trebuchet MS" panose="020B0603020202020204" pitchFamily="34" charset="0"/>
              </a:rPr>
              <a:t>&lt;&lt;"Good morning";</a:t>
            </a:r>
          </a:p>
          <a:p>
            <a:r>
              <a:rPr lang="en-IN" dirty="0">
                <a:latin typeface="Trebuchet MS" panose="020B0603020202020204" pitchFamily="34" charset="0"/>
              </a:rPr>
              <a:t>}</a:t>
            </a:r>
          </a:p>
          <a:p>
            <a:r>
              <a:rPr lang="en-IN" b="1" dirty="0">
                <a:latin typeface="Trebuchet MS" panose="020B0603020202020204" pitchFamily="34" charset="0"/>
              </a:rPr>
              <a:t>else</a:t>
            </a:r>
          </a:p>
          <a:p>
            <a:r>
              <a:rPr lang="en-IN" dirty="0">
                <a:latin typeface="Trebuchet MS" panose="020B0603020202020204" pitchFamily="34" charset="0"/>
              </a:rPr>
              <a:t>{</a:t>
            </a:r>
          </a:p>
          <a:p>
            <a:r>
              <a:rPr lang="en-IN" dirty="0">
                <a:latin typeface="Trebuchet MS" panose="020B0603020202020204" pitchFamily="34" charset="0"/>
              </a:rPr>
              <a:t>    </a:t>
            </a:r>
            <a:r>
              <a:rPr lang="en-IN" dirty="0" err="1">
                <a:latin typeface="Trebuchet MS" panose="020B0603020202020204" pitchFamily="34" charset="0"/>
              </a:rPr>
              <a:t>cout</a:t>
            </a:r>
            <a:r>
              <a:rPr lang="en-IN" dirty="0">
                <a:latin typeface="Trebuchet MS" panose="020B0603020202020204" pitchFamily="34" charset="0"/>
              </a:rPr>
              <a:t>&lt;&lt;"Good afternoon";</a:t>
            </a:r>
          </a:p>
          <a:p>
            <a:endParaRPr lang="en-IN" dirty="0">
              <a:latin typeface="Trebuchet MS" panose="020B0603020202020204" pitchFamily="34" charset="0"/>
            </a:endParaRPr>
          </a:p>
          <a:p>
            <a:r>
              <a:rPr lang="en-IN" dirty="0">
                <a:latin typeface="Trebuchet MS" panose="020B0603020202020204" pitchFamily="34" charset="0"/>
              </a:rPr>
              <a:t>}</a:t>
            </a:r>
          </a:p>
          <a:p>
            <a:r>
              <a:rPr lang="en-IN" dirty="0">
                <a:latin typeface="Trebuchet MS" panose="020B0603020202020204" pitchFamily="34" charset="0"/>
              </a:rPr>
              <a:t>return 0;</a:t>
            </a:r>
          </a:p>
          <a:p>
            <a:r>
              <a:rPr lang="en-IN" dirty="0">
                <a:latin typeface="Trebuchet MS" panose="020B0603020202020204" pitchFamily="34" charset="0"/>
              </a:rPr>
              <a:t>}</a:t>
            </a:r>
          </a:p>
        </p:txBody>
      </p:sp>
      <p:pic>
        <p:nvPicPr>
          <p:cNvPr id="7" name="Picture 6">
            <a:extLst>
              <a:ext uri="{FF2B5EF4-FFF2-40B4-BE49-F238E27FC236}">
                <a16:creationId xmlns:a16="http://schemas.microsoft.com/office/drawing/2014/main" id="{ABFD46C3-C0D9-1D83-DC9C-739CB12D7AEB}"/>
              </a:ext>
            </a:extLst>
          </p:cNvPr>
          <p:cNvPicPr>
            <a:picLocks noChangeAspect="1"/>
          </p:cNvPicPr>
          <p:nvPr/>
        </p:nvPicPr>
        <p:blipFill rotWithShape="1">
          <a:blip r:embed="rId6"/>
          <a:srcRect t="8399"/>
          <a:stretch/>
        </p:blipFill>
        <p:spPr>
          <a:xfrm>
            <a:off x="5719333" y="2123089"/>
            <a:ext cx="2537428" cy="987877"/>
          </a:xfrm>
          <a:prstGeom prst="rect">
            <a:avLst/>
          </a:prstGeom>
        </p:spPr>
      </p:pic>
    </p:spTree>
    <p:extLst>
      <p:ext uri="{BB962C8B-B14F-4D97-AF65-F5344CB8AC3E}">
        <p14:creationId xmlns:p14="http://schemas.microsoft.com/office/powerpoint/2010/main" val="90191662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80"/>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endParaRPr lang="en-IN" sz="2800" b="1" dirty="0">
              <a:solidFill>
                <a:schemeClr val="bg1"/>
              </a:solidFill>
              <a:latin typeface="Trebuchet MS" panose="020B0603020202020204" pitchFamily="34" charset="0"/>
            </a:endParaRPr>
          </a:p>
        </p:txBody>
      </p:sp>
      <p:sp>
        <p:nvSpPr>
          <p:cNvPr id="2" name="object 2">
            <a:extLst>
              <a:ext uri="{FF2B5EF4-FFF2-40B4-BE49-F238E27FC236}">
                <a16:creationId xmlns:a16="http://schemas.microsoft.com/office/drawing/2014/main" id="{396862CA-B492-EF33-E000-E4B98A23F185}"/>
              </a:ext>
            </a:extLst>
          </p:cNvPr>
          <p:cNvSpPr txBox="1">
            <a:spLocks/>
          </p:cNvSpPr>
          <p:nvPr/>
        </p:nvSpPr>
        <p:spPr>
          <a:xfrm>
            <a:off x="163426" y="97133"/>
            <a:ext cx="4807967" cy="443711"/>
          </a:xfrm>
          <a:prstGeom prst="rect">
            <a:avLst/>
          </a:prstGeom>
        </p:spPr>
        <p:txBody>
          <a:bodyPr vert="horz" wrap="square" lIns="0" tIns="12700" rIns="0" bIns="0" rtlCol="0">
            <a:spAutoFit/>
          </a:bodyPr>
          <a:lstStyle>
            <a:lvl1pPr>
              <a:defRPr sz="2000" b="0" i="0">
                <a:solidFill>
                  <a:srgbClr val="585858"/>
                </a:solidFill>
                <a:latin typeface="Arial"/>
                <a:ea typeface="+mj-ea"/>
                <a:cs typeface="Arial"/>
              </a:defRPr>
            </a:lvl1pPr>
          </a:lstStyle>
          <a:p>
            <a:pPr algn="l"/>
            <a:r>
              <a:rPr lang="en-IN" sz="2800" b="1" i="0" dirty="0">
                <a:solidFill>
                  <a:schemeClr val="bg1"/>
                </a:solidFill>
                <a:effectLst/>
                <a:latin typeface="Trebuchet MS" panose="020B0603020202020204" pitchFamily="34" charset="0"/>
              </a:rPr>
              <a:t>if...else...else if statement</a:t>
            </a:r>
          </a:p>
        </p:txBody>
      </p:sp>
      <p:sp>
        <p:nvSpPr>
          <p:cNvPr id="8" name="TextBox 7">
            <a:extLst>
              <a:ext uri="{FF2B5EF4-FFF2-40B4-BE49-F238E27FC236}">
                <a16:creationId xmlns:a16="http://schemas.microsoft.com/office/drawing/2014/main" id="{9844E32A-D2B3-8DDD-0A36-BAFC7F81A155}"/>
              </a:ext>
            </a:extLst>
          </p:cNvPr>
          <p:cNvSpPr txBox="1"/>
          <p:nvPr/>
        </p:nvSpPr>
        <p:spPr>
          <a:xfrm>
            <a:off x="268619" y="723263"/>
            <a:ext cx="8717725" cy="44012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600" dirty="0">
                <a:latin typeface="Trebuchet MS" panose="020B0603020202020204" pitchFamily="34" charset="0"/>
              </a:rPr>
              <a:t>The if...else statement is used to execute a block of code among two alternatives.</a:t>
            </a:r>
          </a:p>
          <a:p>
            <a:pPr marL="285750" indent="-285750">
              <a:lnSpc>
                <a:spcPct val="150000"/>
              </a:lnSpc>
              <a:buFont typeface="Arial" panose="020B0604020202020204" pitchFamily="34" charset="0"/>
              <a:buChar char="•"/>
            </a:pPr>
            <a:r>
              <a:rPr lang="en-IN" sz="1600" dirty="0">
                <a:latin typeface="Trebuchet MS" panose="020B0603020202020204" pitchFamily="34" charset="0"/>
              </a:rPr>
              <a:t>We need to make a choice between more than two alternatives, we use the if...else if...else statement.</a:t>
            </a:r>
          </a:p>
          <a:p>
            <a:r>
              <a:rPr lang="en-IN" sz="1600" b="1" dirty="0">
                <a:solidFill>
                  <a:srgbClr val="0070C0"/>
                </a:solidFill>
                <a:latin typeface="Trebuchet MS" panose="020B0603020202020204" pitchFamily="34" charset="0"/>
              </a:rPr>
              <a:t>Syntax</a:t>
            </a:r>
          </a:p>
          <a:p>
            <a:pPr marL="273050"/>
            <a:r>
              <a:rPr lang="en-IN" sz="1600" dirty="0">
                <a:latin typeface="Trebuchet MS" panose="020B0603020202020204" pitchFamily="34" charset="0"/>
              </a:rPr>
              <a:t>if (condition1) </a:t>
            </a:r>
          </a:p>
          <a:p>
            <a:pPr marL="273050"/>
            <a:r>
              <a:rPr lang="en-IN" sz="1600" dirty="0">
                <a:latin typeface="Trebuchet MS" panose="020B0603020202020204" pitchFamily="34" charset="0"/>
              </a:rPr>
              <a:t>{</a:t>
            </a:r>
          </a:p>
          <a:p>
            <a:pPr marL="273050"/>
            <a:r>
              <a:rPr lang="en-IN" sz="1600" dirty="0">
                <a:latin typeface="Trebuchet MS" panose="020B0603020202020204" pitchFamily="34" charset="0"/>
              </a:rPr>
              <a:t>  // code block 1</a:t>
            </a:r>
          </a:p>
          <a:p>
            <a:pPr marL="273050"/>
            <a:r>
              <a:rPr lang="en-IN" sz="1600" dirty="0">
                <a:latin typeface="Trebuchet MS" panose="020B0603020202020204" pitchFamily="34" charset="0"/>
              </a:rPr>
              <a:t>}</a:t>
            </a:r>
          </a:p>
          <a:p>
            <a:pPr marL="273050"/>
            <a:r>
              <a:rPr lang="en-IN" sz="1600" dirty="0">
                <a:latin typeface="Trebuchet MS" panose="020B0603020202020204" pitchFamily="34" charset="0"/>
              </a:rPr>
              <a:t>else if (condition2)</a:t>
            </a:r>
          </a:p>
          <a:p>
            <a:pPr marL="273050"/>
            <a:r>
              <a:rPr lang="en-IN" sz="1600" dirty="0">
                <a:latin typeface="Trebuchet MS" panose="020B0603020202020204" pitchFamily="34" charset="0"/>
              </a:rPr>
              <a:t>{</a:t>
            </a:r>
          </a:p>
          <a:p>
            <a:pPr marL="273050"/>
            <a:r>
              <a:rPr lang="en-IN" sz="1600" dirty="0">
                <a:latin typeface="Trebuchet MS" panose="020B0603020202020204" pitchFamily="34" charset="0"/>
              </a:rPr>
              <a:t>  // code block 2</a:t>
            </a:r>
          </a:p>
          <a:p>
            <a:pPr marL="273050"/>
            <a:r>
              <a:rPr lang="en-IN" sz="1600" dirty="0">
                <a:latin typeface="Trebuchet MS" panose="020B0603020202020204" pitchFamily="34" charset="0"/>
              </a:rPr>
              <a:t>}</a:t>
            </a:r>
          </a:p>
          <a:p>
            <a:pPr marL="273050"/>
            <a:r>
              <a:rPr lang="en-IN" sz="1600" dirty="0">
                <a:latin typeface="Trebuchet MS" panose="020B0603020202020204" pitchFamily="34" charset="0"/>
              </a:rPr>
              <a:t>Else</a:t>
            </a:r>
          </a:p>
          <a:p>
            <a:pPr marL="273050"/>
            <a:r>
              <a:rPr lang="en-IN" sz="1600" dirty="0">
                <a:latin typeface="Trebuchet MS" panose="020B0603020202020204" pitchFamily="34" charset="0"/>
              </a:rPr>
              <a:t>{</a:t>
            </a:r>
          </a:p>
          <a:p>
            <a:pPr marL="273050"/>
            <a:r>
              <a:rPr lang="en-IN" sz="1600" dirty="0">
                <a:latin typeface="Trebuchet MS" panose="020B0603020202020204" pitchFamily="34" charset="0"/>
              </a:rPr>
              <a:t>  // code block 3</a:t>
            </a:r>
          </a:p>
          <a:p>
            <a:pPr marL="273050"/>
            <a:r>
              <a:rPr lang="en-IN" sz="1600" dirty="0">
                <a:latin typeface="Trebuchet MS" panose="020B0603020202020204" pitchFamily="34" charset="0"/>
              </a:rPr>
              <a:t>}</a:t>
            </a:r>
            <a:endParaRPr lang="en-IN" sz="1200" dirty="0">
              <a:latin typeface="Trebuchet MS" panose="020B0603020202020204" pitchFamily="34" charset="0"/>
            </a:endParaRPr>
          </a:p>
        </p:txBody>
      </p:sp>
    </p:spTree>
    <p:extLst>
      <p:ext uri="{BB962C8B-B14F-4D97-AF65-F5344CB8AC3E}">
        <p14:creationId xmlns:p14="http://schemas.microsoft.com/office/powerpoint/2010/main" val="401259757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80"/>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endParaRPr lang="en-IN" sz="2800" b="1" dirty="0">
              <a:solidFill>
                <a:schemeClr val="bg1"/>
              </a:solidFill>
              <a:latin typeface="Trebuchet MS" panose="020B0603020202020204" pitchFamily="34" charset="0"/>
            </a:endParaRPr>
          </a:p>
        </p:txBody>
      </p:sp>
      <p:sp>
        <p:nvSpPr>
          <p:cNvPr id="2" name="object 2">
            <a:extLst>
              <a:ext uri="{FF2B5EF4-FFF2-40B4-BE49-F238E27FC236}">
                <a16:creationId xmlns:a16="http://schemas.microsoft.com/office/drawing/2014/main" id="{396862CA-B492-EF33-E000-E4B98A23F185}"/>
              </a:ext>
            </a:extLst>
          </p:cNvPr>
          <p:cNvSpPr txBox="1">
            <a:spLocks/>
          </p:cNvSpPr>
          <p:nvPr/>
        </p:nvSpPr>
        <p:spPr>
          <a:xfrm>
            <a:off x="163426" y="97133"/>
            <a:ext cx="4807967" cy="443711"/>
          </a:xfrm>
          <a:prstGeom prst="rect">
            <a:avLst/>
          </a:prstGeom>
        </p:spPr>
        <p:txBody>
          <a:bodyPr vert="horz" wrap="square" lIns="0" tIns="12700" rIns="0" bIns="0" rtlCol="0">
            <a:spAutoFit/>
          </a:bodyPr>
          <a:lstStyle>
            <a:lvl1pPr>
              <a:defRPr sz="2000" b="0" i="0">
                <a:solidFill>
                  <a:srgbClr val="585858"/>
                </a:solidFill>
                <a:latin typeface="Arial"/>
                <a:ea typeface="+mj-ea"/>
                <a:cs typeface="Arial"/>
              </a:defRPr>
            </a:lvl1pPr>
          </a:lstStyle>
          <a:p>
            <a:pPr algn="l"/>
            <a:r>
              <a:rPr lang="en-IN" sz="2800" b="1" i="0" dirty="0">
                <a:solidFill>
                  <a:schemeClr val="bg1"/>
                </a:solidFill>
                <a:effectLst/>
                <a:latin typeface="Trebuchet MS" panose="020B0603020202020204" pitchFamily="34" charset="0"/>
              </a:rPr>
              <a:t>if...else...else if statement</a:t>
            </a:r>
          </a:p>
        </p:txBody>
      </p:sp>
      <p:sp>
        <p:nvSpPr>
          <p:cNvPr id="4" name="TextBox 3">
            <a:extLst>
              <a:ext uri="{FF2B5EF4-FFF2-40B4-BE49-F238E27FC236}">
                <a16:creationId xmlns:a16="http://schemas.microsoft.com/office/drawing/2014/main" id="{D76AE402-D341-E1FC-B689-64E894C85797}"/>
              </a:ext>
            </a:extLst>
          </p:cNvPr>
          <p:cNvSpPr txBox="1"/>
          <p:nvPr/>
        </p:nvSpPr>
        <p:spPr>
          <a:xfrm>
            <a:off x="300151" y="889330"/>
            <a:ext cx="4772303" cy="4031873"/>
          </a:xfrm>
          <a:prstGeom prst="rect">
            <a:avLst/>
          </a:prstGeom>
          <a:noFill/>
        </p:spPr>
        <p:txBody>
          <a:bodyPr wrap="square">
            <a:spAutoFit/>
          </a:bodyPr>
          <a:lstStyle/>
          <a:p>
            <a:r>
              <a:rPr lang="en-IN" sz="1600" dirty="0">
                <a:latin typeface="Trebuchet MS" panose="020B0603020202020204" pitchFamily="34" charset="0"/>
              </a:rPr>
              <a:t>#include &lt;iostream&gt;</a:t>
            </a:r>
          </a:p>
          <a:p>
            <a:r>
              <a:rPr lang="en-IN" sz="1600" dirty="0">
                <a:latin typeface="Trebuchet MS" panose="020B0603020202020204" pitchFamily="34" charset="0"/>
              </a:rPr>
              <a:t>using namespace std;</a:t>
            </a:r>
          </a:p>
          <a:p>
            <a:r>
              <a:rPr lang="en-IN" sz="1600" dirty="0">
                <a:latin typeface="Trebuchet MS" panose="020B0603020202020204" pitchFamily="34" charset="0"/>
              </a:rPr>
              <a:t>int main() </a:t>
            </a:r>
          </a:p>
          <a:p>
            <a:r>
              <a:rPr lang="en-IN" sz="1600" dirty="0">
                <a:latin typeface="Trebuchet MS" panose="020B0603020202020204" pitchFamily="34" charset="0"/>
              </a:rPr>
              <a:t>{</a:t>
            </a:r>
          </a:p>
          <a:p>
            <a:r>
              <a:rPr lang="en-IN" sz="1600" dirty="0">
                <a:latin typeface="Trebuchet MS" panose="020B0603020202020204" pitchFamily="34" charset="0"/>
              </a:rPr>
              <a:t>  int n;</a:t>
            </a:r>
          </a:p>
          <a:p>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"Enter an integer: ";</a:t>
            </a:r>
          </a:p>
          <a:p>
            <a:r>
              <a:rPr lang="en-IN" sz="1600" dirty="0">
                <a:latin typeface="Trebuchet MS" panose="020B0603020202020204" pitchFamily="34" charset="0"/>
              </a:rPr>
              <a:t>  </a:t>
            </a:r>
            <a:r>
              <a:rPr lang="en-IN" sz="1600" dirty="0" err="1">
                <a:latin typeface="Trebuchet MS" panose="020B0603020202020204" pitchFamily="34" charset="0"/>
              </a:rPr>
              <a:t>cin</a:t>
            </a:r>
            <a:r>
              <a:rPr lang="en-IN" sz="1600" dirty="0">
                <a:latin typeface="Trebuchet MS" panose="020B0603020202020204" pitchFamily="34" charset="0"/>
              </a:rPr>
              <a:t> &gt;&gt; n;</a:t>
            </a:r>
          </a:p>
          <a:p>
            <a:r>
              <a:rPr lang="en-IN" sz="1600" dirty="0">
                <a:latin typeface="Trebuchet MS" panose="020B0603020202020204" pitchFamily="34" charset="0"/>
              </a:rPr>
              <a:t>  if (n &gt; 0) </a:t>
            </a:r>
          </a:p>
          <a:p>
            <a:r>
              <a:rPr lang="en-IN" sz="1600" dirty="0">
                <a:latin typeface="Trebuchet MS" panose="020B0603020202020204" pitchFamily="34" charset="0"/>
              </a:rPr>
              <a:t>  {</a:t>
            </a:r>
          </a:p>
          <a:p>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"You entered a positive integer: " &lt;&lt; n;</a:t>
            </a:r>
          </a:p>
          <a:p>
            <a:r>
              <a:rPr lang="en-IN" sz="1600" dirty="0">
                <a:latin typeface="Trebuchet MS" panose="020B0603020202020204" pitchFamily="34" charset="0"/>
              </a:rPr>
              <a:t>  } </a:t>
            </a:r>
          </a:p>
          <a:p>
            <a:r>
              <a:rPr lang="en-IN" sz="1600" dirty="0">
                <a:latin typeface="Trebuchet MS" panose="020B0603020202020204" pitchFamily="34" charset="0"/>
              </a:rPr>
              <a:t>  else if (n &lt; 0) </a:t>
            </a:r>
          </a:p>
          <a:p>
            <a:r>
              <a:rPr lang="en-IN" sz="1600" dirty="0">
                <a:latin typeface="Trebuchet MS" panose="020B0603020202020204" pitchFamily="34" charset="0"/>
              </a:rPr>
              <a:t>  {</a:t>
            </a:r>
          </a:p>
          <a:p>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"You entered a negative integer: " &lt;&lt;n;</a:t>
            </a:r>
          </a:p>
          <a:p>
            <a:r>
              <a:rPr lang="en-IN" sz="1600" dirty="0">
                <a:latin typeface="Trebuchet MS" panose="020B0603020202020204" pitchFamily="34" charset="0"/>
              </a:rPr>
              <a:t>  } </a:t>
            </a:r>
          </a:p>
          <a:p>
            <a:r>
              <a:rPr lang="en-IN" sz="1600" dirty="0">
                <a:latin typeface="Trebuchet MS" panose="020B0603020202020204" pitchFamily="34" charset="0"/>
              </a:rPr>
              <a:t>  </a:t>
            </a:r>
          </a:p>
        </p:txBody>
      </p:sp>
      <p:sp>
        <p:nvSpPr>
          <p:cNvPr id="10" name="TextBox 9">
            <a:extLst>
              <a:ext uri="{FF2B5EF4-FFF2-40B4-BE49-F238E27FC236}">
                <a16:creationId xmlns:a16="http://schemas.microsoft.com/office/drawing/2014/main" id="{B7C7F1F3-CB73-C1CF-1358-965CC127C3BB}"/>
              </a:ext>
            </a:extLst>
          </p:cNvPr>
          <p:cNvSpPr txBox="1"/>
          <p:nvPr/>
        </p:nvSpPr>
        <p:spPr>
          <a:xfrm>
            <a:off x="5551894" y="889330"/>
            <a:ext cx="4640316"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else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cout</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&lt;&lt; "You entered 0." &lt;&lt;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endl</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return 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p:txBody>
      </p:sp>
      <p:sp>
        <p:nvSpPr>
          <p:cNvPr id="12" name="TextBox 11">
            <a:extLst>
              <a:ext uri="{FF2B5EF4-FFF2-40B4-BE49-F238E27FC236}">
                <a16:creationId xmlns:a16="http://schemas.microsoft.com/office/drawing/2014/main" id="{1F4AB816-D9CF-0B77-7C1B-65FDDBF8F322}"/>
              </a:ext>
            </a:extLst>
          </p:cNvPr>
          <p:cNvSpPr txBox="1"/>
          <p:nvPr/>
        </p:nvSpPr>
        <p:spPr>
          <a:xfrm>
            <a:off x="5551894" y="3158866"/>
            <a:ext cx="5118536" cy="1155124"/>
          </a:xfrm>
          <a:prstGeom prst="rect">
            <a:avLst/>
          </a:prstGeom>
          <a:noFill/>
        </p:spPr>
        <p:txBody>
          <a:bodyPr wrap="square">
            <a:spAutoFit/>
          </a:bodyPr>
          <a:lstStyle/>
          <a:p>
            <a:pPr>
              <a:lnSpc>
                <a:spcPct val="150000"/>
              </a:lnSpc>
            </a:pPr>
            <a:r>
              <a:rPr lang="en-IN" sz="1600" dirty="0">
                <a:solidFill>
                  <a:srgbClr val="0070C0"/>
                </a:solidFill>
                <a:latin typeface="Trebuchet MS" panose="020B0603020202020204" pitchFamily="34" charset="0"/>
              </a:rPr>
              <a:t>Output:</a:t>
            </a:r>
          </a:p>
          <a:p>
            <a:pPr>
              <a:lnSpc>
                <a:spcPct val="150000"/>
              </a:lnSpc>
            </a:pPr>
            <a:r>
              <a:rPr lang="en-IN" sz="1600" dirty="0">
                <a:latin typeface="Trebuchet MS" panose="020B0603020202020204" pitchFamily="34" charset="0"/>
              </a:rPr>
              <a:t>Enter an integer: 12</a:t>
            </a:r>
          </a:p>
          <a:p>
            <a:pPr>
              <a:lnSpc>
                <a:spcPct val="150000"/>
              </a:lnSpc>
            </a:pPr>
            <a:r>
              <a:rPr lang="en-IN" sz="1600" dirty="0">
                <a:latin typeface="Trebuchet MS" panose="020B0603020202020204" pitchFamily="34" charset="0"/>
              </a:rPr>
              <a:t>You entered a positive integer: 12</a:t>
            </a:r>
          </a:p>
        </p:txBody>
      </p:sp>
    </p:spTree>
    <p:extLst>
      <p:ext uri="{BB962C8B-B14F-4D97-AF65-F5344CB8AC3E}">
        <p14:creationId xmlns:p14="http://schemas.microsoft.com/office/powerpoint/2010/main" val="192906396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80"/>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endParaRPr lang="en-IN" sz="2800" b="1" dirty="0">
              <a:solidFill>
                <a:schemeClr val="bg1"/>
              </a:solidFill>
              <a:latin typeface="Trebuchet MS" panose="020B0603020202020204" pitchFamily="34" charset="0"/>
            </a:endParaRPr>
          </a:p>
        </p:txBody>
      </p:sp>
      <p:sp>
        <p:nvSpPr>
          <p:cNvPr id="2" name="object 2">
            <a:extLst>
              <a:ext uri="{FF2B5EF4-FFF2-40B4-BE49-F238E27FC236}">
                <a16:creationId xmlns:a16="http://schemas.microsoft.com/office/drawing/2014/main" id="{396862CA-B492-EF33-E000-E4B98A23F185}"/>
              </a:ext>
            </a:extLst>
          </p:cNvPr>
          <p:cNvSpPr txBox="1">
            <a:spLocks/>
          </p:cNvSpPr>
          <p:nvPr/>
        </p:nvSpPr>
        <p:spPr>
          <a:xfrm>
            <a:off x="163426" y="97133"/>
            <a:ext cx="2732173" cy="443711"/>
          </a:xfrm>
          <a:prstGeom prst="rect">
            <a:avLst/>
          </a:prstGeom>
        </p:spPr>
        <p:txBody>
          <a:bodyPr vert="horz" wrap="square" lIns="0" tIns="12700" rIns="0" bIns="0" rtlCol="0">
            <a:spAutoFit/>
          </a:bodyPr>
          <a:lstStyle>
            <a:lvl1pPr>
              <a:defRPr sz="2000" b="0" i="0">
                <a:solidFill>
                  <a:srgbClr val="585858"/>
                </a:solidFill>
                <a:latin typeface="Arial"/>
                <a:ea typeface="+mj-ea"/>
                <a:cs typeface="Arial"/>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IN" sz="2800" b="1" i="0" u="none" strike="noStrike" kern="0" cap="none" spc="-170" normalizeH="0" baseline="0" noProof="0" dirty="0">
                <a:ln>
                  <a:noFill/>
                </a:ln>
                <a:solidFill>
                  <a:srgbClr val="FFFFFF"/>
                </a:solidFill>
                <a:effectLst/>
                <a:uLnTx/>
                <a:uFillTx/>
                <a:latin typeface="Trebuchet MS" panose="020B0603020202020204" pitchFamily="34" charset="0"/>
              </a:rPr>
              <a:t>Nested </a:t>
            </a:r>
            <a:r>
              <a:rPr kumimoji="0" lang="en-IN" sz="2800" b="1" i="0" u="none" strike="noStrike" kern="0" cap="none" spc="60" normalizeH="0" baseline="0" noProof="0" dirty="0">
                <a:ln>
                  <a:noFill/>
                </a:ln>
                <a:solidFill>
                  <a:srgbClr val="FFFFFF"/>
                </a:solidFill>
                <a:effectLst/>
                <a:uLnTx/>
                <a:uFillTx/>
                <a:latin typeface="Trebuchet MS" panose="020B0603020202020204" pitchFamily="34" charset="0"/>
              </a:rPr>
              <a:t>if</a:t>
            </a:r>
            <a:r>
              <a:rPr kumimoji="0" lang="en-IN" sz="2800" b="1" i="0" u="none" strike="noStrike" kern="0" cap="none" spc="-695" normalizeH="0" baseline="0" noProof="0" dirty="0">
                <a:ln>
                  <a:noFill/>
                </a:ln>
                <a:solidFill>
                  <a:srgbClr val="FFFFFF"/>
                </a:solidFill>
                <a:effectLst/>
                <a:uLnTx/>
                <a:uFillTx/>
                <a:latin typeface="Trebuchet MS" panose="020B0603020202020204" pitchFamily="34" charset="0"/>
              </a:rPr>
              <a:t> </a:t>
            </a:r>
            <a:r>
              <a:rPr kumimoji="0" lang="en-IN" sz="2800" b="1" i="0" u="none" strike="noStrike" kern="0" cap="none" spc="-229" normalizeH="0" baseline="0" noProof="0" dirty="0">
                <a:ln>
                  <a:noFill/>
                </a:ln>
                <a:solidFill>
                  <a:srgbClr val="FFFFFF"/>
                </a:solidFill>
                <a:effectLst/>
                <a:uLnTx/>
                <a:uFillTx/>
                <a:latin typeface="Trebuchet MS" panose="020B0603020202020204" pitchFamily="34" charset="0"/>
              </a:rPr>
              <a:t>else</a:t>
            </a:r>
            <a:endParaRPr kumimoji="0" lang="en-IN" sz="2800" b="1" i="0" u="none" strike="noStrike" kern="0" cap="none" spc="0" normalizeH="0" baseline="0" noProof="0" dirty="0">
              <a:ln>
                <a:noFill/>
              </a:ln>
              <a:solidFill>
                <a:srgbClr val="585858"/>
              </a:solidFill>
              <a:effectLst/>
              <a:uLnTx/>
              <a:uFillTx/>
              <a:latin typeface="Trebuchet MS" panose="020B0603020202020204" pitchFamily="34" charset="0"/>
            </a:endParaRPr>
          </a:p>
        </p:txBody>
      </p:sp>
      <p:sp>
        <p:nvSpPr>
          <p:cNvPr id="4" name="TextBox 3">
            <a:extLst>
              <a:ext uri="{FF2B5EF4-FFF2-40B4-BE49-F238E27FC236}">
                <a16:creationId xmlns:a16="http://schemas.microsoft.com/office/drawing/2014/main" id="{888C3B83-EC12-F00C-D6D9-CAE0ADF6D583}"/>
              </a:ext>
            </a:extLst>
          </p:cNvPr>
          <p:cNvSpPr txBox="1"/>
          <p:nvPr/>
        </p:nvSpPr>
        <p:spPr>
          <a:xfrm>
            <a:off x="316475" y="663901"/>
            <a:ext cx="8501523" cy="4660250"/>
          </a:xfrm>
          <a:prstGeom prst="rect">
            <a:avLst/>
          </a:prstGeom>
          <a:noFill/>
        </p:spPr>
        <p:txBody>
          <a:bodyPr wrap="square">
            <a:spAutoFit/>
          </a:bodyPr>
          <a:lstStyle/>
          <a:p>
            <a:pPr marL="285750" indent="-285750">
              <a:lnSpc>
                <a:spcPct val="150000"/>
              </a:lnSpc>
              <a:spcBef>
                <a:spcPts val="400"/>
              </a:spcBef>
              <a:buFont typeface="Arial" panose="020B0604020202020204" pitchFamily="34" charset="0"/>
              <a:buChar char="•"/>
            </a:pPr>
            <a:r>
              <a:rPr lang="en-IN" sz="1700" dirty="0">
                <a:latin typeface="Trebuchet MS" panose="020B0603020202020204" pitchFamily="34" charset="0"/>
              </a:rPr>
              <a:t>We need to use an if statement inside another if statement. This is known as nested if statement.</a:t>
            </a:r>
          </a:p>
          <a:p>
            <a:pPr marL="285750" indent="-285750">
              <a:lnSpc>
                <a:spcPct val="150000"/>
              </a:lnSpc>
              <a:spcBef>
                <a:spcPts val="400"/>
              </a:spcBef>
              <a:buFont typeface="Arial" panose="020B0604020202020204" pitchFamily="34" charset="0"/>
              <a:buChar char="•"/>
            </a:pPr>
            <a:r>
              <a:rPr lang="en-IN" sz="1700" dirty="0">
                <a:latin typeface="Trebuchet MS" panose="020B0603020202020204" pitchFamily="34" charset="0"/>
              </a:rPr>
              <a:t>Think of it as multiple layers of if statements. There is a first, outer if statement, and inside it is another, inner if statement. </a:t>
            </a:r>
          </a:p>
          <a:p>
            <a:pPr>
              <a:lnSpc>
                <a:spcPct val="150000"/>
              </a:lnSpc>
              <a:spcBef>
                <a:spcPts val="400"/>
              </a:spcBef>
            </a:pPr>
            <a:r>
              <a:rPr lang="en-IN" sz="1700" dirty="0">
                <a:solidFill>
                  <a:srgbClr val="0070C0"/>
                </a:solidFill>
                <a:latin typeface="Trebuchet MS" panose="020B0603020202020204" pitchFamily="34" charset="0"/>
              </a:rPr>
              <a:t>Syntax:</a:t>
            </a:r>
          </a:p>
          <a:p>
            <a:pPr marL="357188" lvl="1">
              <a:spcBef>
                <a:spcPts val="400"/>
              </a:spcBef>
            </a:pPr>
            <a:r>
              <a:rPr lang="en-IN" sz="1600" dirty="0">
                <a:latin typeface="Trebuchet MS" panose="020B0603020202020204" pitchFamily="34" charset="0"/>
              </a:rPr>
              <a:t>if (condition1) </a:t>
            </a:r>
            <a:r>
              <a:rPr lang="en-IN" sz="1600" dirty="0">
                <a:solidFill>
                  <a:srgbClr val="0070C0"/>
                </a:solidFill>
                <a:latin typeface="Trebuchet MS" panose="020B0603020202020204" pitchFamily="34" charset="0"/>
              </a:rPr>
              <a:t>// outer if statement</a:t>
            </a:r>
          </a:p>
          <a:p>
            <a:pPr marL="357188" lvl="1">
              <a:spcBef>
                <a:spcPts val="400"/>
              </a:spcBef>
            </a:pPr>
            <a:r>
              <a:rPr lang="en-IN" sz="1600" dirty="0">
                <a:latin typeface="Trebuchet MS" panose="020B0603020202020204" pitchFamily="34" charset="0"/>
              </a:rPr>
              <a:t> {</a:t>
            </a:r>
          </a:p>
          <a:p>
            <a:pPr marL="357188" lvl="1">
              <a:spcBef>
                <a:spcPts val="400"/>
              </a:spcBef>
            </a:pPr>
            <a:r>
              <a:rPr lang="en-IN" sz="1600" dirty="0">
                <a:latin typeface="Trebuchet MS" panose="020B0603020202020204" pitchFamily="34" charset="0"/>
              </a:rPr>
              <a:t>  // statements</a:t>
            </a:r>
          </a:p>
          <a:p>
            <a:pPr marL="357188" lvl="1">
              <a:spcBef>
                <a:spcPts val="400"/>
              </a:spcBef>
            </a:pPr>
            <a:r>
              <a:rPr lang="en-IN" sz="1600" dirty="0">
                <a:latin typeface="Trebuchet MS" panose="020B0603020202020204" pitchFamily="34" charset="0"/>
              </a:rPr>
              <a:t>    	if (condition2) </a:t>
            </a:r>
            <a:r>
              <a:rPr lang="en-IN" sz="1600" dirty="0">
                <a:solidFill>
                  <a:srgbClr val="0070C0"/>
                </a:solidFill>
                <a:latin typeface="Trebuchet MS" panose="020B0603020202020204" pitchFamily="34" charset="0"/>
              </a:rPr>
              <a:t>// inner if statement</a:t>
            </a:r>
          </a:p>
          <a:p>
            <a:pPr marL="357188" lvl="1">
              <a:spcBef>
                <a:spcPts val="400"/>
              </a:spcBef>
            </a:pPr>
            <a:r>
              <a:rPr lang="en-IN" sz="1600" dirty="0">
                <a:latin typeface="Trebuchet MS" panose="020B0603020202020204" pitchFamily="34" charset="0"/>
              </a:rPr>
              <a:t>	{</a:t>
            </a:r>
          </a:p>
          <a:p>
            <a:pPr marL="357188" lvl="1">
              <a:spcBef>
                <a:spcPts val="400"/>
              </a:spcBef>
            </a:pPr>
            <a:r>
              <a:rPr lang="en-IN" sz="1600" dirty="0">
                <a:latin typeface="Trebuchet MS" panose="020B0603020202020204" pitchFamily="34" charset="0"/>
              </a:rPr>
              <a:t>    		// statements</a:t>
            </a:r>
          </a:p>
          <a:p>
            <a:pPr marL="357188" lvl="1">
              <a:spcBef>
                <a:spcPts val="400"/>
              </a:spcBef>
            </a:pPr>
            <a:r>
              <a:rPr lang="en-IN" sz="1600" dirty="0">
                <a:latin typeface="Trebuchet MS" panose="020B0603020202020204" pitchFamily="34" charset="0"/>
              </a:rPr>
              <a:t>  	}</a:t>
            </a:r>
          </a:p>
          <a:p>
            <a:pPr marL="357188" lvl="1">
              <a:spcBef>
                <a:spcPts val="400"/>
              </a:spcBef>
            </a:pPr>
            <a:r>
              <a:rPr lang="en-IN" sz="1600" dirty="0">
                <a:latin typeface="Trebuchet MS" panose="020B0603020202020204" pitchFamily="34" charset="0"/>
              </a:rPr>
              <a:t>}</a:t>
            </a:r>
          </a:p>
        </p:txBody>
      </p:sp>
    </p:spTree>
    <p:extLst>
      <p:ext uri="{BB962C8B-B14F-4D97-AF65-F5344CB8AC3E}">
        <p14:creationId xmlns:p14="http://schemas.microsoft.com/office/powerpoint/2010/main" val="310677237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80"/>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endParaRPr lang="en-IN" sz="2800" b="1" dirty="0">
              <a:solidFill>
                <a:schemeClr val="bg1"/>
              </a:solidFill>
              <a:latin typeface="Trebuchet MS" panose="020B0603020202020204" pitchFamily="34" charset="0"/>
            </a:endParaRPr>
          </a:p>
        </p:txBody>
      </p:sp>
      <p:sp>
        <p:nvSpPr>
          <p:cNvPr id="2" name="object 2">
            <a:extLst>
              <a:ext uri="{FF2B5EF4-FFF2-40B4-BE49-F238E27FC236}">
                <a16:creationId xmlns:a16="http://schemas.microsoft.com/office/drawing/2014/main" id="{396862CA-B492-EF33-E000-E4B98A23F185}"/>
              </a:ext>
            </a:extLst>
          </p:cNvPr>
          <p:cNvSpPr txBox="1">
            <a:spLocks/>
          </p:cNvSpPr>
          <p:nvPr/>
        </p:nvSpPr>
        <p:spPr>
          <a:xfrm>
            <a:off x="163426" y="97133"/>
            <a:ext cx="2732173" cy="443711"/>
          </a:xfrm>
          <a:prstGeom prst="rect">
            <a:avLst/>
          </a:prstGeom>
        </p:spPr>
        <p:txBody>
          <a:bodyPr vert="horz" wrap="square" lIns="0" tIns="12700" rIns="0" bIns="0" rtlCol="0">
            <a:spAutoFit/>
          </a:bodyPr>
          <a:lstStyle>
            <a:lvl1pPr>
              <a:defRPr sz="2000" b="0" i="0">
                <a:solidFill>
                  <a:srgbClr val="585858"/>
                </a:solidFill>
                <a:latin typeface="Arial"/>
                <a:ea typeface="+mj-ea"/>
                <a:cs typeface="Arial"/>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IN" sz="2800" b="1" i="0" u="none" strike="noStrike" kern="0" cap="none" spc="-170" normalizeH="0" baseline="0" noProof="0" dirty="0">
                <a:ln>
                  <a:noFill/>
                </a:ln>
                <a:solidFill>
                  <a:srgbClr val="FFFFFF"/>
                </a:solidFill>
                <a:effectLst/>
                <a:uLnTx/>
                <a:uFillTx/>
                <a:latin typeface="Trebuchet MS" panose="020B0603020202020204" pitchFamily="34" charset="0"/>
              </a:rPr>
              <a:t>Nested </a:t>
            </a:r>
            <a:r>
              <a:rPr kumimoji="0" lang="en-IN" sz="2800" b="1" i="0" u="none" strike="noStrike" kern="0" cap="none" spc="60" normalizeH="0" baseline="0" noProof="0" dirty="0">
                <a:ln>
                  <a:noFill/>
                </a:ln>
                <a:solidFill>
                  <a:srgbClr val="FFFFFF"/>
                </a:solidFill>
                <a:effectLst/>
                <a:uLnTx/>
                <a:uFillTx/>
                <a:latin typeface="Trebuchet MS" panose="020B0603020202020204" pitchFamily="34" charset="0"/>
              </a:rPr>
              <a:t>if</a:t>
            </a:r>
            <a:r>
              <a:rPr kumimoji="0" lang="en-IN" sz="2800" b="1" i="0" u="none" strike="noStrike" kern="0" cap="none" spc="-695" normalizeH="0" baseline="0" noProof="0" dirty="0">
                <a:ln>
                  <a:noFill/>
                </a:ln>
                <a:solidFill>
                  <a:srgbClr val="FFFFFF"/>
                </a:solidFill>
                <a:effectLst/>
                <a:uLnTx/>
                <a:uFillTx/>
                <a:latin typeface="Trebuchet MS" panose="020B0603020202020204" pitchFamily="34" charset="0"/>
              </a:rPr>
              <a:t> </a:t>
            </a:r>
            <a:r>
              <a:rPr kumimoji="0" lang="en-IN" sz="2800" b="1" i="0" u="none" strike="noStrike" kern="0" cap="none" spc="-229" normalizeH="0" baseline="0" noProof="0" dirty="0">
                <a:ln>
                  <a:noFill/>
                </a:ln>
                <a:solidFill>
                  <a:srgbClr val="FFFFFF"/>
                </a:solidFill>
                <a:effectLst/>
                <a:uLnTx/>
                <a:uFillTx/>
                <a:latin typeface="Trebuchet MS" panose="020B0603020202020204" pitchFamily="34" charset="0"/>
              </a:rPr>
              <a:t>else</a:t>
            </a:r>
            <a:endParaRPr kumimoji="0" lang="en-IN" sz="2800" b="1" i="0" u="none" strike="noStrike" kern="0" cap="none" spc="0" normalizeH="0" baseline="0" noProof="0" dirty="0">
              <a:ln>
                <a:noFill/>
              </a:ln>
              <a:solidFill>
                <a:srgbClr val="585858"/>
              </a:solidFill>
              <a:effectLst/>
              <a:uLnTx/>
              <a:uFillTx/>
              <a:latin typeface="Trebuchet MS" panose="020B0603020202020204" pitchFamily="34" charset="0"/>
            </a:endParaRPr>
          </a:p>
        </p:txBody>
      </p:sp>
      <p:sp>
        <p:nvSpPr>
          <p:cNvPr id="6" name="TextBox 5">
            <a:extLst>
              <a:ext uri="{FF2B5EF4-FFF2-40B4-BE49-F238E27FC236}">
                <a16:creationId xmlns:a16="http://schemas.microsoft.com/office/drawing/2014/main" id="{CEF3A697-F518-3C8D-6A2A-FEDC108FE9CC}"/>
              </a:ext>
            </a:extLst>
          </p:cNvPr>
          <p:cNvSpPr txBox="1"/>
          <p:nvPr/>
        </p:nvSpPr>
        <p:spPr>
          <a:xfrm>
            <a:off x="300151" y="643109"/>
            <a:ext cx="4640316" cy="4524315"/>
          </a:xfrm>
          <a:prstGeom prst="rect">
            <a:avLst/>
          </a:prstGeom>
          <a:noFill/>
        </p:spPr>
        <p:txBody>
          <a:bodyPr wrap="square">
            <a:spAutoFit/>
          </a:bodyPr>
          <a:lstStyle/>
          <a:p>
            <a:r>
              <a:rPr lang="en-IN" sz="1600" dirty="0">
                <a:latin typeface="Trebuchet MS" panose="020B0603020202020204" pitchFamily="34" charset="0"/>
              </a:rPr>
              <a:t>#include &lt;iostream&gt;</a:t>
            </a:r>
          </a:p>
          <a:p>
            <a:r>
              <a:rPr lang="en-IN" sz="1600" dirty="0">
                <a:latin typeface="Trebuchet MS" panose="020B0603020202020204" pitchFamily="34" charset="0"/>
              </a:rPr>
              <a:t>using namespace std;</a:t>
            </a:r>
          </a:p>
          <a:p>
            <a:r>
              <a:rPr lang="en-IN" sz="1600" dirty="0">
                <a:latin typeface="Trebuchet MS" panose="020B0603020202020204" pitchFamily="34" charset="0"/>
              </a:rPr>
              <a:t>int main() </a:t>
            </a:r>
          </a:p>
          <a:p>
            <a:r>
              <a:rPr lang="en-IN" sz="1600" dirty="0">
                <a:latin typeface="Trebuchet MS" panose="020B0603020202020204" pitchFamily="34" charset="0"/>
              </a:rPr>
              <a:t>{</a:t>
            </a:r>
          </a:p>
          <a:p>
            <a:r>
              <a:rPr lang="en-IN" sz="1600" dirty="0">
                <a:latin typeface="Trebuchet MS" panose="020B0603020202020204" pitchFamily="34" charset="0"/>
              </a:rPr>
              <a:t>  int n;</a:t>
            </a:r>
          </a:p>
          <a:p>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"Enter an integer: ";  </a:t>
            </a:r>
          </a:p>
          <a:p>
            <a:r>
              <a:rPr lang="en-IN" sz="1600" dirty="0">
                <a:latin typeface="Trebuchet MS" panose="020B0603020202020204" pitchFamily="34" charset="0"/>
              </a:rPr>
              <a:t>  </a:t>
            </a:r>
            <a:r>
              <a:rPr lang="en-IN" sz="1600" dirty="0" err="1">
                <a:latin typeface="Trebuchet MS" panose="020B0603020202020204" pitchFamily="34" charset="0"/>
              </a:rPr>
              <a:t>cin</a:t>
            </a:r>
            <a:r>
              <a:rPr lang="en-IN" sz="1600" dirty="0">
                <a:latin typeface="Trebuchet MS" panose="020B0603020202020204" pitchFamily="34" charset="0"/>
              </a:rPr>
              <a:t> &gt;&gt; n;    </a:t>
            </a:r>
          </a:p>
          <a:p>
            <a:r>
              <a:rPr lang="en-IN" sz="1600" dirty="0">
                <a:latin typeface="Trebuchet MS" panose="020B0603020202020204" pitchFamily="34" charset="0"/>
              </a:rPr>
              <a:t>  if (n!= 0) </a:t>
            </a:r>
            <a:r>
              <a:rPr lang="en-IN" sz="1600" dirty="0">
                <a:solidFill>
                  <a:srgbClr val="0070C0"/>
                </a:solidFill>
                <a:latin typeface="Trebuchet MS" panose="020B0603020202020204" pitchFamily="34" charset="0"/>
              </a:rPr>
              <a:t>// outer if condition</a:t>
            </a:r>
          </a:p>
          <a:p>
            <a:r>
              <a:rPr lang="en-IN" sz="1600" dirty="0">
                <a:latin typeface="Trebuchet MS" panose="020B0603020202020204" pitchFamily="34" charset="0"/>
              </a:rPr>
              <a:t>  { </a:t>
            </a:r>
          </a:p>
          <a:p>
            <a:r>
              <a:rPr lang="en-IN" sz="1600" dirty="0">
                <a:latin typeface="Trebuchet MS" panose="020B0603020202020204" pitchFamily="34" charset="0"/>
              </a:rPr>
              <a:t>     if (n &gt; 0) </a:t>
            </a:r>
            <a:r>
              <a:rPr lang="en-IN" sz="1600" dirty="0">
                <a:solidFill>
                  <a:srgbClr val="0070C0"/>
                </a:solidFill>
                <a:latin typeface="Trebuchet MS" panose="020B0603020202020204" pitchFamily="34" charset="0"/>
              </a:rPr>
              <a:t>// inner if condition</a:t>
            </a:r>
          </a:p>
          <a:p>
            <a:r>
              <a:rPr lang="en-IN" sz="1600" dirty="0">
                <a:latin typeface="Trebuchet MS" panose="020B0603020202020204" pitchFamily="34" charset="0"/>
              </a:rPr>
              <a:t>     {</a:t>
            </a:r>
          </a:p>
          <a:p>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"The number is positive";</a:t>
            </a:r>
          </a:p>
          <a:p>
            <a:r>
              <a:rPr lang="en-IN" sz="1600" dirty="0">
                <a:latin typeface="Trebuchet MS" panose="020B0603020202020204" pitchFamily="34" charset="0"/>
              </a:rPr>
              <a:t>     }</a:t>
            </a:r>
          </a:p>
          <a:p>
            <a:r>
              <a:rPr lang="en-IN" sz="1600" dirty="0">
                <a:latin typeface="Trebuchet MS" panose="020B0603020202020204" pitchFamily="34" charset="0"/>
              </a:rPr>
              <a:t>     else </a:t>
            </a:r>
            <a:r>
              <a:rPr lang="en-IN" sz="1600" dirty="0">
                <a:solidFill>
                  <a:srgbClr val="0070C0"/>
                </a:solidFill>
                <a:latin typeface="Trebuchet MS" panose="020B0603020202020204" pitchFamily="34" charset="0"/>
              </a:rPr>
              <a:t>// inner else condition</a:t>
            </a:r>
          </a:p>
          <a:p>
            <a:r>
              <a:rPr lang="en-IN" sz="1600" dirty="0">
                <a:latin typeface="Trebuchet MS" panose="020B0603020202020204" pitchFamily="34" charset="0"/>
              </a:rPr>
              <a:t>     {</a:t>
            </a:r>
          </a:p>
          <a:p>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"The number is negative";</a:t>
            </a:r>
          </a:p>
          <a:p>
            <a:r>
              <a:rPr lang="en-IN" sz="1600" dirty="0">
                <a:latin typeface="Trebuchet MS" panose="020B0603020202020204" pitchFamily="34" charset="0"/>
              </a:rPr>
              <a:t>    }  </a:t>
            </a:r>
          </a:p>
          <a:p>
            <a:r>
              <a:rPr lang="en-IN" sz="1600" dirty="0">
                <a:latin typeface="Trebuchet MS" panose="020B0603020202020204" pitchFamily="34" charset="0"/>
              </a:rPr>
              <a:t>  }  </a:t>
            </a:r>
          </a:p>
        </p:txBody>
      </p:sp>
      <p:sp>
        <p:nvSpPr>
          <p:cNvPr id="9" name="TextBox 8">
            <a:extLst>
              <a:ext uri="{FF2B5EF4-FFF2-40B4-BE49-F238E27FC236}">
                <a16:creationId xmlns:a16="http://schemas.microsoft.com/office/drawing/2014/main" id="{3A91328C-DCC6-F084-F7A0-EFEEDE7A3DE8}"/>
              </a:ext>
            </a:extLst>
          </p:cNvPr>
          <p:cNvSpPr txBox="1"/>
          <p:nvPr/>
        </p:nvSpPr>
        <p:spPr>
          <a:xfrm>
            <a:off x="4567237" y="723263"/>
            <a:ext cx="4640316" cy="2062103"/>
          </a:xfrm>
          <a:prstGeom prst="rect">
            <a:avLst/>
          </a:prstGeom>
          <a:noFill/>
        </p:spPr>
        <p:txBody>
          <a:bodyPr wrap="square">
            <a:spAutoFit/>
          </a:bodyPr>
          <a:lstStyle/>
          <a:p>
            <a:pPr>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else </a:t>
            </a:r>
            <a:r>
              <a:rPr kumimoji="0" lang="en-IN" sz="16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 outer else condition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16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cout</a:t>
            </a: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&lt;&lt; "The number is 0 and it is neither positive nor negative";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return 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p:txBody>
      </p:sp>
      <p:sp>
        <p:nvSpPr>
          <p:cNvPr id="12" name="TextBox 11">
            <a:extLst>
              <a:ext uri="{FF2B5EF4-FFF2-40B4-BE49-F238E27FC236}">
                <a16:creationId xmlns:a16="http://schemas.microsoft.com/office/drawing/2014/main" id="{65D58239-FF49-1EB8-8D44-B594366197C1}"/>
              </a:ext>
            </a:extLst>
          </p:cNvPr>
          <p:cNvSpPr txBox="1"/>
          <p:nvPr/>
        </p:nvSpPr>
        <p:spPr>
          <a:xfrm>
            <a:off x="4560153" y="3223381"/>
            <a:ext cx="4640316" cy="1569660"/>
          </a:xfrm>
          <a:prstGeom prst="rect">
            <a:avLst/>
          </a:prstGeom>
          <a:noFill/>
        </p:spPr>
        <p:txBody>
          <a:bodyPr wrap="square">
            <a:spAutoFit/>
          </a:bodyPr>
          <a:lstStyle/>
          <a:p>
            <a:r>
              <a:rPr lang="en-IN" sz="1600" b="1" dirty="0">
                <a:solidFill>
                  <a:srgbClr val="0070C0"/>
                </a:solidFill>
                <a:latin typeface="Trebuchet MS" panose="020B0603020202020204" pitchFamily="34" charset="0"/>
              </a:rPr>
              <a:t>Output:</a:t>
            </a:r>
          </a:p>
          <a:p>
            <a:endParaRPr lang="en-IN" sz="1600" dirty="0">
              <a:latin typeface="Trebuchet MS" panose="020B0603020202020204" pitchFamily="34" charset="0"/>
            </a:endParaRPr>
          </a:p>
          <a:p>
            <a:r>
              <a:rPr lang="en-IN" sz="1600" dirty="0">
                <a:latin typeface="Trebuchet MS" panose="020B0603020202020204" pitchFamily="34" charset="0"/>
              </a:rPr>
              <a:t>Enter an integer: 0</a:t>
            </a:r>
          </a:p>
          <a:p>
            <a:r>
              <a:rPr lang="en-IN" sz="1600" dirty="0">
                <a:latin typeface="Trebuchet MS" panose="020B0603020202020204" pitchFamily="34" charset="0"/>
              </a:rPr>
              <a:t>The number is 0 and it is neither positive nor negative.</a:t>
            </a:r>
          </a:p>
          <a:p>
            <a:r>
              <a:rPr lang="en-IN" sz="1600" dirty="0">
                <a:latin typeface="Trebuchet MS" panose="020B0603020202020204" pitchFamily="34" charset="0"/>
              </a:rPr>
              <a:t>This line is always printed.</a:t>
            </a:r>
          </a:p>
        </p:txBody>
      </p:sp>
    </p:spTree>
    <p:extLst>
      <p:ext uri="{BB962C8B-B14F-4D97-AF65-F5344CB8AC3E}">
        <p14:creationId xmlns:p14="http://schemas.microsoft.com/office/powerpoint/2010/main" val="266636178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A4C84BD8-A34D-569A-441D-736FFB99FF5D}"/>
              </a:ext>
            </a:extLst>
          </p:cNvPr>
          <p:cNvSpPr txBox="1"/>
          <p:nvPr/>
        </p:nvSpPr>
        <p:spPr>
          <a:xfrm>
            <a:off x="316408" y="671808"/>
            <a:ext cx="8501657" cy="419647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A switch statement work with </a:t>
            </a:r>
            <a:r>
              <a:rPr lang="en-IN" sz="1800" b="1" i="0" dirty="0">
                <a:solidFill>
                  <a:srgbClr val="000000"/>
                </a:solidFill>
                <a:effectLst/>
                <a:latin typeface="Trebuchet MS" panose="020B0603020202020204" pitchFamily="34" charset="0"/>
              </a:rPr>
              <a:t>short, char and int primitive data type</a:t>
            </a:r>
            <a:r>
              <a:rPr lang="en-IN" sz="1800" b="0" i="0" dirty="0">
                <a:solidFill>
                  <a:srgbClr val="000000"/>
                </a:solidFill>
                <a:effectLst/>
                <a:latin typeface="Trebuchet MS" panose="020B0603020202020204" pitchFamily="34" charset="0"/>
              </a:rPr>
              <a:t>, it also works with enumerated types and string.</a:t>
            </a:r>
          </a:p>
          <a:p>
            <a:pPr algn="just">
              <a:lnSpc>
                <a:spcPct val="150000"/>
              </a:lnSpc>
            </a:pPr>
            <a:r>
              <a:rPr lang="en-IN" sz="1800" b="0" i="0" dirty="0">
                <a:solidFill>
                  <a:srgbClr val="0070C0"/>
                </a:solidFill>
                <a:effectLst/>
                <a:latin typeface="Trebuchet MS" panose="020B0603020202020204" pitchFamily="34" charset="0"/>
              </a:rPr>
              <a:t>Rules for apply switch</a:t>
            </a:r>
          </a:p>
          <a:p>
            <a:pPr marL="714375" lvl="1" indent="-357188" algn="just">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With switch statement use only </a:t>
            </a:r>
            <a:r>
              <a:rPr lang="en-IN" sz="1800" b="1" i="0" dirty="0">
                <a:solidFill>
                  <a:srgbClr val="000000"/>
                </a:solidFill>
                <a:effectLst/>
                <a:latin typeface="Trebuchet MS" panose="020B0603020202020204" pitchFamily="34" charset="0"/>
              </a:rPr>
              <a:t>short, int, char data type</a:t>
            </a:r>
            <a:r>
              <a:rPr lang="en-IN" sz="1800" b="0" i="0" dirty="0">
                <a:solidFill>
                  <a:srgbClr val="000000"/>
                </a:solidFill>
                <a:effectLst/>
                <a:latin typeface="Trebuchet MS" panose="020B0603020202020204" pitchFamily="34" charset="0"/>
              </a:rPr>
              <a:t>.</a:t>
            </a:r>
          </a:p>
          <a:p>
            <a:pPr marL="714375" lvl="1" indent="-357188" algn="just">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You can use any number of case statements within a switch.</a:t>
            </a:r>
          </a:p>
          <a:p>
            <a:pPr marL="714375" lvl="1" indent="-357188" algn="just">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Value for a case must be same as the variable in switch .</a:t>
            </a:r>
          </a:p>
          <a:p>
            <a:pPr marL="714375" lvl="1" indent="-357188" algn="just">
              <a:lnSpc>
                <a:spcPct val="150000"/>
              </a:lnSpc>
              <a:buFont typeface="Wingdings" panose="05000000000000000000" pitchFamily="2" charset="2"/>
              <a:buChar char="ü"/>
            </a:pPr>
            <a:r>
              <a:rPr lang="en-IN" sz="1800" dirty="0"/>
              <a:t>Switch case variables can have only int and char data type. </a:t>
            </a:r>
          </a:p>
          <a:p>
            <a:pPr algn="just">
              <a:lnSpc>
                <a:spcPct val="150000"/>
              </a:lnSpc>
            </a:pPr>
            <a:r>
              <a:rPr lang="en-IN" sz="1800" b="0" i="0" dirty="0">
                <a:solidFill>
                  <a:srgbClr val="0070C0"/>
                </a:solidFill>
                <a:effectLst/>
                <a:latin typeface="Trebuchet MS" panose="020B0603020202020204" pitchFamily="34" charset="0"/>
              </a:rPr>
              <a:t>Limitations of switch</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float data type is not allowed.</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Logical operators cannot be used with switch statement.</a:t>
            </a:r>
          </a:p>
        </p:txBody>
      </p:sp>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Switch Statement</a:t>
            </a:r>
          </a:p>
        </p:txBody>
      </p:sp>
    </p:spTree>
    <p:extLst>
      <p:ext uri="{BB962C8B-B14F-4D97-AF65-F5344CB8AC3E}">
        <p14:creationId xmlns:p14="http://schemas.microsoft.com/office/powerpoint/2010/main" val="406304001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Switch Statement</a:t>
            </a:r>
          </a:p>
        </p:txBody>
      </p:sp>
      <p:sp>
        <p:nvSpPr>
          <p:cNvPr id="4" name="TextBox 3">
            <a:extLst>
              <a:ext uri="{FF2B5EF4-FFF2-40B4-BE49-F238E27FC236}">
                <a16:creationId xmlns:a16="http://schemas.microsoft.com/office/drawing/2014/main" id="{721210FB-E988-F333-07C3-E74C194E050F}"/>
              </a:ext>
            </a:extLst>
          </p:cNvPr>
          <p:cNvSpPr txBox="1"/>
          <p:nvPr/>
        </p:nvSpPr>
        <p:spPr>
          <a:xfrm>
            <a:off x="300151" y="815646"/>
            <a:ext cx="4640316" cy="4386778"/>
          </a:xfrm>
          <a:prstGeom prst="rect">
            <a:avLst/>
          </a:prstGeom>
          <a:noFill/>
        </p:spPr>
        <p:txBody>
          <a:bodyPr wrap="square">
            <a:spAutoFit/>
          </a:bodyPr>
          <a:lstStyle/>
          <a:p>
            <a:r>
              <a:rPr lang="en-IN" sz="1800" dirty="0">
                <a:solidFill>
                  <a:srgbClr val="0070C0"/>
                </a:solidFill>
                <a:latin typeface="Trebuchet MS" panose="020B0603020202020204" pitchFamily="34" charset="0"/>
              </a:rPr>
              <a:t>Syntax</a:t>
            </a:r>
          </a:p>
          <a:p>
            <a:pPr marL="357188" indent="95250">
              <a:lnSpc>
                <a:spcPct val="150000"/>
              </a:lnSpc>
            </a:pPr>
            <a:r>
              <a:rPr lang="en-IN" sz="1600" dirty="0">
                <a:latin typeface="Trebuchet MS" panose="020B0603020202020204" pitchFamily="34" charset="0"/>
              </a:rPr>
              <a:t>switch(</a:t>
            </a:r>
            <a:r>
              <a:rPr lang="en-IN" sz="1600" dirty="0" err="1">
                <a:latin typeface="Trebuchet MS" panose="020B0603020202020204" pitchFamily="34" charset="0"/>
              </a:rPr>
              <a:t>ch</a:t>
            </a:r>
            <a:r>
              <a:rPr lang="en-IN" sz="1600" dirty="0">
                <a:latin typeface="Trebuchet MS" panose="020B0603020202020204" pitchFamily="34" charset="0"/>
              </a:rPr>
              <a:t>) </a:t>
            </a:r>
          </a:p>
          <a:p>
            <a:pPr marL="357188" indent="95250">
              <a:lnSpc>
                <a:spcPct val="150000"/>
              </a:lnSpc>
            </a:pPr>
            <a:r>
              <a:rPr lang="en-IN" sz="1600" dirty="0">
                <a:latin typeface="Trebuchet MS" panose="020B0603020202020204" pitchFamily="34" charset="0"/>
              </a:rPr>
              <a:t>{ </a:t>
            </a:r>
          </a:p>
          <a:p>
            <a:pPr marL="357188" indent="95250">
              <a:lnSpc>
                <a:spcPct val="150000"/>
              </a:lnSpc>
            </a:pPr>
            <a:r>
              <a:rPr lang="en-IN" sz="1600" dirty="0">
                <a:latin typeface="Trebuchet MS" panose="020B0603020202020204" pitchFamily="34" charset="0"/>
              </a:rPr>
              <a:t>case1:   </a:t>
            </a:r>
          </a:p>
          <a:p>
            <a:pPr marL="357188" indent="95250">
              <a:lnSpc>
                <a:spcPct val="150000"/>
              </a:lnSpc>
            </a:pPr>
            <a:r>
              <a:rPr lang="en-IN" sz="1600" dirty="0">
                <a:latin typeface="Trebuchet MS" panose="020B0603020202020204" pitchFamily="34" charset="0"/>
              </a:rPr>
              <a:t>	//statement 1; </a:t>
            </a:r>
          </a:p>
          <a:p>
            <a:pPr marL="357188" indent="95250">
              <a:lnSpc>
                <a:spcPct val="150000"/>
              </a:lnSpc>
            </a:pPr>
            <a:r>
              <a:rPr lang="en-IN" sz="1600" dirty="0">
                <a:latin typeface="Trebuchet MS" panose="020B0603020202020204" pitchFamily="34" charset="0"/>
              </a:rPr>
              <a:t>	break; </a:t>
            </a:r>
          </a:p>
          <a:p>
            <a:pPr marL="357188" indent="95250">
              <a:lnSpc>
                <a:spcPct val="150000"/>
              </a:lnSpc>
            </a:pPr>
            <a:r>
              <a:rPr lang="en-IN" sz="1600" dirty="0">
                <a:latin typeface="Trebuchet MS" panose="020B0603020202020204" pitchFamily="34" charset="0"/>
              </a:rPr>
              <a:t>case2: </a:t>
            </a:r>
          </a:p>
          <a:p>
            <a:pPr marL="357188" indent="95250">
              <a:lnSpc>
                <a:spcPct val="150000"/>
              </a:lnSpc>
            </a:pPr>
            <a:r>
              <a:rPr lang="en-IN" sz="1600" dirty="0">
                <a:latin typeface="Trebuchet MS" panose="020B0603020202020204" pitchFamily="34" charset="0"/>
              </a:rPr>
              <a:t>	statement 2; </a:t>
            </a:r>
          </a:p>
          <a:p>
            <a:pPr marL="357188" indent="95250">
              <a:lnSpc>
                <a:spcPct val="150000"/>
              </a:lnSpc>
            </a:pPr>
            <a:r>
              <a:rPr lang="en-IN" sz="1600" dirty="0">
                <a:latin typeface="Trebuchet MS" panose="020B0603020202020204" pitchFamily="34" charset="0"/>
              </a:rPr>
              <a:t>	break; </a:t>
            </a:r>
          </a:p>
          <a:p>
            <a:pPr marL="357188" indent="95250">
              <a:lnSpc>
                <a:spcPct val="150000"/>
              </a:lnSpc>
            </a:pPr>
            <a:r>
              <a:rPr lang="en-IN" sz="1600" dirty="0">
                <a:latin typeface="Trebuchet MS" panose="020B0603020202020204" pitchFamily="34" charset="0"/>
              </a:rPr>
              <a:t>default: </a:t>
            </a:r>
          </a:p>
          <a:p>
            <a:pPr marL="357188" indent="95250">
              <a:lnSpc>
                <a:spcPct val="150000"/>
              </a:lnSpc>
            </a:pPr>
            <a:r>
              <a:rPr lang="en-IN" sz="1600" dirty="0">
                <a:latin typeface="Trebuchet MS" panose="020B0603020202020204" pitchFamily="34" charset="0"/>
              </a:rPr>
              <a:t>	//statement </a:t>
            </a:r>
          </a:p>
          <a:p>
            <a:pPr marL="357188" indent="95250">
              <a:lnSpc>
                <a:spcPct val="150000"/>
              </a:lnSpc>
            </a:pPr>
            <a:r>
              <a:rPr lang="en-IN" sz="1600" dirty="0">
                <a:latin typeface="Trebuchet MS" panose="020B0603020202020204" pitchFamily="34" charset="0"/>
              </a:rPr>
              <a:t>} </a:t>
            </a:r>
            <a:endParaRPr lang="en-IN" sz="1700" dirty="0">
              <a:latin typeface="Trebuchet MS" panose="020B0603020202020204" pitchFamily="34" charset="0"/>
            </a:endParaRPr>
          </a:p>
        </p:txBody>
      </p:sp>
    </p:spTree>
    <p:extLst>
      <p:ext uri="{BB962C8B-B14F-4D97-AF65-F5344CB8AC3E}">
        <p14:creationId xmlns:p14="http://schemas.microsoft.com/office/powerpoint/2010/main" val="252824472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3B5647ED-822C-92F0-D527-238CBBEAD822}"/>
              </a:ext>
            </a:extLst>
          </p:cNvPr>
          <p:cNvSpPr txBox="1"/>
          <p:nvPr/>
        </p:nvSpPr>
        <p:spPr>
          <a:xfrm>
            <a:off x="168165" y="148588"/>
            <a:ext cx="4904289" cy="523220"/>
          </a:xfrm>
          <a:prstGeom prst="rect">
            <a:avLst/>
          </a:prstGeom>
          <a:noFill/>
        </p:spPr>
        <p:txBody>
          <a:bodyPr wrap="square">
            <a:spAutoFit/>
          </a:bodyPr>
          <a:lstStyle/>
          <a:p>
            <a:r>
              <a:rPr lang="en-IN" sz="2800" b="1" dirty="0">
                <a:solidFill>
                  <a:schemeClr val="bg1"/>
                </a:solidFill>
                <a:latin typeface="Trebuchet MS" panose="020B0603020202020204" pitchFamily="34" charset="0"/>
              </a:rPr>
              <a:t>Switch Statement - Example</a:t>
            </a:r>
          </a:p>
        </p:txBody>
      </p:sp>
      <p:sp>
        <p:nvSpPr>
          <p:cNvPr id="8" name="TextBox 7">
            <a:extLst>
              <a:ext uri="{FF2B5EF4-FFF2-40B4-BE49-F238E27FC236}">
                <a16:creationId xmlns:a16="http://schemas.microsoft.com/office/drawing/2014/main" id="{B3EEBF66-DA8F-1950-67B0-594F445A0E9F}"/>
              </a:ext>
            </a:extLst>
          </p:cNvPr>
          <p:cNvSpPr txBox="1"/>
          <p:nvPr/>
        </p:nvSpPr>
        <p:spPr>
          <a:xfrm>
            <a:off x="168165" y="710469"/>
            <a:ext cx="4640316" cy="4247317"/>
          </a:xfrm>
          <a:prstGeom prst="rect">
            <a:avLst/>
          </a:prstGeom>
          <a:noFill/>
        </p:spPr>
        <p:txBody>
          <a:bodyPr wrap="square">
            <a:spAutoFit/>
          </a:bodyPr>
          <a:lstStyle/>
          <a:p>
            <a:r>
              <a:rPr lang="en-IN" sz="1500" dirty="0">
                <a:latin typeface="Trebuchet MS" panose="020B0603020202020204" pitchFamily="34" charset="0"/>
              </a:rPr>
              <a:t>#include&lt;iostream.h&gt;</a:t>
            </a:r>
          </a:p>
          <a:p>
            <a:r>
              <a:rPr lang="en-IN" sz="1500" dirty="0">
                <a:latin typeface="Trebuchet MS" panose="020B0603020202020204" pitchFamily="34" charset="0"/>
              </a:rPr>
              <a:t>using namespace std;</a:t>
            </a:r>
          </a:p>
          <a:p>
            <a:r>
              <a:rPr lang="en-IN" sz="1500" dirty="0">
                <a:latin typeface="Trebuchet MS" panose="020B0603020202020204" pitchFamily="34" charset="0"/>
              </a:rPr>
              <a:t>int main()</a:t>
            </a:r>
          </a:p>
          <a:p>
            <a:r>
              <a:rPr lang="en-IN" sz="1500" dirty="0">
                <a:latin typeface="Trebuchet MS" panose="020B0603020202020204" pitchFamily="34" charset="0"/>
              </a:rPr>
              <a:t>{</a:t>
            </a:r>
          </a:p>
          <a:p>
            <a:r>
              <a:rPr lang="en-IN" sz="1500" dirty="0">
                <a:latin typeface="Trebuchet MS" panose="020B0603020202020204" pitchFamily="34" charset="0"/>
              </a:rPr>
              <a:t>int </a:t>
            </a:r>
            <a:r>
              <a:rPr lang="en-IN" sz="1500" dirty="0" err="1">
                <a:latin typeface="Trebuchet MS" panose="020B0603020202020204" pitchFamily="34" charset="0"/>
              </a:rPr>
              <a:t>ch</a:t>
            </a:r>
            <a:r>
              <a:rPr lang="en-IN" sz="1500" dirty="0">
                <a:latin typeface="Trebuchet MS" panose="020B0603020202020204" pitchFamily="34" charset="0"/>
              </a:rPr>
              <a:t>;</a:t>
            </a:r>
          </a:p>
          <a:p>
            <a:r>
              <a:rPr lang="en-IN" sz="1500" dirty="0" err="1">
                <a:latin typeface="Trebuchet MS" panose="020B0603020202020204" pitchFamily="34" charset="0"/>
              </a:rPr>
              <a:t>cout</a:t>
            </a:r>
            <a:r>
              <a:rPr lang="en-IN" sz="1500" dirty="0">
                <a:latin typeface="Trebuchet MS" panose="020B0603020202020204" pitchFamily="34" charset="0"/>
              </a:rPr>
              <a:t>&lt;&lt;"Enter any number (1 to 7)";</a:t>
            </a:r>
          </a:p>
          <a:p>
            <a:r>
              <a:rPr lang="en-IN" sz="1500" dirty="0" err="1">
                <a:latin typeface="Trebuchet MS" panose="020B0603020202020204" pitchFamily="34" charset="0"/>
              </a:rPr>
              <a:t>cin</a:t>
            </a:r>
            <a:r>
              <a:rPr lang="en-IN" sz="1500" dirty="0">
                <a:latin typeface="Trebuchet MS" panose="020B0603020202020204" pitchFamily="34" charset="0"/>
              </a:rPr>
              <a:t>&gt;&gt;</a:t>
            </a:r>
            <a:r>
              <a:rPr lang="en-IN" sz="1500" dirty="0" err="1">
                <a:latin typeface="Trebuchet MS" panose="020B0603020202020204" pitchFamily="34" charset="0"/>
              </a:rPr>
              <a:t>ch</a:t>
            </a:r>
            <a:r>
              <a:rPr lang="en-IN" sz="1500" dirty="0">
                <a:latin typeface="Trebuchet MS" panose="020B0603020202020204" pitchFamily="34" charset="0"/>
              </a:rPr>
              <a:t>;</a:t>
            </a:r>
          </a:p>
          <a:p>
            <a:r>
              <a:rPr lang="en-IN" sz="1500" dirty="0">
                <a:latin typeface="Trebuchet MS" panose="020B0603020202020204" pitchFamily="34" charset="0"/>
              </a:rPr>
              <a:t>switch(</a:t>
            </a:r>
            <a:r>
              <a:rPr lang="en-IN" sz="1500" dirty="0" err="1">
                <a:latin typeface="Trebuchet MS" panose="020B0603020202020204" pitchFamily="34" charset="0"/>
              </a:rPr>
              <a:t>ch</a:t>
            </a:r>
            <a:r>
              <a:rPr lang="en-IN" sz="1500" dirty="0">
                <a:latin typeface="Trebuchet MS" panose="020B0603020202020204" pitchFamily="34" charset="0"/>
              </a:rPr>
              <a:t>)</a:t>
            </a:r>
          </a:p>
          <a:p>
            <a:r>
              <a:rPr lang="en-IN" sz="1500" dirty="0">
                <a:latin typeface="Trebuchet MS" panose="020B0603020202020204" pitchFamily="34" charset="0"/>
              </a:rPr>
              <a:t>{</a:t>
            </a:r>
          </a:p>
          <a:p>
            <a:r>
              <a:rPr lang="en-IN" sz="1500" dirty="0">
                <a:latin typeface="Trebuchet MS" panose="020B0603020202020204" pitchFamily="34" charset="0"/>
              </a:rPr>
              <a:t>case  1:</a:t>
            </a:r>
          </a:p>
          <a:p>
            <a:pPr lvl="1"/>
            <a:r>
              <a:rPr lang="en-IN" sz="1500" dirty="0" err="1">
                <a:latin typeface="Trebuchet MS" panose="020B0603020202020204" pitchFamily="34" charset="0"/>
              </a:rPr>
              <a:t>cout</a:t>
            </a:r>
            <a:r>
              <a:rPr lang="en-IN" sz="1500" dirty="0">
                <a:latin typeface="Trebuchet MS" panose="020B0603020202020204" pitchFamily="34" charset="0"/>
              </a:rPr>
              <a:t>&lt;&lt;"Today is Monday";</a:t>
            </a:r>
          </a:p>
          <a:p>
            <a:pPr lvl="1"/>
            <a:r>
              <a:rPr lang="en-IN" sz="1500" dirty="0">
                <a:latin typeface="Trebuchet MS" panose="020B0603020202020204" pitchFamily="34" charset="0"/>
              </a:rPr>
              <a:t>break;</a:t>
            </a:r>
          </a:p>
          <a:p>
            <a:r>
              <a:rPr lang="en-IN" sz="1500" dirty="0">
                <a:latin typeface="Trebuchet MS" panose="020B0603020202020204" pitchFamily="34" charset="0"/>
              </a:rPr>
              <a:t>case  2:</a:t>
            </a:r>
          </a:p>
          <a:p>
            <a:r>
              <a:rPr lang="en-IN" sz="1500" dirty="0" err="1">
                <a:latin typeface="Trebuchet MS" panose="020B0603020202020204" pitchFamily="34" charset="0"/>
              </a:rPr>
              <a:t>cout</a:t>
            </a:r>
            <a:r>
              <a:rPr lang="en-IN" sz="1500" dirty="0">
                <a:latin typeface="Trebuchet MS" panose="020B0603020202020204" pitchFamily="34" charset="0"/>
              </a:rPr>
              <a:t>&lt;&lt;"Today is Tuesday";</a:t>
            </a:r>
          </a:p>
          <a:p>
            <a:r>
              <a:rPr lang="en-IN" sz="1500" dirty="0">
                <a:latin typeface="Trebuchet MS" panose="020B0603020202020204" pitchFamily="34" charset="0"/>
              </a:rPr>
              <a:t>break;</a:t>
            </a:r>
          </a:p>
          <a:p>
            <a:r>
              <a:rPr lang="en-IN" sz="1500" dirty="0">
                <a:latin typeface="Trebuchet MS" panose="020B0603020202020204" pitchFamily="34" charset="0"/>
              </a:rPr>
              <a:t>case  3:</a:t>
            </a:r>
          </a:p>
          <a:p>
            <a:r>
              <a:rPr lang="en-IN" sz="1500" dirty="0" err="1">
                <a:latin typeface="Trebuchet MS" panose="020B0603020202020204" pitchFamily="34" charset="0"/>
              </a:rPr>
              <a:t>cout</a:t>
            </a:r>
            <a:r>
              <a:rPr lang="en-IN" sz="1500" dirty="0">
                <a:latin typeface="Trebuchet MS" panose="020B0603020202020204" pitchFamily="34" charset="0"/>
              </a:rPr>
              <a:t>&lt;&lt;"Today is Wednesday";</a:t>
            </a:r>
          </a:p>
          <a:p>
            <a:r>
              <a:rPr lang="en-IN" sz="1500" dirty="0">
                <a:latin typeface="Trebuchet MS" panose="020B0603020202020204" pitchFamily="34" charset="0"/>
              </a:rPr>
              <a:t>break;</a:t>
            </a:r>
          </a:p>
        </p:txBody>
      </p:sp>
      <p:sp>
        <p:nvSpPr>
          <p:cNvPr id="10" name="TextBox 9">
            <a:extLst>
              <a:ext uri="{FF2B5EF4-FFF2-40B4-BE49-F238E27FC236}">
                <a16:creationId xmlns:a16="http://schemas.microsoft.com/office/drawing/2014/main" id="{2F709079-5609-45AD-CD37-C12F681EC7CB}"/>
              </a:ext>
            </a:extLst>
          </p:cNvPr>
          <p:cNvSpPr txBox="1"/>
          <p:nvPr/>
        </p:nvSpPr>
        <p:spPr>
          <a:xfrm>
            <a:off x="3846788" y="815646"/>
            <a:ext cx="4640316" cy="40164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case  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cout</a:t>
            </a: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&lt;&lt;"Today is Thursday";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break;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case  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cout</a:t>
            </a: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&lt;&lt;"Today is Friday";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break;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case  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cout</a:t>
            </a: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&lt;&lt;"Today is Saturday";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break;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case  7:</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cout</a:t>
            </a: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&lt;&lt;"Today is Sunday";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break;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default: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cout</a:t>
            </a: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&lt;&lt;"Only enter value 1 to 7";</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500" dirty="0">
                <a:latin typeface="Trebuchet MS" panose="020B0603020202020204" pitchFamily="34" charset="0"/>
              </a:rPr>
              <a:t>r</a:t>
            </a:r>
            <a:r>
              <a:rPr kumimoji="0" lang="en-IN" sz="1500" b="0" i="0" u="none" strike="noStrike" kern="0" cap="none" spc="0" normalizeH="0" baseline="0" noProof="0" dirty="0" err="1">
                <a:ln>
                  <a:noFill/>
                </a:ln>
                <a:solidFill>
                  <a:srgbClr val="000000"/>
                </a:solidFill>
                <a:effectLst/>
                <a:uLnTx/>
                <a:uFillTx/>
                <a:latin typeface="Trebuchet MS" panose="020B0603020202020204" pitchFamily="34" charset="0"/>
                <a:sym typeface="Arial"/>
              </a:rPr>
              <a:t>eturn</a:t>
            </a: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 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a:t>
            </a:r>
          </a:p>
        </p:txBody>
      </p:sp>
      <p:sp>
        <p:nvSpPr>
          <p:cNvPr id="12" name="TextBox 11">
            <a:extLst>
              <a:ext uri="{FF2B5EF4-FFF2-40B4-BE49-F238E27FC236}">
                <a16:creationId xmlns:a16="http://schemas.microsoft.com/office/drawing/2014/main" id="{ACBC30F3-416F-F987-D8F9-4F025337884F}"/>
              </a:ext>
            </a:extLst>
          </p:cNvPr>
          <p:cNvSpPr txBox="1"/>
          <p:nvPr/>
        </p:nvSpPr>
        <p:spPr>
          <a:xfrm>
            <a:off x="6333471" y="1786907"/>
            <a:ext cx="2642364" cy="7848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70C0"/>
                </a:solidFill>
                <a:effectLst/>
                <a:uLnTx/>
                <a:uFillTx/>
                <a:latin typeface="Trebuchet MS" panose="020B0603020202020204" pitchFamily="34" charset="0"/>
                <a:sym typeface="Arial"/>
              </a:rPr>
              <a:t>Output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Enter any number (1 to 7): 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500" b="0" i="0" u="none" strike="noStrike" kern="0" cap="none" spc="0" normalizeH="0" baseline="0" noProof="0" dirty="0">
                <a:ln>
                  <a:noFill/>
                </a:ln>
                <a:solidFill>
                  <a:srgbClr val="000000"/>
                </a:solidFill>
                <a:effectLst/>
                <a:uLnTx/>
                <a:uFillTx/>
                <a:latin typeface="Trebuchet MS" panose="020B0603020202020204" pitchFamily="34" charset="0"/>
                <a:sym typeface="Arial"/>
              </a:rPr>
              <a:t>Today is Friday</a:t>
            </a:r>
          </a:p>
        </p:txBody>
      </p:sp>
    </p:spTree>
    <p:extLst>
      <p:ext uri="{BB962C8B-B14F-4D97-AF65-F5344CB8AC3E}">
        <p14:creationId xmlns:p14="http://schemas.microsoft.com/office/powerpoint/2010/main" val="217091174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C6919979-23E9-E883-3F14-7168661B7A41}"/>
              </a:ext>
            </a:extLst>
          </p:cNvPr>
          <p:cNvSpPr txBox="1"/>
          <p:nvPr/>
        </p:nvSpPr>
        <p:spPr>
          <a:xfrm>
            <a:off x="294141" y="690607"/>
            <a:ext cx="8546192" cy="4196470"/>
          </a:xfrm>
          <a:prstGeom prst="rect">
            <a:avLst/>
          </a:prstGeom>
          <a:noFill/>
        </p:spPr>
        <p:txBody>
          <a:bodyPr wrap="square">
            <a:spAutoFit/>
          </a:bodyPr>
          <a:lstStyle/>
          <a:p>
            <a:pPr algn="just">
              <a:lnSpc>
                <a:spcPct val="150000"/>
              </a:lnSpc>
            </a:pPr>
            <a:r>
              <a:rPr lang="en-IN" sz="1800" b="1" i="0" dirty="0">
                <a:solidFill>
                  <a:srgbClr val="0070C0"/>
                </a:solidFill>
                <a:effectLst/>
                <a:latin typeface="Trebuchet MS" panose="020B0603020202020204" pitchFamily="34" charset="0"/>
              </a:rPr>
              <a:t>Loops</a:t>
            </a:r>
          </a:p>
          <a:p>
            <a:pPr marL="285750" indent="-285750" algn="just">
              <a:lnSpc>
                <a:spcPct val="150000"/>
              </a:lnSpc>
              <a:buFont typeface="Arial" panose="020B0604020202020204" pitchFamily="34" charset="0"/>
              <a:buChar char="•"/>
            </a:pPr>
            <a:r>
              <a:rPr lang="en-IN" sz="1800" b="1" i="0" dirty="0">
                <a:solidFill>
                  <a:srgbClr val="000000"/>
                </a:solidFill>
                <a:effectLst/>
                <a:latin typeface="Trebuchet MS" panose="020B0603020202020204" pitchFamily="34" charset="0"/>
              </a:rPr>
              <a:t>Set of instructions given to the compiler to execute set of statements until condition becomes false </a:t>
            </a:r>
            <a:r>
              <a:rPr lang="en-IN" sz="1800" b="0" i="0" dirty="0">
                <a:solidFill>
                  <a:srgbClr val="000000"/>
                </a:solidFill>
                <a:effectLst/>
                <a:latin typeface="Trebuchet MS" panose="020B0603020202020204" pitchFamily="34" charset="0"/>
              </a:rPr>
              <a:t>is called loops. </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The basic purpose of loop is code repetition that means same code repeated again and again.</a:t>
            </a:r>
          </a:p>
          <a:p>
            <a:pPr algn="l">
              <a:lnSpc>
                <a:spcPct val="150000"/>
              </a:lnSpc>
            </a:pPr>
            <a:r>
              <a:rPr lang="en-IN" sz="1800" b="1" i="0" dirty="0">
                <a:solidFill>
                  <a:srgbClr val="0070C0"/>
                </a:solidFill>
                <a:effectLst/>
                <a:latin typeface="Trebuchet MS" panose="020B0603020202020204" pitchFamily="34" charset="0"/>
              </a:rPr>
              <a:t>Why use Loop</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Where need repetition of same code a number of times at that place use Loop in place of writing more than one statements. </a:t>
            </a:r>
          </a:p>
          <a:p>
            <a:pPr marL="285750" indent="-285750" algn="just">
              <a:lnSpc>
                <a:spcPct val="150000"/>
              </a:lnSpc>
              <a:buFont typeface="Arial" panose="020B0604020202020204" pitchFamily="34" charset="0"/>
              <a:buChar char="•"/>
            </a:pPr>
            <a:r>
              <a:rPr lang="en-IN" sz="1800" b="0" i="0" dirty="0">
                <a:solidFill>
                  <a:srgbClr val="000000"/>
                </a:solidFill>
                <a:effectLst/>
                <a:latin typeface="Trebuchet MS" panose="020B0603020202020204" pitchFamily="34" charset="0"/>
              </a:rPr>
              <a:t>The way of the repetition will be forms a circle that's why repetition statements are called loops.</a:t>
            </a:r>
          </a:p>
        </p:txBody>
      </p:sp>
      <p:sp>
        <p:nvSpPr>
          <p:cNvPr id="5" name="TextBox 4">
            <a:extLst>
              <a:ext uri="{FF2B5EF4-FFF2-40B4-BE49-F238E27FC236}">
                <a16:creationId xmlns:a16="http://schemas.microsoft.com/office/drawing/2014/main" id="{2509365B-E60A-E60F-1E21-9993D4C95618}"/>
              </a:ext>
            </a:extLst>
          </p:cNvPr>
          <p:cNvSpPr txBox="1"/>
          <p:nvPr/>
        </p:nvSpPr>
        <p:spPr>
          <a:xfrm>
            <a:off x="154540" y="105425"/>
            <a:ext cx="6779173"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Control Flow / Looping statements</a:t>
            </a:r>
          </a:p>
        </p:txBody>
      </p:sp>
    </p:spTree>
    <p:extLst>
      <p:ext uri="{BB962C8B-B14F-4D97-AF65-F5344CB8AC3E}">
        <p14:creationId xmlns:p14="http://schemas.microsoft.com/office/powerpoint/2010/main" val="130136075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09385" y="99581"/>
            <a:ext cx="6779173"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Control Flow / Looping statements</a:t>
            </a:r>
          </a:p>
        </p:txBody>
      </p:sp>
      <p:sp>
        <p:nvSpPr>
          <p:cNvPr id="4" name="TextBox 3">
            <a:extLst>
              <a:ext uri="{FF2B5EF4-FFF2-40B4-BE49-F238E27FC236}">
                <a16:creationId xmlns:a16="http://schemas.microsoft.com/office/drawing/2014/main" id="{0981D270-CC60-3F1E-E7B5-B719D93D5F41}"/>
              </a:ext>
            </a:extLst>
          </p:cNvPr>
          <p:cNvSpPr txBox="1"/>
          <p:nvPr/>
        </p:nvSpPr>
        <p:spPr>
          <a:xfrm>
            <a:off x="344214" y="725538"/>
            <a:ext cx="8370808" cy="3939540"/>
          </a:xfrm>
          <a:prstGeom prst="rect">
            <a:avLst/>
          </a:prstGeom>
          <a:noFill/>
        </p:spPr>
        <p:txBody>
          <a:bodyPr wrap="square">
            <a:spAutoFit/>
          </a:bodyPr>
          <a:lstStyle/>
          <a:p>
            <a:pPr marL="285750" indent="-285750" algn="l">
              <a:lnSpc>
                <a:spcPct val="150000"/>
              </a:lnSpc>
              <a:spcBef>
                <a:spcPts val="600"/>
              </a:spcBef>
              <a:buFont typeface="Arial" panose="020B0604020202020204" pitchFamily="34" charset="0"/>
              <a:buChar char="•"/>
            </a:pPr>
            <a:r>
              <a:rPr lang="en-IN" sz="1800" b="1" i="0" dirty="0">
                <a:solidFill>
                  <a:srgbClr val="0070C0"/>
                </a:solidFill>
                <a:effectLst/>
                <a:latin typeface="Trebuchet MS" panose="020B0603020202020204" pitchFamily="34" charset="0"/>
              </a:rPr>
              <a:t>Advantage with looping statement</a:t>
            </a:r>
          </a:p>
          <a:p>
            <a:pPr marL="722313" lvl="2" indent="-360363">
              <a:lnSpc>
                <a:spcPct val="150000"/>
              </a:lnSpc>
              <a:spcBef>
                <a:spcPts val="600"/>
              </a:spcBef>
              <a:buFont typeface="Wingdings" panose="05000000000000000000" pitchFamily="2" charset="2"/>
              <a:buChar char="ü"/>
            </a:pPr>
            <a:r>
              <a:rPr lang="en-IN" sz="1800" b="0" i="0" dirty="0">
                <a:solidFill>
                  <a:srgbClr val="000000"/>
                </a:solidFill>
                <a:effectLst/>
                <a:latin typeface="Trebuchet MS" panose="020B0603020202020204" pitchFamily="34" charset="0"/>
              </a:rPr>
              <a:t>Reduce length of Code</a:t>
            </a:r>
          </a:p>
          <a:p>
            <a:pPr marL="722313" lvl="2" indent="-360363">
              <a:lnSpc>
                <a:spcPct val="150000"/>
              </a:lnSpc>
              <a:spcBef>
                <a:spcPts val="600"/>
              </a:spcBef>
              <a:buFont typeface="Wingdings" panose="05000000000000000000" pitchFamily="2" charset="2"/>
              <a:buChar char="ü"/>
            </a:pPr>
            <a:r>
              <a:rPr lang="en-IN" sz="1800" b="0" i="0" dirty="0">
                <a:solidFill>
                  <a:srgbClr val="000000"/>
                </a:solidFill>
                <a:effectLst/>
                <a:latin typeface="Trebuchet MS" panose="020B0603020202020204" pitchFamily="34" charset="0"/>
              </a:rPr>
              <a:t>take less memory space.</a:t>
            </a:r>
          </a:p>
          <a:p>
            <a:pPr marL="285750" indent="-285750" algn="l" fontAlgn="base">
              <a:spcBef>
                <a:spcPts val="600"/>
              </a:spcBef>
              <a:buFont typeface="Arial" panose="020B0604020202020204" pitchFamily="34" charset="0"/>
              <a:buChar char="•"/>
            </a:pPr>
            <a:r>
              <a:rPr lang="en-IN" sz="1800" dirty="0">
                <a:latin typeface="Trebuchet MS" panose="020B0603020202020204" pitchFamily="34" charset="0"/>
              </a:rPr>
              <a:t>There are mainly two types of loops, </a:t>
            </a:r>
          </a:p>
          <a:p>
            <a:pPr marL="722313" indent="-360363" algn="l" fontAlgn="base">
              <a:spcBef>
                <a:spcPts val="600"/>
              </a:spcBef>
              <a:buFont typeface="Wingdings" panose="05000000000000000000" pitchFamily="2" charset="2"/>
              <a:buChar char="ü"/>
            </a:pPr>
            <a:r>
              <a:rPr lang="en-IN" sz="1800" dirty="0">
                <a:solidFill>
                  <a:srgbClr val="0070C0"/>
                </a:solidFill>
                <a:latin typeface="Trebuchet MS" panose="020B0603020202020204" pitchFamily="34" charset="0"/>
              </a:rPr>
              <a:t>Entry Controlled loops: </a:t>
            </a:r>
            <a:r>
              <a:rPr lang="en-IN" sz="1800" dirty="0">
                <a:latin typeface="Trebuchet MS" panose="020B0603020202020204" pitchFamily="34" charset="0"/>
              </a:rPr>
              <a:t>In this type of loop, the test condition is tested before entering the loop body. For Loop and While Loop is entry-controlled loops.</a:t>
            </a:r>
          </a:p>
          <a:p>
            <a:pPr marL="722313" indent="-360363" algn="l" fontAlgn="base">
              <a:spcBef>
                <a:spcPts val="600"/>
              </a:spcBef>
              <a:buFont typeface="Wingdings" panose="05000000000000000000" pitchFamily="2" charset="2"/>
              <a:buChar char="ü"/>
            </a:pPr>
            <a:r>
              <a:rPr lang="en-IN" sz="1800" dirty="0">
                <a:solidFill>
                  <a:srgbClr val="0070C0"/>
                </a:solidFill>
                <a:latin typeface="Trebuchet MS" panose="020B0603020202020204" pitchFamily="34" charset="0"/>
              </a:rPr>
              <a:t>Exit Controlled Loops: </a:t>
            </a:r>
            <a:r>
              <a:rPr lang="en-IN" sz="1800" dirty="0">
                <a:latin typeface="Trebuchet MS" panose="020B0603020202020204" pitchFamily="34" charset="0"/>
              </a:rPr>
              <a:t>In this type of loop the test condition is tested or evaluated at the end of the loop body. Therefore, the loop body will execute at least once, irrespective of whether the test condition is true or false. the do-while loop is exit controlled loop.</a:t>
            </a:r>
          </a:p>
        </p:txBody>
      </p:sp>
    </p:spTree>
    <p:extLst>
      <p:ext uri="{BB962C8B-B14F-4D97-AF65-F5344CB8AC3E}">
        <p14:creationId xmlns:p14="http://schemas.microsoft.com/office/powerpoint/2010/main" val="259125619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99696" y="210225"/>
            <a:ext cx="6779173"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rPr>
              <a:t>Control Flow / Looping statements</a:t>
            </a:r>
          </a:p>
        </p:txBody>
      </p:sp>
      <p:pic>
        <p:nvPicPr>
          <p:cNvPr id="2" name="Picture 1">
            <a:extLst>
              <a:ext uri="{FF2B5EF4-FFF2-40B4-BE49-F238E27FC236}">
                <a16:creationId xmlns:a16="http://schemas.microsoft.com/office/drawing/2014/main" id="{2D2D79E9-7B25-9B04-6DAF-921936F3312A}"/>
              </a:ext>
            </a:extLst>
          </p:cNvPr>
          <p:cNvPicPr>
            <a:picLocks noChangeAspect="1"/>
          </p:cNvPicPr>
          <p:nvPr/>
        </p:nvPicPr>
        <p:blipFill rotWithShape="1">
          <a:blip r:embed="rId6"/>
          <a:srcRect l="3658" t="6355" r="11247" b="7168"/>
          <a:stretch/>
        </p:blipFill>
        <p:spPr>
          <a:xfrm>
            <a:off x="677333" y="877365"/>
            <a:ext cx="7089423" cy="3818813"/>
          </a:xfrm>
          <a:prstGeom prst="rect">
            <a:avLst/>
          </a:prstGeom>
        </p:spPr>
      </p:pic>
    </p:spTree>
    <p:extLst>
      <p:ext uri="{BB962C8B-B14F-4D97-AF65-F5344CB8AC3E}">
        <p14:creationId xmlns:p14="http://schemas.microsoft.com/office/powerpoint/2010/main" val="200854820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99696" y="113702"/>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for loop</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3" name="TextBox 2">
            <a:extLst>
              <a:ext uri="{FF2B5EF4-FFF2-40B4-BE49-F238E27FC236}">
                <a16:creationId xmlns:a16="http://schemas.microsoft.com/office/drawing/2014/main" id="{7C692DF3-672C-8F54-7AA8-4976625F90B4}"/>
              </a:ext>
            </a:extLst>
          </p:cNvPr>
          <p:cNvSpPr txBox="1"/>
          <p:nvPr/>
        </p:nvSpPr>
        <p:spPr>
          <a:xfrm>
            <a:off x="199696" y="745873"/>
            <a:ext cx="8555034" cy="3780971"/>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IN" sz="1800" i="0" dirty="0">
                <a:solidFill>
                  <a:srgbClr val="000000"/>
                </a:solidFill>
                <a:effectLst/>
                <a:latin typeface="Trebuchet MS" panose="020B0603020202020204" pitchFamily="34" charset="0"/>
              </a:rPr>
              <a:t>It is called as </a:t>
            </a:r>
            <a:r>
              <a:rPr lang="en-IN" sz="1800" b="1" i="0" dirty="0">
                <a:solidFill>
                  <a:srgbClr val="000000"/>
                </a:solidFill>
                <a:effectLst/>
                <a:latin typeface="Trebuchet MS" panose="020B0603020202020204" pitchFamily="34" charset="0"/>
              </a:rPr>
              <a:t>entry controlled loop.</a:t>
            </a:r>
          </a:p>
          <a:p>
            <a:pPr marL="285750" indent="-285750" algn="l">
              <a:lnSpc>
                <a:spcPct val="150000"/>
              </a:lnSpc>
              <a:buFont typeface="Arial" panose="020B0604020202020204" pitchFamily="34" charset="0"/>
              <a:buChar char="•"/>
            </a:pPr>
            <a:r>
              <a:rPr lang="en-IN" sz="1800" i="0" dirty="0">
                <a:solidFill>
                  <a:srgbClr val="000000"/>
                </a:solidFill>
                <a:effectLst/>
                <a:latin typeface="Trebuchet MS" panose="020B0603020202020204" pitchFamily="34" charset="0"/>
              </a:rPr>
              <a:t>A For loop is a repetition control structure that allows us to write a loop that is executed a </a:t>
            </a:r>
            <a:r>
              <a:rPr lang="en-IN" sz="1800" b="1" i="0" dirty="0">
                <a:solidFill>
                  <a:srgbClr val="000000"/>
                </a:solidFill>
                <a:effectLst/>
                <a:latin typeface="Trebuchet MS" panose="020B0603020202020204" pitchFamily="34" charset="0"/>
              </a:rPr>
              <a:t>specific number of times</a:t>
            </a:r>
            <a:r>
              <a:rPr lang="en-IN" sz="1800" i="0" dirty="0">
                <a:solidFill>
                  <a:srgbClr val="000000"/>
                </a:solidFill>
                <a:effectLst/>
                <a:latin typeface="Trebuchet MS" panose="020B0603020202020204" pitchFamily="34" charset="0"/>
              </a:rPr>
              <a:t>. The loop enables us to perform </a:t>
            </a:r>
            <a:r>
              <a:rPr lang="en-IN" sz="1800" b="1" i="0" dirty="0">
                <a:solidFill>
                  <a:srgbClr val="000000"/>
                </a:solidFill>
                <a:effectLst/>
                <a:latin typeface="Trebuchet MS" panose="020B0603020202020204" pitchFamily="34" charset="0"/>
              </a:rPr>
              <a:t>n number of steps together in one line</a:t>
            </a:r>
            <a:r>
              <a:rPr lang="en-IN" sz="1800" i="0" dirty="0">
                <a:solidFill>
                  <a:srgbClr val="000000"/>
                </a:solidFill>
                <a:effectLst/>
                <a:latin typeface="Trebuchet MS" panose="020B0603020202020204" pitchFamily="34" charset="0"/>
              </a:rPr>
              <a:t>. </a:t>
            </a:r>
          </a:p>
          <a:p>
            <a:pPr marL="285750" indent="-285750" algn="l">
              <a:lnSpc>
                <a:spcPct val="150000"/>
              </a:lnSpc>
              <a:buFont typeface="Arial" panose="020B0604020202020204" pitchFamily="34" charset="0"/>
              <a:buChar char="•"/>
            </a:pPr>
            <a:r>
              <a:rPr lang="en-IN" sz="1800" dirty="0">
                <a:latin typeface="Trebuchet MS" panose="020B0603020202020204" pitchFamily="34" charset="0"/>
              </a:rPr>
              <a:t>f</a:t>
            </a:r>
            <a:r>
              <a:rPr lang="en-IN" sz="1800" i="0" dirty="0">
                <a:solidFill>
                  <a:srgbClr val="000000"/>
                </a:solidFill>
                <a:effectLst/>
                <a:latin typeface="Trebuchet MS" panose="020B0603020202020204" pitchFamily="34" charset="0"/>
              </a:rPr>
              <a:t>or loop contains 3 parts.</a:t>
            </a:r>
          </a:p>
          <a:p>
            <a:pPr marL="80962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Initialization</a:t>
            </a:r>
          </a:p>
          <a:p>
            <a:pPr marL="80962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Condition</a:t>
            </a:r>
          </a:p>
          <a:p>
            <a:pPr marL="809625" indent="-357188" algn="l">
              <a:lnSpc>
                <a:spcPct val="150000"/>
              </a:lnSpc>
              <a:buFont typeface="Wingdings" panose="05000000000000000000" pitchFamily="2" charset="2"/>
              <a:buChar char="ü"/>
            </a:pPr>
            <a:r>
              <a:rPr lang="en-IN" sz="1800" b="0" i="0" dirty="0">
                <a:solidFill>
                  <a:srgbClr val="000000"/>
                </a:solidFill>
                <a:effectLst/>
                <a:latin typeface="Trebuchet MS" panose="020B0603020202020204" pitchFamily="34" charset="0"/>
              </a:rPr>
              <a:t>Iteration</a:t>
            </a:r>
            <a:r>
              <a:rPr lang="en-IN" sz="1800" dirty="0">
                <a:latin typeface="Trebuchet MS" panose="020B0603020202020204" pitchFamily="34" charset="0"/>
              </a:rPr>
              <a:t> </a:t>
            </a:r>
          </a:p>
          <a:p>
            <a:pPr algn="l">
              <a:lnSpc>
                <a:spcPct val="150000"/>
              </a:lnSpc>
              <a:tabLst>
                <a:tab pos="273050" algn="l"/>
                <a:tab pos="357188" algn="l"/>
              </a:tabLst>
            </a:pPr>
            <a:endParaRPr lang="en-IN" sz="1800" b="0" i="0" dirty="0">
              <a:solidFill>
                <a:srgbClr val="000000"/>
              </a:solidFill>
              <a:effectLst/>
              <a:latin typeface="Trebuchet MS" panose="020B0603020202020204" pitchFamily="34" charset="0"/>
            </a:endParaRPr>
          </a:p>
        </p:txBody>
      </p:sp>
      <p:sp>
        <p:nvSpPr>
          <p:cNvPr id="4" name="TextBox 3">
            <a:extLst>
              <a:ext uri="{FF2B5EF4-FFF2-40B4-BE49-F238E27FC236}">
                <a16:creationId xmlns:a16="http://schemas.microsoft.com/office/drawing/2014/main" id="{1329184A-E4CA-C586-B9E4-5FF261971966}"/>
              </a:ext>
            </a:extLst>
          </p:cNvPr>
          <p:cNvSpPr txBox="1"/>
          <p:nvPr/>
        </p:nvSpPr>
        <p:spPr>
          <a:xfrm>
            <a:off x="2932207" y="2967550"/>
            <a:ext cx="5926668" cy="1785104"/>
          </a:xfrm>
          <a:prstGeom prst="rect">
            <a:avLst/>
          </a:prstGeom>
          <a:noFill/>
          <a:ln w="28575">
            <a:solidFill>
              <a:srgbClr val="0070C0"/>
            </a:solidFill>
          </a:ln>
        </p:spPr>
        <p:txBody>
          <a:bodyPr wrap="square">
            <a:spAutoFit/>
          </a:bodyPr>
          <a:lstStyle/>
          <a:p>
            <a:pPr>
              <a:spcBef>
                <a:spcPts val="600"/>
              </a:spcBef>
            </a:pPr>
            <a:r>
              <a:rPr lang="en-IN" sz="1800" dirty="0">
                <a:solidFill>
                  <a:srgbClr val="0070C0"/>
                </a:solidFill>
                <a:latin typeface="Trebuchet MS" panose="020B0603020202020204" pitchFamily="34" charset="0"/>
              </a:rPr>
              <a:t>Syntax:</a:t>
            </a:r>
          </a:p>
          <a:p>
            <a:pPr>
              <a:spcBef>
                <a:spcPts val="600"/>
              </a:spcBef>
            </a:pPr>
            <a:r>
              <a:rPr lang="en-IN" sz="1800" dirty="0">
                <a:latin typeface="Trebuchet MS" panose="020B0603020202020204" pitchFamily="34" charset="0"/>
              </a:rPr>
              <a:t>for ( initial value; condition; increment/decrement ) </a:t>
            </a:r>
          </a:p>
          <a:p>
            <a:pPr>
              <a:spcBef>
                <a:spcPts val="600"/>
              </a:spcBef>
            </a:pPr>
            <a:r>
              <a:rPr lang="en-IN" sz="1800" dirty="0">
                <a:latin typeface="Trebuchet MS" panose="020B0603020202020204" pitchFamily="34" charset="0"/>
              </a:rPr>
              <a:t>{</a:t>
            </a:r>
          </a:p>
          <a:p>
            <a:pPr>
              <a:spcBef>
                <a:spcPts val="600"/>
              </a:spcBef>
            </a:pPr>
            <a:r>
              <a:rPr lang="en-IN" sz="1800" dirty="0">
                <a:latin typeface="Trebuchet MS" panose="020B0603020202020204" pitchFamily="34" charset="0"/>
              </a:rPr>
              <a:t>   statement(s);</a:t>
            </a:r>
          </a:p>
          <a:p>
            <a:pPr>
              <a:spcBef>
                <a:spcPts val="600"/>
              </a:spcBef>
            </a:pPr>
            <a:r>
              <a:rPr lang="en-IN" sz="1800" dirty="0">
                <a:latin typeface="Trebuchet MS" panose="020B0603020202020204" pitchFamily="34" charset="0"/>
              </a:rPr>
              <a:t>}</a:t>
            </a:r>
          </a:p>
        </p:txBody>
      </p:sp>
    </p:spTree>
    <p:extLst>
      <p:ext uri="{BB962C8B-B14F-4D97-AF65-F5344CB8AC3E}">
        <p14:creationId xmlns:p14="http://schemas.microsoft.com/office/powerpoint/2010/main" val="276687534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65829"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for loop – Example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4" name="TextBox 3">
            <a:extLst>
              <a:ext uri="{FF2B5EF4-FFF2-40B4-BE49-F238E27FC236}">
                <a16:creationId xmlns:a16="http://schemas.microsoft.com/office/drawing/2014/main" id="{BD98295B-C673-7660-0B59-130FBC5A8DF4}"/>
              </a:ext>
            </a:extLst>
          </p:cNvPr>
          <p:cNvSpPr txBox="1"/>
          <p:nvPr/>
        </p:nvSpPr>
        <p:spPr>
          <a:xfrm>
            <a:off x="406498" y="1120203"/>
            <a:ext cx="4640316" cy="3570208"/>
          </a:xfrm>
          <a:prstGeom prst="rect">
            <a:avLst/>
          </a:prstGeom>
          <a:noFill/>
        </p:spPr>
        <p:txBody>
          <a:bodyPr wrap="square">
            <a:spAutoFit/>
          </a:bodyPr>
          <a:lstStyle/>
          <a:p>
            <a:pPr>
              <a:spcBef>
                <a:spcPts val="600"/>
              </a:spcBef>
            </a:pPr>
            <a:r>
              <a:rPr lang="en-IN" sz="1600" dirty="0">
                <a:latin typeface="Trebuchet MS" panose="020B0603020202020204" pitchFamily="34" charset="0"/>
              </a:rPr>
              <a:t>#include &lt;iostream&gt;</a:t>
            </a:r>
          </a:p>
          <a:p>
            <a:pPr>
              <a:spcBef>
                <a:spcPts val="600"/>
              </a:spcBef>
            </a:pPr>
            <a:r>
              <a:rPr lang="en-IN" sz="1600" dirty="0">
                <a:latin typeface="Trebuchet MS" panose="020B0603020202020204" pitchFamily="34" charset="0"/>
              </a:rPr>
              <a:t>using namespace std;</a:t>
            </a:r>
          </a:p>
          <a:p>
            <a:pPr>
              <a:spcBef>
                <a:spcPts val="600"/>
              </a:spcBef>
            </a:pPr>
            <a:r>
              <a:rPr lang="en-IN" sz="1600" dirty="0">
                <a:latin typeface="Trebuchet MS" panose="020B0603020202020204" pitchFamily="34" charset="0"/>
              </a:rPr>
              <a:t> int main () </a:t>
            </a:r>
          </a:p>
          <a:p>
            <a:pPr>
              <a:spcBef>
                <a:spcPts val="600"/>
              </a:spcBef>
            </a:pP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a:t>
            </a:r>
            <a:r>
              <a:rPr lang="en-IN" sz="1600" dirty="0">
                <a:solidFill>
                  <a:srgbClr val="0070C0"/>
                </a:solidFill>
                <a:latin typeface="Trebuchet MS" panose="020B0603020202020204" pitchFamily="34" charset="0"/>
              </a:rPr>
              <a:t>// for loop execution</a:t>
            </a:r>
          </a:p>
          <a:p>
            <a:pPr>
              <a:spcBef>
                <a:spcPts val="600"/>
              </a:spcBef>
            </a:pPr>
            <a:r>
              <a:rPr lang="en-IN" sz="1600" dirty="0">
                <a:latin typeface="Trebuchet MS" panose="020B0603020202020204" pitchFamily="34" charset="0"/>
              </a:rPr>
              <a:t>   </a:t>
            </a:r>
            <a:r>
              <a:rPr lang="en-IN" sz="1600" b="1" dirty="0">
                <a:latin typeface="Trebuchet MS" panose="020B0603020202020204" pitchFamily="34" charset="0"/>
              </a:rPr>
              <a:t>for</a:t>
            </a:r>
            <a:r>
              <a:rPr lang="en-IN" sz="1600" dirty="0">
                <a:latin typeface="Trebuchet MS" panose="020B0603020202020204" pitchFamily="34" charset="0"/>
              </a:rPr>
              <a:t>( int a = 10; a&lt;20; a++) </a:t>
            </a:r>
          </a:p>
          <a:p>
            <a:pPr>
              <a:spcBef>
                <a:spcPts val="600"/>
              </a:spcBef>
            </a:pPr>
            <a:r>
              <a:rPr lang="en-IN" sz="1600" dirty="0">
                <a:latin typeface="Trebuchet MS" panose="020B0603020202020204" pitchFamily="34" charset="0"/>
              </a:rPr>
              <a:t>   {</a:t>
            </a:r>
          </a:p>
          <a:p>
            <a:pPr>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"value of a: " &lt;&lt; a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a:t>
            </a:r>
          </a:p>
          <a:p>
            <a:pPr>
              <a:spcBef>
                <a:spcPts val="600"/>
              </a:spcBef>
            </a:pPr>
            <a:r>
              <a:rPr lang="en-IN" sz="1600" dirty="0">
                <a:latin typeface="Trebuchet MS" panose="020B0603020202020204" pitchFamily="34" charset="0"/>
              </a:rPr>
              <a:t>    return 0;</a:t>
            </a:r>
          </a:p>
          <a:p>
            <a:pPr>
              <a:spcBef>
                <a:spcPts val="600"/>
              </a:spcBef>
            </a:pPr>
            <a:r>
              <a:rPr lang="en-IN" sz="1600" dirty="0">
                <a:latin typeface="Trebuchet MS" panose="020B0603020202020204" pitchFamily="34" charset="0"/>
              </a:rPr>
              <a:t>}</a:t>
            </a:r>
          </a:p>
        </p:txBody>
      </p:sp>
      <p:sp>
        <p:nvSpPr>
          <p:cNvPr id="8" name="TextBox 7">
            <a:extLst>
              <a:ext uri="{FF2B5EF4-FFF2-40B4-BE49-F238E27FC236}">
                <a16:creationId xmlns:a16="http://schemas.microsoft.com/office/drawing/2014/main" id="{15462F2A-A06F-38FB-8F33-8CD0DDB5C2DE}"/>
              </a:ext>
            </a:extLst>
          </p:cNvPr>
          <p:cNvSpPr txBox="1"/>
          <p:nvPr/>
        </p:nvSpPr>
        <p:spPr>
          <a:xfrm>
            <a:off x="5236779" y="1048243"/>
            <a:ext cx="2586421" cy="3570208"/>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r>
              <a:rPr lang="en-IN" sz="1600" dirty="0">
                <a:solidFill>
                  <a:srgbClr val="0070C0"/>
                </a:solidFill>
                <a:latin typeface="Trebuchet MS" panose="020B0603020202020204" pitchFamily="34" charset="0"/>
              </a:rPr>
              <a:t>Output:</a:t>
            </a:r>
          </a:p>
          <a:p>
            <a:pPr>
              <a:spcBef>
                <a:spcPts val="600"/>
              </a:spcBef>
            </a:pPr>
            <a:r>
              <a:rPr lang="en-IN" sz="1600" dirty="0">
                <a:latin typeface="Trebuchet MS" panose="020B0603020202020204" pitchFamily="34" charset="0"/>
              </a:rPr>
              <a:t>value of a: 10</a:t>
            </a:r>
          </a:p>
          <a:p>
            <a:pPr>
              <a:spcBef>
                <a:spcPts val="600"/>
              </a:spcBef>
            </a:pPr>
            <a:r>
              <a:rPr lang="en-IN" sz="1600" dirty="0">
                <a:latin typeface="Trebuchet MS" panose="020B0603020202020204" pitchFamily="34" charset="0"/>
              </a:rPr>
              <a:t>value of a: 11</a:t>
            </a:r>
          </a:p>
          <a:p>
            <a:pPr>
              <a:spcBef>
                <a:spcPts val="600"/>
              </a:spcBef>
            </a:pPr>
            <a:r>
              <a:rPr lang="en-IN" sz="1600" dirty="0">
                <a:latin typeface="Trebuchet MS" panose="020B0603020202020204" pitchFamily="34" charset="0"/>
              </a:rPr>
              <a:t>value of a: 12</a:t>
            </a:r>
          </a:p>
          <a:p>
            <a:pPr>
              <a:spcBef>
                <a:spcPts val="600"/>
              </a:spcBef>
            </a:pPr>
            <a:r>
              <a:rPr lang="en-IN" sz="1600" dirty="0">
                <a:latin typeface="Trebuchet MS" panose="020B0603020202020204" pitchFamily="34" charset="0"/>
              </a:rPr>
              <a:t>value of a: 13</a:t>
            </a:r>
          </a:p>
          <a:p>
            <a:pPr>
              <a:spcBef>
                <a:spcPts val="600"/>
              </a:spcBef>
            </a:pPr>
            <a:r>
              <a:rPr lang="en-IN" sz="1600" dirty="0">
                <a:latin typeface="Trebuchet MS" panose="020B0603020202020204" pitchFamily="34" charset="0"/>
              </a:rPr>
              <a:t>value of a: 14</a:t>
            </a:r>
          </a:p>
          <a:p>
            <a:pPr>
              <a:spcBef>
                <a:spcPts val="600"/>
              </a:spcBef>
            </a:pPr>
            <a:r>
              <a:rPr lang="en-IN" sz="1600" dirty="0">
                <a:latin typeface="Trebuchet MS" panose="020B0603020202020204" pitchFamily="34" charset="0"/>
              </a:rPr>
              <a:t>value of a: 15</a:t>
            </a:r>
          </a:p>
          <a:p>
            <a:pPr>
              <a:spcBef>
                <a:spcPts val="600"/>
              </a:spcBef>
            </a:pPr>
            <a:r>
              <a:rPr lang="en-IN" sz="1600" dirty="0">
                <a:latin typeface="Trebuchet MS" panose="020B0603020202020204" pitchFamily="34" charset="0"/>
              </a:rPr>
              <a:t>value of a: 16</a:t>
            </a:r>
          </a:p>
          <a:p>
            <a:pPr>
              <a:spcBef>
                <a:spcPts val="600"/>
              </a:spcBef>
            </a:pPr>
            <a:r>
              <a:rPr lang="en-IN" sz="1600" dirty="0">
                <a:latin typeface="Trebuchet MS" panose="020B0603020202020204" pitchFamily="34" charset="0"/>
              </a:rPr>
              <a:t>value of a: 17</a:t>
            </a:r>
          </a:p>
          <a:p>
            <a:pPr>
              <a:spcBef>
                <a:spcPts val="600"/>
              </a:spcBef>
            </a:pPr>
            <a:r>
              <a:rPr lang="en-IN" sz="1600" dirty="0">
                <a:latin typeface="Trebuchet MS" panose="020B0603020202020204" pitchFamily="34" charset="0"/>
              </a:rPr>
              <a:t>value of a: 18</a:t>
            </a:r>
          </a:p>
          <a:p>
            <a:pPr>
              <a:spcBef>
                <a:spcPts val="600"/>
              </a:spcBef>
            </a:pPr>
            <a:r>
              <a:rPr lang="en-IN" sz="1600" dirty="0">
                <a:latin typeface="Trebuchet MS" panose="020B0603020202020204" pitchFamily="34" charset="0"/>
              </a:rPr>
              <a:t>value of a: 19</a:t>
            </a:r>
            <a:endParaRPr lang="en-IN" dirty="0">
              <a:latin typeface="Trebuchet MS" panose="020B0603020202020204" pitchFamily="34" charset="0"/>
            </a:endParaRPr>
          </a:p>
        </p:txBody>
      </p:sp>
    </p:spTree>
    <p:extLst>
      <p:ext uri="{BB962C8B-B14F-4D97-AF65-F5344CB8AC3E}">
        <p14:creationId xmlns:p14="http://schemas.microsoft.com/office/powerpoint/2010/main" val="21511174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99696" y="16387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While loop</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3" name="TextBox 2">
            <a:extLst>
              <a:ext uri="{FF2B5EF4-FFF2-40B4-BE49-F238E27FC236}">
                <a16:creationId xmlns:a16="http://schemas.microsoft.com/office/drawing/2014/main" id="{4034145E-7E63-3E2C-7FBF-FD9BF2028CA4}"/>
              </a:ext>
            </a:extLst>
          </p:cNvPr>
          <p:cNvSpPr txBox="1"/>
          <p:nvPr/>
        </p:nvSpPr>
        <p:spPr>
          <a:xfrm>
            <a:off x="321636" y="854132"/>
            <a:ext cx="8537239" cy="21189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In C++, while loop is used to iterate a part of the program several times.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while loops are used in situations where we do not know the exact number of iterations of the loop beforehand. The loop execution is terminated on the basis of the test conditions.</a:t>
            </a:r>
          </a:p>
          <a:p>
            <a:pPr marL="285750" indent="-285750">
              <a:lnSpc>
                <a:spcPct val="150000"/>
              </a:lnSpc>
              <a:buFont typeface="Arial" panose="020B0604020202020204" pitchFamily="34" charset="0"/>
              <a:buChar char="•"/>
            </a:pPr>
            <a:endParaRPr lang="en-IN" sz="1800" dirty="0">
              <a:latin typeface="Trebuchet MS" panose="020B0603020202020204" pitchFamily="34" charset="0"/>
            </a:endParaRPr>
          </a:p>
        </p:txBody>
      </p:sp>
      <p:sp>
        <p:nvSpPr>
          <p:cNvPr id="4" name="TextBox 3">
            <a:extLst>
              <a:ext uri="{FF2B5EF4-FFF2-40B4-BE49-F238E27FC236}">
                <a16:creationId xmlns:a16="http://schemas.microsoft.com/office/drawing/2014/main" id="{FD24B58C-91BA-7F4D-1365-C09CA7244B1F}"/>
              </a:ext>
            </a:extLst>
          </p:cNvPr>
          <p:cNvSpPr txBox="1"/>
          <p:nvPr/>
        </p:nvSpPr>
        <p:spPr>
          <a:xfrm>
            <a:off x="4269944" y="2339007"/>
            <a:ext cx="2864634" cy="2585323"/>
          </a:xfrm>
          <a:prstGeom prst="rect">
            <a:avLst/>
          </a:prstGeom>
          <a:noFill/>
          <a:ln w="28575">
            <a:solidFill>
              <a:srgbClr val="0070C0"/>
            </a:solidFill>
          </a:ln>
        </p:spPr>
        <p:txBody>
          <a:bodyPr wrap="square">
            <a:spAutoFit/>
          </a:bodyPr>
          <a:lstStyle/>
          <a:p>
            <a:pPr marR="0" lvl="0" algn="l" defTabSz="914400" rtl="0" eaLnBrk="1" fontAlgn="auto" latinLnBrk="0" hangingPunct="1">
              <a:lnSpc>
                <a:spcPct val="150000"/>
              </a:lnSpc>
              <a:spcBef>
                <a:spcPts val="0"/>
              </a:spcBef>
              <a:spcAft>
                <a:spcPts val="0"/>
              </a:spcAft>
              <a:buClr>
                <a:srgbClr val="000000"/>
              </a:buClr>
              <a:buSzTx/>
              <a:tabLst/>
              <a:defRPr/>
            </a:pPr>
            <a:r>
              <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Syntax:</a:t>
            </a:r>
          </a:p>
          <a:p>
            <a:pPr marR="0" lvl="0" algn="l" defTabSz="914400" rtl="0" eaLnBrk="1" fontAlgn="auto" latinLnBrk="0" hangingPunct="1">
              <a:lnSpc>
                <a:spcPct val="150000"/>
              </a:lnSpc>
              <a:spcBef>
                <a:spcPts val="0"/>
              </a:spcBef>
              <a:spcAft>
                <a:spcPts val="0"/>
              </a:spcAft>
              <a:buClr>
                <a:srgbClr val="000000"/>
              </a:buClr>
              <a:buSzTx/>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initialization;</a:t>
            </a:r>
          </a:p>
          <a:p>
            <a:pPr marR="0" lvl="0" algn="l" defTabSz="914400" rtl="0" eaLnBrk="1" fontAlgn="auto" latinLnBrk="0" hangingPunct="1">
              <a:lnSpc>
                <a:spcPct val="150000"/>
              </a:lnSpc>
              <a:spcBef>
                <a:spcPts val="0"/>
              </a:spcBef>
              <a:spcAft>
                <a:spcPts val="0"/>
              </a:spcAft>
              <a:buClr>
                <a:srgbClr val="000000"/>
              </a:buClr>
              <a:buSzTx/>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while (test</a:t>
            </a:r>
            <a:r>
              <a:rPr lang="en-IN" sz="1800" dirty="0">
                <a:solidFill>
                  <a:schemeClr val="tx1"/>
                </a:solidFill>
                <a:latin typeface="Trebuchet MS" panose="020B0603020202020204" pitchFamily="34" charset="0"/>
              </a:rPr>
              <a:t>_</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condition)</a:t>
            </a:r>
          </a:p>
          <a:p>
            <a:pPr marR="0" lvl="0" algn="l" defTabSz="914400" rtl="0" eaLnBrk="1" fontAlgn="auto" latinLnBrk="0" hangingPunct="1">
              <a:lnSpc>
                <a:spcPct val="150000"/>
              </a:lnSpc>
              <a:spcBef>
                <a:spcPts val="0"/>
              </a:spcBef>
              <a:spcAft>
                <a:spcPts val="0"/>
              </a:spcAft>
              <a:buClr>
                <a:srgbClr val="000000"/>
              </a:buClr>
              <a:buSzTx/>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a:p>
            <a:pPr marR="0" lvl="0" algn="l" defTabSz="914400" rtl="0" eaLnBrk="1" fontAlgn="auto" latinLnBrk="0" hangingPunct="1">
              <a:spcBef>
                <a:spcPts val="0"/>
              </a:spcBef>
              <a:spcAft>
                <a:spcPts val="0"/>
              </a:spcAft>
              <a:buClr>
                <a:srgbClr val="000000"/>
              </a:buClr>
              <a:buSzTx/>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   // statements</a:t>
            </a:r>
          </a:p>
          <a:p>
            <a:pPr marR="0" lvl="0" algn="l" defTabSz="914400" rtl="0" eaLnBrk="1" fontAlgn="auto" latinLnBrk="0" hangingPunct="1">
              <a:spcBef>
                <a:spcPts val="0"/>
              </a:spcBef>
              <a:spcAft>
                <a:spcPts val="0"/>
              </a:spcAft>
              <a:buClr>
                <a:srgbClr val="000000"/>
              </a:buClr>
              <a:buSzTx/>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err="1">
                <a:ln>
                  <a:noFill/>
                </a:ln>
                <a:solidFill>
                  <a:schemeClr val="tx1"/>
                </a:solidFill>
                <a:effectLst/>
                <a:uLnTx/>
                <a:uFillTx/>
                <a:latin typeface="Trebuchet MS" panose="020B0603020202020204" pitchFamily="34" charset="0"/>
                <a:cs typeface="Arial"/>
                <a:sym typeface="Arial"/>
              </a:rPr>
              <a:t>update_expression</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a:p>
            <a:pPr marR="0" lvl="0" algn="l" defTabSz="914400" rtl="0" eaLnBrk="1" fontAlgn="auto" latinLnBrk="0" hangingPunct="1">
              <a:spcBef>
                <a:spcPts val="0"/>
              </a:spcBef>
              <a:spcAft>
                <a:spcPts val="0"/>
              </a:spcAft>
              <a:buClr>
                <a:srgbClr val="000000"/>
              </a:buClr>
              <a:buSzTx/>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p:txBody>
      </p:sp>
    </p:spTree>
    <p:extLst>
      <p:ext uri="{BB962C8B-B14F-4D97-AF65-F5344CB8AC3E}">
        <p14:creationId xmlns:p14="http://schemas.microsoft.com/office/powerpoint/2010/main" val="379708407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99696" y="131797"/>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While loop – Example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3" name="TextBox 2">
            <a:extLst>
              <a:ext uri="{FF2B5EF4-FFF2-40B4-BE49-F238E27FC236}">
                <a16:creationId xmlns:a16="http://schemas.microsoft.com/office/drawing/2014/main" id="{2E424C40-9B53-989F-B1CC-4BE8EBF5C389}"/>
              </a:ext>
            </a:extLst>
          </p:cNvPr>
          <p:cNvSpPr txBox="1"/>
          <p:nvPr/>
        </p:nvSpPr>
        <p:spPr>
          <a:xfrm>
            <a:off x="324555" y="690607"/>
            <a:ext cx="4645376" cy="4262705"/>
          </a:xfrm>
          <a:prstGeom prst="rect">
            <a:avLst/>
          </a:prstGeom>
          <a:noFill/>
        </p:spPr>
        <p:txBody>
          <a:bodyPr wrap="square">
            <a:spAutoFit/>
          </a:bodyPr>
          <a:lstStyle/>
          <a:p>
            <a:pPr>
              <a:spcBef>
                <a:spcPts val="600"/>
              </a:spcBef>
            </a:pPr>
            <a:r>
              <a:rPr lang="en-IN" sz="1800" dirty="0">
                <a:latin typeface="Trebuchet MS" panose="020B0603020202020204" pitchFamily="34" charset="0"/>
              </a:rPr>
              <a:t>#include &lt;iostream&gt;</a:t>
            </a:r>
          </a:p>
          <a:p>
            <a:pPr>
              <a:spcBef>
                <a:spcPts val="600"/>
              </a:spcBef>
            </a:pPr>
            <a:r>
              <a:rPr lang="en-IN" sz="1800" dirty="0">
                <a:latin typeface="Trebuchet MS" panose="020B0603020202020204" pitchFamily="34" charset="0"/>
              </a:rPr>
              <a:t>using namespace std;</a:t>
            </a:r>
          </a:p>
          <a:p>
            <a:pPr>
              <a:spcBef>
                <a:spcPts val="600"/>
              </a:spcBef>
            </a:pPr>
            <a:r>
              <a:rPr lang="en-IN" sz="1800" dirty="0">
                <a:latin typeface="Trebuchet MS" panose="020B0603020202020204" pitchFamily="34" charset="0"/>
              </a:rPr>
              <a:t>int main()</a:t>
            </a:r>
          </a:p>
          <a:p>
            <a:pPr>
              <a:spcBef>
                <a:spcPts val="600"/>
              </a:spcBef>
            </a:pPr>
            <a:r>
              <a:rPr lang="en-IN" sz="1800" dirty="0">
                <a:latin typeface="Trebuchet MS" panose="020B0603020202020204" pitchFamily="34" charset="0"/>
              </a:rPr>
              <a:t>{</a:t>
            </a:r>
          </a:p>
          <a:p>
            <a:pPr>
              <a:spcBef>
                <a:spcPts val="600"/>
              </a:spcBef>
            </a:pPr>
            <a:r>
              <a:rPr lang="en-IN" sz="1800" dirty="0">
                <a:latin typeface="Trebuchet MS" panose="020B0603020202020204" pitchFamily="34" charset="0"/>
              </a:rPr>
              <a:t>    int </a:t>
            </a:r>
            <a:r>
              <a:rPr lang="en-IN" sz="1800" dirty="0" err="1">
                <a:latin typeface="Trebuchet MS" panose="020B0603020202020204" pitchFamily="34" charset="0"/>
              </a:rPr>
              <a:t>i</a:t>
            </a:r>
            <a:r>
              <a:rPr lang="en-IN" sz="1800" dirty="0">
                <a:latin typeface="Trebuchet MS" panose="020B0603020202020204" pitchFamily="34" charset="0"/>
              </a:rPr>
              <a:t> = 1; </a:t>
            </a:r>
            <a:r>
              <a:rPr lang="en-IN" sz="1800" dirty="0">
                <a:solidFill>
                  <a:srgbClr val="0070C0"/>
                </a:solidFill>
                <a:latin typeface="Trebuchet MS" panose="020B0603020202020204" pitchFamily="34" charset="0"/>
              </a:rPr>
              <a:t>// initialization</a:t>
            </a:r>
          </a:p>
          <a:p>
            <a:pPr>
              <a:spcBef>
                <a:spcPts val="600"/>
              </a:spcBef>
            </a:pPr>
            <a:r>
              <a:rPr lang="en-IN" sz="1800" dirty="0">
                <a:latin typeface="Trebuchet MS" panose="020B0603020202020204" pitchFamily="34" charset="0"/>
              </a:rPr>
              <a:t>    </a:t>
            </a:r>
            <a:r>
              <a:rPr lang="en-IN" sz="1800" b="1" dirty="0">
                <a:latin typeface="Trebuchet MS" panose="020B0603020202020204" pitchFamily="34" charset="0"/>
              </a:rPr>
              <a:t>while</a:t>
            </a:r>
            <a:r>
              <a:rPr lang="en-IN" sz="1800" dirty="0">
                <a:latin typeface="Trebuchet MS" panose="020B0603020202020204" pitchFamily="34" charset="0"/>
              </a:rPr>
              <a:t> (</a:t>
            </a:r>
            <a:r>
              <a:rPr lang="en-IN" sz="1800" dirty="0" err="1">
                <a:latin typeface="Trebuchet MS" panose="020B0603020202020204" pitchFamily="34" charset="0"/>
              </a:rPr>
              <a:t>i</a:t>
            </a:r>
            <a:r>
              <a:rPr lang="en-IN" sz="1800" dirty="0">
                <a:latin typeface="Trebuchet MS" panose="020B0603020202020204" pitchFamily="34" charset="0"/>
              </a:rPr>
              <a:t> &lt; 6) </a:t>
            </a:r>
            <a:r>
              <a:rPr lang="en-IN" sz="1800" dirty="0">
                <a:solidFill>
                  <a:srgbClr val="0070C0"/>
                </a:solidFill>
                <a:latin typeface="Trebuchet MS" panose="020B0603020202020204" pitchFamily="34" charset="0"/>
              </a:rPr>
              <a:t>// test condition </a:t>
            </a:r>
          </a:p>
          <a:p>
            <a:pPr>
              <a:spcBef>
                <a:spcPts val="600"/>
              </a:spcBef>
            </a:pPr>
            <a:r>
              <a:rPr lang="en-IN" sz="1800" dirty="0">
                <a:latin typeface="Trebuchet MS" panose="020B0603020202020204" pitchFamily="34" charset="0"/>
              </a:rPr>
              <a:t>    {</a:t>
            </a:r>
          </a:p>
          <a:p>
            <a:pPr>
              <a:spcBef>
                <a:spcPts val="600"/>
              </a:spcBef>
            </a:pPr>
            <a:r>
              <a:rPr lang="en-IN" sz="1800" dirty="0">
                <a:latin typeface="Trebuchet MS" panose="020B0603020202020204" pitchFamily="34" charset="0"/>
              </a:rPr>
              <a:t>        </a:t>
            </a:r>
            <a:r>
              <a:rPr lang="en-IN" sz="1800" dirty="0" err="1">
                <a:latin typeface="Trebuchet MS" panose="020B0603020202020204" pitchFamily="34" charset="0"/>
              </a:rPr>
              <a:t>cout</a:t>
            </a:r>
            <a:r>
              <a:rPr lang="en-IN" sz="1800" dirty="0">
                <a:latin typeface="Trebuchet MS" panose="020B0603020202020204" pitchFamily="34" charset="0"/>
              </a:rPr>
              <a:t> &lt;&lt; "Hello World\n";</a:t>
            </a:r>
          </a:p>
          <a:p>
            <a:pPr>
              <a:spcBef>
                <a:spcPts val="600"/>
              </a:spcBef>
            </a:pPr>
            <a:r>
              <a:rPr lang="en-IN" sz="1800" dirty="0">
                <a:latin typeface="Trebuchet MS" panose="020B0603020202020204" pitchFamily="34" charset="0"/>
              </a:rPr>
              <a:t>        </a:t>
            </a:r>
            <a:r>
              <a:rPr lang="en-IN" sz="1800" dirty="0" err="1">
                <a:latin typeface="Trebuchet MS" panose="020B0603020202020204" pitchFamily="34" charset="0"/>
              </a:rPr>
              <a:t>i</a:t>
            </a:r>
            <a:r>
              <a:rPr lang="en-IN" sz="1800" dirty="0">
                <a:latin typeface="Trebuchet MS" panose="020B0603020202020204" pitchFamily="34" charset="0"/>
              </a:rPr>
              <a:t>++; </a:t>
            </a:r>
            <a:r>
              <a:rPr lang="en-IN" sz="1800" dirty="0">
                <a:solidFill>
                  <a:srgbClr val="0070C0"/>
                </a:solidFill>
                <a:latin typeface="Trebuchet MS" panose="020B0603020202020204" pitchFamily="34" charset="0"/>
              </a:rPr>
              <a:t>// update expression</a:t>
            </a:r>
          </a:p>
          <a:p>
            <a:pPr>
              <a:spcBef>
                <a:spcPts val="600"/>
              </a:spcBef>
            </a:pPr>
            <a:r>
              <a:rPr lang="en-IN" sz="1800" dirty="0">
                <a:latin typeface="Trebuchet MS" panose="020B0603020202020204" pitchFamily="34" charset="0"/>
              </a:rPr>
              <a:t>    }</a:t>
            </a:r>
          </a:p>
          <a:p>
            <a:pPr>
              <a:spcBef>
                <a:spcPts val="600"/>
              </a:spcBef>
            </a:pPr>
            <a:r>
              <a:rPr lang="en-IN" sz="1800" dirty="0">
                <a:latin typeface="Trebuchet MS" panose="020B0603020202020204" pitchFamily="34" charset="0"/>
              </a:rPr>
              <a:t>return 0;</a:t>
            </a:r>
          </a:p>
          <a:p>
            <a:pPr>
              <a:spcBef>
                <a:spcPts val="600"/>
              </a:spcBef>
            </a:pPr>
            <a:r>
              <a:rPr lang="en-IN" sz="1800" dirty="0">
                <a:latin typeface="Trebuchet MS" panose="020B0603020202020204" pitchFamily="34" charset="0"/>
              </a:rPr>
              <a:t>}</a:t>
            </a:r>
          </a:p>
        </p:txBody>
      </p:sp>
      <p:sp>
        <p:nvSpPr>
          <p:cNvPr id="6" name="TextBox 5">
            <a:extLst>
              <a:ext uri="{FF2B5EF4-FFF2-40B4-BE49-F238E27FC236}">
                <a16:creationId xmlns:a16="http://schemas.microsoft.com/office/drawing/2014/main" id="{ED3BC10E-B6DA-1581-4361-7031619857FD}"/>
              </a:ext>
            </a:extLst>
          </p:cNvPr>
          <p:cNvSpPr txBox="1"/>
          <p:nvPr/>
        </p:nvSpPr>
        <p:spPr>
          <a:xfrm>
            <a:off x="5133623" y="1879239"/>
            <a:ext cx="1933221" cy="2492990"/>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pPr>
              <a:spcBef>
                <a:spcPts val="600"/>
              </a:spcBef>
            </a:pPr>
            <a:r>
              <a:rPr lang="en-IN" sz="1800" dirty="0">
                <a:solidFill>
                  <a:srgbClr val="0070C0"/>
                </a:solidFill>
                <a:latin typeface="Trebuchet MS" panose="020B0603020202020204" pitchFamily="34" charset="0"/>
              </a:rPr>
              <a:t>Output:</a:t>
            </a:r>
          </a:p>
          <a:p>
            <a:pPr>
              <a:spcBef>
                <a:spcPts val="600"/>
              </a:spcBef>
            </a:pPr>
            <a:endParaRPr lang="en-IN" sz="1800" dirty="0">
              <a:solidFill>
                <a:srgbClr val="0070C0"/>
              </a:solidFill>
              <a:latin typeface="Trebuchet MS" panose="020B0603020202020204" pitchFamily="34" charset="0"/>
            </a:endParaRPr>
          </a:p>
          <a:p>
            <a:pPr>
              <a:spcBef>
                <a:spcPts val="600"/>
              </a:spcBef>
            </a:pPr>
            <a:r>
              <a:rPr lang="en-IN" sz="1800" dirty="0">
                <a:latin typeface="Trebuchet MS" panose="020B0603020202020204" pitchFamily="34" charset="0"/>
              </a:rPr>
              <a:t>Hello World</a:t>
            </a:r>
          </a:p>
          <a:p>
            <a:pPr>
              <a:spcBef>
                <a:spcPts val="600"/>
              </a:spcBef>
            </a:pPr>
            <a:r>
              <a:rPr lang="en-IN" sz="1800" dirty="0">
                <a:latin typeface="Trebuchet MS" panose="020B0603020202020204" pitchFamily="34" charset="0"/>
              </a:rPr>
              <a:t>Hello World</a:t>
            </a:r>
          </a:p>
          <a:p>
            <a:pPr>
              <a:spcBef>
                <a:spcPts val="600"/>
              </a:spcBef>
            </a:pPr>
            <a:r>
              <a:rPr lang="en-IN" sz="1800" dirty="0">
                <a:latin typeface="Trebuchet MS" panose="020B0603020202020204" pitchFamily="34" charset="0"/>
              </a:rPr>
              <a:t>Hello World</a:t>
            </a:r>
          </a:p>
          <a:p>
            <a:pPr>
              <a:spcBef>
                <a:spcPts val="600"/>
              </a:spcBef>
            </a:pPr>
            <a:r>
              <a:rPr lang="en-IN" sz="1800" dirty="0">
                <a:latin typeface="Trebuchet MS" panose="020B0603020202020204" pitchFamily="34" charset="0"/>
              </a:rPr>
              <a:t>Hello World</a:t>
            </a:r>
          </a:p>
          <a:p>
            <a:pPr>
              <a:spcBef>
                <a:spcPts val="600"/>
              </a:spcBef>
            </a:pPr>
            <a:r>
              <a:rPr lang="en-IN" sz="1800" dirty="0">
                <a:latin typeface="Trebuchet MS" panose="020B0603020202020204" pitchFamily="34" charset="0"/>
              </a:rPr>
              <a:t>Hello World</a:t>
            </a:r>
            <a:endParaRPr lang="en-IN" dirty="0">
              <a:latin typeface="Trebuchet MS" panose="020B0603020202020204" pitchFamily="34" charset="0"/>
            </a:endParaRPr>
          </a:p>
        </p:txBody>
      </p:sp>
    </p:spTree>
    <p:extLst>
      <p:ext uri="{BB962C8B-B14F-4D97-AF65-F5344CB8AC3E}">
        <p14:creationId xmlns:p14="http://schemas.microsoft.com/office/powerpoint/2010/main" val="149428022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35243"/>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Do - While loop</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4" name="TextBox 3">
            <a:extLst>
              <a:ext uri="{FF2B5EF4-FFF2-40B4-BE49-F238E27FC236}">
                <a16:creationId xmlns:a16="http://schemas.microsoft.com/office/drawing/2014/main" id="{2DB9769D-7F21-578C-A61A-BB9051BF4093}"/>
              </a:ext>
            </a:extLst>
          </p:cNvPr>
          <p:cNvSpPr txBox="1"/>
          <p:nvPr/>
        </p:nvSpPr>
        <p:spPr>
          <a:xfrm>
            <a:off x="340093" y="988114"/>
            <a:ext cx="8463764" cy="336547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In Do-while loops also the loop execution is terminated on the basis of test conditions.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The main difference between a do-while loop and the while loop is in the do-while loop the condition is tested at the end of the loop body, </a:t>
            </a:r>
            <a:r>
              <a:rPr lang="en-IN" sz="1800" dirty="0" err="1">
                <a:latin typeface="Trebuchet MS" panose="020B0603020202020204" pitchFamily="34" charset="0"/>
              </a:rPr>
              <a:t>i.e</a:t>
            </a:r>
            <a:r>
              <a:rPr lang="en-IN" sz="1800" dirty="0">
                <a:latin typeface="Trebuchet MS" panose="020B0603020202020204" pitchFamily="34" charset="0"/>
              </a:rPr>
              <a:t> do-while loop is exit controlled whereas the other two loops are entry-controlled loops.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In a do-while loop, the loop body will execute at least once irrespective of the test condition.</a:t>
            </a:r>
          </a:p>
        </p:txBody>
      </p:sp>
    </p:spTree>
    <p:extLst>
      <p:ext uri="{BB962C8B-B14F-4D97-AF65-F5344CB8AC3E}">
        <p14:creationId xmlns:p14="http://schemas.microsoft.com/office/powerpoint/2010/main" val="31166469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43834"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Do - While loop</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3" name="TextBox 2">
            <a:extLst>
              <a:ext uri="{FF2B5EF4-FFF2-40B4-BE49-F238E27FC236}">
                <a16:creationId xmlns:a16="http://schemas.microsoft.com/office/drawing/2014/main" id="{00A7F482-16FB-5161-788A-85722038E2E1}"/>
              </a:ext>
            </a:extLst>
          </p:cNvPr>
          <p:cNvSpPr txBox="1"/>
          <p:nvPr/>
        </p:nvSpPr>
        <p:spPr>
          <a:xfrm>
            <a:off x="496711" y="877365"/>
            <a:ext cx="2664177" cy="2632452"/>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IN" sz="1600" dirty="0">
                <a:solidFill>
                  <a:srgbClr val="0070C0"/>
                </a:solidFill>
                <a:latin typeface="Trebuchet MS" panose="020B0603020202020204" pitchFamily="34" charset="0"/>
              </a:rPr>
              <a:t>Syntax: </a:t>
            </a:r>
          </a:p>
          <a:p>
            <a:pPr>
              <a:lnSpc>
                <a:spcPct val="150000"/>
              </a:lnSpc>
            </a:pPr>
            <a:r>
              <a:rPr lang="en-IN" sz="1600" dirty="0">
                <a:latin typeface="Trebuchet MS" panose="020B0603020202020204" pitchFamily="34" charset="0"/>
              </a:rPr>
              <a:t>initialization condition;</a:t>
            </a:r>
          </a:p>
          <a:p>
            <a:pPr>
              <a:lnSpc>
                <a:spcPct val="150000"/>
              </a:lnSpc>
            </a:pPr>
            <a:r>
              <a:rPr lang="en-IN" sz="1600" b="1" dirty="0">
                <a:latin typeface="Trebuchet MS" panose="020B0603020202020204" pitchFamily="34" charset="0"/>
              </a:rPr>
              <a:t>do</a:t>
            </a:r>
          </a:p>
          <a:p>
            <a:pPr>
              <a:lnSpc>
                <a:spcPct val="150000"/>
              </a:lnSpc>
            </a:pPr>
            <a:r>
              <a:rPr lang="en-IN" sz="1600" dirty="0">
                <a:latin typeface="Trebuchet MS" panose="020B0603020202020204" pitchFamily="34" charset="0"/>
              </a:rPr>
              <a:t>{</a:t>
            </a:r>
          </a:p>
          <a:p>
            <a:pPr>
              <a:lnSpc>
                <a:spcPct val="150000"/>
              </a:lnSpc>
            </a:pPr>
            <a:r>
              <a:rPr lang="en-IN" sz="1600" dirty="0">
                <a:latin typeface="Trebuchet MS" panose="020B0603020202020204" pitchFamily="34" charset="0"/>
              </a:rPr>
              <a:t>   // statements</a:t>
            </a:r>
          </a:p>
          <a:p>
            <a:pPr>
              <a:lnSpc>
                <a:spcPct val="150000"/>
              </a:lnSpc>
            </a:pPr>
            <a:r>
              <a:rPr lang="en-IN" sz="1600" dirty="0">
                <a:latin typeface="Trebuchet MS" panose="020B0603020202020204" pitchFamily="34" charset="0"/>
              </a:rPr>
              <a:t>   </a:t>
            </a:r>
            <a:r>
              <a:rPr lang="en-IN" sz="1600" dirty="0" err="1">
                <a:latin typeface="Trebuchet MS" panose="020B0603020202020204" pitchFamily="34" charset="0"/>
              </a:rPr>
              <a:t>update_expression</a:t>
            </a:r>
            <a:r>
              <a:rPr lang="en-IN" sz="1600" dirty="0">
                <a:latin typeface="Trebuchet MS" panose="020B0603020202020204" pitchFamily="34" charset="0"/>
              </a:rPr>
              <a:t>;</a:t>
            </a:r>
          </a:p>
          <a:p>
            <a:pPr>
              <a:lnSpc>
                <a:spcPct val="150000"/>
              </a:lnSpc>
            </a:pPr>
            <a:r>
              <a:rPr lang="en-IN" sz="1600" dirty="0">
                <a:latin typeface="Trebuchet MS" panose="020B0603020202020204" pitchFamily="34" charset="0"/>
              </a:rPr>
              <a:t>} </a:t>
            </a:r>
            <a:r>
              <a:rPr lang="en-IN" sz="1600" b="1" dirty="0">
                <a:latin typeface="Trebuchet MS" panose="020B0603020202020204" pitchFamily="34" charset="0"/>
              </a:rPr>
              <a:t>while </a:t>
            </a:r>
            <a:r>
              <a:rPr lang="en-IN" sz="1600" dirty="0">
                <a:latin typeface="Trebuchet MS" panose="020B0603020202020204" pitchFamily="34" charset="0"/>
              </a:rPr>
              <a:t>(</a:t>
            </a:r>
            <a:r>
              <a:rPr lang="en-IN" sz="1600" dirty="0" err="1">
                <a:latin typeface="Trebuchet MS" panose="020B0603020202020204" pitchFamily="34" charset="0"/>
              </a:rPr>
              <a:t>test_condition</a:t>
            </a:r>
            <a:r>
              <a:rPr lang="en-IN" sz="1600" dirty="0">
                <a:latin typeface="Trebuchet MS" panose="020B0603020202020204" pitchFamily="34" charset="0"/>
              </a:rPr>
              <a:t>);</a:t>
            </a:r>
          </a:p>
        </p:txBody>
      </p:sp>
      <p:sp>
        <p:nvSpPr>
          <p:cNvPr id="7" name="TextBox 6">
            <a:extLst>
              <a:ext uri="{FF2B5EF4-FFF2-40B4-BE49-F238E27FC236}">
                <a16:creationId xmlns:a16="http://schemas.microsoft.com/office/drawing/2014/main" id="{CE41CFDA-F9AB-EC1B-5F05-4CA13D059ACC}"/>
              </a:ext>
            </a:extLst>
          </p:cNvPr>
          <p:cNvSpPr txBox="1"/>
          <p:nvPr/>
        </p:nvSpPr>
        <p:spPr>
          <a:xfrm>
            <a:off x="338666" y="3827305"/>
            <a:ext cx="6389511" cy="338554"/>
          </a:xfrm>
          <a:prstGeom prst="rect">
            <a:avLst/>
          </a:prstGeom>
          <a:noFill/>
        </p:spPr>
        <p:txBody>
          <a:bodyPr wrap="square">
            <a:spAutoFit/>
          </a:bodyPr>
          <a:lstStyle/>
          <a:p>
            <a:r>
              <a:rPr lang="en-IN" sz="1600" dirty="0">
                <a:latin typeface="Trebuchet MS" panose="020B0603020202020204" pitchFamily="34" charset="0"/>
              </a:rPr>
              <a:t>Note: Notice the semi – colon(“;”)in the end of loop.</a:t>
            </a:r>
          </a:p>
        </p:txBody>
      </p:sp>
    </p:spTree>
    <p:extLst>
      <p:ext uri="{BB962C8B-B14F-4D97-AF65-F5344CB8AC3E}">
        <p14:creationId xmlns:p14="http://schemas.microsoft.com/office/powerpoint/2010/main" val="112463340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165830" y="105265"/>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Do - While loop Example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4" name="TextBox 3">
            <a:extLst>
              <a:ext uri="{FF2B5EF4-FFF2-40B4-BE49-F238E27FC236}">
                <a16:creationId xmlns:a16="http://schemas.microsoft.com/office/drawing/2014/main" id="{9D7326D1-22A6-B207-2130-2E7BF5CCC6BE}"/>
              </a:ext>
            </a:extLst>
          </p:cNvPr>
          <p:cNvSpPr txBox="1"/>
          <p:nvPr/>
        </p:nvSpPr>
        <p:spPr>
          <a:xfrm>
            <a:off x="323874" y="665752"/>
            <a:ext cx="4651022" cy="4479111"/>
          </a:xfrm>
          <a:prstGeom prst="rect">
            <a:avLst/>
          </a:prstGeom>
          <a:noFill/>
        </p:spPr>
        <p:txBody>
          <a:bodyPr wrap="square">
            <a:spAutoFit/>
          </a:bodyPr>
          <a:lstStyle/>
          <a:p>
            <a:pPr>
              <a:lnSpc>
                <a:spcPct val="150000"/>
              </a:lnSpc>
            </a:pPr>
            <a:r>
              <a:rPr lang="en-IN" sz="1600" dirty="0">
                <a:latin typeface="Trebuchet MS" panose="020B0603020202020204" pitchFamily="34" charset="0"/>
              </a:rPr>
              <a:t>#include &lt;iostream&gt;</a:t>
            </a:r>
          </a:p>
          <a:p>
            <a:pPr>
              <a:lnSpc>
                <a:spcPct val="150000"/>
              </a:lnSpc>
            </a:pPr>
            <a:r>
              <a:rPr lang="en-IN" sz="1600" dirty="0">
                <a:latin typeface="Trebuchet MS" panose="020B0603020202020204" pitchFamily="34" charset="0"/>
              </a:rPr>
              <a:t>using namespace std;</a:t>
            </a:r>
          </a:p>
          <a:p>
            <a:pPr>
              <a:lnSpc>
                <a:spcPct val="150000"/>
              </a:lnSpc>
            </a:pPr>
            <a:r>
              <a:rPr lang="en-IN" sz="1600" dirty="0">
                <a:latin typeface="Trebuchet MS" panose="020B0603020202020204" pitchFamily="34" charset="0"/>
              </a:rPr>
              <a:t>int main()</a:t>
            </a:r>
          </a:p>
          <a:p>
            <a:pPr>
              <a:lnSpc>
                <a:spcPct val="150000"/>
              </a:lnSpc>
            </a:pPr>
            <a:r>
              <a:rPr lang="en-IN" sz="1600" dirty="0">
                <a:latin typeface="Trebuchet MS" panose="020B0603020202020204" pitchFamily="34" charset="0"/>
              </a:rPr>
              <a:t>{</a:t>
            </a:r>
          </a:p>
          <a:p>
            <a:pPr>
              <a:lnSpc>
                <a:spcPct val="150000"/>
              </a:lnSpc>
            </a:pPr>
            <a:r>
              <a:rPr lang="en-IN" sz="1600" dirty="0">
                <a:latin typeface="Trebuchet MS" panose="020B0603020202020204" pitchFamily="34" charset="0"/>
              </a:rPr>
              <a:t>    int </a:t>
            </a:r>
            <a:r>
              <a:rPr lang="en-IN" sz="1600" dirty="0" err="1">
                <a:latin typeface="Trebuchet MS" panose="020B0603020202020204" pitchFamily="34" charset="0"/>
              </a:rPr>
              <a:t>i</a:t>
            </a:r>
            <a:r>
              <a:rPr lang="en-IN" sz="1600" dirty="0">
                <a:latin typeface="Trebuchet MS" panose="020B0603020202020204" pitchFamily="34" charset="0"/>
              </a:rPr>
              <a:t> = 2; </a:t>
            </a:r>
            <a:r>
              <a:rPr lang="en-IN" sz="1600" dirty="0">
                <a:solidFill>
                  <a:srgbClr val="0070C0"/>
                </a:solidFill>
                <a:latin typeface="Trebuchet MS" panose="020B0603020202020204" pitchFamily="34" charset="0"/>
              </a:rPr>
              <a:t>// Initialization condition</a:t>
            </a:r>
          </a:p>
          <a:p>
            <a:pPr>
              <a:lnSpc>
                <a:spcPct val="150000"/>
              </a:lnSpc>
            </a:pPr>
            <a:r>
              <a:rPr lang="en-IN" sz="1600" dirty="0">
                <a:latin typeface="Trebuchet MS" panose="020B0603020202020204" pitchFamily="34" charset="0"/>
              </a:rPr>
              <a:t>   do {</a:t>
            </a:r>
          </a:p>
          <a:p>
            <a:pPr>
              <a:lnSpc>
                <a:spcPct val="150000"/>
              </a:lnSpc>
            </a:pPr>
            <a:r>
              <a:rPr lang="en-IN" sz="1600" dirty="0">
                <a:latin typeface="Trebuchet MS" panose="020B0603020202020204" pitchFamily="34" charset="0"/>
              </a:rPr>
              <a:t>        </a:t>
            </a:r>
            <a:r>
              <a:rPr lang="en-IN" sz="1600" dirty="0">
                <a:solidFill>
                  <a:srgbClr val="0070C0"/>
                </a:solidFill>
                <a:latin typeface="Trebuchet MS" panose="020B0603020202020204" pitchFamily="34" charset="0"/>
              </a:rPr>
              <a:t>// loop body</a:t>
            </a:r>
          </a:p>
          <a:p>
            <a:pPr>
              <a:lnSpc>
                <a:spcPct val="150000"/>
              </a:lnSpc>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"Hello World\n";</a:t>
            </a:r>
          </a:p>
          <a:p>
            <a:pPr>
              <a:lnSpc>
                <a:spcPct val="150000"/>
              </a:lnSpc>
            </a:pPr>
            <a:r>
              <a:rPr lang="en-IN" sz="1600" dirty="0">
                <a:latin typeface="Trebuchet MS" panose="020B0603020202020204" pitchFamily="34" charset="0"/>
              </a:rPr>
              <a:t>            </a:t>
            </a:r>
            <a:r>
              <a:rPr lang="en-IN" sz="1600" dirty="0" err="1">
                <a:latin typeface="Trebuchet MS" panose="020B0603020202020204" pitchFamily="34" charset="0"/>
              </a:rPr>
              <a:t>i</a:t>
            </a:r>
            <a:r>
              <a:rPr lang="en-IN" sz="1600" dirty="0">
                <a:latin typeface="Trebuchet MS" panose="020B0603020202020204" pitchFamily="34" charset="0"/>
              </a:rPr>
              <a:t>++; </a:t>
            </a:r>
            <a:r>
              <a:rPr lang="en-IN" sz="1600" dirty="0">
                <a:solidFill>
                  <a:srgbClr val="0070C0"/>
                </a:solidFill>
                <a:latin typeface="Trebuchet MS" panose="020B0603020202020204" pitchFamily="34" charset="0"/>
              </a:rPr>
              <a:t>// update expression</a:t>
            </a:r>
          </a:p>
          <a:p>
            <a:pPr>
              <a:lnSpc>
                <a:spcPct val="150000"/>
              </a:lnSpc>
            </a:pPr>
            <a:r>
              <a:rPr lang="en-IN" sz="1600" dirty="0">
                <a:latin typeface="Trebuchet MS" panose="020B0603020202020204" pitchFamily="34" charset="0"/>
              </a:rPr>
              <a:t>       } while (</a:t>
            </a:r>
            <a:r>
              <a:rPr lang="en-IN" sz="1600" dirty="0" err="1">
                <a:latin typeface="Trebuchet MS" panose="020B0603020202020204" pitchFamily="34" charset="0"/>
              </a:rPr>
              <a:t>i</a:t>
            </a:r>
            <a:r>
              <a:rPr lang="en-IN" sz="1600" dirty="0">
                <a:latin typeface="Trebuchet MS" panose="020B0603020202020204" pitchFamily="34" charset="0"/>
              </a:rPr>
              <a:t> &lt; 1); </a:t>
            </a:r>
            <a:r>
              <a:rPr lang="en-IN" sz="1600" dirty="0">
                <a:solidFill>
                  <a:srgbClr val="0070C0"/>
                </a:solidFill>
                <a:latin typeface="Trebuchet MS" panose="020B0603020202020204" pitchFamily="34" charset="0"/>
              </a:rPr>
              <a:t>// test condition </a:t>
            </a:r>
          </a:p>
          <a:p>
            <a:pPr>
              <a:lnSpc>
                <a:spcPct val="150000"/>
              </a:lnSpc>
            </a:pPr>
            <a:r>
              <a:rPr lang="en-IN" sz="1600" dirty="0">
                <a:latin typeface="Trebuchet MS" panose="020B0603020202020204" pitchFamily="34" charset="0"/>
              </a:rPr>
              <a:t>     return 0;</a:t>
            </a:r>
          </a:p>
          <a:p>
            <a:pPr>
              <a:lnSpc>
                <a:spcPct val="150000"/>
              </a:lnSpc>
            </a:pPr>
            <a:r>
              <a:rPr lang="en-IN" sz="1600" dirty="0">
                <a:latin typeface="Trebuchet MS" panose="020B0603020202020204" pitchFamily="34" charset="0"/>
              </a:rPr>
              <a:t>}</a:t>
            </a:r>
          </a:p>
        </p:txBody>
      </p:sp>
      <p:sp>
        <p:nvSpPr>
          <p:cNvPr id="8" name="TextBox 7">
            <a:extLst>
              <a:ext uri="{FF2B5EF4-FFF2-40B4-BE49-F238E27FC236}">
                <a16:creationId xmlns:a16="http://schemas.microsoft.com/office/drawing/2014/main" id="{D47EBFD4-1704-9E13-8223-08688C64EBA0}"/>
              </a:ext>
            </a:extLst>
          </p:cNvPr>
          <p:cNvSpPr txBox="1"/>
          <p:nvPr/>
        </p:nvSpPr>
        <p:spPr>
          <a:xfrm>
            <a:off x="5132028" y="2178840"/>
            <a:ext cx="2231422" cy="785793"/>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IN" sz="1600" dirty="0">
                <a:solidFill>
                  <a:srgbClr val="0070C0"/>
                </a:solidFill>
                <a:latin typeface="Trebuchet MS" panose="020B0603020202020204" pitchFamily="34" charset="0"/>
              </a:rPr>
              <a:t>Output</a:t>
            </a:r>
          </a:p>
          <a:p>
            <a:pPr>
              <a:lnSpc>
                <a:spcPct val="150000"/>
              </a:lnSpc>
            </a:pPr>
            <a:r>
              <a:rPr lang="en-IN" sz="1600" dirty="0">
                <a:latin typeface="Trebuchet MS" panose="020B0603020202020204" pitchFamily="34" charset="0"/>
              </a:rPr>
              <a:t>Hello World</a:t>
            </a:r>
          </a:p>
        </p:txBody>
      </p:sp>
    </p:spTree>
    <p:extLst>
      <p:ext uri="{BB962C8B-B14F-4D97-AF65-F5344CB8AC3E}">
        <p14:creationId xmlns:p14="http://schemas.microsoft.com/office/powerpoint/2010/main" val="211047472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4" name="TextBox 3">
            <a:extLst>
              <a:ext uri="{FF2B5EF4-FFF2-40B4-BE49-F238E27FC236}">
                <a16:creationId xmlns:a16="http://schemas.microsoft.com/office/drawing/2014/main" id="{04333EDE-B831-CB76-B5B2-9B11FDDCD69D}"/>
              </a:ext>
            </a:extLst>
          </p:cNvPr>
          <p:cNvSpPr txBox="1"/>
          <p:nvPr/>
        </p:nvSpPr>
        <p:spPr>
          <a:xfrm>
            <a:off x="516352" y="881512"/>
            <a:ext cx="8102131" cy="410881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Jump statements are used to manipulate the flow of the program if some conditions are met.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It is used to terminating or continues the loop inside a program or to stop the execution of a function.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In C++ there is four jump statements, They are  </a:t>
            </a:r>
          </a:p>
          <a:p>
            <a:pPr marL="795337" indent="-342900">
              <a:lnSpc>
                <a:spcPct val="150000"/>
              </a:lnSpc>
              <a:buFont typeface="+mj-lt"/>
              <a:buAutoNum type="arabicPeriod"/>
            </a:pPr>
            <a:r>
              <a:rPr lang="en-IN" sz="1800" dirty="0">
                <a:latin typeface="Trebuchet MS" panose="020B0603020202020204" pitchFamily="34" charset="0"/>
              </a:rPr>
              <a:t>	continue </a:t>
            </a:r>
          </a:p>
          <a:p>
            <a:pPr marL="795337" indent="-342900">
              <a:lnSpc>
                <a:spcPct val="150000"/>
              </a:lnSpc>
              <a:buFont typeface="+mj-lt"/>
              <a:buAutoNum type="arabicPeriod"/>
            </a:pPr>
            <a:r>
              <a:rPr lang="en-IN" sz="1800" dirty="0">
                <a:latin typeface="Trebuchet MS" panose="020B0603020202020204" pitchFamily="34" charset="0"/>
              </a:rPr>
              <a:t>	break</a:t>
            </a:r>
          </a:p>
          <a:p>
            <a:pPr marL="795337" indent="-342900">
              <a:lnSpc>
                <a:spcPct val="150000"/>
              </a:lnSpc>
              <a:buFont typeface="+mj-lt"/>
              <a:buAutoNum type="arabicPeriod"/>
            </a:pPr>
            <a:r>
              <a:rPr lang="en-IN" sz="1800" dirty="0">
                <a:latin typeface="Trebuchet MS" panose="020B0603020202020204" pitchFamily="34" charset="0"/>
              </a:rPr>
              <a:t>	return </a:t>
            </a:r>
          </a:p>
          <a:p>
            <a:pPr marL="795337" indent="-342900">
              <a:lnSpc>
                <a:spcPct val="150000"/>
              </a:lnSpc>
              <a:buFont typeface="+mj-lt"/>
              <a:buAutoNum type="arabicPeriod"/>
            </a:pPr>
            <a:r>
              <a:rPr lang="en-IN" sz="1800" dirty="0">
                <a:latin typeface="Trebuchet MS" panose="020B0603020202020204" pitchFamily="34" charset="0"/>
              </a:rPr>
              <a:t>	</a:t>
            </a:r>
            <a:r>
              <a:rPr lang="en-IN" sz="1800" dirty="0" err="1">
                <a:latin typeface="Trebuchet MS" panose="020B0603020202020204" pitchFamily="34" charset="0"/>
              </a:rPr>
              <a:t>goto</a:t>
            </a:r>
            <a:r>
              <a:rPr lang="en-IN" sz="1800" dirty="0">
                <a:latin typeface="Trebuchet MS" panose="020B0603020202020204" pitchFamily="34" charset="0"/>
              </a:rPr>
              <a:t> </a:t>
            </a:r>
          </a:p>
          <a:p>
            <a:endParaRPr lang="en-IN" sz="1800" dirty="0">
              <a:latin typeface="Trebuchet MS" panose="020B0603020202020204" pitchFamily="34" charset="0"/>
            </a:endParaRPr>
          </a:p>
        </p:txBody>
      </p:sp>
    </p:spTree>
    <p:extLst>
      <p:ext uri="{BB962C8B-B14F-4D97-AF65-F5344CB8AC3E}">
        <p14:creationId xmlns:p14="http://schemas.microsoft.com/office/powerpoint/2010/main" val="120741401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3" name="TextBox 2">
            <a:extLst>
              <a:ext uri="{FF2B5EF4-FFF2-40B4-BE49-F238E27FC236}">
                <a16:creationId xmlns:a16="http://schemas.microsoft.com/office/drawing/2014/main" id="{3532A73B-6390-97CF-5DFB-754D81F379B4}"/>
              </a:ext>
            </a:extLst>
          </p:cNvPr>
          <p:cNvSpPr txBox="1"/>
          <p:nvPr/>
        </p:nvSpPr>
        <p:spPr>
          <a:xfrm>
            <a:off x="399392" y="848057"/>
            <a:ext cx="7956331" cy="3780971"/>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
                <a:srgbClr val="000000"/>
              </a:buClr>
              <a:buSzTx/>
              <a:tabLst/>
              <a:defRPr/>
            </a:pPr>
            <a:r>
              <a:rPr kumimoji="0" lang="en-IN" sz="1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Continue statement </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is used to execute other parts of the loop while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skipping some parts declared inside the condition,</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rather than terminating the loop, it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continues to execute the next iteration of the same loop</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is used with a decision-making statement which </a:t>
            </a:r>
            <a:r>
              <a:rPr kumimoji="0" lang="en-IN" sz="1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must be present inside the loo</a:t>
            </a: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p.</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IN" sz="1800" dirty="0">
                <a:latin typeface="Trebuchet MS" panose="020B0603020202020204" pitchFamily="34" charset="0"/>
              </a:rPr>
              <a:t>This statement can be used inside </a:t>
            </a:r>
            <a:r>
              <a:rPr lang="en-IN" sz="1800" b="1" dirty="0">
                <a:latin typeface="Trebuchet MS" panose="020B0603020202020204" pitchFamily="34" charset="0"/>
              </a:rPr>
              <a:t>for loop or while or do-while loop</a:t>
            </a:r>
            <a:r>
              <a:rPr lang="en-IN" sz="1800" dirty="0">
                <a:latin typeface="Trebuchet MS" panose="020B0603020202020204" pitchFamily="34" charset="0"/>
              </a:rPr>
              <a:t>.</a:t>
            </a:r>
          </a:p>
          <a:p>
            <a:pPr marR="0" lvl="0" algn="l" defTabSz="914400" rtl="0" eaLnBrk="1" fontAlgn="auto" latinLnBrk="0" hangingPunct="1">
              <a:lnSpc>
                <a:spcPct val="150000"/>
              </a:lnSpc>
              <a:spcBef>
                <a:spcPts val="0"/>
              </a:spcBef>
              <a:spcAft>
                <a:spcPts val="0"/>
              </a:spcAft>
              <a:buClr>
                <a:srgbClr val="000000"/>
              </a:buClr>
              <a:buSzTx/>
              <a:tabLst/>
              <a:defRPr/>
            </a:pPr>
            <a:r>
              <a:rPr lang="en-IN" sz="1800" b="1" dirty="0">
                <a:solidFill>
                  <a:srgbClr val="0070C0"/>
                </a:solidFill>
                <a:latin typeface="Trebuchet MS" panose="020B0603020202020204" pitchFamily="34" charset="0"/>
              </a:rPr>
              <a:t>Syntax:</a:t>
            </a:r>
          </a:p>
          <a:p>
            <a:pPr marR="0" lvl="0" algn="l" defTabSz="914400" rtl="0" eaLnBrk="1" fontAlgn="auto" latinLnBrk="0" hangingPunct="1">
              <a:lnSpc>
                <a:spcPct val="150000"/>
              </a:lnSpc>
              <a:spcBef>
                <a:spcPts val="0"/>
              </a:spcBef>
              <a:spcAft>
                <a:spcPts val="0"/>
              </a:spcAft>
              <a:buClr>
                <a:srgbClr val="000000"/>
              </a:buClr>
              <a:buSzTx/>
              <a:tabLst/>
              <a:defRPr/>
            </a:pPr>
            <a:r>
              <a:rPr lang="en-IN" sz="1800" dirty="0">
                <a:latin typeface="Trebuchet MS" panose="020B0603020202020204" pitchFamily="34" charset="0"/>
              </a:rPr>
              <a:t>	continue;</a:t>
            </a:r>
          </a:p>
        </p:txBody>
      </p:sp>
    </p:spTree>
    <p:extLst>
      <p:ext uri="{BB962C8B-B14F-4D97-AF65-F5344CB8AC3E}">
        <p14:creationId xmlns:p14="http://schemas.microsoft.com/office/powerpoint/2010/main" val="26144380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9" name="TextBox 8">
            <a:extLst>
              <a:ext uri="{FF2B5EF4-FFF2-40B4-BE49-F238E27FC236}">
                <a16:creationId xmlns:a16="http://schemas.microsoft.com/office/drawing/2014/main" id="{CA2F8BF6-7B58-8A47-5826-8C97B3032F8D}"/>
              </a:ext>
            </a:extLst>
          </p:cNvPr>
          <p:cNvSpPr txBox="1"/>
          <p:nvPr/>
        </p:nvSpPr>
        <p:spPr>
          <a:xfrm>
            <a:off x="367862" y="789553"/>
            <a:ext cx="3678620" cy="3893374"/>
          </a:xfrm>
          <a:prstGeom prst="rect">
            <a:avLst/>
          </a:prstGeom>
          <a:noFill/>
        </p:spPr>
        <p:txBody>
          <a:bodyPr wrap="square">
            <a:spAutoFit/>
          </a:bodyPr>
          <a:lstStyle/>
          <a:p>
            <a:pPr>
              <a:spcBef>
                <a:spcPts val="600"/>
              </a:spcBef>
            </a:pPr>
            <a:r>
              <a:rPr lang="en-IN" sz="1600" dirty="0">
                <a:latin typeface="Trebuchet MS" panose="020B0603020202020204" pitchFamily="34" charset="0"/>
              </a:rPr>
              <a:t>#include &lt;iostream&gt;</a:t>
            </a:r>
          </a:p>
          <a:p>
            <a:pPr>
              <a:spcBef>
                <a:spcPts val="600"/>
              </a:spcBef>
            </a:pPr>
            <a:r>
              <a:rPr lang="en-IN" sz="1600" dirty="0">
                <a:latin typeface="Trebuchet MS" panose="020B0603020202020204" pitchFamily="34" charset="0"/>
              </a:rPr>
              <a:t>using namespace std;</a:t>
            </a:r>
          </a:p>
          <a:p>
            <a:pPr>
              <a:spcBef>
                <a:spcPts val="600"/>
              </a:spcBef>
            </a:pPr>
            <a:r>
              <a:rPr lang="en-IN" sz="1600" dirty="0">
                <a:latin typeface="Trebuchet MS" panose="020B0603020202020204" pitchFamily="34" charset="0"/>
              </a:rPr>
              <a:t>int main()</a:t>
            </a:r>
          </a:p>
          <a:p>
            <a:pPr>
              <a:spcBef>
                <a:spcPts val="600"/>
              </a:spcBef>
            </a:pP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for (int </a:t>
            </a:r>
            <a:r>
              <a:rPr lang="en-IN" sz="1600" dirty="0" err="1">
                <a:latin typeface="Trebuchet MS" panose="020B0603020202020204" pitchFamily="34" charset="0"/>
              </a:rPr>
              <a:t>i</a:t>
            </a:r>
            <a:r>
              <a:rPr lang="en-IN" sz="1600" dirty="0">
                <a:latin typeface="Trebuchet MS" panose="020B0603020202020204" pitchFamily="34" charset="0"/>
              </a:rPr>
              <a:t> = 1; </a:t>
            </a:r>
            <a:r>
              <a:rPr lang="en-IN" sz="1600" dirty="0" err="1">
                <a:latin typeface="Trebuchet MS" panose="020B0603020202020204" pitchFamily="34" charset="0"/>
              </a:rPr>
              <a:t>i</a:t>
            </a:r>
            <a:r>
              <a:rPr lang="en-IN" sz="1600" dirty="0">
                <a:latin typeface="Trebuchet MS" panose="020B0603020202020204" pitchFamily="34" charset="0"/>
              </a:rPr>
              <a:t> &lt; 10; </a:t>
            </a:r>
            <a:r>
              <a:rPr lang="en-IN" sz="1600" dirty="0" err="1">
                <a:latin typeface="Trebuchet MS" panose="020B0603020202020204" pitchFamily="34" charset="0"/>
              </a:rPr>
              <a:t>i</a:t>
            </a: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a:t>
            </a:r>
          </a:p>
          <a:p>
            <a:pPr>
              <a:spcBef>
                <a:spcPts val="600"/>
              </a:spcBef>
            </a:pPr>
            <a:r>
              <a:rPr lang="en-IN" sz="1600" dirty="0">
                <a:latin typeface="Trebuchet MS" panose="020B0603020202020204" pitchFamily="34" charset="0"/>
              </a:rPr>
              <a:t>	       if (</a:t>
            </a:r>
            <a:r>
              <a:rPr lang="en-IN" sz="1600" dirty="0" err="1">
                <a:latin typeface="Trebuchet MS" panose="020B0603020202020204" pitchFamily="34" charset="0"/>
              </a:rPr>
              <a:t>i</a:t>
            </a:r>
            <a:r>
              <a:rPr lang="en-IN" sz="1600" dirty="0">
                <a:latin typeface="Trebuchet MS" panose="020B0603020202020204" pitchFamily="34" charset="0"/>
              </a:rPr>
              <a:t> == 5)</a:t>
            </a:r>
          </a:p>
          <a:p>
            <a:pPr>
              <a:spcBef>
                <a:spcPts val="600"/>
              </a:spcBef>
            </a:pPr>
            <a:r>
              <a:rPr lang="en-IN" sz="1600" dirty="0">
                <a:latin typeface="Trebuchet MS" panose="020B0603020202020204" pitchFamily="34" charset="0"/>
              </a:rPr>
              <a:t>		continue;</a:t>
            </a:r>
          </a:p>
          <a:p>
            <a:pPr>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a:t>
            </a:r>
            <a:r>
              <a:rPr lang="en-IN" sz="1600" dirty="0" err="1">
                <a:latin typeface="Trebuchet MS" panose="020B0603020202020204" pitchFamily="34" charset="0"/>
              </a:rPr>
              <a:t>i</a:t>
            </a:r>
            <a:r>
              <a:rPr lang="en-IN" sz="1600" dirty="0">
                <a:latin typeface="Trebuchet MS" panose="020B0603020202020204" pitchFamily="34" charset="0"/>
              </a:rPr>
              <a:t> &lt;&lt; " ";</a:t>
            </a:r>
          </a:p>
          <a:p>
            <a:pPr>
              <a:spcBef>
                <a:spcPts val="600"/>
              </a:spcBef>
            </a:pPr>
            <a:r>
              <a:rPr lang="en-IN" sz="1600" dirty="0">
                <a:latin typeface="Trebuchet MS" panose="020B0603020202020204" pitchFamily="34" charset="0"/>
              </a:rPr>
              <a:t>	}</a:t>
            </a:r>
          </a:p>
          <a:p>
            <a:pPr>
              <a:spcBef>
                <a:spcPts val="600"/>
              </a:spcBef>
            </a:pPr>
            <a:r>
              <a:rPr lang="en-IN" sz="1600" dirty="0">
                <a:latin typeface="Trebuchet MS" panose="020B0603020202020204" pitchFamily="34" charset="0"/>
              </a:rPr>
              <a:t>	return 0;</a:t>
            </a:r>
          </a:p>
          <a:p>
            <a:pPr>
              <a:spcBef>
                <a:spcPts val="600"/>
              </a:spcBef>
            </a:pPr>
            <a:r>
              <a:rPr lang="en-IN" sz="1600" dirty="0">
                <a:latin typeface="Trebuchet MS" panose="020B0603020202020204" pitchFamily="34" charset="0"/>
              </a:rPr>
              <a:t>}</a:t>
            </a:r>
            <a:endParaRPr lang="en-IN" dirty="0">
              <a:latin typeface="Trebuchet MS" panose="020B0603020202020204" pitchFamily="34" charset="0"/>
            </a:endParaRPr>
          </a:p>
        </p:txBody>
      </p:sp>
      <p:sp>
        <p:nvSpPr>
          <p:cNvPr id="10" name="Rectangle 1">
            <a:extLst>
              <a:ext uri="{FF2B5EF4-FFF2-40B4-BE49-F238E27FC236}">
                <a16:creationId xmlns:a16="http://schemas.microsoft.com/office/drawing/2014/main" id="{3C46A19D-F108-D1B1-7935-963D5C12A125}"/>
              </a:ext>
            </a:extLst>
          </p:cNvPr>
          <p:cNvSpPr>
            <a:spLocks noChangeArrowheads="1"/>
          </p:cNvSpPr>
          <p:nvPr/>
        </p:nvSpPr>
        <p:spPr bwMode="auto">
          <a:xfrm>
            <a:off x="5623035" y="2417521"/>
            <a:ext cx="2116708" cy="8983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665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70C0"/>
                </a:solidFill>
                <a:effectLst/>
                <a:latin typeface="Trebuchet MS" panose="020B0603020202020204" pitchFamily="34" charset="0"/>
              </a:rPr>
              <a:t>Output: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Trebuchet MS" panose="020B0603020202020204" pitchFamily="34" charset="0"/>
              </a:rPr>
              <a:t>1 2 3 4 6 7 8 9</a:t>
            </a:r>
            <a:r>
              <a:rPr kumimoji="0" lang="en-US" altLang="en-US" sz="1800" b="0" i="0" u="none" strike="noStrike" cap="none" normalizeH="0" baseline="0" dirty="0">
                <a:ln>
                  <a:noFill/>
                </a:ln>
                <a:solidFill>
                  <a:schemeClr val="tx1"/>
                </a:solidFill>
                <a:effectLst/>
                <a:latin typeface="Trebuchet MS" panose="020B0603020202020204" pitchFamily="34" charset="0"/>
              </a:rPr>
              <a:t> </a:t>
            </a:r>
          </a:p>
        </p:txBody>
      </p:sp>
    </p:spTree>
    <p:extLst>
      <p:ext uri="{BB962C8B-B14F-4D97-AF65-F5344CB8AC3E}">
        <p14:creationId xmlns:p14="http://schemas.microsoft.com/office/powerpoint/2010/main" val="240586358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3" name="TextBox 2">
            <a:extLst>
              <a:ext uri="{FF2B5EF4-FFF2-40B4-BE49-F238E27FC236}">
                <a16:creationId xmlns:a16="http://schemas.microsoft.com/office/drawing/2014/main" id="{3BBED2E2-4987-59E3-C50D-8216D8B26C27}"/>
              </a:ext>
            </a:extLst>
          </p:cNvPr>
          <p:cNvSpPr txBox="1"/>
          <p:nvPr/>
        </p:nvSpPr>
        <p:spPr>
          <a:xfrm>
            <a:off x="285125" y="661266"/>
            <a:ext cx="8701220" cy="4355038"/>
          </a:xfrm>
          <a:prstGeom prst="rect">
            <a:avLst/>
          </a:prstGeom>
          <a:noFill/>
        </p:spPr>
        <p:txBody>
          <a:bodyPr wrap="square">
            <a:spAutoFit/>
          </a:bodyPr>
          <a:lstStyle/>
          <a:p>
            <a:pPr>
              <a:lnSpc>
                <a:spcPct val="150000"/>
              </a:lnSpc>
              <a:spcBef>
                <a:spcPts val="600"/>
              </a:spcBef>
            </a:pPr>
            <a:r>
              <a:rPr lang="en-IN" sz="1800" b="1" i="0" dirty="0">
                <a:solidFill>
                  <a:srgbClr val="0070C0"/>
                </a:solidFill>
                <a:effectLst/>
                <a:latin typeface="Trebuchet MS" panose="020B0603020202020204" pitchFamily="34" charset="0"/>
              </a:rPr>
              <a:t>Break</a:t>
            </a:r>
            <a:r>
              <a:rPr lang="en-IN" sz="1800" b="1" dirty="0">
                <a:solidFill>
                  <a:srgbClr val="0070C0"/>
                </a:solidFill>
                <a:latin typeface="Trebuchet MS" panose="020B0603020202020204" pitchFamily="34" charset="0"/>
              </a:rPr>
              <a:t> statement </a:t>
            </a:r>
            <a:endParaRPr lang="en-IN" sz="1800" b="1" i="0" dirty="0">
              <a:solidFill>
                <a:srgbClr val="0070C0"/>
              </a:solidFill>
              <a:effectLst/>
              <a:latin typeface="Trebuchet MS" panose="020B0603020202020204" pitchFamily="34" charset="0"/>
            </a:endParaRPr>
          </a:p>
          <a:p>
            <a:pPr marL="285750" indent="-285750">
              <a:lnSpc>
                <a:spcPct val="150000"/>
              </a:lnSpc>
              <a:spcBef>
                <a:spcPts val="600"/>
              </a:spcBef>
              <a:buFont typeface="Arial" panose="020B0604020202020204" pitchFamily="34" charset="0"/>
              <a:buChar char="•"/>
            </a:pPr>
            <a:r>
              <a:rPr lang="en-IN" sz="1800" b="0" i="0" dirty="0">
                <a:solidFill>
                  <a:schemeClr val="tx1"/>
                </a:solidFill>
                <a:effectLst/>
                <a:latin typeface="Trebuchet MS" panose="020B0603020202020204" pitchFamily="34" charset="0"/>
              </a:rPr>
              <a:t>It is used to terminate the whole loop if the condition is met. Unlike the continue statement after the condition is met, it breaks the loop and the remaining part of the loop is not executed. </a:t>
            </a:r>
          </a:p>
          <a:p>
            <a:pPr marL="285750" indent="-285750">
              <a:lnSpc>
                <a:spcPct val="150000"/>
              </a:lnSpc>
              <a:spcBef>
                <a:spcPts val="600"/>
              </a:spcBef>
              <a:buFont typeface="Arial" panose="020B0604020202020204" pitchFamily="34" charset="0"/>
              <a:buChar char="•"/>
            </a:pPr>
            <a:r>
              <a:rPr lang="en-IN" sz="1800" b="1" i="0" dirty="0">
                <a:solidFill>
                  <a:schemeClr val="tx1"/>
                </a:solidFill>
                <a:effectLst/>
                <a:latin typeface="Trebuchet MS" panose="020B0603020202020204" pitchFamily="34" charset="0"/>
              </a:rPr>
              <a:t>Break</a:t>
            </a:r>
            <a:r>
              <a:rPr lang="en-IN" sz="1800" b="0" i="0" dirty="0">
                <a:solidFill>
                  <a:schemeClr val="tx1"/>
                </a:solidFill>
                <a:effectLst/>
                <a:latin typeface="Trebuchet MS" panose="020B0603020202020204" pitchFamily="34" charset="0"/>
              </a:rPr>
              <a:t> statement is used with decision-making statements such as </a:t>
            </a:r>
            <a:r>
              <a:rPr lang="en-IN" sz="1800" b="1" i="0" dirty="0">
                <a:solidFill>
                  <a:schemeClr val="tx1"/>
                </a:solidFill>
                <a:effectLst/>
                <a:latin typeface="Trebuchet MS" panose="020B0603020202020204" pitchFamily="34" charset="0"/>
              </a:rPr>
              <a:t>if, if-else</a:t>
            </a:r>
            <a:r>
              <a:rPr lang="en-IN" sz="1800" b="0" i="0" dirty="0">
                <a:solidFill>
                  <a:schemeClr val="tx1"/>
                </a:solidFill>
                <a:effectLst/>
                <a:latin typeface="Trebuchet MS" panose="020B0603020202020204" pitchFamily="34" charset="0"/>
              </a:rPr>
              <a:t>, or</a:t>
            </a:r>
            <a:r>
              <a:rPr lang="en-IN" sz="1800" b="1" i="0" dirty="0">
                <a:solidFill>
                  <a:schemeClr val="tx1"/>
                </a:solidFill>
                <a:effectLst/>
                <a:latin typeface="Trebuchet MS" panose="020B0603020202020204" pitchFamily="34" charset="0"/>
              </a:rPr>
              <a:t> switch </a:t>
            </a:r>
            <a:r>
              <a:rPr lang="en-IN" sz="1800" b="0" i="0" dirty="0">
                <a:solidFill>
                  <a:schemeClr val="tx1"/>
                </a:solidFill>
                <a:effectLst/>
                <a:latin typeface="Trebuchet MS" panose="020B0603020202020204" pitchFamily="34" charset="0"/>
              </a:rPr>
              <a:t>statement which is inside the for loop which can be </a:t>
            </a:r>
            <a:r>
              <a:rPr lang="en-IN" sz="1800" b="1" i="0" dirty="0">
                <a:solidFill>
                  <a:schemeClr val="tx1"/>
                </a:solidFill>
                <a:effectLst/>
                <a:latin typeface="Trebuchet MS" panose="020B0603020202020204" pitchFamily="34" charset="0"/>
              </a:rPr>
              <a:t>for</a:t>
            </a:r>
            <a:r>
              <a:rPr lang="en-IN" sz="1800" b="0" i="0" dirty="0">
                <a:solidFill>
                  <a:schemeClr val="tx1"/>
                </a:solidFill>
                <a:effectLst/>
                <a:latin typeface="Trebuchet MS" panose="020B0603020202020204" pitchFamily="34" charset="0"/>
              </a:rPr>
              <a:t> loop, </a:t>
            </a:r>
            <a:r>
              <a:rPr lang="en-IN" sz="1800" b="1" i="0" dirty="0">
                <a:solidFill>
                  <a:schemeClr val="tx1"/>
                </a:solidFill>
                <a:effectLst/>
                <a:latin typeface="Trebuchet MS" panose="020B0603020202020204" pitchFamily="34" charset="0"/>
              </a:rPr>
              <a:t>while</a:t>
            </a:r>
            <a:r>
              <a:rPr lang="en-IN" sz="1800" b="0" i="0" dirty="0">
                <a:solidFill>
                  <a:schemeClr val="tx1"/>
                </a:solidFill>
                <a:effectLst/>
                <a:latin typeface="Trebuchet MS" panose="020B0603020202020204" pitchFamily="34" charset="0"/>
              </a:rPr>
              <a:t> loop, or </a:t>
            </a:r>
            <a:r>
              <a:rPr lang="en-IN" sz="1800" b="1" i="0" dirty="0">
                <a:solidFill>
                  <a:schemeClr val="tx1"/>
                </a:solidFill>
                <a:effectLst/>
                <a:latin typeface="Trebuchet MS" panose="020B0603020202020204" pitchFamily="34" charset="0"/>
              </a:rPr>
              <a:t>do-while</a:t>
            </a:r>
            <a:r>
              <a:rPr lang="en-IN" sz="1800" b="0" i="0" dirty="0">
                <a:solidFill>
                  <a:schemeClr val="tx1"/>
                </a:solidFill>
                <a:effectLst/>
                <a:latin typeface="Trebuchet MS" panose="020B0603020202020204" pitchFamily="34" charset="0"/>
              </a:rPr>
              <a:t> loop. </a:t>
            </a:r>
          </a:p>
          <a:p>
            <a:pPr marL="285750" indent="-285750">
              <a:lnSpc>
                <a:spcPct val="150000"/>
              </a:lnSpc>
              <a:spcBef>
                <a:spcPts val="600"/>
              </a:spcBef>
              <a:buFont typeface="Arial" panose="020B0604020202020204" pitchFamily="34" charset="0"/>
              <a:buChar char="•"/>
            </a:pPr>
            <a:r>
              <a:rPr lang="en-IN" sz="1800" b="0" i="0" dirty="0">
                <a:solidFill>
                  <a:schemeClr val="tx1"/>
                </a:solidFill>
                <a:effectLst/>
                <a:latin typeface="Trebuchet MS" panose="020B0603020202020204" pitchFamily="34" charset="0"/>
              </a:rPr>
              <a:t>It forces the loop to stop the execution of the further iteration. </a:t>
            </a:r>
          </a:p>
          <a:p>
            <a:pPr>
              <a:spcBef>
                <a:spcPts val="600"/>
              </a:spcBef>
            </a:pPr>
            <a:r>
              <a:rPr lang="en-IN" sz="1800" b="1" dirty="0">
                <a:solidFill>
                  <a:srgbClr val="0070C0"/>
                </a:solidFill>
                <a:latin typeface="Trebuchet MS" panose="020B0603020202020204" pitchFamily="34" charset="0"/>
              </a:rPr>
              <a:t>Syntax:</a:t>
            </a:r>
          </a:p>
          <a:p>
            <a:pPr>
              <a:spcBef>
                <a:spcPts val="600"/>
              </a:spcBef>
            </a:pPr>
            <a:r>
              <a:rPr lang="en-IN" sz="1800" dirty="0">
                <a:solidFill>
                  <a:schemeClr val="tx1"/>
                </a:solidFill>
                <a:latin typeface="Trebuchet MS" panose="020B0603020202020204" pitchFamily="34" charset="0"/>
              </a:rPr>
              <a:t>	break;</a:t>
            </a:r>
          </a:p>
        </p:txBody>
      </p:sp>
    </p:spTree>
    <p:extLst>
      <p:ext uri="{BB962C8B-B14F-4D97-AF65-F5344CB8AC3E}">
        <p14:creationId xmlns:p14="http://schemas.microsoft.com/office/powerpoint/2010/main" val="190754986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7" name="TextBox 6">
            <a:extLst>
              <a:ext uri="{FF2B5EF4-FFF2-40B4-BE49-F238E27FC236}">
                <a16:creationId xmlns:a16="http://schemas.microsoft.com/office/drawing/2014/main" id="{88C96F31-C4B4-3FB4-57F1-CEE3A646349B}"/>
              </a:ext>
            </a:extLst>
          </p:cNvPr>
          <p:cNvSpPr txBox="1"/>
          <p:nvPr/>
        </p:nvSpPr>
        <p:spPr>
          <a:xfrm>
            <a:off x="285125" y="664389"/>
            <a:ext cx="4645572" cy="4479111"/>
          </a:xfrm>
          <a:prstGeom prst="rect">
            <a:avLst/>
          </a:prstGeom>
          <a:noFill/>
        </p:spPr>
        <p:txBody>
          <a:bodyPr wrap="square">
            <a:spAutoFit/>
          </a:bodyPr>
          <a:lstStyle/>
          <a:p>
            <a:pPr>
              <a:lnSpc>
                <a:spcPct val="150000"/>
              </a:lnSpc>
            </a:pPr>
            <a:r>
              <a:rPr lang="en-IN" sz="1600" dirty="0">
                <a:latin typeface="Trebuchet MS" panose="020B0603020202020204" pitchFamily="34" charset="0"/>
              </a:rPr>
              <a:t>#include &lt;iostream&gt;</a:t>
            </a:r>
          </a:p>
          <a:p>
            <a:pPr>
              <a:lnSpc>
                <a:spcPct val="150000"/>
              </a:lnSpc>
            </a:pPr>
            <a:r>
              <a:rPr lang="en-IN" sz="1600" dirty="0">
                <a:latin typeface="Trebuchet MS" panose="020B0603020202020204" pitchFamily="34" charset="0"/>
              </a:rPr>
              <a:t>using namespace std;</a:t>
            </a:r>
          </a:p>
          <a:p>
            <a:pPr>
              <a:lnSpc>
                <a:spcPct val="150000"/>
              </a:lnSpc>
            </a:pPr>
            <a:r>
              <a:rPr lang="en-IN" sz="1600" dirty="0">
                <a:latin typeface="Trebuchet MS" panose="020B0603020202020204" pitchFamily="34" charset="0"/>
              </a:rPr>
              <a:t>int main()</a:t>
            </a:r>
          </a:p>
          <a:p>
            <a:pPr>
              <a:lnSpc>
                <a:spcPct val="150000"/>
              </a:lnSpc>
            </a:pPr>
            <a:r>
              <a:rPr lang="en-IN" sz="1600" dirty="0">
                <a:latin typeface="Trebuchet MS" panose="020B0603020202020204" pitchFamily="34" charset="0"/>
              </a:rPr>
              <a:t>{</a:t>
            </a:r>
          </a:p>
          <a:p>
            <a:pPr>
              <a:lnSpc>
                <a:spcPct val="150000"/>
              </a:lnSpc>
            </a:pPr>
            <a:r>
              <a:rPr lang="en-IN" sz="1600" dirty="0">
                <a:latin typeface="Trebuchet MS" panose="020B0603020202020204" pitchFamily="34" charset="0"/>
              </a:rPr>
              <a:t>    for (int </a:t>
            </a:r>
            <a:r>
              <a:rPr lang="en-IN" sz="1600" dirty="0" err="1">
                <a:latin typeface="Trebuchet MS" panose="020B0603020202020204" pitchFamily="34" charset="0"/>
              </a:rPr>
              <a:t>i</a:t>
            </a:r>
            <a:r>
              <a:rPr lang="en-IN" sz="1600" dirty="0">
                <a:latin typeface="Trebuchet MS" panose="020B0603020202020204" pitchFamily="34" charset="0"/>
              </a:rPr>
              <a:t> = 1; </a:t>
            </a:r>
            <a:r>
              <a:rPr lang="en-IN" sz="1600" dirty="0" err="1">
                <a:latin typeface="Trebuchet MS" panose="020B0603020202020204" pitchFamily="34" charset="0"/>
              </a:rPr>
              <a:t>i</a:t>
            </a:r>
            <a:r>
              <a:rPr lang="en-IN" sz="1600" dirty="0">
                <a:latin typeface="Trebuchet MS" panose="020B0603020202020204" pitchFamily="34" charset="0"/>
              </a:rPr>
              <a:t> &lt; 10; </a:t>
            </a:r>
            <a:r>
              <a:rPr lang="en-IN" sz="1600" dirty="0" err="1">
                <a:latin typeface="Trebuchet MS" panose="020B0603020202020204" pitchFamily="34" charset="0"/>
              </a:rPr>
              <a:t>i</a:t>
            </a:r>
            <a:r>
              <a:rPr lang="en-IN" sz="1600" dirty="0">
                <a:latin typeface="Trebuchet MS" panose="020B0603020202020204" pitchFamily="34" charset="0"/>
              </a:rPr>
              <a:t>++) </a:t>
            </a:r>
          </a:p>
          <a:p>
            <a:pPr>
              <a:lnSpc>
                <a:spcPct val="150000"/>
              </a:lnSpc>
            </a:pPr>
            <a:r>
              <a:rPr lang="en-IN" sz="1600" dirty="0">
                <a:latin typeface="Trebuchet MS" panose="020B0603020202020204" pitchFamily="34" charset="0"/>
              </a:rPr>
              <a:t>    {</a:t>
            </a:r>
          </a:p>
          <a:p>
            <a:pPr>
              <a:lnSpc>
                <a:spcPct val="150000"/>
              </a:lnSpc>
            </a:pPr>
            <a:r>
              <a:rPr lang="en-IN" sz="1600" dirty="0">
                <a:latin typeface="Trebuchet MS" panose="020B0603020202020204" pitchFamily="34" charset="0"/>
              </a:rPr>
              <a:t>       if (</a:t>
            </a:r>
            <a:r>
              <a:rPr lang="en-IN" sz="1600" dirty="0" err="1">
                <a:latin typeface="Trebuchet MS" panose="020B0603020202020204" pitchFamily="34" charset="0"/>
              </a:rPr>
              <a:t>i</a:t>
            </a:r>
            <a:r>
              <a:rPr lang="en-IN" sz="1600" dirty="0">
                <a:latin typeface="Trebuchet MS" panose="020B0603020202020204" pitchFamily="34" charset="0"/>
              </a:rPr>
              <a:t> == 5) </a:t>
            </a:r>
            <a:r>
              <a:rPr lang="en-IN" sz="1600" dirty="0">
                <a:solidFill>
                  <a:srgbClr val="0070C0"/>
                </a:solidFill>
                <a:latin typeface="Trebuchet MS" panose="020B0603020202020204" pitchFamily="34" charset="0"/>
              </a:rPr>
              <a:t>// Breaking Condition</a:t>
            </a:r>
          </a:p>
          <a:p>
            <a:pPr>
              <a:lnSpc>
                <a:spcPct val="150000"/>
              </a:lnSpc>
            </a:pPr>
            <a:r>
              <a:rPr lang="en-IN" sz="1600" dirty="0">
                <a:latin typeface="Trebuchet MS" panose="020B0603020202020204" pitchFamily="34" charset="0"/>
              </a:rPr>
              <a:t>            break;</a:t>
            </a:r>
          </a:p>
          <a:p>
            <a:pPr>
              <a:lnSpc>
                <a:spcPct val="150000"/>
              </a:lnSpc>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a:t>
            </a:r>
            <a:r>
              <a:rPr lang="en-IN" sz="1600" dirty="0" err="1">
                <a:latin typeface="Trebuchet MS" panose="020B0603020202020204" pitchFamily="34" charset="0"/>
              </a:rPr>
              <a:t>i</a:t>
            </a:r>
            <a:r>
              <a:rPr lang="en-IN" sz="1600" dirty="0">
                <a:latin typeface="Trebuchet MS" panose="020B0603020202020204" pitchFamily="34" charset="0"/>
              </a:rPr>
              <a:t> &lt;&lt; " ";</a:t>
            </a:r>
          </a:p>
          <a:p>
            <a:pPr>
              <a:lnSpc>
                <a:spcPct val="150000"/>
              </a:lnSpc>
            </a:pPr>
            <a:r>
              <a:rPr lang="en-IN" sz="1600" dirty="0">
                <a:latin typeface="Trebuchet MS" panose="020B0603020202020204" pitchFamily="34" charset="0"/>
              </a:rPr>
              <a:t>    }</a:t>
            </a:r>
          </a:p>
          <a:p>
            <a:pPr>
              <a:lnSpc>
                <a:spcPct val="150000"/>
              </a:lnSpc>
            </a:pPr>
            <a:r>
              <a:rPr lang="en-IN" sz="1600" dirty="0">
                <a:latin typeface="Trebuchet MS" panose="020B0603020202020204" pitchFamily="34" charset="0"/>
              </a:rPr>
              <a:t>    return 0;</a:t>
            </a:r>
          </a:p>
          <a:p>
            <a:pPr>
              <a:lnSpc>
                <a:spcPct val="150000"/>
              </a:lnSpc>
            </a:pPr>
            <a:r>
              <a:rPr lang="en-IN" sz="1600" dirty="0">
                <a:latin typeface="Trebuchet MS" panose="020B0603020202020204" pitchFamily="34" charset="0"/>
              </a:rPr>
              <a:t>}</a:t>
            </a:r>
          </a:p>
        </p:txBody>
      </p:sp>
      <p:sp>
        <p:nvSpPr>
          <p:cNvPr id="3" name="TextBox 2">
            <a:extLst>
              <a:ext uri="{FF2B5EF4-FFF2-40B4-BE49-F238E27FC236}">
                <a16:creationId xmlns:a16="http://schemas.microsoft.com/office/drawing/2014/main" id="{0156A719-D2AF-E3B8-75D9-143AD37F7F17}"/>
              </a:ext>
            </a:extLst>
          </p:cNvPr>
          <p:cNvSpPr txBox="1"/>
          <p:nvPr/>
        </p:nvSpPr>
        <p:spPr>
          <a:xfrm>
            <a:off x="5349766" y="2248571"/>
            <a:ext cx="464557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Output: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1 2 3 4</a:t>
            </a:r>
            <a:endParaRPr kumimoji="0" lang="en-IN" sz="1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Tree>
    <p:extLst>
      <p:ext uri="{BB962C8B-B14F-4D97-AF65-F5344CB8AC3E}">
        <p14:creationId xmlns:p14="http://schemas.microsoft.com/office/powerpoint/2010/main" val="281147080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7" name="TextBox 6">
            <a:extLst>
              <a:ext uri="{FF2B5EF4-FFF2-40B4-BE49-F238E27FC236}">
                <a16:creationId xmlns:a16="http://schemas.microsoft.com/office/drawing/2014/main" id="{88C96F31-C4B4-3FB4-57F1-CEE3A646349B}"/>
              </a:ext>
            </a:extLst>
          </p:cNvPr>
          <p:cNvSpPr txBox="1"/>
          <p:nvPr/>
        </p:nvSpPr>
        <p:spPr>
          <a:xfrm>
            <a:off x="285125" y="731159"/>
            <a:ext cx="8438461" cy="4196470"/>
          </a:xfrm>
          <a:prstGeom prst="rect">
            <a:avLst/>
          </a:prstGeom>
          <a:noFill/>
        </p:spPr>
        <p:txBody>
          <a:bodyPr wrap="square">
            <a:spAutoFit/>
          </a:bodyPr>
          <a:lstStyle/>
          <a:p>
            <a:pPr algn="l" fontAlgn="base">
              <a:lnSpc>
                <a:spcPct val="150000"/>
              </a:lnSpc>
            </a:pPr>
            <a:r>
              <a:rPr lang="en-IN" sz="1800" b="1" dirty="0">
                <a:solidFill>
                  <a:srgbClr val="0070C0"/>
                </a:solidFill>
                <a:latin typeface="Trebuchet MS" panose="020B0603020202020204" pitchFamily="34" charset="0"/>
              </a:rPr>
              <a:t>r</a:t>
            </a:r>
            <a:r>
              <a:rPr lang="en-IN" sz="1800" b="1" i="0" dirty="0">
                <a:solidFill>
                  <a:srgbClr val="0070C0"/>
                </a:solidFill>
                <a:effectLst/>
                <a:latin typeface="Trebuchet MS" panose="020B0603020202020204" pitchFamily="34" charset="0"/>
              </a:rPr>
              <a:t>eturn statement</a:t>
            </a:r>
            <a:r>
              <a:rPr lang="en-IN" sz="1800" b="0" i="0" dirty="0">
                <a:solidFill>
                  <a:srgbClr val="0070C0"/>
                </a:solidFill>
                <a:effectLst/>
                <a:latin typeface="Trebuchet MS" panose="020B0603020202020204" pitchFamily="34" charset="0"/>
              </a:rPr>
              <a:t> </a:t>
            </a:r>
          </a:p>
          <a:p>
            <a:pPr marL="285750" indent="-285750" algn="l" fontAlgn="base">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It takes </a:t>
            </a:r>
            <a:r>
              <a:rPr lang="en-IN" sz="1800" b="1" i="0" dirty="0">
                <a:solidFill>
                  <a:schemeClr val="tx1"/>
                </a:solidFill>
                <a:effectLst/>
                <a:latin typeface="Trebuchet MS" panose="020B0603020202020204" pitchFamily="34" charset="0"/>
              </a:rPr>
              <a:t>control out of the function itself</a:t>
            </a:r>
            <a:r>
              <a:rPr lang="en-IN" sz="1800" b="0" i="0" dirty="0">
                <a:solidFill>
                  <a:schemeClr val="tx1"/>
                </a:solidFill>
                <a:effectLst/>
                <a:latin typeface="Trebuchet MS" panose="020B0603020202020204" pitchFamily="34" charset="0"/>
              </a:rPr>
              <a:t>. It is </a:t>
            </a:r>
            <a:r>
              <a:rPr lang="en-IN" sz="1800" b="1" i="0" dirty="0">
                <a:solidFill>
                  <a:schemeClr val="tx1"/>
                </a:solidFill>
                <a:effectLst/>
                <a:latin typeface="Trebuchet MS" panose="020B0603020202020204" pitchFamily="34" charset="0"/>
              </a:rPr>
              <a:t>stronger than a break</a:t>
            </a:r>
            <a:r>
              <a:rPr lang="en-IN" sz="1800" b="0" i="0" dirty="0">
                <a:solidFill>
                  <a:schemeClr val="tx1"/>
                </a:solidFill>
                <a:effectLst/>
                <a:latin typeface="Trebuchet MS" panose="020B0603020202020204" pitchFamily="34" charset="0"/>
              </a:rPr>
              <a:t>. </a:t>
            </a:r>
          </a:p>
          <a:p>
            <a:pPr marL="285750" indent="-285750" algn="l" fontAlgn="base">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It is used to </a:t>
            </a:r>
            <a:r>
              <a:rPr lang="en-IN" sz="1800" b="1" i="0" dirty="0">
                <a:solidFill>
                  <a:schemeClr val="tx1"/>
                </a:solidFill>
                <a:effectLst/>
                <a:latin typeface="Trebuchet MS" panose="020B0603020202020204" pitchFamily="34" charset="0"/>
              </a:rPr>
              <a:t>terminate the entire function after the execution of the function or after some condition</a:t>
            </a:r>
            <a:r>
              <a:rPr lang="en-IN" sz="1800" b="0" i="0" dirty="0">
                <a:solidFill>
                  <a:schemeClr val="tx1"/>
                </a:solidFill>
                <a:effectLst/>
                <a:latin typeface="Trebuchet MS" panose="020B0603020202020204" pitchFamily="34" charset="0"/>
              </a:rPr>
              <a:t>. </a:t>
            </a:r>
          </a:p>
          <a:p>
            <a:pPr marL="285750" indent="-285750" algn="l" fontAlgn="base">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Every function has a </a:t>
            </a:r>
            <a:r>
              <a:rPr lang="en-IN" sz="1800" b="1" i="0" dirty="0">
                <a:solidFill>
                  <a:schemeClr val="tx1"/>
                </a:solidFill>
                <a:effectLst/>
                <a:latin typeface="Trebuchet MS" panose="020B0603020202020204" pitchFamily="34" charset="0"/>
              </a:rPr>
              <a:t>return statement with some returning value </a:t>
            </a:r>
            <a:r>
              <a:rPr lang="en-IN" sz="1800" b="0" i="0" dirty="0">
                <a:solidFill>
                  <a:schemeClr val="tx1"/>
                </a:solidFill>
                <a:effectLst/>
                <a:latin typeface="Trebuchet MS" panose="020B0603020202020204" pitchFamily="34" charset="0"/>
              </a:rPr>
              <a:t>except the </a:t>
            </a:r>
            <a:r>
              <a:rPr lang="en-IN" sz="1800" b="1" i="0" dirty="0">
                <a:solidFill>
                  <a:schemeClr val="tx1"/>
                </a:solidFill>
                <a:effectLst/>
                <a:latin typeface="Trebuchet MS" panose="020B0603020202020204" pitchFamily="34" charset="0"/>
              </a:rPr>
              <a:t>void() function</a:t>
            </a:r>
            <a:r>
              <a:rPr lang="en-IN" sz="1800" b="0" i="0" dirty="0">
                <a:solidFill>
                  <a:schemeClr val="tx1"/>
                </a:solidFill>
                <a:effectLst/>
                <a:latin typeface="Trebuchet MS" panose="020B0603020202020204" pitchFamily="34" charset="0"/>
              </a:rPr>
              <a:t>. </a:t>
            </a:r>
          </a:p>
          <a:p>
            <a:pPr marL="285750" indent="-285750" algn="l" fontAlgn="base">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Although void() function can also have the return statement to end the execution of the function.</a:t>
            </a:r>
          </a:p>
          <a:p>
            <a:pPr>
              <a:lnSpc>
                <a:spcPct val="150000"/>
              </a:lnSpc>
            </a:pPr>
            <a:r>
              <a:rPr lang="en-IN" sz="1800" b="1" i="0" dirty="0">
                <a:solidFill>
                  <a:srgbClr val="0070C0"/>
                </a:solidFill>
                <a:effectLst/>
                <a:latin typeface="Trebuchet MS" panose="020B0603020202020204" pitchFamily="34" charset="0"/>
              </a:rPr>
              <a:t>Syntax:</a:t>
            </a:r>
          </a:p>
          <a:p>
            <a:pPr>
              <a:lnSpc>
                <a:spcPct val="150000"/>
              </a:lnSpc>
            </a:pPr>
            <a:r>
              <a:rPr lang="en-IN" sz="1800" b="0" i="0" dirty="0">
                <a:solidFill>
                  <a:schemeClr val="tx1"/>
                </a:solidFill>
                <a:effectLst/>
                <a:latin typeface="Trebuchet MS" panose="020B0603020202020204" pitchFamily="34" charset="0"/>
              </a:rPr>
              <a:t>	return expression;</a:t>
            </a:r>
            <a:endParaRPr lang="en-IN"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326649343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6" name="TextBox 5">
            <a:extLst>
              <a:ext uri="{FF2B5EF4-FFF2-40B4-BE49-F238E27FC236}">
                <a16:creationId xmlns:a16="http://schemas.microsoft.com/office/drawing/2014/main" id="{227EE195-2DCC-2638-76DB-A18A8E9577F6}"/>
              </a:ext>
            </a:extLst>
          </p:cNvPr>
          <p:cNvSpPr txBox="1"/>
          <p:nvPr/>
        </p:nvSpPr>
        <p:spPr>
          <a:xfrm>
            <a:off x="285125" y="800583"/>
            <a:ext cx="4648200" cy="4039567"/>
          </a:xfrm>
          <a:prstGeom prst="rect">
            <a:avLst/>
          </a:prstGeom>
          <a:noFill/>
        </p:spPr>
        <p:txBody>
          <a:bodyPr wrap="square">
            <a:spAutoFit/>
          </a:bodyPr>
          <a:lstStyle/>
          <a:p>
            <a:pPr>
              <a:spcBef>
                <a:spcPts val="300"/>
              </a:spcBef>
            </a:pPr>
            <a:r>
              <a:rPr lang="en-IN" sz="1600" dirty="0">
                <a:latin typeface="Trebuchet MS" panose="020B0603020202020204" pitchFamily="34" charset="0"/>
              </a:rPr>
              <a:t>#include &lt;iostream&gt;</a:t>
            </a:r>
          </a:p>
          <a:p>
            <a:pPr>
              <a:spcBef>
                <a:spcPts val="300"/>
              </a:spcBef>
            </a:pPr>
            <a:r>
              <a:rPr lang="en-IN" sz="1600" dirty="0">
                <a:latin typeface="Trebuchet MS" panose="020B0603020202020204" pitchFamily="34" charset="0"/>
              </a:rPr>
              <a:t>using namespace std;</a:t>
            </a:r>
          </a:p>
          <a:p>
            <a:pPr>
              <a:spcBef>
                <a:spcPts val="300"/>
              </a:spcBef>
            </a:pPr>
            <a:r>
              <a:rPr lang="en-IN" sz="1600" dirty="0">
                <a:latin typeface="Trebuchet MS" panose="020B0603020202020204" pitchFamily="34" charset="0"/>
              </a:rPr>
              <a:t>int main()</a:t>
            </a:r>
          </a:p>
          <a:p>
            <a:pPr>
              <a:spcBef>
                <a:spcPts val="300"/>
              </a:spcBef>
            </a:pPr>
            <a:r>
              <a:rPr lang="en-IN" sz="1600" dirty="0">
                <a:latin typeface="Trebuchet MS" panose="020B0603020202020204" pitchFamily="34" charset="0"/>
              </a:rPr>
              <a:t>{</a:t>
            </a:r>
          </a:p>
          <a:p>
            <a:pPr>
              <a:spcBef>
                <a:spcPts val="3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"Begin ";</a:t>
            </a:r>
          </a:p>
          <a:p>
            <a:pPr>
              <a:spcBef>
                <a:spcPts val="300"/>
              </a:spcBef>
            </a:pPr>
            <a:r>
              <a:rPr lang="en-IN" sz="1600" dirty="0">
                <a:latin typeface="Trebuchet MS" panose="020B0603020202020204" pitchFamily="34" charset="0"/>
              </a:rPr>
              <a:t>    for (int </a:t>
            </a:r>
            <a:r>
              <a:rPr lang="en-IN" sz="1600" dirty="0" err="1">
                <a:latin typeface="Trebuchet MS" panose="020B0603020202020204" pitchFamily="34" charset="0"/>
              </a:rPr>
              <a:t>i</a:t>
            </a:r>
            <a:r>
              <a:rPr lang="en-IN" sz="1600" dirty="0">
                <a:latin typeface="Trebuchet MS" panose="020B0603020202020204" pitchFamily="34" charset="0"/>
              </a:rPr>
              <a:t> = 0; </a:t>
            </a:r>
            <a:r>
              <a:rPr lang="en-IN" sz="1600" dirty="0" err="1">
                <a:latin typeface="Trebuchet MS" panose="020B0603020202020204" pitchFamily="34" charset="0"/>
              </a:rPr>
              <a:t>i</a:t>
            </a:r>
            <a:r>
              <a:rPr lang="en-IN" sz="1600" dirty="0">
                <a:latin typeface="Trebuchet MS" panose="020B0603020202020204" pitchFamily="34" charset="0"/>
              </a:rPr>
              <a:t> &lt; 10; </a:t>
            </a:r>
            <a:r>
              <a:rPr lang="en-IN" sz="1600" dirty="0" err="1">
                <a:latin typeface="Trebuchet MS" panose="020B0603020202020204" pitchFamily="34" charset="0"/>
              </a:rPr>
              <a:t>i</a:t>
            </a:r>
            <a:r>
              <a:rPr lang="en-IN" sz="1600" dirty="0">
                <a:latin typeface="Trebuchet MS" panose="020B0603020202020204" pitchFamily="34" charset="0"/>
              </a:rPr>
              <a:t>++)</a:t>
            </a:r>
          </a:p>
          <a:p>
            <a:pPr>
              <a:spcBef>
                <a:spcPts val="300"/>
              </a:spcBef>
            </a:pPr>
            <a:r>
              <a:rPr lang="en-IN" sz="1600" dirty="0">
                <a:latin typeface="Trebuchet MS" panose="020B0603020202020204" pitchFamily="34" charset="0"/>
              </a:rPr>
              <a:t>    {</a:t>
            </a:r>
          </a:p>
          <a:p>
            <a:pPr>
              <a:spcBef>
                <a:spcPts val="300"/>
              </a:spcBef>
            </a:pPr>
            <a:r>
              <a:rPr lang="en-IN" sz="1600" dirty="0">
                <a:latin typeface="Trebuchet MS" panose="020B0603020202020204" pitchFamily="34" charset="0"/>
              </a:rPr>
              <a:t>      if (</a:t>
            </a:r>
            <a:r>
              <a:rPr lang="en-IN" sz="1600" dirty="0" err="1">
                <a:latin typeface="Trebuchet MS" panose="020B0603020202020204" pitchFamily="34" charset="0"/>
              </a:rPr>
              <a:t>i</a:t>
            </a:r>
            <a:r>
              <a:rPr lang="en-IN" sz="1600" dirty="0">
                <a:latin typeface="Trebuchet MS" panose="020B0603020202020204" pitchFamily="34" charset="0"/>
              </a:rPr>
              <a:t> == 5)</a:t>
            </a:r>
          </a:p>
          <a:p>
            <a:pPr>
              <a:spcBef>
                <a:spcPts val="300"/>
              </a:spcBef>
            </a:pPr>
            <a:r>
              <a:rPr lang="en-IN" sz="1600" dirty="0">
                <a:latin typeface="Trebuchet MS" panose="020B0603020202020204" pitchFamily="34" charset="0"/>
              </a:rPr>
              <a:t>            return 0;</a:t>
            </a:r>
          </a:p>
          <a:p>
            <a:pPr>
              <a:spcBef>
                <a:spcPts val="3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a:t>
            </a:r>
            <a:r>
              <a:rPr lang="en-IN" sz="1600" dirty="0" err="1">
                <a:latin typeface="Trebuchet MS" panose="020B0603020202020204" pitchFamily="34" charset="0"/>
              </a:rPr>
              <a:t>i</a:t>
            </a:r>
            <a:r>
              <a:rPr lang="en-IN" sz="1600" dirty="0">
                <a:latin typeface="Trebuchet MS" panose="020B0603020202020204" pitchFamily="34" charset="0"/>
              </a:rPr>
              <a:t> &lt;&lt; " ";</a:t>
            </a:r>
          </a:p>
          <a:p>
            <a:pPr>
              <a:spcBef>
                <a:spcPts val="300"/>
              </a:spcBef>
            </a:pPr>
            <a:r>
              <a:rPr lang="en-IN" sz="1600" dirty="0">
                <a:latin typeface="Trebuchet MS" panose="020B0603020202020204" pitchFamily="34" charset="0"/>
              </a:rPr>
              <a:t>    }</a:t>
            </a:r>
          </a:p>
          <a:p>
            <a:pPr>
              <a:spcBef>
                <a:spcPts val="3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"end";</a:t>
            </a:r>
          </a:p>
          <a:p>
            <a:pPr>
              <a:spcBef>
                <a:spcPts val="300"/>
              </a:spcBef>
            </a:pPr>
            <a:r>
              <a:rPr lang="en-IN" sz="1600" dirty="0">
                <a:latin typeface="Trebuchet MS" panose="020B0603020202020204" pitchFamily="34" charset="0"/>
              </a:rPr>
              <a:t>    return 0;</a:t>
            </a:r>
          </a:p>
          <a:p>
            <a:pPr>
              <a:spcBef>
                <a:spcPts val="300"/>
              </a:spcBef>
            </a:pPr>
            <a:r>
              <a:rPr lang="en-IN" sz="1600" dirty="0">
                <a:latin typeface="Trebuchet MS" panose="020B0603020202020204" pitchFamily="34" charset="0"/>
              </a:rPr>
              <a:t>}</a:t>
            </a:r>
          </a:p>
        </p:txBody>
      </p:sp>
      <p:sp>
        <p:nvSpPr>
          <p:cNvPr id="9" name="TextBox 8">
            <a:extLst>
              <a:ext uri="{FF2B5EF4-FFF2-40B4-BE49-F238E27FC236}">
                <a16:creationId xmlns:a16="http://schemas.microsoft.com/office/drawing/2014/main" id="{9C0F2379-3745-4D26-33E8-09FE8EB3C7DC}"/>
              </a:ext>
            </a:extLst>
          </p:cNvPr>
          <p:cNvSpPr txBox="1"/>
          <p:nvPr/>
        </p:nvSpPr>
        <p:spPr>
          <a:xfrm>
            <a:off x="5448300" y="1752247"/>
            <a:ext cx="2117271"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1" i="0" u="none" strike="noStrike" kern="0" cap="none" spc="0" normalizeH="0" baseline="0" noProof="0" dirty="0">
                <a:ln>
                  <a:noFill/>
                </a:ln>
                <a:solidFill>
                  <a:srgbClr val="0070C0"/>
                </a:solidFill>
                <a:effectLst/>
                <a:uLnTx/>
                <a:uFillTx/>
                <a:latin typeface="Trebuchet MS" panose="020B0603020202020204" pitchFamily="34" charset="0"/>
                <a:sym typeface="Arial"/>
              </a:rPr>
              <a:t>Output: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rebuchet MS" panose="020B0603020202020204" pitchFamily="34" charset="0"/>
                <a:sym typeface="Arial"/>
              </a:rPr>
              <a:t>Begin 0 1 2 3 4</a:t>
            </a:r>
          </a:p>
        </p:txBody>
      </p:sp>
    </p:spTree>
    <p:extLst>
      <p:ext uri="{BB962C8B-B14F-4D97-AF65-F5344CB8AC3E}">
        <p14:creationId xmlns:p14="http://schemas.microsoft.com/office/powerpoint/2010/main" val="243330719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3" name="TextBox 2">
            <a:extLst>
              <a:ext uri="{FF2B5EF4-FFF2-40B4-BE49-F238E27FC236}">
                <a16:creationId xmlns:a16="http://schemas.microsoft.com/office/drawing/2014/main" id="{1E23F310-2300-DF61-7BB7-37CA0DFF7888}"/>
              </a:ext>
            </a:extLst>
          </p:cNvPr>
          <p:cNvSpPr txBox="1"/>
          <p:nvPr/>
        </p:nvSpPr>
        <p:spPr>
          <a:xfrm>
            <a:off x="349366" y="1146657"/>
            <a:ext cx="8010863" cy="3365473"/>
          </a:xfrm>
          <a:prstGeom prst="rect">
            <a:avLst/>
          </a:prstGeom>
          <a:noFill/>
        </p:spPr>
        <p:txBody>
          <a:bodyPr wrap="square">
            <a:spAutoFit/>
          </a:bodyPr>
          <a:lstStyle/>
          <a:p>
            <a:pPr>
              <a:lnSpc>
                <a:spcPct val="150000"/>
              </a:lnSpc>
            </a:pPr>
            <a:r>
              <a:rPr lang="en-IN" sz="1800" b="1" i="0" dirty="0" err="1">
                <a:solidFill>
                  <a:srgbClr val="0070C0"/>
                </a:solidFill>
                <a:effectLst/>
                <a:latin typeface="Trebuchet MS" panose="020B0603020202020204" pitchFamily="34" charset="0"/>
              </a:rPr>
              <a:t>Goto</a:t>
            </a:r>
            <a:r>
              <a:rPr lang="en-IN" sz="1800" b="1" i="0" dirty="0">
                <a:solidFill>
                  <a:srgbClr val="0070C0"/>
                </a:solidFill>
                <a:effectLst/>
                <a:latin typeface="Trebuchet MS" panose="020B0603020202020204" pitchFamily="34" charset="0"/>
              </a:rPr>
              <a:t> Statement </a:t>
            </a:r>
            <a:r>
              <a:rPr lang="en-IN" sz="1800" b="0" i="0" dirty="0">
                <a:solidFill>
                  <a:srgbClr val="0070C0"/>
                </a:solidFill>
                <a:effectLst/>
                <a:latin typeface="Trebuchet MS" panose="020B0603020202020204" pitchFamily="34" charset="0"/>
              </a:rPr>
              <a:t> </a:t>
            </a:r>
          </a:p>
          <a:p>
            <a:pPr marL="285750" indent="-285750">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This statement is used to jump directly to that part of the program to which it is being called.  </a:t>
            </a:r>
          </a:p>
          <a:p>
            <a:pPr marL="285750" indent="-285750">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Every </a:t>
            </a:r>
            <a:r>
              <a:rPr lang="en-IN" sz="1800" b="1" i="0" dirty="0" err="1">
                <a:solidFill>
                  <a:schemeClr val="tx1"/>
                </a:solidFill>
                <a:effectLst/>
                <a:latin typeface="Trebuchet MS" panose="020B0603020202020204" pitchFamily="34" charset="0"/>
              </a:rPr>
              <a:t>goto</a:t>
            </a:r>
            <a:r>
              <a:rPr lang="en-IN" sz="1800" b="0" i="0" dirty="0">
                <a:solidFill>
                  <a:schemeClr val="tx1"/>
                </a:solidFill>
                <a:effectLst/>
                <a:latin typeface="Trebuchet MS" panose="020B0603020202020204" pitchFamily="34" charset="0"/>
              </a:rPr>
              <a:t> statement is associated with the label which takes them to part of the program for which they are called. </a:t>
            </a:r>
          </a:p>
          <a:p>
            <a:pPr marL="285750" indent="-285750">
              <a:lnSpc>
                <a:spcPct val="150000"/>
              </a:lnSpc>
              <a:buFont typeface="Arial" panose="020B0604020202020204" pitchFamily="34" charset="0"/>
              <a:buChar char="•"/>
            </a:pPr>
            <a:r>
              <a:rPr lang="en-IN" sz="1800" b="0" i="0" dirty="0">
                <a:solidFill>
                  <a:schemeClr val="tx1"/>
                </a:solidFill>
                <a:effectLst/>
                <a:latin typeface="Trebuchet MS" panose="020B0603020202020204" pitchFamily="34" charset="0"/>
              </a:rPr>
              <a:t>The label statements can be written anywhere in the program it is not necessary to use before or after </a:t>
            </a:r>
            <a:r>
              <a:rPr lang="en-IN" sz="1800" b="1" i="0" dirty="0" err="1">
                <a:solidFill>
                  <a:schemeClr val="tx1"/>
                </a:solidFill>
                <a:effectLst/>
                <a:latin typeface="Trebuchet MS" panose="020B0603020202020204" pitchFamily="34" charset="0"/>
              </a:rPr>
              <a:t>goto</a:t>
            </a:r>
            <a:r>
              <a:rPr lang="en-IN" sz="1800" b="0" i="0" dirty="0">
                <a:solidFill>
                  <a:schemeClr val="tx1"/>
                </a:solidFill>
                <a:effectLst/>
                <a:latin typeface="Trebuchet MS" panose="020B0603020202020204" pitchFamily="34" charset="0"/>
              </a:rPr>
              <a:t> statement.</a:t>
            </a:r>
          </a:p>
          <a:p>
            <a:pPr>
              <a:lnSpc>
                <a:spcPct val="150000"/>
              </a:lnSpc>
            </a:pPr>
            <a:endParaRPr lang="en-IN" sz="1800" dirty="0">
              <a:latin typeface="Trebuchet MS" panose="020B0603020202020204" pitchFamily="34" charset="0"/>
            </a:endParaRPr>
          </a:p>
        </p:txBody>
      </p:sp>
    </p:spTree>
    <p:extLst>
      <p:ext uri="{BB962C8B-B14F-4D97-AF65-F5344CB8AC3E}">
        <p14:creationId xmlns:p14="http://schemas.microsoft.com/office/powerpoint/2010/main" val="16143188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4" name="TextBox 3">
            <a:extLst>
              <a:ext uri="{FF2B5EF4-FFF2-40B4-BE49-F238E27FC236}">
                <a16:creationId xmlns:a16="http://schemas.microsoft.com/office/drawing/2014/main" id="{CD74634C-9384-3C38-1C42-239704424B18}"/>
              </a:ext>
            </a:extLst>
          </p:cNvPr>
          <p:cNvSpPr txBox="1"/>
          <p:nvPr/>
        </p:nvSpPr>
        <p:spPr>
          <a:xfrm>
            <a:off x="557049" y="1304531"/>
            <a:ext cx="4645572" cy="253441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Syntax:</a:t>
            </a:r>
          </a:p>
          <a:p>
            <a:pPr marL="358775" marR="0" lvl="2"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err="1">
                <a:ln>
                  <a:noFill/>
                </a:ln>
                <a:solidFill>
                  <a:schemeClr val="tx1"/>
                </a:solidFill>
                <a:effectLst/>
                <a:uLnTx/>
                <a:uFillTx/>
                <a:latin typeface="Trebuchet MS" panose="020B0603020202020204" pitchFamily="34" charset="0"/>
                <a:cs typeface="Arial"/>
                <a:sym typeface="Arial"/>
              </a:rPr>
              <a:t>goto</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 </a:t>
            </a:r>
            <a:r>
              <a:rPr kumimoji="0" lang="en-IN" sz="1800" b="0" i="0" u="none" strike="noStrike" kern="0" cap="none" spc="0" normalizeH="0" baseline="0" noProof="0" dirty="0" err="1">
                <a:ln>
                  <a:noFill/>
                </a:ln>
                <a:solidFill>
                  <a:schemeClr val="tx1"/>
                </a:solidFill>
                <a:effectLst/>
                <a:uLnTx/>
                <a:uFillTx/>
                <a:latin typeface="Trebuchet MS" panose="020B0603020202020204" pitchFamily="34" charset="0"/>
                <a:cs typeface="Arial"/>
                <a:sym typeface="Arial"/>
              </a:rPr>
              <a:t>label_name</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a:p>
            <a:pPr marL="358775" marR="0" lvl="2"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a:p>
            <a:pPr marL="358775" marR="0" lvl="2"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a:p>
            <a:pPr marL="358775" marR="0" lvl="2"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p>
          <a:p>
            <a:pPr marL="358775" marR="0" lvl="2"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err="1">
                <a:ln>
                  <a:noFill/>
                </a:ln>
                <a:solidFill>
                  <a:schemeClr val="tx1"/>
                </a:solidFill>
                <a:effectLst/>
                <a:uLnTx/>
                <a:uFillTx/>
                <a:latin typeface="Trebuchet MS" panose="020B0603020202020204" pitchFamily="34" charset="0"/>
                <a:cs typeface="Arial"/>
                <a:sym typeface="Arial"/>
              </a:rPr>
              <a:t>label_name</a:t>
            </a:r>
            <a:r>
              <a:rPr kumimoji="0" lang="en-IN" sz="18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t>
            </a:r>
            <a:endParaRPr lang="en-IN" dirty="0">
              <a:solidFill>
                <a:schemeClr val="tx1"/>
              </a:solidFill>
            </a:endParaRPr>
          </a:p>
        </p:txBody>
      </p:sp>
    </p:spTree>
    <p:extLst>
      <p:ext uri="{BB962C8B-B14F-4D97-AF65-F5344CB8AC3E}">
        <p14:creationId xmlns:p14="http://schemas.microsoft.com/office/powerpoint/2010/main" val="86024128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Jump statements in C++</a:t>
            </a:r>
          </a:p>
        </p:txBody>
      </p:sp>
      <p:sp>
        <p:nvSpPr>
          <p:cNvPr id="9" name="TextBox 8">
            <a:extLst>
              <a:ext uri="{FF2B5EF4-FFF2-40B4-BE49-F238E27FC236}">
                <a16:creationId xmlns:a16="http://schemas.microsoft.com/office/drawing/2014/main" id="{C4C6B6E4-A5B2-1028-1F81-92BF43DF8BFB}"/>
              </a:ext>
            </a:extLst>
          </p:cNvPr>
          <p:cNvSpPr txBox="1"/>
          <p:nvPr/>
        </p:nvSpPr>
        <p:spPr>
          <a:xfrm>
            <a:off x="285125" y="648139"/>
            <a:ext cx="4645572" cy="4503797"/>
          </a:xfrm>
          <a:prstGeom prst="rect">
            <a:avLst/>
          </a:prstGeom>
          <a:noFill/>
        </p:spPr>
        <p:txBody>
          <a:bodyPr wrap="square">
            <a:spAutoFit/>
          </a:bodyPr>
          <a:lstStyle/>
          <a:p>
            <a:pPr>
              <a:spcBef>
                <a:spcPts val="400"/>
              </a:spcBef>
            </a:pPr>
            <a:r>
              <a:rPr lang="en-IN" sz="1600" dirty="0">
                <a:latin typeface="Trebuchet MS" panose="020B0603020202020204" pitchFamily="34" charset="0"/>
              </a:rPr>
              <a:t>#include &lt;iostream&gt;</a:t>
            </a:r>
          </a:p>
          <a:p>
            <a:pPr>
              <a:spcBef>
                <a:spcPts val="400"/>
              </a:spcBef>
            </a:pPr>
            <a:r>
              <a:rPr lang="en-IN" sz="1600" dirty="0">
                <a:latin typeface="Trebuchet MS" panose="020B0603020202020204" pitchFamily="34" charset="0"/>
              </a:rPr>
              <a:t>using namespace std;</a:t>
            </a:r>
          </a:p>
          <a:p>
            <a:pPr>
              <a:spcBef>
                <a:spcPts val="400"/>
              </a:spcBef>
            </a:pPr>
            <a:r>
              <a:rPr lang="en-IN" sz="1600" dirty="0">
                <a:latin typeface="Trebuchet MS" panose="020B0603020202020204" pitchFamily="34" charset="0"/>
              </a:rPr>
              <a:t>int main()</a:t>
            </a:r>
          </a:p>
          <a:p>
            <a:pPr>
              <a:spcBef>
                <a:spcPts val="400"/>
              </a:spcBef>
            </a:pPr>
            <a:r>
              <a:rPr lang="en-IN" sz="1600" dirty="0">
                <a:latin typeface="Trebuchet MS" panose="020B0603020202020204" pitchFamily="34" charset="0"/>
              </a:rPr>
              <a:t>{</a:t>
            </a:r>
          </a:p>
          <a:p>
            <a:pPr>
              <a:spcBef>
                <a:spcPts val="400"/>
              </a:spcBef>
            </a:pPr>
            <a:r>
              <a:rPr lang="en-IN" sz="1600" dirty="0">
                <a:latin typeface="Trebuchet MS" panose="020B0603020202020204" pitchFamily="34" charset="0"/>
              </a:rPr>
              <a:t>    int n = 4;</a:t>
            </a:r>
          </a:p>
          <a:p>
            <a:pPr>
              <a:spcBef>
                <a:spcPts val="400"/>
              </a:spcBef>
            </a:pPr>
            <a:r>
              <a:rPr lang="en-IN" sz="1600" dirty="0">
                <a:latin typeface="Trebuchet MS" panose="020B0603020202020204" pitchFamily="34" charset="0"/>
              </a:rPr>
              <a:t>    if (n % 2 == 0)</a:t>
            </a:r>
          </a:p>
          <a:p>
            <a:pPr>
              <a:spcBef>
                <a:spcPts val="400"/>
              </a:spcBef>
            </a:pPr>
            <a:r>
              <a:rPr lang="en-IN" sz="1600" dirty="0">
                <a:latin typeface="Trebuchet MS" panose="020B0603020202020204" pitchFamily="34" charset="0"/>
              </a:rPr>
              <a:t>       	 </a:t>
            </a:r>
            <a:r>
              <a:rPr lang="en-IN" sz="1600" dirty="0" err="1">
                <a:latin typeface="Trebuchet MS" panose="020B0603020202020204" pitchFamily="34" charset="0"/>
              </a:rPr>
              <a:t>goto</a:t>
            </a:r>
            <a:r>
              <a:rPr lang="en-IN" sz="1600" dirty="0">
                <a:latin typeface="Trebuchet MS" panose="020B0603020202020204" pitchFamily="34" charset="0"/>
              </a:rPr>
              <a:t> label1;</a:t>
            </a:r>
          </a:p>
          <a:p>
            <a:pPr>
              <a:spcBef>
                <a:spcPts val="400"/>
              </a:spcBef>
            </a:pPr>
            <a:r>
              <a:rPr lang="en-IN" sz="1600" dirty="0">
                <a:latin typeface="Trebuchet MS" panose="020B0603020202020204" pitchFamily="34" charset="0"/>
              </a:rPr>
              <a:t>    else</a:t>
            </a:r>
          </a:p>
          <a:p>
            <a:pPr>
              <a:spcBef>
                <a:spcPts val="400"/>
              </a:spcBef>
            </a:pPr>
            <a:r>
              <a:rPr lang="en-IN" sz="1600" dirty="0">
                <a:latin typeface="Trebuchet MS" panose="020B0603020202020204" pitchFamily="34" charset="0"/>
              </a:rPr>
              <a:t>        	</a:t>
            </a:r>
            <a:r>
              <a:rPr lang="en-IN" sz="1600" dirty="0" err="1">
                <a:latin typeface="Trebuchet MS" panose="020B0603020202020204" pitchFamily="34" charset="0"/>
              </a:rPr>
              <a:t>goto</a:t>
            </a:r>
            <a:r>
              <a:rPr lang="en-IN" sz="1600" dirty="0">
                <a:latin typeface="Trebuchet MS" panose="020B0603020202020204" pitchFamily="34" charset="0"/>
              </a:rPr>
              <a:t> label2;</a:t>
            </a:r>
          </a:p>
          <a:p>
            <a:pPr>
              <a:spcBef>
                <a:spcPts val="400"/>
              </a:spcBef>
            </a:pPr>
            <a:r>
              <a:rPr lang="en-IN" sz="1600" dirty="0">
                <a:latin typeface="Trebuchet MS" panose="020B0603020202020204" pitchFamily="34" charset="0"/>
              </a:rPr>
              <a:t>   label1:</a:t>
            </a:r>
          </a:p>
          <a:p>
            <a:pPr>
              <a:spcBef>
                <a:spcPts val="4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"Even"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400"/>
              </a:spcBef>
            </a:pPr>
            <a:r>
              <a:rPr lang="en-IN" sz="1600" dirty="0">
                <a:latin typeface="Trebuchet MS" panose="020B0603020202020204" pitchFamily="34" charset="0"/>
              </a:rPr>
              <a:t>    	return 0;</a:t>
            </a:r>
          </a:p>
          <a:p>
            <a:pPr>
              <a:spcBef>
                <a:spcPts val="400"/>
              </a:spcBef>
            </a:pPr>
            <a:r>
              <a:rPr lang="en-IN" sz="1600" dirty="0">
                <a:latin typeface="Trebuchet MS" panose="020B0603020202020204" pitchFamily="34" charset="0"/>
              </a:rPr>
              <a:t>   label2:</a:t>
            </a:r>
          </a:p>
          <a:p>
            <a:pPr>
              <a:spcBef>
                <a:spcPts val="4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"Odd"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400"/>
              </a:spcBef>
            </a:pPr>
            <a:r>
              <a:rPr lang="en-IN" sz="1600" dirty="0">
                <a:latin typeface="Trebuchet MS" panose="020B0603020202020204" pitchFamily="34" charset="0"/>
              </a:rPr>
              <a:t>}</a:t>
            </a:r>
          </a:p>
        </p:txBody>
      </p:sp>
      <p:sp>
        <p:nvSpPr>
          <p:cNvPr id="11" name="TextBox 10">
            <a:extLst>
              <a:ext uri="{FF2B5EF4-FFF2-40B4-BE49-F238E27FC236}">
                <a16:creationId xmlns:a16="http://schemas.microsoft.com/office/drawing/2014/main" id="{592ECF02-A9E3-8C3D-A316-D7FAEADE018D}"/>
              </a:ext>
            </a:extLst>
          </p:cNvPr>
          <p:cNvSpPr txBox="1"/>
          <p:nvPr/>
        </p:nvSpPr>
        <p:spPr>
          <a:xfrm>
            <a:off x="5986158" y="2306174"/>
            <a:ext cx="1802008" cy="830997"/>
          </a:xfrm>
          <a:prstGeom prst="rect">
            <a:avLst/>
          </a:prstGeom>
          <a:noFill/>
        </p:spPr>
        <p:txBody>
          <a:bodyPr wrap="square">
            <a:spAutoFit/>
          </a:bodyPr>
          <a:lstStyle/>
          <a:p>
            <a:r>
              <a:rPr lang="en-IN" sz="1600" dirty="0">
                <a:solidFill>
                  <a:srgbClr val="0070C0"/>
                </a:solidFill>
                <a:latin typeface="Trebuchet MS" panose="020B0603020202020204" pitchFamily="34" charset="0"/>
              </a:rPr>
              <a:t>Output:</a:t>
            </a:r>
          </a:p>
          <a:p>
            <a:endParaRPr lang="en-IN" sz="1600" dirty="0">
              <a:latin typeface="Trebuchet MS" panose="020B0603020202020204" pitchFamily="34" charset="0"/>
            </a:endParaRPr>
          </a:p>
          <a:p>
            <a:r>
              <a:rPr lang="en-IN" sz="1600" dirty="0">
                <a:latin typeface="Trebuchet MS" panose="020B0603020202020204" pitchFamily="34" charset="0"/>
              </a:rPr>
              <a:t>Even</a:t>
            </a:r>
          </a:p>
        </p:txBody>
      </p:sp>
    </p:spTree>
    <p:extLst>
      <p:ext uri="{BB962C8B-B14F-4D97-AF65-F5344CB8AC3E}">
        <p14:creationId xmlns:p14="http://schemas.microsoft.com/office/powerpoint/2010/main" val="32101884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7139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Type conversion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3" name="TextBox 2">
            <a:extLst>
              <a:ext uri="{FF2B5EF4-FFF2-40B4-BE49-F238E27FC236}">
                <a16:creationId xmlns:a16="http://schemas.microsoft.com/office/drawing/2014/main" id="{049C0FE4-24B9-65A5-5D4A-78BE092B3CA5}"/>
              </a:ext>
            </a:extLst>
          </p:cNvPr>
          <p:cNvSpPr txBox="1"/>
          <p:nvPr/>
        </p:nvSpPr>
        <p:spPr>
          <a:xfrm>
            <a:off x="361243" y="877365"/>
            <a:ext cx="8161867" cy="37809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When the expression has data of mixed data types at that time,  type conversion is necessary.</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The data type is promoted from </a:t>
            </a:r>
            <a:r>
              <a:rPr lang="en-IN" sz="1800" b="1" dirty="0">
                <a:latin typeface="Trebuchet MS" panose="020B0603020202020204" pitchFamily="34" charset="0"/>
              </a:rPr>
              <a:t>lower to higher</a:t>
            </a:r>
            <a:r>
              <a:rPr lang="en-IN" sz="1800" dirty="0">
                <a:latin typeface="Trebuchet MS" panose="020B0603020202020204" pitchFamily="34" charset="0"/>
              </a:rPr>
              <a:t> because  converting </a:t>
            </a:r>
            <a:r>
              <a:rPr lang="en-IN" sz="1800" b="1" dirty="0">
                <a:latin typeface="Trebuchet MS" panose="020B0603020202020204" pitchFamily="34" charset="0"/>
              </a:rPr>
              <a:t>higher to lower involves loss </a:t>
            </a:r>
            <a:r>
              <a:rPr lang="en-IN" sz="1800" dirty="0">
                <a:latin typeface="Trebuchet MS" panose="020B0603020202020204" pitchFamily="34" charset="0"/>
              </a:rPr>
              <a:t>of precision and value</a:t>
            </a:r>
          </a:p>
          <a:p>
            <a:pPr marL="285750" indent="-285750">
              <a:lnSpc>
                <a:spcPct val="150000"/>
              </a:lnSpc>
              <a:buFont typeface="Arial" panose="020B0604020202020204" pitchFamily="34" charset="0"/>
              <a:buChar char="•"/>
            </a:pPr>
            <a:r>
              <a:rPr lang="en-IN" sz="1800" dirty="0">
                <a:latin typeface="Trebuchet MS" panose="020B0603020202020204" pitchFamily="34" charset="0"/>
              </a:rPr>
              <a:t>C++ allows us to convert data of one type to that of another. This is known as type conversion.</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There are two types of type conversion in C++.</a:t>
            </a:r>
          </a:p>
          <a:p>
            <a:pPr marL="982663" lvl="1" indent="-441325">
              <a:lnSpc>
                <a:spcPct val="150000"/>
              </a:lnSpc>
              <a:buFont typeface="+mj-lt"/>
              <a:buAutoNum type="arabicPeriod"/>
            </a:pPr>
            <a:r>
              <a:rPr lang="en-IN" sz="1800" dirty="0">
                <a:latin typeface="Trebuchet MS" panose="020B0603020202020204" pitchFamily="34" charset="0"/>
              </a:rPr>
              <a:t>Implicit Conversion</a:t>
            </a:r>
          </a:p>
          <a:p>
            <a:pPr marL="982663" lvl="1" indent="-441325">
              <a:lnSpc>
                <a:spcPct val="150000"/>
              </a:lnSpc>
              <a:buFont typeface="+mj-lt"/>
              <a:buAutoNum type="arabicPeriod"/>
            </a:pPr>
            <a:r>
              <a:rPr lang="en-IN" sz="1800" dirty="0">
                <a:latin typeface="Trebuchet MS" panose="020B0603020202020204" pitchFamily="34" charset="0"/>
              </a:rPr>
              <a:t>Explicit Conversion (Type Casting)</a:t>
            </a:r>
          </a:p>
        </p:txBody>
      </p:sp>
    </p:spTree>
    <p:extLst>
      <p:ext uri="{BB962C8B-B14F-4D97-AF65-F5344CB8AC3E}">
        <p14:creationId xmlns:p14="http://schemas.microsoft.com/office/powerpoint/2010/main" val="95890576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Type conversion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4" name="TextBox 3">
            <a:extLst>
              <a:ext uri="{FF2B5EF4-FFF2-40B4-BE49-F238E27FC236}">
                <a16:creationId xmlns:a16="http://schemas.microsoft.com/office/drawing/2014/main" id="{667966AB-BDAB-81FE-1F9D-A2FA917600A6}"/>
              </a:ext>
            </a:extLst>
          </p:cNvPr>
          <p:cNvSpPr txBox="1"/>
          <p:nvPr/>
        </p:nvSpPr>
        <p:spPr>
          <a:xfrm>
            <a:off x="285125" y="889000"/>
            <a:ext cx="8046075" cy="3780971"/>
          </a:xfrm>
          <a:prstGeom prst="rect">
            <a:avLst/>
          </a:prstGeom>
          <a:noFill/>
        </p:spPr>
        <p:txBody>
          <a:bodyPr wrap="square">
            <a:spAutoFit/>
          </a:bodyPr>
          <a:lstStyle/>
          <a:p>
            <a:pPr>
              <a:lnSpc>
                <a:spcPct val="150000"/>
              </a:lnSpc>
            </a:pPr>
            <a:r>
              <a:rPr lang="en-IN" sz="1800" b="1" dirty="0">
                <a:solidFill>
                  <a:srgbClr val="0070C0"/>
                </a:solidFill>
                <a:latin typeface="Trebuchet MS" panose="020B0603020202020204" pitchFamily="34" charset="0"/>
              </a:rPr>
              <a:t>Implicit Type Conversion</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The type conversion that is done </a:t>
            </a:r>
            <a:r>
              <a:rPr lang="en-IN" sz="1800" b="1" dirty="0">
                <a:latin typeface="Trebuchet MS" panose="020B0603020202020204" pitchFamily="34" charset="0"/>
              </a:rPr>
              <a:t>automatically done by the compiler is known as implicit type conversion</a:t>
            </a:r>
            <a:r>
              <a:rPr lang="en-IN" sz="1800" dirty="0">
                <a:latin typeface="Trebuchet MS" panose="020B0603020202020204" pitchFamily="34" charset="0"/>
              </a:rPr>
              <a:t>. This type of conversion is also known as </a:t>
            </a:r>
            <a:r>
              <a:rPr lang="en-IN" sz="1800" dirty="0">
                <a:solidFill>
                  <a:srgbClr val="FF0000"/>
                </a:solidFill>
                <a:latin typeface="Trebuchet MS" panose="020B0603020202020204" pitchFamily="34" charset="0"/>
              </a:rPr>
              <a:t>automatic conversion</a:t>
            </a:r>
            <a:r>
              <a:rPr lang="en-IN" sz="1800" dirty="0">
                <a:latin typeface="Trebuchet MS" panose="020B0603020202020204" pitchFamily="34" charset="0"/>
              </a:rPr>
              <a:t>.</a:t>
            </a:r>
          </a:p>
          <a:p>
            <a:pPr marL="285750" indent="-285750">
              <a:lnSpc>
                <a:spcPct val="150000"/>
              </a:lnSpc>
              <a:buFont typeface="Arial" panose="020B0604020202020204" pitchFamily="34" charset="0"/>
              <a:buChar char="•"/>
            </a:pPr>
            <a:r>
              <a:rPr lang="en-IN" sz="1800" dirty="0">
                <a:latin typeface="Trebuchet MS" panose="020B0603020202020204" pitchFamily="34" charset="0"/>
              </a:rPr>
              <a:t>Done by the compiler on its own, without any external trigger from the user.</a:t>
            </a:r>
          </a:p>
          <a:p>
            <a:pPr marL="285750" indent="-285750">
              <a:lnSpc>
                <a:spcPct val="150000"/>
              </a:lnSpc>
              <a:buFont typeface="Arial" panose="020B0604020202020204" pitchFamily="34" charset="0"/>
              <a:buChar char="•"/>
            </a:pPr>
            <a:r>
              <a:rPr lang="en-IN" sz="1800" dirty="0">
                <a:latin typeface="Trebuchet MS" panose="020B0603020202020204" pitchFamily="34" charset="0"/>
              </a:rPr>
              <a:t>Generally takes place when in an expression more than one data type is present. In such condition type conversion (type promotion) takes place to </a:t>
            </a:r>
            <a:r>
              <a:rPr lang="en-IN" sz="1800" b="1" dirty="0">
                <a:latin typeface="Trebuchet MS" panose="020B0603020202020204" pitchFamily="34" charset="0"/>
              </a:rPr>
              <a:t>avoid lose of data</a:t>
            </a:r>
            <a:r>
              <a:rPr lang="en-IN" sz="1800" dirty="0">
                <a:latin typeface="Trebuchet MS" panose="020B0603020202020204" pitchFamily="34" charset="0"/>
              </a:rPr>
              <a:t>.</a:t>
            </a:r>
          </a:p>
        </p:txBody>
      </p:sp>
    </p:spTree>
    <p:extLst>
      <p:ext uri="{BB962C8B-B14F-4D97-AF65-F5344CB8AC3E}">
        <p14:creationId xmlns:p14="http://schemas.microsoft.com/office/powerpoint/2010/main" val="142701217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Type conversion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4" name="TextBox 3">
            <a:extLst>
              <a:ext uri="{FF2B5EF4-FFF2-40B4-BE49-F238E27FC236}">
                <a16:creationId xmlns:a16="http://schemas.microsoft.com/office/drawing/2014/main" id="{667966AB-BDAB-81FE-1F9D-A2FA917600A6}"/>
              </a:ext>
            </a:extLst>
          </p:cNvPr>
          <p:cNvSpPr txBox="1"/>
          <p:nvPr/>
        </p:nvSpPr>
        <p:spPr>
          <a:xfrm>
            <a:off x="548937" y="1295400"/>
            <a:ext cx="8046075" cy="2776850"/>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IN" sz="1800" dirty="0">
                <a:latin typeface="Trebuchet MS" panose="020B0603020202020204" pitchFamily="34" charset="0"/>
              </a:rPr>
              <a:t>All the data types of the </a:t>
            </a:r>
            <a:r>
              <a:rPr lang="en-IN" sz="1800" b="1" dirty="0">
                <a:latin typeface="Trebuchet MS" panose="020B0603020202020204" pitchFamily="34" charset="0"/>
              </a:rPr>
              <a:t>variables are upgraded to the data type of the variable with largest data type</a:t>
            </a:r>
            <a:r>
              <a:rPr lang="en-IN" sz="1800" dirty="0">
                <a:latin typeface="Trebuchet MS" panose="020B0603020202020204" pitchFamily="34" charset="0"/>
              </a:rPr>
              <a:t>.</a:t>
            </a:r>
          </a:p>
          <a:p>
            <a:pPr marL="722313" lvl="2">
              <a:lnSpc>
                <a:spcPct val="200000"/>
              </a:lnSpc>
            </a:pPr>
            <a:r>
              <a:rPr lang="en-IN" sz="1800" dirty="0">
                <a:solidFill>
                  <a:srgbClr val="0070C0"/>
                </a:solidFill>
                <a:latin typeface="Trebuchet MS" panose="020B0603020202020204" pitchFamily="34" charset="0"/>
              </a:rPr>
              <a:t>bool -&gt; char -&gt; short int -&gt; int -&gt; </a:t>
            </a:r>
          </a:p>
          <a:p>
            <a:pPr marL="722313" lvl="2">
              <a:lnSpc>
                <a:spcPct val="200000"/>
              </a:lnSpc>
            </a:pPr>
            <a:r>
              <a:rPr lang="en-IN" sz="1800" dirty="0">
                <a:solidFill>
                  <a:srgbClr val="0070C0"/>
                </a:solidFill>
                <a:latin typeface="Trebuchet MS" panose="020B0603020202020204" pitchFamily="34" charset="0"/>
              </a:rPr>
              <a:t>unsigned int -&gt; long -&gt; unsigned -&gt; </a:t>
            </a:r>
          </a:p>
          <a:p>
            <a:pPr marL="722313" lvl="2">
              <a:lnSpc>
                <a:spcPct val="200000"/>
              </a:lnSpc>
            </a:pPr>
            <a:r>
              <a:rPr lang="en-IN" sz="1800" dirty="0">
                <a:solidFill>
                  <a:srgbClr val="0070C0"/>
                </a:solidFill>
                <a:latin typeface="Trebuchet MS" panose="020B0603020202020204" pitchFamily="34" charset="0"/>
              </a:rPr>
              <a:t>long </a:t>
            </a:r>
            <a:r>
              <a:rPr lang="en-IN" sz="1800" dirty="0" err="1">
                <a:solidFill>
                  <a:srgbClr val="0070C0"/>
                </a:solidFill>
                <a:latin typeface="Trebuchet MS" panose="020B0603020202020204" pitchFamily="34" charset="0"/>
              </a:rPr>
              <a:t>long</a:t>
            </a:r>
            <a:r>
              <a:rPr lang="en-IN" sz="1800" dirty="0">
                <a:solidFill>
                  <a:srgbClr val="0070C0"/>
                </a:solidFill>
                <a:latin typeface="Trebuchet MS" panose="020B0603020202020204" pitchFamily="34" charset="0"/>
              </a:rPr>
              <a:t> -&gt; float -&gt; double -&gt; long double</a:t>
            </a:r>
          </a:p>
        </p:txBody>
      </p:sp>
    </p:spTree>
    <p:extLst>
      <p:ext uri="{BB962C8B-B14F-4D97-AF65-F5344CB8AC3E}">
        <p14:creationId xmlns:p14="http://schemas.microsoft.com/office/powerpoint/2010/main" val="369863338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Type conversion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3" name="TextBox 2">
            <a:extLst>
              <a:ext uri="{FF2B5EF4-FFF2-40B4-BE49-F238E27FC236}">
                <a16:creationId xmlns:a16="http://schemas.microsoft.com/office/drawing/2014/main" id="{3F886004-36B7-B966-1864-BDC61492DA29}"/>
              </a:ext>
            </a:extLst>
          </p:cNvPr>
          <p:cNvSpPr txBox="1"/>
          <p:nvPr/>
        </p:nvSpPr>
        <p:spPr>
          <a:xfrm>
            <a:off x="406399" y="770490"/>
            <a:ext cx="6107289" cy="4247317"/>
          </a:xfrm>
          <a:prstGeom prst="rect">
            <a:avLst/>
          </a:prstGeom>
          <a:noFill/>
        </p:spPr>
        <p:txBody>
          <a:bodyPr wrap="square">
            <a:spAutoFit/>
          </a:bodyPr>
          <a:lstStyle/>
          <a:p>
            <a:r>
              <a:rPr lang="en-IN" sz="1800" dirty="0">
                <a:latin typeface="Trebuchet MS" panose="020B0603020202020204" pitchFamily="34" charset="0"/>
              </a:rPr>
              <a:t>#include &lt;iostream&gt;</a:t>
            </a:r>
          </a:p>
          <a:p>
            <a:r>
              <a:rPr lang="en-IN" sz="1800" dirty="0">
                <a:latin typeface="Trebuchet MS" panose="020B0603020202020204" pitchFamily="34" charset="0"/>
              </a:rPr>
              <a:t>using namespace std;</a:t>
            </a:r>
          </a:p>
          <a:p>
            <a:r>
              <a:rPr lang="en-IN" sz="1800" dirty="0">
                <a:latin typeface="Trebuchet MS" panose="020B0603020202020204" pitchFamily="34" charset="0"/>
              </a:rPr>
              <a:t> int main()</a:t>
            </a:r>
          </a:p>
          <a:p>
            <a:r>
              <a:rPr lang="en-IN" sz="1800" dirty="0">
                <a:latin typeface="Trebuchet MS" panose="020B0603020202020204" pitchFamily="34" charset="0"/>
              </a:rPr>
              <a:t>{</a:t>
            </a:r>
          </a:p>
          <a:p>
            <a:r>
              <a:rPr lang="en-IN" sz="1800" dirty="0">
                <a:latin typeface="Trebuchet MS" panose="020B0603020202020204" pitchFamily="34" charset="0"/>
              </a:rPr>
              <a:t>    int x = 10; </a:t>
            </a:r>
            <a:r>
              <a:rPr lang="en-IN" sz="1800" dirty="0">
                <a:solidFill>
                  <a:srgbClr val="FF0000"/>
                </a:solidFill>
                <a:latin typeface="Trebuchet MS" panose="020B0603020202020204" pitchFamily="34" charset="0"/>
              </a:rPr>
              <a:t>// integer x</a:t>
            </a:r>
          </a:p>
          <a:p>
            <a:r>
              <a:rPr lang="en-IN" sz="1800" dirty="0">
                <a:latin typeface="Trebuchet MS" panose="020B0603020202020204" pitchFamily="34" charset="0"/>
              </a:rPr>
              <a:t>    char y = 'a'; </a:t>
            </a:r>
            <a:r>
              <a:rPr lang="en-IN" sz="1800" dirty="0">
                <a:solidFill>
                  <a:srgbClr val="FF0000"/>
                </a:solidFill>
                <a:latin typeface="Trebuchet MS" panose="020B0603020202020204" pitchFamily="34" charset="0"/>
              </a:rPr>
              <a:t>// character c</a:t>
            </a:r>
          </a:p>
          <a:p>
            <a:r>
              <a:rPr lang="en-IN" sz="1800" dirty="0">
                <a:latin typeface="Trebuchet MS" panose="020B0603020202020204" pitchFamily="34" charset="0"/>
              </a:rPr>
              <a:t>     </a:t>
            </a:r>
            <a:r>
              <a:rPr lang="en-IN" sz="1800" dirty="0">
                <a:solidFill>
                  <a:srgbClr val="FF0000"/>
                </a:solidFill>
                <a:latin typeface="Trebuchet MS" panose="020B0603020202020204" pitchFamily="34" charset="0"/>
              </a:rPr>
              <a:t>// y implicitly converted to int. ASCII value of 'a' is 97</a:t>
            </a:r>
          </a:p>
          <a:p>
            <a:r>
              <a:rPr lang="en-IN" sz="1800" dirty="0">
                <a:latin typeface="Trebuchet MS" panose="020B0603020202020204" pitchFamily="34" charset="0"/>
              </a:rPr>
              <a:t>    x = x + y;</a:t>
            </a:r>
          </a:p>
          <a:p>
            <a:r>
              <a:rPr lang="en-IN" sz="1800" dirty="0">
                <a:solidFill>
                  <a:srgbClr val="FF0000"/>
                </a:solidFill>
                <a:latin typeface="Trebuchet MS" panose="020B0603020202020204" pitchFamily="34" charset="0"/>
              </a:rPr>
              <a:t>      // x is implicitly converted to float</a:t>
            </a:r>
          </a:p>
          <a:p>
            <a:r>
              <a:rPr lang="en-IN" sz="1800" dirty="0">
                <a:latin typeface="Trebuchet MS" panose="020B0603020202020204" pitchFamily="34" charset="0"/>
              </a:rPr>
              <a:t>    float z = x + 1.0;</a:t>
            </a:r>
          </a:p>
          <a:p>
            <a:r>
              <a:rPr lang="en-IN" sz="1800" dirty="0">
                <a:latin typeface="Trebuchet MS" panose="020B0603020202020204" pitchFamily="34" charset="0"/>
              </a:rPr>
              <a:t>    </a:t>
            </a:r>
            <a:r>
              <a:rPr lang="en-IN" sz="1800" dirty="0" err="1">
                <a:latin typeface="Trebuchet MS" panose="020B0603020202020204" pitchFamily="34" charset="0"/>
              </a:rPr>
              <a:t>cout</a:t>
            </a:r>
            <a:r>
              <a:rPr lang="en-IN" sz="1800" dirty="0">
                <a:latin typeface="Trebuchet MS" panose="020B0603020202020204" pitchFamily="34" charset="0"/>
              </a:rPr>
              <a:t> &lt;&lt; "x = " &lt;&lt; x &lt;&lt; </a:t>
            </a:r>
            <a:r>
              <a:rPr lang="en-IN" sz="1800" dirty="0" err="1">
                <a:latin typeface="Trebuchet MS" panose="020B0603020202020204" pitchFamily="34" charset="0"/>
              </a:rPr>
              <a:t>endl</a:t>
            </a:r>
            <a:endParaRPr lang="en-IN" sz="1800" dirty="0">
              <a:latin typeface="Trebuchet MS" panose="020B0603020202020204" pitchFamily="34" charset="0"/>
            </a:endParaRPr>
          </a:p>
          <a:p>
            <a:r>
              <a:rPr lang="en-IN" sz="1800" dirty="0">
                <a:latin typeface="Trebuchet MS" panose="020B0603020202020204" pitchFamily="34" charset="0"/>
              </a:rPr>
              <a:t>           &lt;&lt; "y = " &lt;&lt; y &lt;&lt; </a:t>
            </a:r>
            <a:r>
              <a:rPr lang="en-IN" sz="1800" dirty="0" err="1">
                <a:latin typeface="Trebuchet MS" panose="020B0603020202020204" pitchFamily="34" charset="0"/>
              </a:rPr>
              <a:t>endl</a:t>
            </a:r>
            <a:endParaRPr lang="en-IN" sz="1800" dirty="0">
              <a:latin typeface="Trebuchet MS" panose="020B0603020202020204" pitchFamily="34" charset="0"/>
            </a:endParaRPr>
          </a:p>
          <a:p>
            <a:r>
              <a:rPr lang="en-IN" sz="1800" dirty="0">
                <a:latin typeface="Trebuchet MS" panose="020B0603020202020204" pitchFamily="34" charset="0"/>
              </a:rPr>
              <a:t>           &lt;&lt; "z = " &lt;&lt; z &lt;&lt; </a:t>
            </a:r>
            <a:r>
              <a:rPr lang="en-IN" sz="1800" dirty="0" err="1">
                <a:latin typeface="Trebuchet MS" panose="020B0603020202020204" pitchFamily="34" charset="0"/>
              </a:rPr>
              <a:t>endl</a:t>
            </a:r>
            <a:r>
              <a:rPr lang="en-IN" sz="1800" dirty="0">
                <a:latin typeface="Trebuchet MS" panose="020B0603020202020204" pitchFamily="34" charset="0"/>
              </a:rPr>
              <a:t>;</a:t>
            </a:r>
          </a:p>
          <a:p>
            <a:r>
              <a:rPr lang="en-IN" sz="1800" dirty="0">
                <a:latin typeface="Trebuchet MS" panose="020B0603020202020204" pitchFamily="34" charset="0"/>
              </a:rPr>
              <a:t>    return 0;</a:t>
            </a:r>
          </a:p>
          <a:p>
            <a:r>
              <a:rPr lang="en-IN" sz="1800" dirty="0">
                <a:latin typeface="Trebuchet MS" panose="020B0603020202020204" pitchFamily="34" charset="0"/>
              </a:rPr>
              <a:t>} </a:t>
            </a:r>
          </a:p>
        </p:txBody>
      </p:sp>
      <p:sp>
        <p:nvSpPr>
          <p:cNvPr id="7" name="TextBox 6">
            <a:extLst>
              <a:ext uri="{FF2B5EF4-FFF2-40B4-BE49-F238E27FC236}">
                <a16:creationId xmlns:a16="http://schemas.microsoft.com/office/drawing/2014/main" id="{19C2C986-9A8B-FFC7-5A40-3CD15C042208}"/>
              </a:ext>
            </a:extLst>
          </p:cNvPr>
          <p:cNvSpPr txBox="1"/>
          <p:nvPr/>
        </p:nvSpPr>
        <p:spPr>
          <a:xfrm>
            <a:off x="6254296" y="2894148"/>
            <a:ext cx="1625348" cy="1703480"/>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IN" sz="1800" dirty="0">
                <a:solidFill>
                  <a:srgbClr val="0070C0"/>
                </a:solidFill>
                <a:latin typeface="Trebuchet MS" panose="020B0603020202020204" pitchFamily="34" charset="0"/>
              </a:rPr>
              <a:t>Output:</a:t>
            </a:r>
          </a:p>
          <a:p>
            <a:pPr marL="361950" lvl="1">
              <a:lnSpc>
                <a:spcPct val="150000"/>
              </a:lnSpc>
            </a:pPr>
            <a:r>
              <a:rPr lang="en-IN" sz="1800" dirty="0">
                <a:latin typeface="Trebuchet MS" panose="020B0603020202020204" pitchFamily="34" charset="0"/>
              </a:rPr>
              <a:t>x = 107</a:t>
            </a:r>
          </a:p>
          <a:p>
            <a:pPr marL="361950" lvl="1">
              <a:lnSpc>
                <a:spcPct val="150000"/>
              </a:lnSpc>
            </a:pPr>
            <a:r>
              <a:rPr lang="en-IN" sz="1800" dirty="0">
                <a:latin typeface="Trebuchet MS" panose="020B0603020202020204" pitchFamily="34" charset="0"/>
              </a:rPr>
              <a:t>y = a</a:t>
            </a:r>
          </a:p>
          <a:p>
            <a:pPr marL="361950" lvl="1">
              <a:lnSpc>
                <a:spcPct val="150000"/>
              </a:lnSpc>
            </a:pPr>
            <a:r>
              <a:rPr lang="en-IN" sz="1800" dirty="0">
                <a:latin typeface="Trebuchet MS" panose="020B0603020202020204" pitchFamily="34" charset="0"/>
              </a:rPr>
              <a:t>z = 108</a:t>
            </a:r>
          </a:p>
        </p:txBody>
      </p:sp>
    </p:spTree>
    <p:extLst>
      <p:ext uri="{BB962C8B-B14F-4D97-AF65-F5344CB8AC3E}">
        <p14:creationId xmlns:p14="http://schemas.microsoft.com/office/powerpoint/2010/main" val="417730788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Type conversion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4" name="TextBox 3">
            <a:extLst>
              <a:ext uri="{FF2B5EF4-FFF2-40B4-BE49-F238E27FC236}">
                <a16:creationId xmlns:a16="http://schemas.microsoft.com/office/drawing/2014/main" id="{94167352-5030-14E3-A4AA-AF7339DBB56D}"/>
              </a:ext>
            </a:extLst>
          </p:cNvPr>
          <p:cNvSpPr txBox="1"/>
          <p:nvPr/>
        </p:nvSpPr>
        <p:spPr>
          <a:xfrm>
            <a:off x="285125" y="815646"/>
            <a:ext cx="8026402" cy="294997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Explicit type conversions can be forced in any expression to </a:t>
            </a:r>
            <a:r>
              <a:rPr lang="en-IN" sz="1800" b="1" dirty="0">
                <a:latin typeface="Trebuchet MS" panose="020B0603020202020204" pitchFamily="34" charset="0"/>
              </a:rPr>
              <a:t>change the type by programmer</a:t>
            </a:r>
            <a:r>
              <a:rPr lang="en-IN" sz="1800" dirty="0">
                <a:latin typeface="Trebuchet MS" panose="020B0603020202020204" pitchFamily="34" charset="0"/>
              </a:rPr>
              <a:t>.</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This process is also called </a:t>
            </a:r>
            <a:r>
              <a:rPr lang="en-IN" sz="1800" dirty="0">
                <a:solidFill>
                  <a:srgbClr val="FF0000"/>
                </a:solidFill>
                <a:latin typeface="Trebuchet MS" panose="020B0603020202020204" pitchFamily="34" charset="0"/>
              </a:rPr>
              <a:t>type casting </a:t>
            </a:r>
            <a:r>
              <a:rPr lang="en-IN" sz="1800" dirty="0">
                <a:latin typeface="Trebuchet MS" panose="020B0603020202020204" pitchFamily="34" charset="0"/>
              </a:rPr>
              <a:t>and it is user-defined. Here the user can typecast the result to make it of a particular data type.</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In C++, it can be done by two ways:</a:t>
            </a:r>
          </a:p>
          <a:p>
            <a:pPr>
              <a:lnSpc>
                <a:spcPct val="150000"/>
              </a:lnSpc>
            </a:pPr>
            <a:r>
              <a:rPr lang="en-IN" sz="1800" b="1" dirty="0">
                <a:latin typeface="Trebuchet MS" panose="020B0603020202020204" pitchFamily="34" charset="0"/>
              </a:rPr>
              <a:t>Syntax:</a:t>
            </a:r>
          </a:p>
          <a:p>
            <a:pPr marL="361950">
              <a:lnSpc>
                <a:spcPct val="150000"/>
              </a:lnSpc>
            </a:pPr>
            <a:r>
              <a:rPr lang="en-IN" sz="1800" b="1" dirty="0">
                <a:solidFill>
                  <a:srgbClr val="0070C0"/>
                </a:solidFill>
                <a:latin typeface="Trebuchet MS" panose="020B0603020202020204" pitchFamily="34" charset="0"/>
              </a:rPr>
              <a:t>(type-name) expression;	OR	type-name (expression);</a:t>
            </a:r>
          </a:p>
        </p:txBody>
      </p:sp>
    </p:spTree>
    <p:extLst>
      <p:ext uri="{BB962C8B-B14F-4D97-AF65-F5344CB8AC3E}">
        <p14:creationId xmlns:p14="http://schemas.microsoft.com/office/powerpoint/2010/main" val="315495187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Type conversion </a:t>
            </a:r>
            <a:endParaRPr kumimoji="0" lang="en-IN" sz="2800" b="1" i="0" u="none" strike="noStrike" kern="0" cap="none" spc="0" normalizeH="0" baseline="0" noProof="0" dirty="0">
              <a:ln>
                <a:noFill/>
              </a:ln>
              <a:solidFill>
                <a:schemeClr val="bg1"/>
              </a:solidFill>
              <a:effectLst/>
              <a:uLnTx/>
              <a:uFillTx/>
              <a:latin typeface="Trebuchet MS" panose="020B0603020202020204" pitchFamily="34" charset="0"/>
              <a:sym typeface="Arial"/>
            </a:endParaRPr>
          </a:p>
        </p:txBody>
      </p:sp>
      <p:sp>
        <p:nvSpPr>
          <p:cNvPr id="7" name="TextBox 6">
            <a:extLst>
              <a:ext uri="{FF2B5EF4-FFF2-40B4-BE49-F238E27FC236}">
                <a16:creationId xmlns:a16="http://schemas.microsoft.com/office/drawing/2014/main" id="{163A6105-FFEA-D4DB-8B48-07D709AC3AB3}"/>
              </a:ext>
            </a:extLst>
          </p:cNvPr>
          <p:cNvSpPr txBox="1"/>
          <p:nvPr/>
        </p:nvSpPr>
        <p:spPr>
          <a:xfrm>
            <a:off x="598311" y="1340630"/>
            <a:ext cx="3544711" cy="2800767"/>
          </a:xfrm>
          <a:prstGeom prst="rect">
            <a:avLst/>
          </a:prstGeom>
          <a:noFill/>
        </p:spPr>
        <p:txBody>
          <a:bodyPr wrap="square">
            <a:spAutoFit/>
          </a:bodyPr>
          <a:lstStyle/>
          <a:p>
            <a:r>
              <a:rPr lang="en-IN" sz="1600" dirty="0">
                <a:latin typeface="Trebuchet MS" panose="020B0603020202020204" pitchFamily="34" charset="0"/>
              </a:rPr>
              <a:t>#include &lt;iostream&gt;</a:t>
            </a:r>
          </a:p>
          <a:p>
            <a:r>
              <a:rPr lang="en-IN" sz="1600" dirty="0">
                <a:latin typeface="Trebuchet MS" panose="020B0603020202020204" pitchFamily="34" charset="0"/>
              </a:rPr>
              <a:t>using namespace std;</a:t>
            </a:r>
          </a:p>
          <a:p>
            <a:endParaRPr lang="en-IN" sz="1600" dirty="0">
              <a:latin typeface="Trebuchet MS" panose="020B0603020202020204" pitchFamily="34" charset="0"/>
            </a:endParaRPr>
          </a:p>
          <a:p>
            <a:r>
              <a:rPr lang="en-IN" sz="1600" dirty="0">
                <a:latin typeface="Trebuchet MS" panose="020B0603020202020204" pitchFamily="34" charset="0"/>
              </a:rPr>
              <a:t>int main()</a:t>
            </a:r>
          </a:p>
          <a:p>
            <a:r>
              <a:rPr lang="en-IN" sz="1600" dirty="0">
                <a:latin typeface="Trebuchet MS" panose="020B0603020202020204" pitchFamily="34" charset="0"/>
              </a:rPr>
              <a:t>{</a:t>
            </a:r>
          </a:p>
          <a:p>
            <a:r>
              <a:rPr lang="en-IN" sz="1600" dirty="0">
                <a:latin typeface="Trebuchet MS" panose="020B0603020202020204" pitchFamily="34" charset="0"/>
              </a:rPr>
              <a:t>short a;</a:t>
            </a:r>
          </a:p>
          <a:p>
            <a:r>
              <a:rPr lang="en-IN" sz="1600" dirty="0">
                <a:latin typeface="Trebuchet MS" panose="020B0603020202020204" pitchFamily="34" charset="0"/>
              </a:rPr>
              <a:t>float c=4264.56789;  </a:t>
            </a:r>
          </a:p>
          <a:p>
            <a:r>
              <a:rPr lang="en-IN" sz="1600" dirty="0">
                <a:latin typeface="Trebuchet MS" panose="020B0603020202020204" pitchFamily="34" charset="0"/>
              </a:rPr>
              <a:t>a=(short)c;</a:t>
            </a:r>
          </a:p>
          <a:p>
            <a:r>
              <a:rPr lang="en-IN" sz="1600" dirty="0" err="1">
                <a:latin typeface="Trebuchet MS" panose="020B0603020202020204" pitchFamily="34" charset="0"/>
              </a:rPr>
              <a:t>cout</a:t>
            </a:r>
            <a:r>
              <a:rPr lang="en-IN" sz="1600" dirty="0">
                <a:latin typeface="Trebuchet MS" panose="020B0603020202020204" pitchFamily="34" charset="0"/>
              </a:rPr>
              <a:t>&lt;&lt;a;	</a:t>
            </a:r>
            <a:r>
              <a:rPr lang="en-IN" sz="1600" dirty="0">
                <a:solidFill>
                  <a:srgbClr val="0070C0"/>
                </a:solidFill>
                <a:latin typeface="Trebuchet MS" panose="020B0603020202020204" pitchFamily="34" charset="0"/>
              </a:rPr>
              <a:t>// value of a = 4264</a:t>
            </a:r>
          </a:p>
          <a:p>
            <a:endParaRPr lang="en-IN" sz="1600" dirty="0">
              <a:latin typeface="Trebuchet MS" panose="020B0603020202020204" pitchFamily="34" charset="0"/>
            </a:endParaRPr>
          </a:p>
          <a:p>
            <a:r>
              <a:rPr lang="en-IN" sz="1600" dirty="0">
                <a:latin typeface="Trebuchet MS" panose="020B0603020202020204" pitchFamily="34" charset="0"/>
              </a:rPr>
              <a:t>}</a:t>
            </a:r>
          </a:p>
        </p:txBody>
      </p:sp>
      <p:sp>
        <p:nvSpPr>
          <p:cNvPr id="9" name="TextBox 8">
            <a:extLst>
              <a:ext uri="{FF2B5EF4-FFF2-40B4-BE49-F238E27FC236}">
                <a16:creationId xmlns:a16="http://schemas.microsoft.com/office/drawing/2014/main" id="{5FE0A431-0706-A5CC-9A34-3EF17E05881E}"/>
              </a:ext>
            </a:extLst>
          </p:cNvPr>
          <p:cNvSpPr txBox="1"/>
          <p:nvPr/>
        </p:nvSpPr>
        <p:spPr>
          <a:xfrm>
            <a:off x="4492978" y="1381772"/>
            <a:ext cx="4651022" cy="3046988"/>
          </a:xfrm>
          <a:prstGeom prst="rect">
            <a:avLst/>
          </a:prstGeom>
          <a:noFill/>
        </p:spPr>
        <p:txBody>
          <a:bodyPr wrap="square">
            <a:spAutoFit/>
          </a:bodyPr>
          <a:lstStyle/>
          <a:p>
            <a:r>
              <a:rPr lang="en-IN" sz="1600" dirty="0">
                <a:latin typeface="Trebuchet MS" panose="020B0603020202020204" pitchFamily="34" charset="0"/>
              </a:rPr>
              <a:t>#include &lt;iostream&gt;</a:t>
            </a:r>
          </a:p>
          <a:p>
            <a:r>
              <a:rPr lang="en-IN" sz="1600" dirty="0">
                <a:latin typeface="Trebuchet MS" panose="020B0603020202020204" pitchFamily="34" charset="0"/>
              </a:rPr>
              <a:t>using namespace std;</a:t>
            </a:r>
          </a:p>
          <a:p>
            <a:endParaRPr lang="en-IN" sz="1600" dirty="0">
              <a:latin typeface="Trebuchet MS" panose="020B0603020202020204" pitchFamily="34" charset="0"/>
            </a:endParaRPr>
          </a:p>
          <a:p>
            <a:r>
              <a:rPr lang="en-IN" sz="1600" dirty="0">
                <a:latin typeface="Trebuchet MS" panose="020B0603020202020204" pitchFamily="34" charset="0"/>
              </a:rPr>
              <a:t>int main()</a:t>
            </a:r>
          </a:p>
          <a:p>
            <a:r>
              <a:rPr lang="en-IN" sz="1600" dirty="0">
                <a:latin typeface="Trebuchet MS" panose="020B0603020202020204" pitchFamily="34" charset="0"/>
              </a:rPr>
              <a:t>{</a:t>
            </a:r>
          </a:p>
          <a:p>
            <a:r>
              <a:rPr lang="en-IN" sz="1600" dirty="0">
                <a:latin typeface="Trebuchet MS" panose="020B0603020202020204" pitchFamily="34" charset="0"/>
              </a:rPr>
              <a:t>int a=5,b=2, c=6;  </a:t>
            </a:r>
          </a:p>
          <a:p>
            <a:r>
              <a:rPr lang="en-IN" sz="1600" dirty="0">
                <a:latin typeface="Trebuchet MS" panose="020B0603020202020204" pitchFamily="34" charset="0"/>
              </a:rPr>
              <a:t>float d;</a:t>
            </a:r>
          </a:p>
          <a:p>
            <a:r>
              <a:rPr lang="en-IN" sz="1600" dirty="0">
                <a:latin typeface="Trebuchet MS" panose="020B0603020202020204" pitchFamily="34" charset="0"/>
              </a:rPr>
              <a:t>d= float (</a:t>
            </a:r>
            <a:r>
              <a:rPr lang="en-IN" sz="1600" dirty="0" err="1">
                <a:latin typeface="Trebuchet MS" panose="020B0603020202020204" pitchFamily="34" charset="0"/>
              </a:rPr>
              <a:t>a+b+c</a:t>
            </a:r>
            <a:r>
              <a:rPr lang="en-IN" sz="1600" dirty="0">
                <a:latin typeface="Trebuchet MS" panose="020B0603020202020204" pitchFamily="34" charset="0"/>
              </a:rPr>
              <a:t>) / 3;</a:t>
            </a:r>
          </a:p>
          <a:p>
            <a:r>
              <a:rPr lang="en-IN" sz="1600" dirty="0" err="1">
                <a:latin typeface="Trebuchet MS" panose="020B0603020202020204" pitchFamily="34" charset="0"/>
              </a:rPr>
              <a:t>cout</a:t>
            </a:r>
            <a:r>
              <a:rPr lang="en-IN" sz="1600" dirty="0">
                <a:latin typeface="Trebuchet MS" panose="020B0603020202020204" pitchFamily="34" charset="0"/>
              </a:rPr>
              <a:t>&lt;&lt;d;	</a:t>
            </a:r>
            <a:r>
              <a:rPr lang="en-IN" sz="1600" dirty="0">
                <a:solidFill>
                  <a:srgbClr val="0070C0"/>
                </a:solidFill>
                <a:latin typeface="Trebuchet MS" panose="020B0603020202020204" pitchFamily="34" charset="0"/>
              </a:rPr>
              <a:t>// value of d = 4.33333</a:t>
            </a:r>
          </a:p>
          <a:p>
            <a:endParaRPr lang="en-IN" sz="1600" dirty="0">
              <a:solidFill>
                <a:srgbClr val="0070C0"/>
              </a:solidFill>
              <a:latin typeface="Trebuchet MS" panose="020B0603020202020204" pitchFamily="34" charset="0"/>
            </a:endParaRPr>
          </a:p>
          <a:p>
            <a:endParaRPr lang="en-IN" sz="1600" dirty="0">
              <a:solidFill>
                <a:srgbClr val="0070C0"/>
              </a:solidFill>
              <a:latin typeface="Trebuchet MS" panose="020B0603020202020204" pitchFamily="34" charset="0"/>
            </a:endParaRPr>
          </a:p>
          <a:p>
            <a:r>
              <a:rPr lang="en-IN" sz="1600" dirty="0">
                <a:latin typeface="Trebuchet MS" panose="020B0603020202020204" pitchFamily="34" charset="0"/>
              </a:rPr>
              <a:t>}</a:t>
            </a:r>
          </a:p>
        </p:txBody>
      </p:sp>
      <p:sp>
        <p:nvSpPr>
          <p:cNvPr id="11" name="TextBox 10">
            <a:extLst>
              <a:ext uri="{FF2B5EF4-FFF2-40B4-BE49-F238E27FC236}">
                <a16:creationId xmlns:a16="http://schemas.microsoft.com/office/drawing/2014/main" id="{6B632489-3AEB-59B2-9DB6-4351314AC69B}"/>
              </a:ext>
            </a:extLst>
          </p:cNvPr>
          <p:cNvSpPr txBox="1"/>
          <p:nvPr/>
        </p:nvSpPr>
        <p:spPr>
          <a:xfrm>
            <a:off x="598311" y="852330"/>
            <a:ext cx="1501422" cy="338554"/>
          </a:xfrm>
          <a:prstGeom prst="rect">
            <a:avLst/>
          </a:prstGeom>
          <a:noFill/>
        </p:spPr>
        <p:txBody>
          <a:bodyPr wrap="square">
            <a:spAutoFit/>
          </a:bodyPr>
          <a:lstStyle/>
          <a:p>
            <a:r>
              <a:rPr lang="en-IN" sz="1600" dirty="0">
                <a:solidFill>
                  <a:srgbClr val="0070C0"/>
                </a:solidFill>
                <a:latin typeface="Trebuchet MS" panose="020B0603020202020204" pitchFamily="34" charset="0"/>
              </a:rPr>
              <a:t>Example 1 </a:t>
            </a:r>
          </a:p>
        </p:txBody>
      </p:sp>
      <p:sp>
        <p:nvSpPr>
          <p:cNvPr id="13" name="TextBox 12">
            <a:extLst>
              <a:ext uri="{FF2B5EF4-FFF2-40B4-BE49-F238E27FC236}">
                <a16:creationId xmlns:a16="http://schemas.microsoft.com/office/drawing/2014/main" id="{D4C53FBE-B61F-C8B5-28AA-3421D532F1AF}"/>
              </a:ext>
            </a:extLst>
          </p:cNvPr>
          <p:cNvSpPr txBox="1"/>
          <p:nvPr/>
        </p:nvSpPr>
        <p:spPr>
          <a:xfrm>
            <a:off x="4560712" y="852330"/>
            <a:ext cx="1883645" cy="338554"/>
          </a:xfrm>
          <a:prstGeom prst="rect">
            <a:avLst/>
          </a:prstGeom>
          <a:noFill/>
        </p:spPr>
        <p:txBody>
          <a:bodyPr wrap="square">
            <a:spAutoFit/>
          </a:bodyPr>
          <a:lstStyle/>
          <a:p>
            <a:r>
              <a:rPr lang="en-IN" sz="1600" dirty="0">
                <a:solidFill>
                  <a:srgbClr val="0070C0"/>
                </a:solidFill>
                <a:latin typeface="Trebuchet MS" panose="020B0603020202020204" pitchFamily="34" charset="0"/>
              </a:rPr>
              <a:t>Example 2</a:t>
            </a:r>
          </a:p>
        </p:txBody>
      </p:sp>
    </p:spTree>
    <p:extLst>
      <p:ext uri="{BB962C8B-B14F-4D97-AF65-F5344CB8AC3E}">
        <p14:creationId xmlns:p14="http://schemas.microsoft.com/office/powerpoint/2010/main" val="96775832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6" name="TextBox 5">
            <a:extLst>
              <a:ext uri="{FF2B5EF4-FFF2-40B4-BE49-F238E27FC236}">
                <a16:creationId xmlns:a16="http://schemas.microsoft.com/office/drawing/2014/main" id="{55D1CD74-8C08-7D6D-C4B3-E2930F19478F}"/>
              </a:ext>
            </a:extLst>
          </p:cNvPr>
          <p:cNvSpPr txBox="1"/>
          <p:nvPr/>
        </p:nvSpPr>
        <p:spPr>
          <a:xfrm>
            <a:off x="378371" y="815646"/>
            <a:ext cx="8135008" cy="37809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rebuchet MS" panose="020B0603020202020204" pitchFamily="34" charset="0"/>
              </a:rPr>
              <a:t>Manipulators </a:t>
            </a:r>
            <a:r>
              <a:rPr lang="en-IN" sz="1800" b="1" dirty="0">
                <a:latin typeface="Trebuchet MS" panose="020B0603020202020204" pitchFamily="34" charset="0"/>
              </a:rPr>
              <a:t>are helping functions </a:t>
            </a:r>
            <a:r>
              <a:rPr lang="en-IN" sz="1800" dirty="0">
                <a:latin typeface="Trebuchet MS" panose="020B0603020202020204" pitchFamily="34" charset="0"/>
              </a:rPr>
              <a:t>that can </a:t>
            </a:r>
            <a:r>
              <a:rPr lang="en-IN" sz="1800" b="1" dirty="0">
                <a:latin typeface="Trebuchet MS" panose="020B0603020202020204" pitchFamily="34" charset="0"/>
              </a:rPr>
              <a:t>modify the input/output stream</a:t>
            </a:r>
            <a:r>
              <a:rPr lang="en-IN" sz="1800" dirty="0">
                <a:latin typeface="Trebuchet MS" panose="020B0603020202020204" pitchFamily="34" charset="0"/>
              </a:rPr>
              <a: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It does not mean that we change the value of a variable, it </a:t>
            </a:r>
            <a:r>
              <a:rPr lang="en-IN" sz="1800" b="1" dirty="0">
                <a:latin typeface="Trebuchet MS" panose="020B0603020202020204" pitchFamily="34" charset="0"/>
              </a:rPr>
              <a:t>only modifies the I/O stream</a:t>
            </a:r>
            <a:r>
              <a:rPr lang="en-IN" sz="1800" dirty="0">
                <a:latin typeface="Trebuchet MS" panose="020B0603020202020204" pitchFamily="34" charset="0"/>
              </a:rPr>
              <a:t> using insertion (&lt;&lt;) and extraction (&gt;&gt;) operators.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Manipulators are special functions that can be included in the I/O statement </a:t>
            </a:r>
            <a:r>
              <a:rPr lang="en-IN" sz="1800" b="1" dirty="0">
                <a:latin typeface="Trebuchet MS" panose="020B0603020202020204" pitchFamily="34" charset="0"/>
              </a:rPr>
              <a:t>to alter the format parameters of a stream</a:t>
            </a:r>
            <a:r>
              <a:rPr lang="en-IN" sz="1800" dirty="0">
                <a:latin typeface="Trebuchet MS" panose="020B0603020202020204" pitchFamily="34" charset="0"/>
              </a:rPr>
              <a:t>. </a:t>
            </a:r>
          </a:p>
          <a:p>
            <a:pPr marL="285750" indent="-285750">
              <a:lnSpc>
                <a:spcPct val="150000"/>
              </a:lnSpc>
              <a:buFont typeface="Arial" panose="020B0604020202020204" pitchFamily="34" charset="0"/>
              <a:buChar char="•"/>
            </a:pPr>
            <a:r>
              <a:rPr lang="en-IN" sz="1800" dirty="0">
                <a:latin typeface="Trebuchet MS" panose="020B0603020202020204" pitchFamily="34" charset="0"/>
              </a:rPr>
              <a:t>Manipulators are operators that are used </a:t>
            </a:r>
            <a:r>
              <a:rPr lang="en-IN" sz="1800" b="1" dirty="0">
                <a:latin typeface="Trebuchet MS" panose="020B0603020202020204" pitchFamily="34" charset="0"/>
              </a:rPr>
              <a:t>to format the data display</a:t>
            </a:r>
            <a:r>
              <a:rPr lang="en-IN" sz="1800" dirty="0">
                <a:latin typeface="Trebuchet MS" panose="020B0603020202020204" pitchFamily="34" charset="0"/>
              </a:rPr>
              <a:t>.</a:t>
            </a:r>
          </a:p>
          <a:p>
            <a:pPr marL="285750" indent="-285750">
              <a:lnSpc>
                <a:spcPct val="150000"/>
              </a:lnSpc>
              <a:buFont typeface="Arial" panose="020B0604020202020204" pitchFamily="34" charset="0"/>
              <a:buChar char="•"/>
            </a:pPr>
            <a:r>
              <a:rPr lang="en-IN" sz="1800" dirty="0">
                <a:latin typeface="Trebuchet MS" panose="020B0603020202020204" pitchFamily="34" charset="0"/>
              </a:rPr>
              <a:t>To </a:t>
            </a:r>
            <a:r>
              <a:rPr lang="en-IN" sz="1800" b="1" dirty="0">
                <a:latin typeface="Trebuchet MS" panose="020B0603020202020204" pitchFamily="34" charset="0"/>
              </a:rPr>
              <a:t>access manipulators</a:t>
            </a:r>
            <a:r>
              <a:rPr lang="en-IN" sz="1800" dirty="0">
                <a:latin typeface="Trebuchet MS" panose="020B0603020202020204" pitchFamily="34" charset="0"/>
              </a:rPr>
              <a:t>, the file </a:t>
            </a:r>
            <a:r>
              <a:rPr lang="en-IN" sz="1800" b="1" dirty="0" err="1">
                <a:solidFill>
                  <a:srgbClr val="FF0000"/>
                </a:solidFill>
                <a:latin typeface="Trebuchet MS" panose="020B0603020202020204" pitchFamily="34" charset="0"/>
              </a:rPr>
              <a:t>iomanip.h</a:t>
            </a:r>
            <a:r>
              <a:rPr lang="en-IN" sz="1800" dirty="0">
                <a:latin typeface="Trebuchet MS" panose="020B0603020202020204" pitchFamily="34" charset="0"/>
              </a:rPr>
              <a:t> should be included in the program.</a:t>
            </a:r>
          </a:p>
        </p:txBody>
      </p:sp>
    </p:spTree>
    <p:extLst>
      <p:ext uri="{BB962C8B-B14F-4D97-AF65-F5344CB8AC3E}">
        <p14:creationId xmlns:p14="http://schemas.microsoft.com/office/powerpoint/2010/main" val="50387848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7" name="TextBox 6">
            <a:extLst>
              <a:ext uri="{FF2B5EF4-FFF2-40B4-BE49-F238E27FC236}">
                <a16:creationId xmlns:a16="http://schemas.microsoft.com/office/drawing/2014/main" id="{7DF65368-E041-C136-5199-3221989C524A}"/>
              </a:ext>
            </a:extLst>
          </p:cNvPr>
          <p:cNvSpPr txBox="1"/>
          <p:nvPr/>
        </p:nvSpPr>
        <p:spPr>
          <a:xfrm>
            <a:off x="472965" y="1096749"/>
            <a:ext cx="8385910" cy="2949975"/>
          </a:xfrm>
          <a:prstGeom prst="rect">
            <a:avLst/>
          </a:prstGeom>
          <a:noFill/>
        </p:spPr>
        <p:txBody>
          <a:bodyPr wrap="square">
            <a:spAutoFit/>
          </a:bodyPr>
          <a:lstStyle/>
          <a:p>
            <a:pPr>
              <a:lnSpc>
                <a:spcPct val="150000"/>
              </a:lnSpc>
            </a:pPr>
            <a:r>
              <a:rPr lang="en-IN" sz="1800" b="0" i="0" dirty="0">
                <a:solidFill>
                  <a:srgbClr val="0070C0"/>
                </a:solidFill>
                <a:effectLst/>
                <a:latin typeface="Trebuchet MS" panose="020B0603020202020204" pitchFamily="34" charset="0"/>
              </a:rPr>
              <a:t>Manipulator                     		 Meaning</a:t>
            </a:r>
          </a:p>
          <a:p>
            <a:pPr>
              <a:lnSpc>
                <a:spcPct val="150000"/>
              </a:lnSpc>
            </a:pPr>
            <a:r>
              <a:rPr lang="en-IN" sz="1800" dirty="0" err="1">
                <a:solidFill>
                  <a:schemeClr val="tx1"/>
                </a:solidFill>
                <a:latin typeface="Trebuchet MS" panose="020B0603020202020204" pitchFamily="34" charset="0"/>
              </a:rPr>
              <a:t>endl</a:t>
            </a:r>
            <a:r>
              <a:rPr lang="en-IN" sz="1800" dirty="0">
                <a:solidFill>
                  <a:schemeClr val="tx1"/>
                </a:solidFill>
                <a:latin typeface="Trebuchet MS" panose="020B0603020202020204" pitchFamily="34" charset="0"/>
              </a:rPr>
              <a:t>		        -	    This manipulator has the same functionality as 			    ‘\n’(newline character).</a:t>
            </a:r>
          </a:p>
          <a:p>
            <a:pPr>
              <a:lnSpc>
                <a:spcPct val="150000"/>
              </a:lnSpc>
            </a:pPr>
            <a:r>
              <a:rPr lang="en-IN" sz="1800" b="0" i="0" dirty="0" err="1">
                <a:solidFill>
                  <a:schemeClr val="tx1"/>
                </a:solidFill>
                <a:effectLst/>
                <a:latin typeface="Trebuchet MS" panose="020B0603020202020204" pitchFamily="34" charset="0"/>
              </a:rPr>
              <a:t>setw</a:t>
            </a:r>
            <a:r>
              <a:rPr lang="en-IN" sz="1800" b="0" i="0" dirty="0">
                <a:solidFill>
                  <a:schemeClr val="tx1"/>
                </a:solidFill>
                <a:effectLst/>
                <a:latin typeface="Trebuchet MS" panose="020B0603020202020204" pitchFamily="34" charset="0"/>
              </a:rPr>
              <a:t> (int n)                 -        To set field width to n</a:t>
            </a:r>
            <a:r>
              <a:rPr lang="en-IN" sz="1800" dirty="0">
                <a:solidFill>
                  <a:schemeClr val="tx1"/>
                </a:solidFill>
                <a:latin typeface="Trebuchet MS" panose="020B0603020202020204" pitchFamily="34" charset="0"/>
              </a:rPr>
              <a:t/>
            </a:r>
            <a:br>
              <a:rPr lang="en-IN" sz="1800" dirty="0">
                <a:solidFill>
                  <a:schemeClr val="tx1"/>
                </a:solidFill>
                <a:latin typeface="Trebuchet MS" panose="020B0603020202020204" pitchFamily="34" charset="0"/>
              </a:rPr>
            </a:br>
            <a:r>
              <a:rPr lang="en-IN" sz="1800" b="0" i="0" dirty="0" err="1">
                <a:solidFill>
                  <a:schemeClr val="tx1"/>
                </a:solidFill>
                <a:effectLst/>
                <a:latin typeface="Trebuchet MS" panose="020B0603020202020204" pitchFamily="34" charset="0"/>
              </a:rPr>
              <a:t>setprecision</a:t>
            </a:r>
            <a:r>
              <a:rPr lang="en-IN" sz="1800" b="0" i="0" dirty="0">
                <a:solidFill>
                  <a:schemeClr val="tx1"/>
                </a:solidFill>
                <a:effectLst/>
                <a:latin typeface="Trebuchet MS" panose="020B0603020202020204" pitchFamily="34" charset="0"/>
              </a:rPr>
              <a:t> (int p)      -        The precision is fixed to p</a:t>
            </a:r>
            <a:r>
              <a:rPr lang="en-IN" sz="1800" dirty="0">
                <a:solidFill>
                  <a:schemeClr val="tx1"/>
                </a:solidFill>
                <a:latin typeface="Trebuchet MS" panose="020B0603020202020204" pitchFamily="34" charset="0"/>
              </a:rPr>
              <a:t/>
            </a:r>
            <a:br>
              <a:rPr lang="en-IN" sz="1800" dirty="0">
                <a:solidFill>
                  <a:schemeClr val="tx1"/>
                </a:solidFill>
                <a:latin typeface="Trebuchet MS" panose="020B0603020202020204" pitchFamily="34" charset="0"/>
              </a:rPr>
            </a:br>
            <a:r>
              <a:rPr lang="en-IN" sz="1800" b="0" i="0" dirty="0" err="1">
                <a:solidFill>
                  <a:schemeClr val="tx1"/>
                </a:solidFill>
                <a:effectLst/>
                <a:latin typeface="Trebuchet MS" panose="020B0603020202020204" pitchFamily="34" charset="0"/>
              </a:rPr>
              <a:t>setfill</a:t>
            </a:r>
            <a:r>
              <a:rPr lang="en-IN" sz="1800" b="0" i="0" dirty="0">
                <a:solidFill>
                  <a:schemeClr val="tx1"/>
                </a:solidFill>
                <a:effectLst/>
                <a:latin typeface="Trebuchet MS" panose="020B0603020202020204" pitchFamily="34" charset="0"/>
              </a:rPr>
              <a:t> (Char f)             - 	    To set the character to be filled</a:t>
            </a:r>
            <a:r>
              <a:rPr lang="en-IN" sz="1800" dirty="0">
                <a:solidFill>
                  <a:schemeClr val="tx1"/>
                </a:solidFill>
                <a:latin typeface="Trebuchet MS" panose="020B0603020202020204" pitchFamily="34" charset="0"/>
              </a:rPr>
              <a:t/>
            </a:r>
            <a:br>
              <a:rPr lang="en-IN" sz="1800" dirty="0">
                <a:solidFill>
                  <a:schemeClr val="tx1"/>
                </a:solidFill>
                <a:latin typeface="Trebuchet MS" panose="020B0603020202020204" pitchFamily="34" charset="0"/>
              </a:rPr>
            </a:br>
            <a:r>
              <a:rPr lang="en-IN" sz="1800" b="0" i="0" dirty="0" err="1">
                <a:solidFill>
                  <a:schemeClr val="tx1"/>
                </a:solidFill>
                <a:effectLst/>
                <a:latin typeface="Trebuchet MS" panose="020B0603020202020204" pitchFamily="34" charset="0"/>
              </a:rPr>
              <a:t>Setbase</a:t>
            </a:r>
            <a:r>
              <a:rPr lang="en-IN" sz="1800" b="0" i="0" dirty="0">
                <a:solidFill>
                  <a:schemeClr val="tx1"/>
                </a:solidFill>
                <a:effectLst/>
                <a:latin typeface="Trebuchet MS" panose="020B0603020202020204" pitchFamily="34" charset="0"/>
              </a:rPr>
              <a:t>(int b)             -         To set the base of the number to b</a:t>
            </a:r>
            <a:endParaRPr lang="en-IN" sz="18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294429900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3" name="TextBox 2">
            <a:extLst>
              <a:ext uri="{FF2B5EF4-FFF2-40B4-BE49-F238E27FC236}">
                <a16:creationId xmlns:a16="http://schemas.microsoft.com/office/drawing/2014/main" id="{89BEE205-312D-39B4-9060-4A4CB98A6DDA}"/>
              </a:ext>
            </a:extLst>
          </p:cNvPr>
          <p:cNvSpPr txBox="1"/>
          <p:nvPr/>
        </p:nvSpPr>
        <p:spPr>
          <a:xfrm>
            <a:off x="472965" y="815646"/>
            <a:ext cx="8385909" cy="41964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b="1" dirty="0" err="1">
                <a:latin typeface="Trebuchet MS" panose="020B0603020202020204" pitchFamily="34" charset="0"/>
              </a:rPr>
              <a:t>endl</a:t>
            </a:r>
            <a:r>
              <a:rPr lang="en-IN" sz="1800" b="1" dirty="0">
                <a:latin typeface="Trebuchet MS" panose="020B0603020202020204" pitchFamily="34" charset="0"/>
              </a:rPr>
              <a:t> function </a:t>
            </a:r>
            <a:r>
              <a:rPr lang="en-IN" sz="1800" dirty="0">
                <a:latin typeface="Trebuchet MS" panose="020B0603020202020204" pitchFamily="34" charset="0"/>
              </a:rPr>
              <a:t>is used to insert a new line character and flush the stream.</a:t>
            </a:r>
          </a:p>
          <a:p>
            <a:pPr marL="285750" indent="-285750">
              <a:lnSpc>
                <a:spcPct val="150000"/>
              </a:lnSpc>
              <a:buFont typeface="Arial" panose="020B0604020202020204" pitchFamily="34" charset="0"/>
              <a:buChar char="•"/>
            </a:pPr>
            <a:r>
              <a:rPr lang="en-IN" sz="1800" dirty="0">
                <a:latin typeface="Trebuchet MS" panose="020B0603020202020204" pitchFamily="34" charset="0"/>
              </a:rPr>
              <a:t>Working of </a:t>
            </a:r>
            <a:r>
              <a:rPr lang="en-IN" sz="1800" dirty="0" err="1">
                <a:latin typeface="Trebuchet MS" panose="020B0603020202020204" pitchFamily="34" charset="0"/>
              </a:rPr>
              <a:t>endl</a:t>
            </a:r>
            <a:r>
              <a:rPr lang="en-IN" sz="1800" dirty="0">
                <a:latin typeface="Trebuchet MS" panose="020B0603020202020204" pitchFamily="34" charset="0"/>
              </a:rPr>
              <a:t> manipulator is similar to '\n' character in C++. It prints the output of the following statement in the next line.</a:t>
            </a:r>
          </a:p>
          <a:p>
            <a:pPr>
              <a:lnSpc>
                <a:spcPct val="150000"/>
              </a:lnSpc>
            </a:pPr>
            <a:r>
              <a:rPr lang="en-IN" sz="1800" b="1" dirty="0">
                <a:latin typeface="Trebuchet MS" panose="020B0603020202020204" pitchFamily="34" charset="0"/>
              </a:rPr>
              <a:t>Example:</a:t>
            </a:r>
          </a:p>
          <a:p>
            <a:pPr marL="357188" lvl="1" indent="-84138">
              <a:lnSpc>
                <a:spcPct val="150000"/>
              </a:lnSpc>
            </a:pPr>
            <a:r>
              <a:rPr lang="en-IN" sz="1800" dirty="0">
                <a:latin typeface="Trebuchet MS" panose="020B0603020202020204" pitchFamily="34" charset="0"/>
              </a:rPr>
              <a:t>#include&lt;iostream&gt;</a:t>
            </a:r>
          </a:p>
          <a:p>
            <a:pPr marL="357188" lvl="1" indent="-84138">
              <a:lnSpc>
                <a:spcPct val="150000"/>
              </a:lnSpc>
            </a:pPr>
            <a:r>
              <a:rPr lang="en-IN" sz="1800" dirty="0">
                <a:latin typeface="Trebuchet MS" panose="020B0603020202020204" pitchFamily="34" charset="0"/>
              </a:rPr>
              <a:t>using namespace std;</a:t>
            </a:r>
          </a:p>
          <a:p>
            <a:pPr marL="357188" lvl="1" indent="-84138">
              <a:lnSpc>
                <a:spcPct val="150000"/>
              </a:lnSpc>
            </a:pPr>
            <a:r>
              <a:rPr lang="en-IN" sz="1800" dirty="0">
                <a:latin typeface="Trebuchet MS" panose="020B0603020202020204" pitchFamily="34" charset="0"/>
              </a:rPr>
              <a:t>int main() </a:t>
            </a:r>
          </a:p>
          <a:p>
            <a:pPr marL="357188" lvl="1" indent="-84138">
              <a:lnSpc>
                <a:spcPct val="150000"/>
              </a:lnSpc>
            </a:pPr>
            <a:r>
              <a:rPr lang="en-IN" sz="1800" dirty="0">
                <a:latin typeface="Trebuchet MS" panose="020B0603020202020204" pitchFamily="34" charset="0"/>
              </a:rPr>
              <a:t>{</a:t>
            </a:r>
          </a:p>
          <a:p>
            <a:pPr marL="357188" lvl="1" indent="-84138">
              <a:lnSpc>
                <a:spcPct val="150000"/>
              </a:lnSpc>
            </a:pPr>
            <a:r>
              <a:rPr lang="en-IN" sz="1800" dirty="0">
                <a:latin typeface="Trebuchet MS" panose="020B0603020202020204" pitchFamily="34" charset="0"/>
              </a:rPr>
              <a:t>	</a:t>
            </a:r>
            <a:r>
              <a:rPr lang="en-IN" sz="1800" dirty="0" err="1">
                <a:latin typeface="Trebuchet MS" panose="020B0603020202020204" pitchFamily="34" charset="0"/>
              </a:rPr>
              <a:t>cout</a:t>
            </a:r>
            <a:r>
              <a:rPr lang="en-IN" sz="1800" dirty="0">
                <a:latin typeface="Trebuchet MS" panose="020B0603020202020204" pitchFamily="34" charset="0"/>
              </a:rPr>
              <a:t> &lt;&lt; "Hello" &lt;&lt; </a:t>
            </a:r>
            <a:r>
              <a:rPr lang="en-IN" sz="1800" dirty="0" err="1">
                <a:latin typeface="Trebuchet MS" panose="020B0603020202020204" pitchFamily="34" charset="0"/>
              </a:rPr>
              <a:t>endl</a:t>
            </a:r>
            <a:r>
              <a:rPr lang="en-IN" sz="1800" dirty="0">
                <a:latin typeface="Trebuchet MS" panose="020B0603020202020204" pitchFamily="34" charset="0"/>
              </a:rPr>
              <a:t> &lt;&lt; "World!";</a:t>
            </a:r>
          </a:p>
          <a:p>
            <a:pPr marL="357188" lvl="1" indent="-84138">
              <a:lnSpc>
                <a:spcPct val="150000"/>
              </a:lnSpc>
            </a:pPr>
            <a:r>
              <a:rPr lang="en-IN" sz="1800" dirty="0">
                <a:latin typeface="Trebuchet MS" panose="020B0603020202020204" pitchFamily="34" charset="0"/>
              </a:rPr>
              <a:t>}</a:t>
            </a:r>
          </a:p>
        </p:txBody>
      </p:sp>
    </p:spTree>
    <p:extLst>
      <p:ext uri="{BB962C8B-B14F-4D97-AF65-F5344CB8AC3E}">
        <p14:creationId xmlns:p14="http://schemas.microsoft.com/office/powerpoint/2010/main" val="428347143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3" name="TextBox 2">
            <a:extLst>
              <a:ext uri="{FF2B5EF4-FFF2-40B4-BE49-F238E27FC236}">
                <a16:creationId xmlns:a16="http://schemas.microsoft.com/office/drawing/2014/main" id="{B67BA2DE-0132-B51C-4410-B47CE82161F2}"/>
              </a:ext>
            </a:extLst>
          </p:cNvPr>
          <p:cNvSpPr txBox="1"/>
          <p:nvPr/>
        </p:nvSpPr>
        <p:spPr>
          <a:xfrm>
            <a:off x="285125" y="991831"/>
            <a:ext cx="8240111" cy="3780971"/>
          </a:xfrm>
          <a:prstGeom prst="rect">
            <a:avLst/>
          </a:prstGeom>
          <a:noFill/>
        </p:spPr>
        <p:txBody>
          <a:bodyPr wrap="square">
            <a:spAutoFit/>
          </a:bodyPr>
          <a:lstStyle/>
          <a:p>
            <a:pPr algn="l" fontAlgn="base">
              <a:lnSpc>
                <a:spcPct val="150000"/>
              </a:lnSpc>
            </a:pPr>
            <a:r>
              <a:rPr lang="en-IN" sz="1800" b="1" i="0" dirty="0" err="1">
                <a:solidFill>
                  <a:srgbClr val="0070C0"/>
                </a:solidFill>
                <a:effectLst/>
                <a:latin typeface="Trebuchet MS" panose="020B0603020202020204" pitchFamily="34" charset="0"/>
              </a:rPr>
              <a:t>setw</a:t>
            </a:r>
            <a:r>
              <a:rPr lang="en-IN" sz="1800" b="1" i="0" dirty="0">
                <a:solidFill>
                  <a:srgbClr val="0070C0"/>
                </a:solidFill>
                <a:effectLst/>
                <a:latin typeface="Trebuchet MS" panose="020B0603020202020204" pitchFamily="34" charset="0"/>
              </a:rPr>
              <a:t> () </a:t>
            </a:r>
            <a:r>
              <a:rPr lang="en-IN" sz="1800" b="0" i="0" dirty="0">
                <a:solidFill>
                  <a:srgbClr val="0070C0"/>
                </a:solidFill>
                <a:effectLst/>
                <a:latin typeface="Trebuchet MS" panose="020B0603020202020204" pitchFamily="34" charset="0"/>
              </a:rPr>
              <a:t>         </a:t>
            </a:r>
          </a:p>
          <a:p>
            <a:pPr algn="l" fontAlgn="base">
              <a:lnSpc>
                <a:spcPct val="150000"/>
              </a:lnSpc>
            </a:pPr>
            <a:r>
              <a:rPr lang="en-IN" sz="1800" b="0" i="0" dirty="0">
                <a:solidFill>
                  <a:srgbClr val="273239"/>
                </a:solidFill>
                <a:effectLst/>
                <a:latin typeface="Trebuchet MS" panose="020B0603020202020204" pitchFamily="34" charset="0"/>
              </a:rPr>
              <a:t>The </a:t>
            </a:r>
            <a:r>
              <a:rPr lang="en-IN" sz="1800" b="0" i="0" dirty="0" err="1">
                <a:solidFill>
                  <a:srgbClr val="273239"/>
                </a:solidFill>
                <a:effectLst/>
                <a:latin typeface="Trebuchet MS" panose="020B0603020202020204" pitchFamily="34" charset="0"/>
              </a:rPr>
              <a:t>setw</a:t>
            </a:r>
            <a:r>
              <a:rPr lang="en-IN" sz="1800" b="0" i="0" dirty="0">
                <a:solidFill>
                  <a:srgbClr val="273239"/>
                </a:solidFill>
                <a:effectLst/>
                <a:latin typeface="Trebuchet MS" panose="020B0603020202020204" pitchFamily="34" charset="0"/>
              </a:rPr>
              <a:t>() function is an output manipulator that inserts </a:t>
            </a:r>
            <a:r>
              <a:rPr lang="en-IN" sz="1800" b="1" i="0" dirty="0">
                <a:solidFill>
                  <a:srgbClr val="273239"/>
                </a:solidFill>
                <a:effectLst/>
                <a:latin typeface="Trebuchet MS" panose="020B0603020202020204" pitchFamily="34" charset="0"/>
              </a:rPr>
              <a:t>whitespace between two variables</a:t>
            </a:r>
            <a:r>
              <a:rPr lang="en-IN" sz="1800" b="0" i="0" dirty="0">
                <a:solidFill>
                  <a:srgbClr val="273239"/>
                </a:solidFill>
                <a:effectLst/>
                <a:latin typeface="Trebuchet MS" panose="020B0603020202020204" pitchFamily="34" charset="0"/>
              </a:rPr>
              <a:t>. You must enter an integer value equal to the needed space. </a:t>
            </a:r>
            <a:br>
              <a:rPr lang="en-IN" sz="1800" b="0" i="0" dirty="0">
                <a:solidFill>
                  <a:srgbClr val="273239"/>
                </a:solidFill>
                <a:effectLst/>
                <a:latin typeface="Trebuchet MS" panose="020B0603020202020204" pitchFamily="34" charset="0"/>
              </a:rPr>
            </a:br>
            <a:r>
              <a:rPr lang="en-IN" sz="1800" b="1" i="0" dirty="0">
                <a:solidFill>
                  <a:srgbClr val="0070C0"/>
                </a:solidFill>
                <a:effectLst/>
                <a:latin typeface="Trebuchet MS" panose="020B0603020202020204" pitchFamily="34" charset="0"/>
              </a:rPr>
              <a:t>Syntax:</a:t>
            </a:r>
            <a:r>
              <a:rPr lang="en-IN" sz="1800" b="0" i="0" dirty="0">
                <a:solidFill>
                  <a:srgbClr val="273239"/>
                </a:solidFill>
                <a:effectLst/>
                <a:latin typeface="Trebuchet MS" panose="020B0603020202020204" pitchFamily="34" charset="0"/>
              </a:rPr>
              <a:t/>
            </a:r>
            <a:br>
              <a:rPr lang="en-IN" sz="1800" b="0" i="0" dirty="0">
                <a:solidFill>
                  <a:srgbClr val="273239"/>
                </a:solidFill>
                <a:effectLst/>
                <a:latin typeface="Trebuchet MS" panose="020B0603020202020204" pitchFamily="34" charset="0"/>
              </a:rPr>
            </a:br>
            <a:r>
              <a:rPr lang="en-IN" sz="1800" b="0" i="0" dirty="0">
                <a:solidFill>
                  <a:srgbClr val="273239"/>
                </a:solidFill>
                <a:effectLst/>
                <a:latin typeface="Trebuchet MS" panose="020B0603020202020204" pitchFamily="34" charset="0"/>
              </a:rPr>
              <a:t>              </a:t>
            </a:r>
            <a:r>
              <a:rPr lang="en-IN" sz="1800" b="0" i="0" dirty="0" err="1">
                <a:solidFill>
                  <a:srgbClr val="FF0000"/>
                </a:solidFill>
                <a:effectLst/>
                <a:latin typeface="Trebuchet MS" panose="020B0603020202020204" pitchFamily="34" charset="0"/>
              </a:rPr>
              <a:t>setw</a:t>
            </a:r>
            <a:r>
              <a:rPr lang="en-IN" sz="1800" b="0" i="0" dirty="0">
                <a:solidFill>
                  <a:srgbClr val="FF0000"/>
                </a:solidFill>
                <a:effectLst/>
                <a:latin typeface="Trebuchet MS" panose="020B0603020202020204" pitchFamily="34" charset="0"/>
              </a:rPr>
              <a:t> ( int n) </a:t>
            </a:r>
            <a:r>
              <a:rPr lang="en-IN" sz="1800" b="0" i="0" dirty="0">
                <a:solidFill>
                  <a:srgbClr val="273239"/>
                </a:solidFill>
                <a:effectLst/>
                <a:latin typeface="Trebuchet MS" panose="020B0603020202020204" pitchFamily="34" charset="0"/>
              </a:rPr>
              <a:t/>
            </a:r>
            <a:br>
              <a:rPr lang="en-IN" sz="1800" b="0" i="0" dirty="0">
                <a:solidFill>
                  <a:srgbClr val="273239"/>
                </a:solidFill>
                <a:effectLst/>
                <a:latin typeface="Trebuchet MS" panose="020B0603020202020204" pitchFamily="34" charset="0"/>
              </a:rPr>
            </a:br>
            <a:r>
              <a:rPr lang="en-IN" sz="1800" b="1" dirty="0">
                <a:solidFill>
                  <a:srgbClr val="0070C0"/>
                </a:solidFill>
                <a:latin typeface="Trebuchet MS" panose="020B0603020202020204" pitchFamily="34" charset="0"/>
              </a:rPr>
              <a:t>E</a:t>
            </a:r>
            <a:r>
              <a:rPr lang="en-IN" sz="1800" b="1" i="0" dirty="0">
                <a:solidFill>
                  <a:srgbClr val="0070C0"/>
                </a:solidFill>
                <a:effectLst/>
                <a:latin typeface="Trebuchet MS" panose="020B0603020202020204" pitchFamily="34" charset="0"/>
              </a:rPr>
              <a:t>xample</a:t>
            </a:r>
            <a:r>
              <a:rPr lang="en-IN" sz="1800" b="1" dirty="0">
                <a:solidFill>
                  <a:srgbClr val="0070C0"/>
                </a:solidFill>
                <a:latin typeface="Trebuchet MS" panose="020B0603020202020204" pitchFamily="34" charset="0"/>
              </a:rPr>
              <a:t>:</a:t>
            </a:r>
            <a:r>
              <a:rPr lang="en-IN" sz="1800" b="0" i="0" dirty="0">
                <a:solidFill>
                  <a:srgbClr val="273239"/>
                </a:solidFill>
                <a:effectLst/>
                <a:latin typeface="Trebuchet MS" panose="020B0603020202020204" pitchFamily="34" charset="0"/>
              </a:rPr>
              <a:t> </a:t>
            </a:r>
            <a:br>
              <a:rPr lang="en-IN" sz="1800" b="0" i="0" dirty="0">
                <a:solidFill>
                  <a:srgbClr val="273239"/>
                </a:solidFill>
                <a:effectLst/>
                <a:latin typeface="Trebuchet MS" panose="020B0603020202020204" pitchFamily="34" charset="0"/>
              </a:rPr>
            </a:br>
            <a:r>
              <a:rPr lang="en-IN" sz="1800" b="0" i="0" dirty="0">
                <a:solidFill>
                  <a:srgbClr val="273239"/>
                </a:solidFill>
                <a:effectLst/>
                <a:latin typeface="Trebuchet MS" panose="020B0603020202020204" pitchFamily="34" charset="0"/>
              </a:rPr>
              <a:t>              int a=15;  int b=20;</a:t>
            </a:r>
            <a:br>
              <a:rPr lang="en-IN" sz="1800" b="0" i="0" dirty="0">
                <a:solidFill>
                  <a:srgbClr val="273239"/>
                </a:solidFill>
                <a:effectLst/>
                <a:latin typeface="Trebuchet MS" panose="020B0603020202020204" pitchFamily="34" charset="0"/>
              </a:rPr>
            </a:br>
            <a:r>
              <a:rPr lang="en-IN" sz="1800" b="0" i="0" dirty="0">
                <a:solidFill>
                  <a:srgbClr val="273239"/>
                </a:solidFill>
                <a:effectLst/>
                <a:latin typeface="Trebuchet MS" panose="020B0603020202020204" pitchFamily="34" charset="0"/>
              </a:rPr>
              <a:t>              </a:t>
            </a:r>
            <a:r>
              <a:rPr lang="en-IN" sz="1800" b="0" i="0" dirty="0" err="1">
                <a:solidFill>
                  <a:srgbClr val="273239"/>
                </a:solidFill>
                <a:effectLst/>
                <a:latin typeface="Trebuchet MS" panose="020B0603020202020204" pitchFamily="34" charset="0"/>
              </a:rPr>
              <a:t>cout</a:t>
            </a:r>
            <a:r>
              <a:rPr lang="en-IN" sz="1800" b="0" i="0" dirty="0">
                <a:solidFill>
                  <a:srgbClr val="273239"/>
                </a:solidFill>
                <a:effectLst/>
                <a:latin typeface="Trebuchet MS" panose="020B0603020202020204" pitchFamily="34" charset="0"/>
              </a:rPr>
              <a:t> &lt;&lt; </a:t>
            </a:r>
            <a:r>
              <a:rPr lang="en-IN" sz="1800" b="0" i="0" dirty="0" err="1">
                <a:solidFill>
                  <a:srgbClr val="273239"/>
                </a:solidFill>
                <a:effectLst/>
                <a:latin typeface="Trebuchet MS" panose="020B0603020202020204" pitchFamily="34" charset="0"/>
              </a:rPr>
              <a:t>setw</a:t>
            </a:r>
            <a:r>
              <a:rPr lang="en-IN" sz="1800" b="0" i="0" dirty="0">
                <a:solidFill>
                  <a:srgbClr val="273239"/>
                </a:solidFill>
                <a:effectLst/>
                <a:latin typeface="Trebuchet MS" panose="020B0603020202020204" pitchFamily="34" charset="0"/>
              </a:rPr>
              <a:t>(10) &lt;&lt; a &lt;&lt; </a:t>
            </a:r>
            <a:r>
              <a:rPr lang="en-IN" sz="1800" b="0" i="0" dirty="0" err="1">
                <a:solidFill>
                  <a:srgbClr val="273239"/>
                </a:solidFill>
                <a:effectLst/>
                <a:latin typeface="Trebuchet MS" panose="020B0603020202020204" pitchFamily="34" charset="0"/>
              </a:rPr>
              <a:t>setw</a:t>
            </a:r>
            <a:r>
              <a:rPr lang="en-IN" sz="1800" b="0" i="0" dirty="0">
                <a:solidFill>
                  <a:srgbClr val="273239"/>
                </a:solidFill>
                <a:effectLst/>
                <a:latin typeface="Trebuchet MS" panose="020B0603020202020204" pitchFamily="34" charset="0"/>
              </a:rPr>
              <a:t>(10) &lt;&lt; b &lt;&lt; </a:t>
            </a:r>
            <a:r>
              <a:rPr lang="en-IN" sz="1800" b="0" i="0" dirty="0" err="1">
                <a:solidFill>
                  <a:srgbClr val="273239"/>
                </a:solidFill>
                <a:effectLst/>
                <a:latin typeface="Trebuchet MS" panose="020B0603020202020204" pitchFamily="34" charset="0"/>
              </a:rPr>
              <a:t>endl</a:t>
            </a:r>
            <a:r>
              <a:rPr lang="en-IN" sz="1800" b="0" i="0" dirty="0">
                <a:solidFill>
                  <a:srgbClr val="273239"/>
                </a:solidFill>
                <a:effectLst/>
                <a:latin typeface="Trebuchet MS" panose="020B0603020202020204" pitchFamily="34" charset="0"/>
              </a:rPr>
              <a:t>; </a:t>
            </a:r>
          </a:p>
        </p:txBody>
      </p:sp>
    </p:spTree>
    <p:extLst>
      <p:ext uri="{BB962C8B-B14F-4D97-AF65-F5344CB8AC3E}">
        <p14:creationId xmlns:p14="http://schemas.microsoft.com/office/powerpoint/2010/main" val="1002990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4" name="TextBox 3">
            <a:extLst>
              <a:ext uri="{FF2B5EF4-FFF2-40B4-BE49-F238E27FC236}">
                <a16:creationId xmlns:a16="http://schemas.microsoft.com/office/drawing/2014/main" id="{D409809D-54F9-CA6E-C6C3-FB4AA5003E8C}"/>
              </a:ext>
            </a:extLst>
          </p:cNvPr>
          <p:cNvSpPr txBox="1"/>
          <p:nvPr/>
        </p:nvSpPr>
        <p:spPr>
          <a:xfrm>
            <a:off x="285125" y="786503"/>
            <a:ext cx="8659178" cy="3968394"/>
          </a:xfrm>
          <a:prstGeom prst="rect">
            <a:avLst/>
          </a:prstGeom>
          <a:noFill/>
        </p:spPr>
        <p:txBody>
          <a:bodyPr wrap="square">
            <a:spAutoFit/>
          </a:bodyPr>
          <a:lstStyle/>
          <a:p>
            <a:pPr algn="l" fontAlgn="base">
              <a:lnSpc>
                <a:spcPct val="150000"/>
              </a:lnSpc>
            </a:pPr>
            <a:r>
              <a:rPr lang="en-IN" sz="1700" b="1" i="0" dirty="0" err="1">
                <a:solidFill>
                  <a:srgbClr val="0070C0"/>
                </a:solidFill>
                <a:effectLst/>
                <a:latin typeface="Trebuchet MS" panose="020B0603020202020204" pitchFamily="34" charset="0"/>
              </a:rPr>
              <a:t>setfill</a:t>
            </a:r>
            <a:r>
              <a:rPr lang="en-IN" sz="1700" b="1" i="0" dirty="0">
                <a:solidFill>
                  <a:srgbClr val="0070C0"/>
                </a:solidFill>
                <a:effectLst/>
                <a:latin typeface="Trebuchet MS" panose="020B0603020202020204" pitchFamily="34" charset="0"/>
              </a:rPr>
              <a:t>() </a:t>
            </a:r>
          </a:p>
          <a:p>
            <a:pPr marL="285750" indent="-285750" algn="l" fontAlgn="base">
              <a:lnSpc>
                <a:spcPct val="150000"/>
              </a:lnSpc>
              <a:buFont typeface="Arial" panose="020B0604020202020204" pitchFamily="34" charset="0"/>
              <a:buChar char="•"/>
            </a:pPr>
            <a:r>
              <a:rPr lang="en-IN" sz="1700" b="0" i="0" dirty="0">
                <a:solidFill>
                  <a:srgbClr val="273239"/>
                </a:solidFill>
                <a:effectLst/>
                <a:latin typeface="Trebuchet MS" panose="020B0603020202020204" pitchFamily="34" charset="0"/>
              </a:rPr>
              <a:t>It replaces </a:t>
            </a:r>
            <a:r>
              <a:rPr lang="en-IN" sz="1700" b="0" i="0" dirty="0" err="1">
                <a:solidFill>
                  <a:srgbClr val="273239"/>
                </a:solidFill>
                <a:effectLst/>
                <a:latin typeface="Trebuchet MS" panose="020B0603020202020204" pitchFamily="34" charset="0"/>
              </a:rPr>
              <a:t>setw</a:t>
            </a:r>
            <a:r>
              <a:rPr lang="en-IN" sz="1700" b="0" i="0" dirty="0">
                <a:solidFill>
                  <a:srgbClr val="273239"/>
                </a:solidFill>
                <a:effectLst/>
                <a:latin typeface="Trebuchet MS" panose="020B0603020202020204" pitchFamily="34" charset="0"/>
              </a:rPr>
              <a:t>(whitespaces )’s with a different character. It’s similar to </a:t>
            </a:r>
            <a:r>
              <a:rPr lang="en-IN" sz="1700" b="0" i="0" dirty="0" err="1">
                <a:solidFill>
                  <a:srgbClr val="273239"/>
                </a:solidFill>
                <a:effectLst/>
                <a:latin typeface="Trebuchet MS" panose="020B0603020202020204" pitchFamily="34" charset="0"/>
              </a:rPr>
              <a:t>setw</a:t>
            </a:r>
            <a:r>
              <a:rPr lang="en-IN" sz="1700" b="0" i="0" dirty="0">
                <a:solidFill>
                  <a:srgbClr val="273239"/>
                </a:solidFill>
                <a:effectLst/>
                <a:latin typeface="Trebuchet MS" panose="020B0603020202020204" pitchFamily="34" charset="0"/>
              </a:rPr>
              <a:t>() in that it manipulates output, but the only parameter required is a single character. </a:t>
            </a:r>
          </a:p>
          <a:p>
            <a:pPr algn="l" fontAlgn="base">
              <a:lnSpc>
                <a:spcPct val="150000"/>
              </a:lnSpc>
            </a:pPr>
            <a:r>
              <a:rPr lang="en-IN" sz="1700" b="1" i="0" dirty="0">
                <a:solidFill>
                  <a:srgbClr val="0070C0"/>
                </a:solidFill>
                <a:effectLst/>
                <a:latin typeface="Trebuchet MS" panose="020B0603020202020204" pitchFamily="34" charset="0"/>
              </a:rPr>
              <a:t>Syntax:</a:t>
            </a:r>
            <a:r>
              <a:rPr lang="en-IN" sz="1700" b="0" i="0" dirty="0">
                <a:solidFill>
                  <a:srgbClr val="273239"/>
                </a:solidFill>
                <a:effectLst/>
                <a:latin typeface="Trebuchet MS" panose="020B0603020202020204" pitchFamily="34" charset="0"/>
              </a:rPr>
              <a:t/>
            </a:r>
            <a:br>
              <a:rPr lang="en-IN" sz="1700" b="0" i="0" dirty="0">
                <a:solidFill>
                  <a:srgbClr val="273239"/>
                </a:solidFill>
                <a:effectLst/>
                <a:latin typeface="Trebuchet MS" panose="020B0603020202020204" pitchFamily="34" charset="0"/>
              </a:rPr>
            </a:br>
            <a:r>
              <a:rPr lang="en-IN" sz="1700" b="0" i="0" dirty="0">
                <a:solidFill>
                  <a:srgbClr val="273239"/>
                </a:solidFill>
                <a:effectLst/>
                <a:latin typeface="Trebuchet MS" panose="020B0603020202020204" pitchFamily="34" charset="0"/>
              </a:rPr>
              <a:t>     	</a:t>
            </a:r>
            <a:r>
              <a:rPr lang="en-IN" sz="1700" i="0" dirty="0" err="1">
                <a:solidFill>
                  <a:srgbClr val="FF0000"/>
                </a:solidFill>
                <a:effectLst/>
                <a:latin typeface="Trebuchet MS" panose="020B0603020202020204" pitchFamily="34" charset="0"/>
              </a:rPr>
              <a:t>setfill</a:t>
            </a:r>
            <a:r>
              <a:rPr lang="en-IN" sz="1700" i="0" dirty="0">
                <a:solidFill>
                  <a:srgbClr val="FF0000"/>
                </a:solidFill>
                <a:effectLst/>
                <a:latin typeface="Trebuchet MS" panose="020B0603020202020204" pitchFamily="34" charset="0"/>
              </a:rPr>
              <a:t>(char </a:t>
            </a:r>
            <a:r>
              <a:rPr lang="en-IN" sz="1700" i="0" dirty="0" err="1">
                <a:solidFill>
                  <a:srgbClr val="FF0000"/>
                </a:solidFill>
                <a:effectLst/>
                <a:latin typeface="Trebuchet MS" panose="020B0603020202020204" pitchFamily="34" charset="0"/>
              </a:rPr>
              <a:t>ch</a:t>
            </a:r>
            <a:r>
              <a:rPr lang="en-IN" sz="1700" i="0" dirty="0">
                <a:solidFill>
                  <a:srgbClr val="FF0000"/>
                </a:solidFill>
                <a:effectLst/>
                <a:latin typeface="Trebuchet MS" panose="020B0603020202020204" pitchFamily="34" charset="0"/>
              </a:rPr>
              <a:t>) </a:t>
            </a:r>
            <a:r>
              <a:rPr lang="en-IN" sz="1700" b="0" i="0" dirty="0">
                <a:solidFill>
                  <a:srgbClr val="0070C0"/>
                </a:solidFill>
                <a:effectLst/>
                <a:latin typeface="Trebuchet MS" panose="020B0603020202020204" pitchFamily="34" charset="0"/>
              </a:rPr>
              <a:t/>
            </a:r>
            <a:br>
              <a:rPr lang="en-IN" sz="1700" b="0" i="0" dirty="0">
                <a:solidFill>
                  <a:srgbClr val="0070C0"/>
                </a:solidFill>
                <a:effectLst/>
                <a:latin typeface="Trebuchet MS" panose="020B0603020202020204" pitchFamily="34" charset="0"/>
              </a:rPr>
            </a:br>
            <a:r>
              <a:rPr lang="en-IN" sz="1700" b="1" i="0" dirty="0">
                <a:solidFill>
                  <a:srgbClr val="0070C0"/>
                </a:solidFill>
                <a:effectLst/>
                <a:latin typeface="Trebuchet MS" panose="020B0603020202020204" pitchFamily="34" charset="0"/>
              </a:rPr>
              <a:t>Example:</a:t>
            </a:r>
            <a:r>
              <a:rPr lang="en-IN" sz="1700" b="0" i="0" dirty="0">
                <a:solidFill>
                  <a:srgbClr val="273239"/>
                </a:solidFill>
                <a:effectLst/>
                <a:latin typeface="Trebuchet MS" panose="020B0603020202020204" pitchFamily="34" charset="0"/>
              </a:rPr>
              <a:t/>
            </a:r>
            <a:br>
              <a:rPr lang="en-IN" sz="1700" b="0" i="0" dirty="0">
                <a:solidFill>
                  <a:srgbClr val="273239"/>
                </a:solidFill>
                <a:effectLst/>
                <a:latin typeface="Trebuchet MS" panose="020B0603020202020204" pitchFamily="34" charset="0"/>
              </a:rPr>
            </a:br>
            <a:r>
              <a:rPr lang="en-IN" sz="1700" b="0" i="0" dirty="0">
                <a:solidFill>
                  <a:srgbClr val="273239"/>
                </a:solidFill>
                <a:effectLst/>
                <a:latin typeface="Trebuchet MS" panose="020B0603020202020204" pitchFamily="34" charset="0"/>
              </a:rPr>
              <a:t>     int </a:t>
            </a:r>
            <a:r>
              <a:rPr lang="en-IN" sz="1700" b="0" i="0" dirty="0" err="1">
                <a:solidFill>
                  <a:srgbClr val="273239"/>
                </a:solidFill>
                <a:effectLst/>
                <a:latin typeface="Trebuchet MS" panose="020B0603020202020204" pitchFamily="34" charset="0"/>
              </a:rPr>
              <a:t>a,b</a:t>
            </a:r>
            <a:r>
              <a:rPr lang="en-IN" sz="1700" b="0" i="0" dirty="0">
                <a:solidFill>
                  <a:srgbClr val="273239"/>
                </a:solidFill>
                <a:effectLst/>
                <a:latin typeface="Trebuchet MS" panose="020B0603020202020204" pitchFamily="34" charset="0"/>
              </a:rPr>
              <a:t>;</a:t>
            </a:r>
            <a:br>
              <a:rPr lang="en-IN" sz="1700" b="0" i="0" dirty="0">
                <a:solidFill>
                  <a:srgbClr val="273239"/>
                </a:solidFill>
                <a:effectLst/>
                <a:latin typeface="Trebuchet MS" panose="020B0603020202020204" pitchFamily="34" charset="0"/>
              </a:rPr>
            </a:br>
            <a:r>
              <a:rPr lang="en-IN" sz="1700" b="0" i="0" dirty="0">
                <a:solidFill>
                  <a:srgbClr val="273239"/>
                </a:solidFill>
                <a:effectLst/>
                <a:latin typeface="Trebuchet MS" panose="020B0603020202020204" pitchFamily="34" charset="0"/>
              </a:rPr>
              <a:t>     a=15;   b=20;</a:t>
            </a:r>
            <a:br>
              <a:rPr lang="en-IN" sz="1700" b="0" i="0" dirty="0">
                <a:solidFill>
                  <a:srgbClr val="273239"/>
                </a:solidFill>
                <a:effectLst/>
                <a:latin typeface="Trebuchet MS" panose="020B0603020202020204" pitchFamily="34" charset="0"/>
              </a:rPr>
            </a:br>
            <a:r>
              <a:rPr lang="en-IN" sz="1700" b="0" i="0" dirty="0">
                <a:solidFill>
                  <a:srgbClr val="273239"/>
                </a:solidFill>
                <a:effectLst/>
                <a:latin typeface="Trebuchet MS" panose="020B0603020202020204" pitchFamily="34" charset="0"/>
              </a:rPr>
              <a:t>     </a:t>
            </a:r>
            <a:r>
              <a:rPr lang="en-IN" sz="1700" b="0" i="0" dirty="0" err="1">
                <a:solidFill>
                  <a:srgbClr val="273239"/>
                </a:solidFill>
                <a:effectLst/>
                <a:latin typeface="Trebuchet MS" panose="020B0603020202020204" pitchFamily="34" charset="0"/>
              </a:rPr>
              <a:t>cout</a:t>
            </a:r>
            <a:r>
              <a:rPr lang="en-IN" sz="1700" b="0" i="0" dirty="0">
                <a:solidFill>
                  <a:srgbClr val="273239"/>
                </a:solidFill>
                <a:effectLst/>
                <a:latin typeface="Trebuchet MS" panose="020B0603020202020204" pitchFamily="34" charset="0"/>
              </a:rPr>
              <a:t>&lt;&lt; </a:t>
            </a:r>
            <a:r>
              <a:rPr lang="en-IN" sz="1700" b="0" i="0" dirty="0" err="1">
                <a:solidFill>
                  <a:srgbClr val="273239"/>
                </a:solidFill>
                <a:effectLst/>
                <a:latin typeface="Trebuchet MS" panose="020B0603020202020204" pitchFamily="34" charset="0"/>
              </a:rPr>
              <a:t>setfill</a:t>
            </a:r>
            <a:r>
              <a:rPr lang="en-IN" sz="1700" b="0" i="0" dirty="0">
                <a:solidFill>
                  <a:srgbClr val="273239"/>
                </a:solidFill>
                <a:effectLst/>
                <a:latin typeface="Trebuchet MS" panose="020B0603020202020204" pitchFamily="34" charset="0"/>
              </a:rPr>
              <a:t>(‘*’) &lt;&lt; </a:t>
            </a:r>
            <a:r>
              <a:rPr lang="en-IN" sz="1700" b="0" i="0" dirty="0" err="1">
                <a:solidFill>
                  <a:srgbClr val="273239"/>
                </a:solidFill>
                <a:effectLst/>
                <a:latin typeface="Trebuchet MS" panose="020B0603020202020204" pitchFamily="34" charset="0"/>
              </a:rPr>
              <a:t>endl</a:t>
            </a:r>
            <a:r>
              <a:rPr lang="en-IN" sz="1700" b="0" i="0" dirty="0">
                <a:solidFill>
                  <a:srgbClr val="273239"/>
                </a:solidFill>
                <a:effectLst/>
                <a:latin typeface="Trebuchet MS" panose="020B0603020202020204" pitchFamily="34" charset="0"/>
              </a:rPr>
              <a:t>;</a:t>
            </a:r>
          </a:p>
          <a:p>
            <a:pPr algn="l" fontAlgn="base">
              <a:lnSpc>
                <a:spcPct val="150000"/>
              </a:lnSpc>
            </a:pPr>
            <a:r>
              <a:rPr lang="en-IN" sz="1700" b="0" i="0" dirty="0">
                <a:solidFill>
                  <a:srgbClr val="273239"/>
                </a:solidFill>
                <a:effectLst/>
                <a:latin typeface="Trebuchet MS" panose="020B0603020202020204" pitchFamily="34" charset="0"/>
              </a:rPr>
              <a:t>     </a:t>
            </a:r>
            <a:r>
              <a:rPr lang="en-IN" sz="1700" b="0" i="0" dirty="0" err="1">
                <a:solidFill>
                  <a:srgbClr val="273239"/>
                </a:solidFill>
                <a:effectLst/>
                <a:latin typeface="Trebuchet MS" panose="020B0603020202020204" pitchFamily="34" charset="0"/>
              </a:rPr>
              <a:t>cout</a:t>
            </a:r>
            <a:r>
              <a:rPr lang="en-IN" sz="1700" b="0" i="0" dirty="0">
                <a:solidFill>
                  <a:srgbClr val="273239"/>
                </a:solidFill>
                <a:effectLst/>
                <a:latin typeface="Trebuchet MS" panose="020B0603020202020204" pitchFamily="34" charset="0"/>
              </a:rPr>
              <a:t> &lt;&lt; </a:t>
            </a:r>
            <a:r>
              <a:rPr lang="en-IN" sz="1700" b="0" i="0" dirty="0" err="1">
                <a:solidFill>
                  <a:srgbClr val="273239"/>
                </a:solidFill>
                <a:effectLst/>
                <a:latin typeface="Trebuchet MS" panose="020B0603020202020204" pitchFamily="34" charset="0"/>
              </a:rPr>
              <a:t>setw</a:t>
            </a:r>
            <a:r>
              <a:rPr lang="en-IN" sz="1700" b="0" i="0" dirty="0">
                <a:solidFill>
                  <a:srgbClr val="273239"/>
                </a:solidFill>
                <a:effectLst/>
                <a:latin typeface="Trebuchet MS" panose="020B0603020202020204" pitchFamily="34" charset="0"/>
              </a:rPr>
              <a:t>(5) &lt;&lt; a &lt;&lt; </a:t>
            </a:r>
            <a:r>
              <a:rPr lang="en-IN" sz="1700" b="0" i="0" dirty="0" err="1">
                <a:solidFill>
                  <a:srgbClr val="273239"/>
                </a:solidFill>
                <a:effectLst/>
                <a:latin typeface="Trebuchet MS" panose="020B0603020202020204" pitchFamily="34" charset="0"/>
              </a:rPr>
              <a:t>setw</a:t>
            </a:r>
            <a:r>
              <a:rPr lang="en-IN" sz="1700" b="0" i="0" dirty="0">
                <a:solidFill>
                  <a:srgbClr val="273239"/>
                </a:solidFill>
                <a:effectLst/>
                <a:latin typeface="Trebuchet MS" panose="020B0603020202020204" pitchFamily="34" charset="0"/>
              </a:rPr>
              <a:t>(5) &lt;&lt; a &lt;&lt; </a:t>
            </a:r>
            <a:r>
              <a:rPr lang="en-IN" sz="1700" b="0" i="0" dirty="0" err="1">
                <a:solidFill>
                  <a:srgbClr val="273239"/>
                </a:solidFill>
                <a:effectLst/>
                <a:latin typeface="Trebuchet MS" panose="020B0603020202020204" pitchFamily="34" charset="0"/>
              </a:rPr>
              <a:t>endl</a:t>
            </a:r>
            <a:r>
              <a:rPr lang="en-IN" sz="1700" b="0" i="0" dirty="0">
                <a:solidFill>
                  <a:srgbClr val="273239"/>
                </a:solidFill>
                <a:effectLst/>
                <a:latin typeface="Trebuchet MS" panose="020B0603020202020204" pitchFamily="34" charset="0"/>
              </a:rPr>
              <a:t>;</a:t>
            </a:r>
          </a:p>
        </p:txBody>
      </p:sp>
    </p:spTree>
    <p:extLst>
      <p:ext uri="{BB962C8B-B14F-4D97-AF65-F5344CB8AC3E}">
        <p14:creationId xmlns:p14="http://schemas.microsoft.com/office/powerpoint/2010/main" val="357806614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6A282098-FDD6-29C6-03AE-31F1FE2043AB}"/>
            </a:ext>
          </a:extLst>
        </p:cNvPr>
        <p:cNvGrpSpPr/>
        <p:nvPr/>
      </p:nvGrpSpPr>
      <p:grpSpPr>
        <a:xfrm>
          <a:off x="0" y="0"/>
          <a:ext cx="0" cy="0"/>
          <a:chOff x="0" y="0"/>
          <a:chExt cx="0" cy="0"/>
        </a:xfrm>
      </p:grpSpPr>
      <p:pic>
        <p:nvPicPr>
          <p:cNvPr id="94" name="Google Shape;94;p17">
            <a:extLst>
              <a:ext uri="{FF2B5EF4-FFF2-40B4-BE49-F238E27FC236}">
                <a16:creationId xmlns:a16="http://schemas.microsoft.com/office/drawing/2014/main" id="{08D3A903-0438-24D7-0780-CDF56D804B1C}"/>
              </a:ext>
            </a:extLst>
          </p:cNvPr>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a:extLst>
              <a:ext uri="{FF2B5EF4-FFF2-40B4-BE49-F238E27FC236}">
                <a16:creationId xmlns:a16="http://schemas.microsoft.com/office/drawing/2014/main" id="{566E0913-8D09-D249-079D-76E8E47AD7A0}"/>
              </a:ext>
            </a:extLst>
          </p:cNvPr>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FC0653D3-0ADF-6F07-D847-A72C95DB9FF9}"/>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4" name="TextBox 3">
            <a:extLst>
              <a:ext uri="{FF2B5EF4-FFF2-40B4-BE49-F238E27FC236}">
                <a16:creationId xmlns:a16="http://schemas.microsoft.com/office/drawing/2014/main" id="{93BD4152-8399-052C-42F3-F60C7FE278FB}"/>
              </a:ext>
            </a:extLst>
          </p:cNvPr>
          <p:cNvSpPr txBox="1"/>
          <p:nvPr/>
        </p:nvSpPr>
        <p:spPr>
          <a:xfrm>
            <a:off x="285125" y="786503"/>
            <a:ext cx="8659178" cy="4132863"/>
          </a:xfrm>
          <a:prstGeom prst="rect">
            <a:avLst/>
          </a:prstGeom>
          <a:noFill/>
        </p:spPr>
        <p:txBody>
          <a:bodyPr wrap="square">
            <a:spAutoFit/>
          </a:bodyPr>
          <a:lstStyle/>
          <a:p>
            <a:pPr algn="l" fontAlgn="base">
              <a:lnSpc>
                <a:spcPct val="150000"/>
              </a:lnSpc>
            </a:pPr>
            <a:r>
              <a:rPr lang="en-IN" sz="1700" b="1" i="0" dirty="0" err="1">
                <a:solidFill>
                  <a:srgbClr val="0070C0"/>
                </a:solidFill>
                <a:effectLst/>
                <a:latin typeface="Trebuchet MS" panose="020B0603020202020204" pitchFamily="34" charset="0"/>
              </a:rPr>
              <a:t>setfill</a:t>
            </a:r>
            <a:r>
              <a:rPr lang="en-IN" sz="1700" b="1" i="0" dirty="0">
                <a:solidFill>
                  <a:srgbClr val="0070C0"/>
                </a:solidFill>
                <a:effectLst/>
                <a:latin typeface="Trebuchet MS" panose="020B0603020202020204" pitchFamily="34" charset="0"/>
              </a:rPr>
              <a:t>() Example:</a:t>
            </a:r>
            <a:r>
              <a:rPr lang="en-IN" sz="1700" b="0" i="0" dirty="0">
                <a:solidFill>
                  <a:srgbClr val="273239"/>
                </a:solidFill>
                <a:effectLst/>
                <a:latin typeface="Trebuchet MS" panose="020B0603020202020204" pitchFamily="34" charset="0"/>
              </a:rPr>
              <a:t/>
            </a:r>
            <a:br>
              <a:rPr lang="en-IN" sz="1700" b="0" i="0" dirty="0">
                <a:solidFill>
                  <a:srgbClr val="273239"/>
                </a:solidFill>
                <a:effectLst/>
                <a:latin typeface="Trebuchet MS" panose="020B0603020202020204" pitchFamily="34" charset="0"/>
              </a:rPr>
            </a:br>
            <a:r>
              <a:rPr lang="en-IN" sz="1600" b="0" i="0" dirty="0">
                <a:solidFill>
                  <a:srgbClr val="273239"/>
                </a:solidFill>
                <a:effectLst/>
                <a:latin typeface="Trebuchet MS" panose="020B0603020202020204" pitchFamily="34" charset="0"/>
              </a:rPr>
              <a:t>#include &lt;iostream&gt;</a:t>
            </a:r>
          </a:p>
          <a:p>
            <a:pPr algn="l" fontAlgn="base">
              <a:lnSpc>
                <a:spcPct val="150000"/>
              </a:lnSpc>
            </a:pPr>
            <a:r>
              <a:rPr lang="en-IN" sz="1600" b="0" i="0" dirty="0">
                <a:solidFill>
                  <a:srgbClr val="273239"/>
                </a:solidFill>
                <a:effectLst/>
                <a:latin typeface="Trebuchet MS" panose="020B0603020202020204" pitchFamily="34" charset="0"/>
              </a:rPr>
              <a:t>#include &lt;</a:t>
            </a:r>
            <a:r>
              <a:rPr lang="en-IN" sz="1600" b="0" i="0" dirty="0" err="1">
                <a:solidFill>
                  <a:srgbClr val="273239"/>
                </a:solidFill>
                <a:effectLst/>
                <a:latin typeface="Trebuchet MS" panose="020B0603020202020204" pitchFamily="34" charset="0"/>
              </a:rPr>
              <a:t>iomanip</a:t>
            </a:r>
            <a:r>
              <a:rPr lang="en-IN" sz="1600" b="0" i="0" dirty="0">
                <a:solidFill>
                  <a:srgbClr val="273239"/>
                </a:solidFill>
                <a:effectLst/>
                <a:latin typeface="Trebuchet MS" panose="020B0603020202020204" pitchFamily="34" charset="0"/>
              </a:rPr>
              <a:t>&gt;</a:t>
            </a:r>
          </a:p>
          <a:p>
            <a:pPr algn="l" fontAlgn="base">
              <a:lnSpc>
                <a:spcPct val="150000"/>
              </a:lnSpc>
            </a:pPr>
            <a:r>
              <a:rPr lang="en-IN" sz="1600" b="0" i="0" dirty="0">
                <a:solidFill>
                  <a:srgbClr val="273239"/>
                </a:solidFill>
                <a:effectLst/>
                <a:latin typeface="Trebuchet MS" panose="020B0603020202020204" pitchFamily="34" charset="0"/>
              </a:rPr>
              <a:t>int main() {</a:t>
            </a:r>
          </a:p>
          <a:p>
            <a:pPr algn="l" fontAlgn="base">
              <a:lnSpc>
                <a:spcPct val="150000"/>
              </a:lnSpc>
            </a:pPr>
            <a:r>
              <a:rPr lang="en-IN" sz="1600" b="0" i="0" dirty="0">
                <a:solidFill>
                  <a:srgbClr val="273239"/>
                </a:solidFill>
                <a:effectLst/>
                <a:latin typeface="Trebuchet MS" panose="020B0603020202020204" pitchFamily="34" charset="0"/>
              </a:rPr>
              <a:t>    int a, b;</a:t>
            </a:r>
          </a:p>
          <a:p>
            <a:pPr algn="l" fontAlgn="base">
              <a:lnSpc>
                <a:spcPct val="150000"/>
              </a:lnSpc>
            </a:pPr>
            <a:r>
              <a:rPr lang="en-IN" sz="1600" b="0" i="0" dirty="0">
                <a:solidFill>
                  <a:srgbClr val="273239"/>
                </a:solidFill>
                <a:effectLst/>
                <a:latin typeface="Trebuchet MS" panose="020B0603020202020204" pitchFamily="34" charset="0"/>
              </a:rPr>
              <a:t>    a = 15;</a:t>
            </a:r>
          </a:p>
          <a:p>
            <a:pPr algn="l" fontAlgn="base">
              <a:lnSpc>
                <a:spcPct val="150000"/>
              </a:lnSpc>
            </a:pPr>
            <a:r>
              <a:rPr lang="en-IN" sz="1600" b="0" i="0" dirty="0">
                <a:solidFill>
                  <a:srgbClr val="273239"/>
                </a:solidFill>
                <a:effectLst/>
                <a:latin typeface="Trebuchet MS" panose="020B0603020202020204" pitchFamily="34" charset="0"/>
              </a:rPr>
              <a:t>    b = 20;</a:t>
            </a:r>
          </a:p>
          <a:p>
            <a:pPr algn="l" fontAlgn="base">
              <a:lnSpc>
                <a:spcPct val="150000"/>
              </a:lnSpc>
            </a:pPr>
            <a:r>
              <a:rPr lang="en-IN" sz="1600" b="0" i="0" dirty="0">
                <a:solidFill>
                  <a:srgbClr val="273239"/>
                </a:solidFill>
                <a:effectLst/>
                <a:latin typeface="Trebuchet MS" panose="020B0603020202020204" pitchFamily="34" charset="0"/>
              </a:rPr>
              <a:t>    std::</a:t>
            </a:r>
            <a:r>
              <a:rPr lang="en-IN" sz="1600" b="0" i="0" dirty="0" err="1">
                <a:solidFill>
                  <a:srgbClr val="273239"/>
                </a:solidFill>
                <a:effectLst/>
                <a:latin typeface="Trebuchet MS" panose="020B0603020202020204" pitchFamily="34" charset="0"/>
              </a:rPr>
              <a:t>cout</a:t>
            </a:r>
            <a:r>
              <a:rPr lang="en-IN" sz="1600" b="0" i="0" dirty="0">
                <a:solidFill>
                  <a:srgbClr val="273239"/>
                </a:solidFill>
                <a:effectLst/>
                <a:latin typeface="Trebuchet MS" panose="020B0603020202020204" pitchFamily="34" charset="0"/>
              </a:rPr>
              <a:t> &lt;&lt; std::</a:t>
            </a:r>
            <a:r>
              <a:rPr lang="en-IN" sz="1600" b="0" i="0" dirty="0" err="1">
                <a:solidFill>
                  <a:srgbClr val="273239"/>
                </a:solidFill>
                <a:effectLst/>
                <a:latin typeface="Trebuchet MS" panose="020B0603020202020204" pitchFamily="34" charset="0"/>
              </a:rPr>
              <a:t>setfill</a:t>
            </a:r>
            <a:r>
              <a:rPr lang="en-IN" sz="1600" b="0" i="0" dirty="0">
                <a:solidFill>
                  <a:srgbClr val="273239"/>
                </a:solidFill>
                <a:effectLst/>
                <a:latin typeface="Trebuchet MS" panose="020B0603020202020204" pitchFamily="34" charset="0"/>
              </a:rPr>
              <a:t>('*') &lt;&lt; std::</a:t>
            </a:r>
            <a:r>
              <a:rPr lang="en-IN" sz="1600" b="0" i="0" dirty="0" err="1">
                <a:solidFill>
                  <a:srgbClr val="273239"/>
                </a:solidFill>
                <a:effectLst/>
                <a:latin typeface="Trebuchet MS" panose="020B0603020202020204" pitchFamily="34" charset="0"/>
              </a:rPr>
              <a:t>endl</a:t>
            </a:r>
            <a:r>
              <a:rPr lang="en-IN" sz="1600" b="0" i="0" dirty="0">
                <a:solidFill>
                  <a:srgbClr val="273239"/>
                </a:solidFill>
                <a:effectLst/>
                <a:latin typeface="Trebuchet MS" panose="020B0603020202020204" pitchFamily="34" charset="0"/>
              </a:rPr>
              <a:t>;</a:t>
            </a:r>
          </a:p>
          <a:p>
            <a:pPr algn="l" fontAlgn="base">
              <a:lnSpc>
                <a:spcPct val="150000"/>
              </a:lnSpc>
            </a:pPr>
            <a:r>
              <a:rPr lang="en-IN" sz="1600" b="0" i="0" dirty="0">
                <a:solidFill>
                  <a:srgbClr val="273239"/>
                </a:solidFill>
                <a:effectLst/>
                <a:latin typeface="Trebuchet MS" panose="020B0603020202020204" pitchFamily="34" charset="0"/>
              </a:rPr>
              <a:t>    std::</a:t>
            </a:r>
            <a:r>
              <a:rPr lang="en-IN" sz="1600" b="0" i="0" dirty="0" err="1">
                <a:solidFill>
                  <a:srgbClr val="273239"/>
                </a:solidFill>
                <a:effectLst/>
                <a:latin typeface="Trebuchet MS" panose="020B0603020202020204" pitchFamily="34" charset="0"/>
              </a:rPr>
              <a:t>cout</a:t>
            </a:r>
            <a:r>
              <a:rPr lang="en-IN" sz="1600" b="0" i="0" dirty="0">
                <a:solidFill>
                  <a:srgbClr val="273239"/>
                </a:solidFill>
                <a:effectLst/>
                <a:latin typeface="Trebuchet MS" panose="020B0603020202020204" pitchFamily="34" charset="0"/>
              </a:rPr>
              <a:t> &lt;&lt; std::</a:t>
            </a:r>
            <a:r>
              <a:rPr lang="en-IN" sz="1600" b="0" i="0" dirty="0" err="1">
                <a:solidFill>
                  <a:srgbClr val="273239"/>
                </a:solidFill>
                <a:effectLst/>
                <a:latin typeface="Trebuchet MS" panose="020B0603020202020204" pitchFamily="34" charset="0"/>
              </a:rPr>
              <a:t>setw</a:t>
            </a:r>
            <a:r>
              <a:rPr lang="en-IN" sz="1600" b="0" i="0" dirty="0">
                <a:solidFill>
                  <a:srgbClr val="273239"/>
                </a:solidFill>
                <a:effectLst/>
                <a:latin typeface="Trebuchet MS" panose="020B0603020202020204" pitchFamily="34" charset="0"/>
              </a:rPr>
              <a:t>(5) &lt;&lt; a &lt;&lt; std::</a:t>
            </a:r>
            <a:r>
              <a:rPr lang="en-IN" sz="1600" b="0" i="0" dirty="0" err="1">
                <a:solidFill>
                  <a:srgbClr val="273239"/>
                </a:solidFill>
                <a:effectLst/>
                <a:latin typeface="Trebuchet MS" panose="020B0603020202020204" pitchFamily="34" charset="0"/>
              </a:rPr>
              <a:t>setw</a:t>
            </a:r>
            <a:r>
              <a:rPr lang="en-IN" sz="1600" b="0" i="0" dirty="0">
                <a:solidFill>
                  <a:srgbClr val="273239"/>
                </a:solidFill>
                <a:effectLst/>
                <a:latin typeface="Trebuchet MS" panose="020B0603020202020204" pitchFamily="34" charset="0"/>
              </a:rPr>
              <a:t>(5) &lt;&lt; b &lt;&lt; std::</a:t>
            </a:r>
            <a:r>
              <a:rPr lang="en-IN" sz="1600" b="0" i="0" dirty="0" err="1">
                <a:solidFill>
                  <a:srgbClr val="273239"/>
                </a:solidFill>
                <a:effectLst/>
                <a:latin typeface="Trebuchet MS" panose="020B0603020202020204" pitchFamily="34" charset="0"/>
              </a:rPr>
              <a:t>endl</a:t>
            </a:r>
            <a:r>
              <a:rPr lang="en-IN" sz="1600" b="0" i="0" dirty="0">
                <a:solidFill>
                  <a:srgbClr val="273239"/>
                </a:solidFill>
                <a:effectLst/>
                <a:latin typeface="Trebuchet MS" panose="020B0603020202020204" pitchFamily="34" charset="0"/>
              </a:rPr>
              <a:t>;</a:t>
            </a:r>
          </a:p>
          <a:p>
            <a:pPr algn="l" fontAlgn="base">
              <a:lnSpc>
                <a:spcPct val="150000"/>
              </a:lnSpc>
            </a:pPr>
            <a:r>
              <a:rPr lang="en-IN" sz="1600" b="0" i="0" dirty="0">
                <a:solidFill>
                  <a:srgbClr val="273239"/>
                </a:solidFill>
                <a:effectLst/>
                <a:latin typeface="Trebuchet MS" panose="020B0603020202020204" pitchFamily="34" charset="0"/>
              </a:rPr>
              <a:t>    return 0;</a:t>
            </a:r>
          </a:p>
          <a:p>
            <a:pPr algn="l" fontAlgn="base">
              <a:lnSpc>
                <a:spcPct val="150000"/>
              </a:lnSpc>
            </a:pPr>
            <a:r>
              <a:rPr lang="en-IN" sz="1600" b="0" i="0" dirty="0">
                <a:solidFill>
                  <a:srgbClr val="273239"/>
                </a:solidFill>
                <a:effectLst/>
                <a:latin typeface="Trebuchet MS" panose="020B0603020202020204" pitchFamily="34" charset="0"/>
              </a:rPr>
              <a:t>}                                                    // Output: ***15***20</a:t>
            </a:r>
          </a:p>
        </p:txBody>
      </p:sp>
    </p:spTree>
    <p:extLst>
      <p:ext uri="{BB962C8B-B14F-4D97-AF65-F5344CB8AC3E}">
        <p14:creationId xmlns:p14="http://schemas.microsoft.com/office/powerpoint/2010/main" val="76953779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3" name="TextBox 2">
            <a:extLst>
              <a:ext uri="{FF2B5EF4-FFF2-40B4-BE49-F238E27FC236}">
                <a16:creationId xmlns:a16="http://schemas.microsoft.com/office/drawing/2014/main" id="{CB05350E-58C5-D718-B855-6ED1491205AE}"/>
              </a:ext>
            </a:extLst>
          </p:cNvPr>
          <p:cNvSpPr txBox="1"/>
          <p:nvPr/>
        </p:nvSpPr>
        <p:spPr>
          <a:xfrm>
            <a:off x="430924" y="815646"/>
            <a:ext cx="7851228" cy="3365473"/>
          </a:xfrm>
          <a:prstGeom prst="rect">
            <a:avLst/>
          </a:prstGeom>
          <a:noFill/>
        </p:spPr>
        <p:txBody>
          <a:bodyPr wrap="square">
            <a:spAutoFit/>
          </a:bodyPr>
          <a:lstStyle/>
          <a:p>
            <a:pPr algn="l" fontAlgn="base">
              <a:lnSpc>
                <a:spcPct val="150000"/>
              </a:lnSpc>
            </a:pPr>
            <a:r>
              <a:rPr lang="en-IN" sz="1800" b="1" i="0" dirty="0" err="1">
                <a:solidFill>
                  <a:srgbClr val="0070C0"/>
                </a:solidFill>
                <a:effectLst/>
                <a:latin typeface="Trebuchet MS" panose="020B0603020202020204" pitchFamily="34" charset="0"/>
              </a:rPr>
              <a:t>setprecision</a:t>
            </a:r>
            <a:endParaRPr lang="en-IN" sz="1800" dirty="0">
              <a:solidFill>
                <a:srgbClr val="0070C0"/>
              </a:solidFill>
              <a:latin typeface="Trebuchet MS" panose="020B0603020202020204" pitchFamily="34" charset="0"/>
            </a:endParaRPr>
          </a:p>
          <a:p>
            <a:pPr marL="285750" indent="-285750" algn="l" fontAlgn="base">
              <a:lnSpc>
                <a:spcPct val="150000"/>
              </a:lnSpc>
              <a:buFont typeface="Arial" panose="020B0604020202020204" pitchFamily="34" charset="0"/>
              <a:buChar char="•"/>
            </a:pPr>
            <a:r>
              <a:rPr lang="en-IN" sz="1800" b="0" i="0" dirty="0">
                <a:solidFill>
                  <a:srgbClr val="273239"/>
                </a:solidFill>
                <a:effectLst/>
                <a:latin typeface="Trebuchet MS" panose="020B0603020202020204" pitchFamily="34" charset="0"/>
              </a:rPr>
              <a:t>It is an output manipulator that controls the number of digits to display after the decimal for a floating point integer. </a:t>
            </a:r>
          </a:p>
          <a:p>
            <a:pPr algn="l" fontAlgn="base">
              <a:lnSpc>
                <a:spcPct val="150000"/>
              </a:lnSpc>
            </a:pPr>
            <a:r>
              <a:rPr lang="en-IN" sz="1800" b="1" i="0" dirty="0">
                <a:solidFill>
                  <a:srgbClr val="0070C0"/>
                </a:solidFill>
                <a:effectLst/>
                <a:latin typeface="Trebuchet MS" panose="020B0603020202020204" pitchFamily="34" charset="0"/>
              </a:rPr>
              <a:t>Syntax:</a:t>
            </a:r>
            <a:r>
              <a:rPr lang="en-IN" sz="1800" b="0" i="0" dirty="0">
                <a:solidFill>
                  <a:srgbClr val="273239"/>
                </a:solidFill>
                <a:effectLst/>
                <a:latin typeface="Trebuchet MS" panose="020B0603020202020204" pitchFamily="34" charset="0"/>
              </a:rPr>
              <a:t/>
            </a:r>
            <a:br>
              <a:rPr lang="en-IN" sz="1800" b="0" i="0" dirty="0">
                <a:solidFill>
                  <a:srgbClr val="273239"/>
                </a:solidFill>
                <a:effectLst/>
                <a:latin typeface="Trebuchet MS" panose="020B0603020202020204" pitchFamily="34" charset="0"/>
              </a:rPr>
            </a:br>
            <a:r>
              <a:rPr lang="en-IN" sz="1800" b="0" i="0" dirty="0">
                <a:solidFill>
                  <a:srgbClr val="273239"/>
                </a:solidFill>
                <a:effectLst/>
                <a:latin typeface="Trebuchet MS" panose="020B0603020202020204" pitchFamily="34" charset="0"/>
              </a:rPr>
              <a:t>     	</a:t>
            </a:r>
            <a:r>
              <a:rPr lang="en-IN" sz="1800" b="0" i="0" dirty="0" err="1">
                <a:solidFill>
                  <a:srgbClr val="FF0000"/>
                </a:solidFill>
                <a:effectLst/>
                <a:latin typeface="Trebuchet MS" panose="020B0603020202020204" pitchFamily="34" charset="0"/>
              </a:rPr>
              <a:t>setprecision</a:t>
            </a:r>
            <a:r>
              <a:rPr lang="en-IN" sz="1800" b="0" i="0" dirty="0">
                <a:solidFill>
                  <a:srgbClr val="FF0000"/>
                </a:solidFill>
                <a:effectLst/>
                <a:latin typeface="Trebuchet MS" panose="020B0603020202020204" pitchFamily="34" charset="0"/>
              </a:rPr>
              <a:t> (int p)</a:t>
            </a:r>
            <a:br>
              <a:rPr lang="en-IN" sz="1800" b="0" i="0" dirty="0">
                <a:solidFill>
                  <a:srgbClr val="FF0000"/>
                </a:solidFill>
                <a:effectLst/>
                <a:latin typeface="Trebuchet MS" panose="020B0603020202020204" pitchFamily="34" charset="0"/>
              </a:rPr>
            </a:br>
            <a:r>
              <a:rPr lang="en-IN" sz="1800" b="1" i="0" dirty="0">
                <a:solidFill>
                  <a:srgbClr val="0070C0"/>
                </a:solidFill>
                <a:effectLst/>
                <a:latin typeface="Trebuchet MS" panose="020B0603020202020204" pitchFamily="34" charset="0"/>
              </a:rPr>
              <a:t>Example:</a:t>
            </a:r>
            <a:endParaRPr lang="en-IN" sz="1800" b="0" i="0" dirty="0">
              <a:solidFill>
                <a:srgbClr val="0070C0"/>
              </a:solidFill>
              <a:effectLst/>
              <a:latin typeface="Trebuchet MS" panose="020B0603020202020204" pitchFamily="34" charset="0"/>
            </a:endParaRPr>
          </a:p>
          <a:p>
            <a:pPr algn="l" fontAlgn="base">
              <a:lnSpc>
                <a:spcPct val="150000"/>
              </a:lnSpc>
            </a:pPr>
            <a:r>
              <a:rPr lang="en-IN" sz="1800" b="0" i="0" dirty="0">
                <a:solidFill>
                  <a:srgbClr val="273239"/>
                </a:solidFill>
                <a:effectLst/>
                <a:latin typeface="Trebuchet MS" panose="020B0603020202020204" pitchFamily="34" charset="0"/>
              </a:rPr>
              <a:t>              float A = 1.34255;</a:t>
            </a:r>
          </a:p>
          <a:p>
            <a:pPr algn="l" fontAlgn="base">
              <a:lnSpc>
                <a:spcPct val="150000"/>
              </a:lnSpc>
            </a:pPr>
            <a:r>
              <a:rPr lang="en-IN" sz="1800" b="0" i="0" dirty="0">
                <a:solidFill>
                  <a:srgbClr val="273239"/>
                </a:solidFill>
                <a:effectLst/>
                <a:latin typeface="Trebuchet MS" panose="020B0603020202020204" pitchFamily="34" charset="0"/>
              </a:rPr>
              <a:t>              </a:t>
            </a:r>
            <a:r>
              <a:rPr lang="en-IN" sz="1800" b="0" i="0" dirty="0" err="1">
                <a:solidFill>
                  <a:srgbClr val="273239"/>
                </a:solidFill>
                <a:effectLst/>
                <a:latin typeface="Trebuchet MS" panose="020B0603020202020204" pitchFamily="34" charset="0"/>
              </a:rPr>
              <a:t>cout</a:t>
            </a:r>
            <a:r>
              <a:rPr lang="en-IN" sz="1800" b="0" i="0" dirty="0">
                <a:solidFill>
                  <a:srgbClr val="273239"/>
                </a:solidFill>
                <a:effectLst/>
                <a:latin typeface="Trebuchet MS" panose="020B0603020202020204" pitchFamily="34" charset="0"/>
              </a:rPr>
              <a:t> &lt;&lt;fixed&lt;&lt; </a:t>
            </a:r>
            <a:r>
              <a:rPr lang="en-IN" sz="1800" b="0" i="0" dirty="0" err="1">
                <a:solidFill>
                  <a:srgbClr val="273239"/>
                </a:solidFill>
                <a:effectLst/>
                <a:latin typeface="Trebuchet MS" panose="020B0603020202020204" pitchFamily="34" charset="0"/>
              </a:rPr>
              <a:t>setprecision</a:t>
            </a:r>
            <a:r>
              <a:rPr lang="en-IN" sz="1800" b="0" i="0" dirty="0">
                <a:solidFill>
                  <a:srgbClr val="273239"/>
                </a:solidFill>
                <a:effectLst/>
                <a:latin typeface="Trebuchet MS" panose="020B0603020202020204" pitchFamily="34" charset="0"/>
              </a:rPr>
              <a:t>(3) &lt;&lt; A &lt;&lt; </a:t>
            </a:r>
            <a:r>
              <a:rPr lang="en-IN" sz="1800" b="0" i="0" dirty="0" err="1">
                <a:solidFill>
                  <a:srgbClr val="273239"/>
                </a:solidFill>
                <a:effectLst/>
                <a:latin typeface="Trebuchet MS" panose="020B0603020202020204" pitchFamily="34" charset="0"/>
              </a:rPr>
              <a:t>endl</a:t>
            </a:r>
            <a:r>
              <a:rPr lang="en-IN" sz="1800" b="0" i="0" dirty="0">
                <a:solidFill>
                  <a:srgbClr val="273239"/>
                </a:solidFill>
                <a:effectLst/>
                <a:latin typeface="Trebuchet MS" panose="020B0603020202020204" pitchFamily="34" charset="0"/>
              </a:rPr>
              <a:t>;      // Output: 1.342</a:t>
            </a:r>
          </a:p>
        </p:txBody>
      </p:sp>
    </p:spTree>
    <p:extLst>
      <p:ext uri="{BB962C8B-B14F-4D97-AF65-F5344CB8AC3E}">
        <p14:creationId xmlns:p14="http://schemas.microsoft.com/office/powerpoint/2010/main" val="227382151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6" name="TextBox 5">
            <a:extLst>
              <a:ext uri="{FF2B5EF4-FFF2-40B4-BE49-F238E27FC236}">
                <a16:creationId xmlns:a16="http://schemas.microsoft.com/office/drawing/2014/main" id="{AAB833A1-655E-06EF-11E6-3BE80F9D00B8}"/>
              </a:ext>
            </a:extLst>
          </p:cNvPr>
          <p:cNvSpPr txBox="1"/>
          <p:nvPr/>
        </p:nvSpPr>
        <p:spPr>
          <a:xfrm>
            <a:off x="285124" y="1096749"/>
            <a:ext cx="8573751" cy="2949975"/>
          </a:xfrm>
          <a:prstGeom prst="rect">
            <a:avLst/>
          </a:prstGeom>
          <a:noFill/>
        </p:spPr>
        <p:txBody>
          <a:bodyPr wrap="square">
            <a:spAutoFit/>
          </a:bodyPr>
          <a:lstStyle/>
          <a:p>
            <a:pPr algn="l" fontAlgn="base">
              <a:lnSpc>
                <a:spcPct val="150000"/>
              </a:lnSpc>
            </a:pPr>
            <a:r>
              <a:rPr lang="en-IN" sz="1800" b="1" i="0" dirty="0" err="1">
                <a:solidFill>
                  <a:srgbClr val="0070C0"/>
                </a:solidFill>
                <a:effectLst/>
                <a:latin typeface="Trebuchet MS" panose="020B0603020202020204" pitchFamily="34" charset="0"/>
              </a:rPr>
              <a:t>setbase</a:t>
            </a:r>
            <a:r>
              <a:rPr lang="en-IN" sz="1800" b="1" i="0" dirty="0">
                <a:solidFill>
                  <a:srgbClr val="0070C0"/>
                </a:solidFill>
                <a:effectLst/>
                <a:latin typeface="Trebuchet MS" panose="020B0603020202020204" pitchFamily="34" charset="0"/>
              </a:rPr>
              <a:t>() </a:t>
            </a:r>
            <a:endParaRPr lang="en-IN" sz="1800" dirty="0">
              <a:solidFill>
                <a:srgbClr val="0070C0"/>
              </a:solidFill>
              <a:latin typeface="Trebuchet MS" panose="020B0603020202020204" pitchFamily="34" charset="0"/>
            </a:endParaRPr>
          </a:p>
          <a:p>
            <a:pPr marL="285750" indent="-285750" algn="l" fontAlgn="base">
              <a:lnSpc>
                <a:spcPct val="150000"/>
              </a:lnSpc>
              <a:buFont typeface="Arial" panose="020B0604020202020204" pitchFamily="34" charset="0"/>
              <a:buChar char="•"/>
            </a:pPr>
            <a:r>
              <a:rPr lang="en-IN" sz="1800" b="0" i="0" dirty="0">
                <a:solidFill>
                  <a:srgbClr val="273239"/>
                </a:solidFill>
                <a:effectLst/>
                <a:latin typeface="Trebuchet MS" panose="020B0603020202020204" pitchFamily="34" charset="0"/>
              </a:rPr>
              <a:t>The </a:t>
            </a:r>
            <a:r>
              <a:rPr lang="en-IN" sz="1800" b="0" i="0" dirty="0" err="1">
                <a:solidFill>
                  <a:srgbClr val="273239"/>
                </a:solidFill>
                <a:effectLst/>
                <a:latin typeface="Trebuchet MS" panose="020B0603020202020204" pitchFamily="34" charset="0"/>
              </a:rPr>
              <a:t>setbase</a:t>
            </a:r>
            <a:r>
              <a:rPr lang="en-IN" sz="1800" b="0" i="0" dirty="0">
                <a:solidFill>
                  <a:srgbClr val="273239"/>
                </a:solidFill>
                <a:effectLst/>
                <a:latin typeface="Trebuchet MS" panose="020B0603020202020204" pitchFamily="34" charset="0"/>
              </a:rPr>
              <a:t>() manipulator is used to change the base of a number to a different value. </a:t>
            </a:r>
            <a:endParaRPr lang="en-IN" sz="1800" dirty="0">
              <a:solidFill>
                <a:srgbClr val="273239"/>
              </a:solidFill>
              <a:latin typeface="Trebuchet MS" panose="020B0603020202020204" pitchFamily="34" charset="0"/>
            </a:endParaRPr>
          </a:p>
          <a:p>
            <a:pPr marL="285750" indent="-285750" algn="l" fontAlgn="base">
              <a:lnSpc>
                <a:spcPct val="150000"/>
              </a:lnSpc>
              <a:buFont typeface="Arial" panose="020B0604020202020204" pitchFamily="34" charset="0"/>
              <a:buChar char="•"/>
            </a:pPr>
            <a:r>
              <a:rPr lang="en-IN" sz="1800" b="0" i="0" dirty="0">
                <a:solidFill>
                  <a:srgbClr val="273239"/>
                </a:solidFill>
                <a:effectLst/>
                <a:latin typeface="Trebuchet MS" panose="020B0603020202020204" pitchFamily="34" charset="0"/>
              </a:rPr>
              <a:t>The following base values are supported by the C++ language. </a:t>
            </a:r>
            <a:br>
              <a:rPr lang="en-IN" sz="1800" b="0" i="0" dirty="0">
                <a:solidFill>
                  <a:srgbClr val="273239"/>
                </a:solidFill>
                <a:effectLst/>
                <a:latin typeface="Trebuchet MS" panose="020B0603020202020204" pitchFamily="34" charset="0"/>
              </a:rPr>
            </a:br>
            <a:r>
              <a:rPr lang="en-IN" sz="1800" dirty="0">
                <a:solidFill>
                  <a:srgbClr val="FF0000"/>
                </a:solidFill>
                <a:latin typeface="Trebuchet MS" panose="020B0603020202020204" pitchFamily="34" charset="0"/>
              </a:rPr>
              <a:t>hex (Hexadecimal = 16) </a:t>
            </a:r>
            <a:br>
              <a:rPr lang="en-IN" sz="1800" dirty="0">
                <a:solidFill>
                  <a:srgbClr val="FF0000"/>
                </a:solidFill>
                <a:latin typeface="Trebuchet MS" panose="020B0603020202020204" pitchFamily="34" charset="0"/>
              </a:rPr>
            </a:br>
            <a:r>
              <a:rPr lang="en-IN" sz="1800" dirty="0">
                <a:solidFill>
                  <a:srgbClr val="FF0000"/>
                </a:solidFill>
                <a:latin typeface="Trebuchet MS" panose="020B0603020202020204" pitchFamily="34" charset="0"/>
              </a:rPr>
              <a:t>oct (Octal = 8) </a:t>
            </a:r>
            <a:br>
              <a:rPr lang="en-IN" sz="1800" dirty="0">
                <a:solidFill>
                  <a:srgbClr val="FF0000"/>
                </a:solidFill>
                <a:latin typeface="Trebuchet MS" panose="020B0603020202020204" pitchFamily="34" charset="0"/>
              </a:rPr>
            </a:br>
            <a:r>
              <a:rPr lang="en-IN" sz="1800" dirty="0">
                <a:solidFill>
                  <a:srgbClr val="FF0000"/>
                </a:solidFill>
                <a:latin typeface="Trebuchet MS" panose="020B0603020202020204" pitchFamily="34" charset="0"/>
              </a:rPr>
              <a:t>dec (Decimal = 10)  </a:t>
            </a:r>
          </a:p>
        </p:txBody>
      </p:sp>
    </p:spTree>
    <p:extLst>
      <p:ext uri="{BB962C8B-B14F-4D97-AF65-F5344CB8AC3E}">
        <p14:creationId xmlns:p14="http://schemas.microsoft.com/office/powerpoint/2010/main" val="71107993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6" name="Google Shape;96;p17"/>
          <p:cNvPicPr preferRelativeResize="0"/>
          <p:nvPr/>
        </p:nvPicPr>
        <p:blipFill>
          <a:blip r:embed="rId4">
            <a:alphaModFix/>
          </a:blip>
          <a:stretch>
            <a:fillRect/>
          </a:stretch>
        </p:blipFill>
        <p:spPr>
          <a:xfrm>
            <a:off x="7363450" y="148588"/>
            <a:ext cx="1495425" cy="371475"/>
          </a:xfrm>
          <a:prstGeom prst="rect">
            <a:avLst/>
          </a:prstGeom>
          <a:noFill/>
          <a:ln>
            <a:noFill/>
          </a:ln>
        </p:spPr>
      </p:pic>
      <p:sp>
        <p:nvSpPr>
          <p:cNvPr id="5" name="TextBox 4">
            <a:extLst>
              <a:ext uri="{FF2B5EF4-FFF2-40B4-BE49-F238E27FC236}">
                <a16:creationId xmlns:a16="http://schemas.microsoft.com/office/drawing/2014/main" id="{2509365B-E60A-E60F-1E21-9993D4C95618}"/>
              </a:ext>
            </a:extLst>
          </p:cNvPr>
          <p:cNvSpPr txBox="1"/>
          <p:nvPr/>
        </p:nvSpPr>
        <p:spPr>
          <a:xfrm>
            <a:off x="285125" y="148588"/>
            <a:ext cx="6779173" cy="523220"/>
          </a:xfrm>
          <a:prstGeom prst="rect">
            <a:avLst/>
          </a:prstGeom>
          <a:noFill/>
        </p:spPr>
        <p:txBody>
          <a:bodyPr wrap="square">
            <a:spAutoFit/>
          </a:bodyPr>
          <a:lstStyle/>
          <a:p>
            <a:pPr>
              <a:defRPr/>
            </a:pPr>
            <a:r>
              <a:rPr lang="en-IN" sz="2800" b="1" dirty="0">
                <a:solidFill>
                  <a:schemeClr val="bg1"/>
                </a:solidFill>
                <a:latin typeface="Trebuchet MS" panose="020B0603020202020204" pitchFamily="34" charset="0"/>
              </a:rPr>
              <a:t>Manipulators in C++</a:t>
            </a:r>
          </a:p>
        </p:txBody>
      </p:sp>
      <p:sp>
        <p:nvSpPr>
          <p:cNvPr id="4" name="TextBox 3">
            <a:extLst>
              <a:ext uri="{FF2B5EF4-FFF2-40B4-BE49-F238E27FC236}">
                <a16:creationId xmlns:a16="http://schemas.microsoft.com/office/drawing/2014/main" id="{289DA914-436F-C4D6-533C-E7EFDD7E70E2}"/>
              </a:ext>
            </a:extLst>
          </p:cNvPr>
          <p:cNvSpPr txBox="1"/>
          <p:nvPr/>
        </p:nvSpPr>
        <p:spPr>
          <a:xfrm>
            <a:off x="285125" y="778373"/>
            <a:ext cx="6945992" cy="4216539"/>
          </a:xfrm>
          <a:prstGeom prst="rect">
            <a:avLst/>
          </a:prstGeom>
          <a:noFill/>
        </p:spPr>
        <p:txBody>
          <a:bodyPr wrap="square">
            <a:spAutoFit/>
          </a:bodyPr>
          <a:lstStyle/>
          <a:p>
            <a:pPr>
              <a:spcBef>
                <a:spcPts val="600"/>
              </a:spcBef>
            </a:pPr>
            <a:r>
              <a:rPr lang="en-IN" sz="1600" b="1" i="0" dirty="0" err="1">
                <a:solidFill>
                  <a:srgbClr val="0070C0"/>
                </a:solidFill>
                <a:effectLst/>
                <a:latin typeface="Trebuchet MS" panose="020B0603020202020204" pitchFamily="34" charset="0"/>
              </a:rPr>
              <a:t>setbase</a:t>
            </a:r>
            <a:r>
              <a:rPr lang="en-IN" sz="1600" b="1" i="0" dirty="0">
                <a:solidFill>
                  <a:srgbClr val="0070C0"/>
                </a:solidFill>
                <a:effectLst/>
                <a:latin typeface="Trebuchet MS" panose="020B0603020202020204" pitchFamily="34" charset="0"/>
              </a:rPr>
              <a:t>() – Example </a:t>
            </a:r>
            <a:endParaRPr lang="en-IN" sz="1600" dirty="0">
              <a:solidFill>
                <a:srgbClr val="0070C0"/>
              </a:solidFill>
              <a:latin typeface="Trebuchet MS" panose="020B0603020202020204" pitchFamily="34" charset="0"/>
            </a:endParaRPr>
          </a:p>
          <a:p>
            <a:pPr>
              <a:spcBef>
                <a:spcPts val="600"/>
              </a:spcBef>
            </a:pPr>
            <a:r>
              <a:rPr lang="en-IN" sz="1600" dirty="0">
                <a:latin typeface="Trebuchet MS" panose="020B0603020202020204" pitchFamily="34" charset="0"/>
              </a:rPr>
              <a:t>#include &lt;iostream&gt;   </a:t>
            </a:r>
          </a:p>
          <a:p>
            <a:pPr>
              <a:spcBef>
                <a:spcPts val="600"/>
              </a:spcBef>
            </a:pPr>
            <a:r>
              <a:rPr lang="en-IN" sz="1600" dirty="0">
                <a:latin typeface="Trebuchet MS" panose="020B0603020202020204" pitchFamily="34" charset="0"/>
              </a:rPr>
              <a:t>#include &lt;</a:t>
            </a:r>
            <a:r>
              <a:rPr lang="en-IN" sz="1600" dirty="0" err="1">
                <a:latin typeface="Trebuchet MS" panose="020B0603020202020204" pitchFamily="34" charset="0"/>
              </a:rPr>
              <a:t>iomanip</a:t>
            </a:r>
            <a:r>
              <a:rPr lang="en-IN" sz="1600" dirty="0">
                <a:latin typeface="Trebuchet MS" panose="020B0603020202020204" pitchFamily="34" charset="0"/>
              </a:rPr>
              <a:t>&gt;</a:t>
            </a:r>
          </a:p>
          <a:p>
            <a:pPr>
              <a:spcBef>
                <a:spcPts val="600"/>
              </a:spcBef>
            </a:pPr>
            <a:r>
              <a:rPr lang="en-IN" sz="1600" dirty="0">
                <a:latin typeface="Trebuchet MS" panose="020B0603020202020204" pitchFamily="34" charset="0"/>
              </a:rPr>
              <a:t>using namespace std;</a:t>
            </a:r>
          </a:p>
          <a:p>
            <a:pPr>
              <a:spcBef>
                <a:spcPts val="600"/>
              </a:spcBef>
            </a:pPr>
            <a:r>
              <a:rPr lang="en-IN" sz="1600" dirty="0">
                <a:latin typeface="Trebuchet MS" panose="020B0603020202020204" pitchFamily="34" charset="0"/>
              </a:rPr>
              <a:t>main()</a:t>
            </a:r>
          </a:p>
          <a:p>
            <a:pPr>
              <a:spcBef>
                <a:spcPts val="600"/>
              </a:spcBef>
            </a:pP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int number = 100;</a:t>
            </a:r>
          </a:p>
          <a:p>
            <a:pPr>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"Hex Value =" &lt;&lt; " " &lt;&lt; hex &lt;&lt; number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"Octal Value=" &lt;&lt; " " &lt;&lt; oct &lt;&lt; number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a:t>
            </a:r>
            <a:r>
              <a:rPr lang="en-IN" sz="1600" dirty="0" err="1">
                <a:latin typeface="Trebuchet MS" panose="020B0603020202020204" pitchFamily="34" charset="0"/>
              </a:rPr>
              <a:t>Setbase</a:t>
            </a:r>
            <a:r>
              <a:rPr lang="en-IN" sz="1600" dirty="0">
                <a:latin typeface="Trebuchet MS" panose="020B0603020202020204" pitchFamily="34" charset="0"/>
              </a:rPr>
              <a:t> Value=" &lt;&lt; " " &lt;&lt; </a:t>
            </a:r>
            <a:r>
              <a:rPr lang="en-IN" sz="1600" dirty="0" err="1">
                <a:latin typeface="Trebuchet MS" panose="020B0603020202020204" pitchFamily="34" charset="0"/>
              </a:rPr>
              <a:t>setbase</a:t>
            </a:r>
            <a:r>
              <a:rPr lang="en-IN" sz="1600" dirty="0">
                <a:latin typeface="Trebuchet MS" panose="020B0603020202020204" pitchFamily="34" charset="0"/>
              </a:rPr>
              <a:t>(8) &lt;&lt; number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a:t>
            </a:r>
            <a:r>
              <a:rPr lang="en-IN" sz="1600" dirty="0" err="1">
                <a:latin typeface="Trebuchet MS" panose="020B0603020202020204" pitchFamily="34" charset="0"/>
              </a:rPr>
              <a:t>cout</a:t>
            </a:r>
            <a:r>
              <a:rPr lang="en-IN" sz="1600" dirty="0">
                <a:latin typeface="Trebuchet MS" panose="020B0603020202020204" pitchFamily="34" charset="0"/>
              </a:rPr>
              <a:t> &lt;&lt; "</a:t>
            </a:r>
            <a:r>
              <a:rPr lang="en-IN" sz="1600" dirty="0" err="1">
                <a:latin typeface="Trebuchet MS" panose="020B0603020202020204" pitchFamily="34" charset="0"/>
              </a:rPr>
              <a:t>Setbase</a:t>
            </a:r>
            <a:r>
              <a:rPr lang="en-IN" sz="1600" dirty="0">
                <a:latin typeface="Trebuchet MS" panose="020B0603020202020204" pitchFamily="34" charset="0"/>
              </a:rPr>
              <a:t> Value=" &lt;&lt; " " &lt;&lt; </a:t>
            </a:r>
            <a:r>
              <a:rPr lang="en-IN" sz="1600" dirty="0" err="1">
                <a:latin typeface="Trebuchet MS" panose="020B0603020202020204" pitchFamily="34" charset="0"/>
              </a:rPr>
              <a:t>setbase</a:t>
            </a:r>
            <a:r>
              <a:rPr lang="en-IN" sz="1600" dirty="0">
                <a:latin typeface="Trebuchet MS" panose="020B0603020202020204" pitchFamily="34" charset="0"/>
              </a:rPr>
              <a:t>(16) &lt;&lt; number &lt;&lt; </a:t>
            </a:r>
            <a:r>
              <a:rPr lang="en-IN" sz="1600" dirty="0" err="1">
                <a:latin typeface="Trebuchet MS" panose="020B0603020202020204" pitchFamily="34" charset="0"/>
              </a:rPr>
              <a:t>endl</a:t>
            </a:r>
            <a:r>
              <a:rPr lang="en-IN" sz="1600" dirty="0">
                <a:latin typeface="Trebuchet MS" panose="020B0603020202020204" pitchFamily="34" charset="0"/>
              </a:rPr>
              <a:t>;</a:t>
            </a:r>
          </a:p>
          <a:p>
            <a:pPr>
              <a:spcBef>
                <a:spcPts val="600"/>
              </a:spcBef>
            </a:pPr>
            <a:r>
              <a:rPr lang="en-IN" sz="1600" dirty="0">
                <a:latin typeface="Trebuchet MS" panose="020B0603020202020204" pitchFamily="34" charset="0"/>
              </a:rPr>
              <a:t> return 0;</a:t>
            </a:r>
          </a:p>
          <a:p>
            <a:pPr>
              <a:spcBef>
                <a:spcPts val="600"/>
              </a:spcBef>
            </a:pPr>
            <a:r>
              <a:rPr lang="en-IN" sz="1600" dirty="0">
                <a:latin typeface="Trebuchet MS" panose="020B0603020202020204" pitchFamily="34" charset="0"/>
              </a:rPr>
              <a:t> }</a:t>
            </a:r>
          </a:p>
        </p:txBody>
      </p:sp>
      <p:sp>
        <p:nvSpPr>
          <p:cNvPr id="12" name="TextBox 11">
            <a:extLst>
              <a:ext uri="{FF2B5EF4-FFF2-40B4-BE49-F238E27FC236}">
                <a16:creationId xmlns:a16="http://schemas.microsoft.com/office/drawing/2014/main" id="{19ED8441-DAA4-7DA5-60DD-4BB1302272D6}"/>
              </a:ext>
            </a:extLst>
          </p:cNvPr>
          <p:cNvSpPr txBox="1"/>
          <p:nvPr/>
        </p:nvSpPr>
        <p:spPr>
          <a:xfrm>
            <a:off x="6917154" y="671808"/>
            <a:ext cx="3047999" cy="1893788"/>
          </a:xfrm>
          <a:prstGeom prst="rect">
            <a:avLst/>
          </a:prstGeom>
          <a:noFill/>
        </p:spPr>
        <p:txBody>
          <a:bodyPr wrap="square">
            <a:spAutoFit/>
          </a:bodyPr>
          <a:lstStyle/>
          <a:p>
            <a:pPr>
              <a:lnSpc>
                <a:spcPct val="150000"/>
              </a:lnSpc>
            </a:pPr>
            <a:r>
              <a:rPr lang="en-IN" sz="1600" b="1" dirty="0">
                <a:solidFill>
                  <a:srgbClr val="0070C0"/>
                </a:solidFill>
                <a:latin typeface="Trebuchet MS" panose="020B0603020202020204" pitchFamily="34" charset="0"/>
              </a:rPr>
              <a:t>Output</a:t>
            </a:r>
          </a:p>
          <a:p>
            <a:pPr>
              <a:lnSpc>
                <a:spcPct val="150000"/>
              </a:lnSpc>
            </a:pPr>
            <a:r>
              <a:rPr lang="en-IN" sz="1600" dirty="0">
                <a:latin typeface="Trebuchet MS" panose="020B0603020202020204" pitchFamily="34" charset="0"/>
              </a:rPr>
              <a:t>Hex Value = 64</a:t>
            </a:r>
          </a:p>
          <a:p>
            <a:pPr>
              <a:lnSpc>
                <a:spcPct val="150000"/>
              </a:lnSpc>
            </a:pPr>
            <a:r>
              <a:rPr lang="en-IN" sz="1600" dirty="0">
                <a:latin typeface="Trebuchet MS" panose="020B0603020202020204" pitchFamily="34" charset="0"/>
              </a:rPr>
              <a:t>Octal Value= 144</a:t>
            </a:r>
          </a:p>
          <a:p>
            <a:pPr>
              <a:lnSpc>
                <a:spcPct val="150000"/>
              </a:lnSpc>
            </a:pPr>
            <a:r>
              <a:rPr lang="en-IN" sz="1600" dirty="0" err="1">
                <a:latin typeface="Trebuchet MS" panose="020B0603020202020204" pitchFamily="34" charset="0"/>
              </a:rPr>
              <a:t>Setbase</a:t>
            </a:r>
            <a:r>
              <a:rPr lang="en-IN" sz="1600" dirty="0">
                <a:latin typeface="Trebuchet MS" panose="020B0603020202020204" pitchFamily="34" charset="0"/>
              </a:rPr>
              <a:t> Value= 144</a:t>
            </a:r>
          </a:p>
          <a:p>
            <a:pPr>
              <a:lnSpc>
                <a:spcPct val="150000"/>
              </a:lnSpc>
            </a:pPr>
            <a:r>
              <a:rPr lang="en-IN" sz="1600" dirty="0" err="1">
                <a:latin typeface="Trebuchet MS" panose="020B0603020202020204" pitchFamily="34" charset="0"/>
              </a:rPr>
              <a:t>Setbase</a:t>
            </a:r>
            <a:r>
              <a:rPr lang="en-IN" sz="1600" dirty="0">
                <a:latin typeface="Trebuchet MS" panose="020B0603020202020204" pitchFamily="34" charset="0"/>
              </a:rPr>
              <a:t> Value= 64</a:t>
            </a:r>
            <a:endParaRPr lang="en-IN" dirty="0">
              <a:latin typeface="Trebuchet MS" panose="020B0603020202020204" pitchFamily="34" charset="0"/>
            </a:endParaRPr>
          </a:p>
        </p:txBody>
      </p:sp>
    </p:spTree>
    <p:extLst>
      <p:ext uri="{BB962C8B-B14F-4D97-AF65-F5344CB8AC3E}">
        <p14:creationId xmlns:p14="http://schemas.microsoft.com/office/powerpoint/2010/main" val="23616991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4738" y="4750"/>
            <a:ext cx="9134475" cy="5133975"/>
          </a:xfrm>
          <a:prstGeom prst="rect">
            <a:avLst/>
          </a:prstGeom>
          <a:noFill/>
          <a:ln>
            <a:noFill/>
          </a:ln>
        </p:spPr>
      </p:pic>
      <p:pic>
        <p:nvPicPr>
          <p:cNvPr id="95" name="Google Shape;95;p17"/>
          <p:cNvPicPr preferRelativeResize="0"/>
          <p:nvPr/>
        </p:nvPicPr>
        <p:blipFill>
          <a:blip r:embed="rId4">
            <a:alphaModFix/>
          </a:blip>
          <a:stretch>
            <a:fillRect/>
          </a:stretch>
        </p:blipFill>
        <p:spPr>
          <a:xfrm>
            <a:off x="0" y="-13967"/>
            <a:ext cx="9134475" cy="5171434"/>
          </a:xfrm>
          <a:prstGeom prst="rect">
            <a:avLst/>
          </a:prstGeom>
          <a:noFill/>
          <a:ln>
            <a:noFill/>
          </a:ln>
        </p:spPr>
      </p:pic>
      <p:pic>
        <p:nvPicPr>
          <p:cNvPr id="96" name="Google Shape;96;p17"/>
          <p:cNvPicPr preferRelativeResize="0"/>
          <p:nvPr/>
        </p:nvPicPr>
        <p:blipFill>
          <a:blip r:embed="rId5">
            <a:alphaModFix/>
          </a:blip>
          <a:stretch>
            <a:fillRect/>
          </a:stretch>
        </p:blipFill>
        <p:spPr>
          <a:xfrm>
            <a:off x="7363450" y="148588"/>
            <a:ext cx="1495425" cy="371475"/>
          </a:xfrm>
          <a:prstGeom prst="rect">
            <a:avLst/>
          </a:prstGeom>
          <a:noFill/>
          <a:ln>
            <a:noFill/>
          </a:ln>
        </p:spPr>
      </p:pic>
      <p:sp>
        <p:nvSpPr>
          <p:cNvPr id="3" name="TextBox 2">
            <a:extLst>
              <a:ext uri="{FF2B5EF4-FFF2-40B4-BE49-F238E27FC236}">
                <a16:creationId xmlns:a16="http://schemas.microsoft.com/office/drawing/2014/main" id="{94467CB6-5A59-26F9-A7FF-966FE3AC71AD}"/>
              </a:ext>
            </a:extLst>
          </p:cNvPr>
          <p:cNvSpPr txBox="1"/>
          <p:nvPr/>
        </p:nvSpPr>
        <p:spPr>
          <a:xfrm>
            <a:off x="1757030" y="1987497"/>
            <a:ext cx="5324254" cy="1107996"/>
          </a:xfrm>
          <a:prstGeom prst="rect">
            <a:avLst/>
          </a:prstGeom>
          <a:noFill/>
        </p:spPr>
        <p:txBody>
          <a:bodyPr wrap="square">
            <a:spAutoFit/>
          </a:bodyPr>
          <a:lstStyle/>
          <a:p>
            <a:r>
              <a:rPr lang="en-IN" sz="6600" dirty="0">
                <a:latin typeface="Trebuchet MS" panose="020B0603020202020204" pitchFamily="34" charset="0"/>
              </a:rPr>
              <a:t>Thank you!!!</a:t>
            </a:r>
          </a:p>
        </p:txBody>
      </p:sp>
    </p:spTree>
    <p:extLst>
      <p:ext uri="{BB962C8B-B14F-4D97-AF65-F5344CB8AC3E}">
        <p14:creationId xmlns:p14="http://schemas.microsoft.com/office/powerpoint/2010/main" val="3119288172"/>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12490</TotalTime>
  <Words>9146</Words>
  <Application>Microsoft Office PowerPoint</Application>
  <PresentationFormat>On-screen Show (16:9)</PresentationFormat>
  <Paragraphs>1305</Paragraphs>
  <Slides>112</Slides>
  <Notes>112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112</vt:i4>
      </vt:variant>
    </vt:vector>
  </HeadingPairs>
  <TitlesOfParts>
    <vt:vector size="128" baseType="lpstr">
      <vt:lpstr>Calibri Light</vt:lpstr>
      <vt:lpstr>Nunito</vt:lpstr>
      <vt:lpstr>Microsoft Sans Serif</vt:lpstr>
      <vt:lpstr>Trebuchet MS</vt:lpstr>
      <vt:lpstr>Helvetica</vt:lpstr>
      <vt:lpstr>Wingdings</vt:lpstr>
      <vt:lpstr>Segoe UI</vt:lpstr>
      <vt:lpstr>Arial</vt:lpstr>
      <vt:lpstr>Calibri</vt:lpstr>
      <vt:lpstr>Arial MT</vt:lpstr>
      <vt:lpstr>Times New Roman</vt:lpstr>
      <vt:lpstr>Corbel</vt:lpstr>
      <vt:lpstr>Proxima Nova</vt:lpstr>
      <vt:lpstr>Simple Light</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tourist</cp:lastModifiedBy>
  <cp:revision>723</cp:revision>
  <dcterms:modified xsi:type="dcterms:W3CDTF">2026-01-12T10:31:17Z</dcterms:modified>
</cp:coreProperties>
</file>
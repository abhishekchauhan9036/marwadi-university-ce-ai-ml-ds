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3" r:id="rId7"/>
    <p:sldId id="262" r:id="rId8"/>
    <p:sldId id="264" r:id="rId9"/>
    <p:sldId id="265" r:id="rId10"/>
    <p:sldId id="266" r:id="rId11"/>
    <p:sldId id="267" r:id="rId12"/>
    <p:sldId id="269" r:id="rId13"/>
    <p:sldId id="270" r:id="rId14"/>
    <p:sldId id="271" r:id="rId15"/>
    <p:sldId id="273" r:id="rId16"/>
    <p:sldId id="274" r:id="rId17"/>
    <p:sldId id="275" r:id="rId18"/>
    <p:sldId id="276" r:id="rId19"/>
    <p:sldId id="279" r:id="rId20"/>
    <p:sldId id="280" r:id="rId21"/>
    <p:sldId id="281" r:id="rId22"/>
    <p:sldId id="282" r:id="rId23"/>
    <p:sldId id="283" r:id="rId24"/>
    <p:sldId id="284" r:id="rId25"/>
    <p:sldId id="285" r:id="rId26"/>
    <p:sldId id="25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39" autoAdjust="0"/>
    <p:restoredTop sz="94660"/>
  </p:normalViewPr>
  <p:slideViewPr>
    <p:cSldViewPr snapToGrid="0">
      <p:cViewPr varScale="1">
        <p:scale>
          <a:sx n="85" d="100"/>
          <a:sy n="85" d="100"/>
        </p:scale>
        <p:origin x="864"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03.95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1,'218'13,"-41"-1,583-9,-393-5,2425 2,-2770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08.1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0 127,'2408'0,"-2167"-17,-156 9,100-12,222-11,-396 31,109 1,126-16,-167 8,110 6,27-2,-123-9,-54 6,53-1,430 8,-501-1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10.99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1 152,'851'0,"-812"-1,53-10,24-2,-30 11,162-12,150-45,-135 19,-169 31,172 7,-126 4,1078-2,-1197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13.08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0,'1332'0,"-1153"12,-39-1,595-6,-410-7,-300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16.81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24,'3113'0,"-3066"-2,48-8,-16 0,-54 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18.93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1,'174'11,"-38"0,639-7,-428-6,313 2,-637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27.07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1,'1073'0,"-858"17,-134-8,3 2,-43-5,60 2,2105-8,-976-1,-1209 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18T05:42:31.0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52,'2920'0,"-2718"-15,-127 6,7 1,185-11,-166 20,-72-1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3322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5187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4142703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672561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368653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264276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32029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9858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777975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62684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21-03-2025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77038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3A372-BE42-451E-B14C-5FF9C6C0F46F}" type="datetimeFigureOut">
              <a:rPr lang="en-IN" smtClean="0"/>
              <a:pPr/>
              <a:t>21-03-2025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pPr/>
              <a:t>‹#›</a:t>
            </a:fld>
            <a:endParaRPr lang="en-IN"/>
          </a:p>
        </p:txBody>
      </p:sp>
    </p:spTree>
    <p:extLst>
      <p:ext uri="{BB962C8B-B14F-4D97-AF65-F5344CB8AC3E}">
        <p14:creationId xmlns:p14="http://schemas.microsoft.com/office/powerpoint/2010/main" val="185436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8.png"/><Relationship Id="rId18" Type="http://schemas.openxmlformats.org/officeDocument/2006/relationships/customXml" Target="../ink/ink8.xm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customXml" Target="../ink/ink5.xml"/><Relationship Id="rId17" Type="http://schemas.openxmlformats.org/officeDocument/2006/relationships/image" Target="../media/image10.png"/><Relationship Id="rId2" Type="http://schemas.openxmlformats.org/officeDocument/2006/relationships/image" Target="../media/image2.jpeg"/><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customXml" Target="../ink/ink4.xml"/><Relationship Id="rId19" Type="http://schemas.openxmlformats.org/officeDocument/2006/relationships/image" Target="../media/image11.png"/><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customXml" Target="../ink/ink6.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322662-6D26-03BF-F7B6-D8B318E13BA7}"/>
              </a:ext>
            </a:extLst>
          </p:cNvPr>
          <p:cNvSpPr txBox="1"/>
          <p:nvPr/>
        </p:nvSpPr>
        <p:spPr>
          <a:xfrm>
            <a:off x="752654" y="897949"/>
            <a:ext cx="5024168" cy="1569660"/>
          </a:xfrm>
          <a:prstGeom prst="rect">
            <a:avLst/>
          </a:prstGeom>
          <a:noFill/>
        </p:spPr>
        <p:txBody>
          <a:bodyPr wrap="square">
            <a:spAutoFit/>
          </a:bodyPr>
          <a:lstStyle/>
          <a:p>
            <a:pPr lvl="0" algn="ctr"/>
            <a:r>
              <a:rPr lang="en-US" sz="3200" b="1" dirty="0">
                <a:latin typeface="Trebuchet MS" panose="020B0603020202020204" pitchFamily="34" charset="0"/>
              </a:rPr>
              <a:t>Object Oriented Design and Programming (</a:t>
            </a:r>
            <a:r>
              <a:rPr lang="en-IN" sz="3200" b="1" dirty="0">
                <a:latin typeface="Trebuchet MS" panose="020B0603020202020204" pitchFamily="34" charset="0"/>
                <a:sym typeface="Proxima Nova"/>
              </a:rPr>
              <a:t>01AI0403)</a:t>
            </a:r>
          </a:p>
        </p:txBody>
      </p:sp>
      <p:sp>
        <p:nvSpPr>
          <p:cNvPr id="5" name="TextBox 4">
            <a:extLst>
              <a:ext uri="{FF2B5EF4-FFF2-40B4-BE49-F238E27FC236}">
                <a16:creationId xmlns:a16="http://schemas.microsoft.com/office/drawing/2014/main" id="{D79D63AF-1879-FF67-C1DE-8ACA3468753A}"/>
              </a:ext>
            </a:extLst>
          </p:cNvPr>
          <p:cNvSpPr txBox="1"/>
          <p:nvPr/>
        </p:nvSpPr>
        <p:spPr>
          <a:xfrm>
            <a:off x="217457" y="4503314"/>
            <a:ext cx="6094562" cy="1077218"/>
          </a:xfrm>
          <a:prstGeom prst="rect">
            <a:avLst/>
          </a:prstGeom>
          <a:noFill/>
        </p:spPr>
        <p:txBody>
          <a:bodyPr wrap="square">
            <a:spAutoFit/>
          </a:bodyPr>
          <a:lstStyle/>
          <a:p>
            <a:pPr lvl="0" algn="ctr"/>
            <a:r>
              <a:rPr lang="en-US" sz="3200" b="1" dirty="0">
                <a:latin typeface="Trebuchet MS" panose="020B0603020202020204" pitchFamily="34" charset="0"/>
                <a:sym typeface="Proxima Nova"/>
              </a:rPr>
              <a:t>Unit – 6</a:t>
            </a:r>
          </a:p>
          <a:p>
            <a:pPr lvl="0" algn="ctr"/>
            <a:r>
              <a:rPr lang="en-IN" sz="3200" b="1" dirty="0">
                <a:latin typeface="Trebuchet MS" panose="020B0603020202020204" pitchFamily="34" charset="0"/>
              </a:rPr>
              <a:t>Inheritance</a:t>
            </a:r>
            <a:endParaRPr lang="en-IN" sz="3200" dirty="0"/>
          </a:p>
        </p:txBody>
      </p:sp>
    </p:spTree>
    <p:extLst>
      <p:ext uri="{BB962C8B-B14F-4D97-AF65-F5344CB8AC3E}">
        <p14:creationId xmlns:p14="http://schemas.microsoft.com/office/powerpoint/2010/main" val="3337428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646112" y="309562"/>
            <a:ext cx="2131593" cy="505267"/>
          </a:xfrm>
          <a:prstGeom prst="rect">
            <a:avLst/>
          </a:prstGeom>
        </p:spPr>
        <p:txBody>
          <a:bodyPr vert="horz" wrap="square" lIns="0" tIns="12700" rIns="0" bIns="0" rtlCol="0">
            <a:spAutoFit/>
          </a:bodyPr>
          <a:lstStyle/>
          <a:p>
            <a:pPr marL="12700">
              <a:lnSpc>
                <a:spcPct val="100000"/>
              </a:lnSpc>
              <a:spcBef>
                <a:spcPts val="100"/>
              </a:spcBef>
            </a:pPr>
            <a:r>
              <a:rPr lang="en-IN" sz="3200" b="1" dirty="0">
                <a:solidFill>
                  <a:srgbClr val="04A2B9"/>
                </a:solidFill>
                <a:latin typeface="Times New Roman" panose="02020603050405020304" pitchFamily="18" charset="0"/>
                <a:cs typeface="Times New Roman" panose="02020603050405020304" pitchFamily="18" charset="0"/>
              </a:rPr>
              <a:t>OUTLINE</a:t>
            </a:r>
            <a:endParaRPr lang="en-IN" sz="32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61AF935-DBE9-4F87-7C95-5603E8BE384D}"/>
              </a:ext>
            </a:extLst>
          </p:cNvPr>
          <p:cNvSpPr txBox="1"/>
          <p:nvPr/>
        </p:nvSpPr>
        <p:spPr>
          <a:xfrm>
            <a:off x="646113" y="1255443"/>
            <a:ext cx="7833653" cy="3349956"/>
          </a:xfrm>
          <a:prstGeom prst="rect">
            <a:avLst/>
          </a:prstGeom>
          <a:noFill/>
        </p:spPr>
        <p:txBody>
          <a:bodyPr wrap="square">
            <a:spAutoFit/>
          </a:bodyPr>
          <a:lstStyle/>
          <a:p>
            <a:pPr marL="285750" indent="-285750" algn="l">
              <a:lnSpc>
                <a:spcPct val="150000"/>
              </a:lnSpc>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Concept of inheritance</a:t>
            </a:r>
            <a:endParaRPr lang="en-IN" sz="2400" dirty="0">
              <a:latin typeface="Times New Roman" panose="02020603050405020304" pitchFamily="18" charset="0"/>
              <a:cs typeface="Times New Roman" panose="02020603050405020304" pitchFamily="18" charset="0"/>
            </a:endParaRPr>
          </a:p>
          <a:p>
            <a:pPr marL="285750" indent="-285750" algn="l">
              <a:lnSpc>
                <a:spcPct val="150000"/>
              </a:lnSpc>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Derived class and based class  </a:t>
            </a:r>
          </a:p>
          <a:p>
            <a:pPr marL="285750" indent="-285750" algn="l">
              <a:lnSpc>
                <a:spcPct val="150000"/>
              </a:lnSpc>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Derived class constructors, </a:t>
            </a:r>
          </a:p>
          <a:p>
            <a:pPr marL="285750" indent="-285750" algn="l">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a:t>
            </a:r>
            <a:r>
              <a:rPr lang="en-IN" sz="2400" b="0" i="0" u="none" strike="noStrike" baseline="0" dirty="0">
                <a:latin typeface="Times New Roman" panose="02020603050405020304" pitchFamily="18" charset="0"/>
                <a:cs typeface="Times New Roman" panose="02020603050405020304" pitchFamily="18" charset="0"/>
              </a:rPr>
              <a:t>ember function, </a:t>
            </a:r>
          </a:p>
          <a:p>
            <a:pPr marL="285750" indent="-285750" algn="l">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a:t>
            </a:r>
            <a:r>
              <a:rPr lang="en-IN" sz="2400" b="0" i="0" u="none" strike="noStrike" baseline="0" dirty="0">
                <a:latin typeface="Times New Roman" panose="02020603050405020304" pitchFamily="18" charset="0"/>
                <a:cs typeface="Times New Roman" panose="02020603050405020304" pitchFamily="18" charset="0"/>
              </a:rPr>
              <a:t>lass hierarchies, </a:t>
            </a:r>
          </a:p>
          <a:p>
            <a:pPr marL="285750" indent="-285750" algn="l">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a:t>
            </a:r>
            <a:r>
              <a:rPr lang="en-IN" sz="2400" b="0" i="0" u="none" strike="noStrike" baseline="0" dirty="0">
                <a:latin typeface="Times New Roman" panose="02020603050405020304" pitchFamily="18" charset="0"/>
                <a:cs typeface="Times New Roman" panose="02020603050405020304" pitchFamily="18" charset="0"/>
              </a:rPr>
              <a:t>ublic and Private inheritance.</a:t>
            </a:r>
            <a:endParaRPr lang="en-IN" sz="2400" dirty="0">
              <a:solidFill>
                <a:schemeClr val="tx1"/>
              </a:solidFill>
              <a:latin typeface="Times New Roman" panose="02020603050405020304" pitchFamily="18" charset="0"/>
              <a:ea typeface="Proxima Nova"/>
              <a:cs typeface="Times New Roman" panose="02020603050405020304" pitchFamily="18" charset="0"/>
              <a:sym typeface="Proxima Nova"/>
            </a:endParaRPr>
          </a:p>
        </p:txBody>
      </p:sp>
    </p:spTree>
    <p:extLst>
      <p:ext uri="{BB962C8B-B14F-4D97-AF65-F5344CB8AC3E}">
        <p14:creationId xmlns:p14="http://schemas.microsoft.com/office/powerpoint/2010/main" val="469187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403FC8E-8913-082C-981B-2573271662FA}"/>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BD505B0D-3665-D99E-43DC-992B8C06F657}"/>
              </a:ext>
            </a:extLst>
          </p:cNvPr>
          <p:cNvSpPr txBox="1">
            <a:spLocks noGrp="1"/>
          </p:cNvSpPr>
          <p:nvPr>
            <p:ph type="title"/>
          </p:nvPr>
        </p:nvSpPr>
        <p:spPr>
          <a:xfrm>
            <a:off x="646113" y="309562"/>
            <a:ext cx="4063910" cy="505267"/>
          </a:xfrm>
          <a:prstGeom prst="rect">
            <a:avLst/>
          </a:prstGeom>
        </p:spPr>
        <p:txBody>
          <a:bodyPr vert="horz" wrap="square" lIns="0" tIns="12700" rIns="0" bIns="0" rtlCol="0">
            <a:spAutoFit/>
          </a:bodyPr>
          <a:lstStyle/>
          <a:p>
            <a:pPr marL="12700">
              <a:lnSpc>
                <a:spcPct val="100000"/>
              </a:lnSpc>
              <a:spcBef>
                <a:spcPts val="100"/>
              </a:spcBef>
            </a:pPr>
            <a:r>
              <a:rPr lang="en-IN" sz="3200" b="1" dirty="0">
                <a:solidFill>
                  <a:srgbClr val="00A4BE"/>
                </a:solidFill>
                <a:latin typeface="Times New Roman" panose="02020603050405020304" pitchFamily="18" charset="0"/>
                <a:cs typeface="Times New Roman" panose="02020603050405020304" pitchFamily="18" charset="0"/>
              </a:rPr>
              <a:t>Concept of inheritance</a:t>
            </a:r>
          </a:p>
        </p:txBody>
      </p:sp>
      <p:sp>
        <p:nvSpPr>
          <p:cNvPr id="3" name="TextBox 2">
            <a:extLst>
              <a:ext uri="{FF2B5EF4-FFF2-40B4-BE49-F238E27FC236}">
                <a16:creationId xmlns:a16="http://schemas.microsoft.com/office/drawing/2014/main" id="{C942B875-E33E-33D2-EE02-67E1F34EDEDF}"/>
              </a:ext>
            </a:extLst>
          </p:cNvPr>
          <p:cNvSpPr txBox="1"/>
          <p:nvPr/>
        </p:nvSpPr>
        <p:spPr>
          <a:xfrm>
            <a:off x="646113" y="1255443"/>
            <a:ext cx="10896030" cy="501194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Inheritance is a fundamental concept in object-oriented programming (OOP) that allows you to </a:t>
            </a:r>
            <a:r>
              <a:rPr lang="en-IN" sz="2400" b="1" dirty="0">
                <a:latin typeface="Times New Roman" panose="02020603050405020304" pitchFamily="18" charset="0"/>
                <a:cs typeface="Times New Roman" panose="02020603050405020304" pitchFamily="18" charset="0"/>
              </a:rPr>
              <a:t>create new classes based on existing classes</a:t>
            </a:r>
            <a:r>
              <a:rPr lang="en-IN" sz="24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a mechanism by which </a:t>
            </a:r>
            <a:r>
              <a:rPr lang="en-IN" sz="2400" b="1" dirty="0">
                <a:latin typeface="Times New Roman" panose="02020603050405020304" pitchFamily="18" charset="0"/>
                <a:cs typeface="Times New Roman" panose="02020603050405020304" pitchFamily="18" charset="0"/>
              </a:rPr>
              <a:t>one class acquires the properties and methods of another class</a:t>
            </a:r>
            <a:r>
              <a:rPr lang="en-IN" sz="2400" dirty="0">
                <a:latin typeface="Times New Roman" panose="02020603050405020304" pitchFamily="18" charset="0"/>
                <a:cs typeface="Times New Roman" panose="02020603050405020304" pitchFamily="18" charset="0"/>
              </a:rPr>
              <a:t>, called the </a:t>
            </a:r>
            <a:r>
              <a:rPr lang="en-IN" sz="2400" dirty="0">
                <a:solidFill>
                  <a:srgbClr val="FF0000"/>
                </a:solidFill>
                <a:latin typeface="Times New Roman" panose="02020603050405020304" pitchFamily="18" charset="0"/>
                <a:cs typeface="Times New Roman" panose="02020603050405020304" pitchFamily="18" charset="0"/>
              </a:rPr>
              <a:t>parent or base class</a:t>
            </a:r>
            <a:r>
              <a:rPr lang="en-IN" sz="24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class that </a:t>
            </a:r>
            <a:r>
              <a:rPr lang="en-IN" sz="2400" b="1" dirty="0">
                <a:latin typeface="Times New Roman" panose="02020603050405020304" pitchFamily="18" charset="0"/>
                <a:cs typeface="Times New Roman" panose="02020603050405020304" pitchFamily="18" charset="0"/>
              </a:rPr>
              <a:t>inherits the properties and methods</a:t>
            </a:r>
            <a:r>
              <a:rPr lang="en-IN" sz="2400" dirty="0">
                <a:latin typeface="Times New Roman" panose="02020603050405020304" pitchFamily="18" charset="0"/>
                <a:cs typeface="Times New Roman" panose="02020603050405020304" pitchFamily="18" charset="0"/>
              </a:rPr>
              <a:t> is known as the </a:t>
            </a:r>
            <a:r>
              <a:rPr lang="en-IN" sz="2400" dirty="0">
                <a:solidFill>
                  <a:srgbClr val="FF0000"/>
                </a:solidFill>
                <a:latin typeface="Times New Roman" panose="02020603050405020304" pitchFamily="18" charset="0"/>
                <a:cs typeface="Times New Roman" panose="02020603050405020304" pitchFamily="18" charset="0"/>
              </a:rPr>
              <a:t>derived class or subclass</a:t>
            </a:r>
            <a:r>
              <a:rPr lang="en-IN" sz="2400" dirty="0">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derived class can extend or modify the behaviour of the base class </a:t>
            </a:r>
            <a:r>
              <a:rPr lang="en-IN" sz="2400" dirty="0">
                <a:latin typeface="Times New Roman" panose="02020603050405020304" pitchFamily="18" charset="0"/>
                <a:cs typeface="Times New Roman" panose="02020603050405020304" pitchFamily="18" charset="0"/>
              </a:rPr>
              <a:t>by adding new methods or overriding existing ones.</a:t>
            </a:r>
          </a:p>
          <a:p>
            <a:pPr algn="l">
              <a:lnSpc>
                <a:spcPct val="150000"/>
              </a:lnSpc>
            </a:pPr>
            <a:endParaRPr lang="en-IN" sz="2400" dirty="0">
              <a:solidFill>
                <a:schemeClr val="tx1"/>
              </a:solidFill>
              <a:latin typeface="Times New Roman" panose="02020603050405020304" pitchFamily="18" charset="0"/>
              <a:ea typeface="Proxima Nova"/>
              <a:cs typeface="Times New Roman" panose="02020603050405020304" pitchFamily="18" charset="0"/>
              <a:sym typeface="Proxima Nova"/>
            </a:endParaRPr>
          </a:p>
        </p:txBody>
      </p:sp>
    </p:spTree>
    <p:extLst>
      <p:ext uri="{BB962C8B-B14F-4D97-AF65-F5344CB8AC3E}">
        <p14:creationId xmlns:p14="http://schemas.microsoft.com/office/powerpoint/2010/main" val="3237942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A7F1203-F376-9F7F-9427-E02A913ECD53}"/>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D521271C-5EB2-EA99-1EA8-5AB861C009A7}"/>
              </a:ext>
            </a:extLst>
          </p:cNvPr>
          <p:cNvSpPr txBox="1">
            <a:spLocks noGrp="1"/>
          </p:cNvSpPr>
          <p:nvPr>
            <p:ph type="title"/>
          </p:nvPr>
        </p:nvSpPr>
        <p:spPr>
          <a:xfrm>
            <a:off x="646113" y="334184"/>
            <a:ext cx="4063910"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Benefits of Inheritance</a:t>
            </a:r>
          </a:p>
        </p:txBody>
      </p:sp>
      <p:sp>
        <p:nvSpPr>
          <p:cNvPr id="3" name="TextBox 2">
            <a:extLst>
              <a:ext uri="{FF2B5EF4-FFF2-40B4-BE49-F238E27FC236}">
                <a16:creationId xmlns:a16="http://schemas.microsoft.com/office/drawing/2014/main" id="{7198C267-11B5-6F46-A687-F254A2233B50}"/>
              </a:ext>
            </a:extLst>
          </p:cNvPr>
          <p:cNvSpPr txBox="1"/>
          <p:nvPr/>
        </p:nvSpPr>
        <p:spPr>
          <a:xfrm>
            <a:off x="646113" y="1255443"/>
            <a:ext cx="10896030" cy="5011949"/>
          </a:xfrm>
          <a:prstGeom prst="rect">
            <a:avLst/>
          </a:prstGeom>
          <a:noFill/>
        </p:spPr>
        <p:txBody>
          <a:bodyPr wrap="square">
            <a:spAutoFit/>
          </a:bodyPr>
          <a:lstStyle/>
          <a:p>
            <a:pPr marL="285750" indent="-285750" algn="just">
              <a:lnSpc>
                <a:spcPct val="150000"/>
              </a:lnSpc>
              <a:spcBef>
                <a:spcPts val="300"/>
              </a:spcBef>
              <a:buFont typeface="Arial" panose="020B0604020202020204" pitchFamily="34" charset="0"/>
              <a:buChar char="•"/>
            </a:pPr>
            <a:r>
              <a:rPr lang="en-IN" sz="2400" b="1" dirty="0">
                <a:solidFill>
                  <a:srgbClr val="0070C0"/>
                </a:solidFill>
                <a:latin typeface="Times New Roman" panose="02020603050405020304" pitchFamily="18" charset="0"/>
                <a:cs typeface="Times New Roman" panose="02020603050405020304" pitchFamily="18" charset="0"/>
              </a:rPr>
              <a:t>Code reuse: </a:t>
            </a:r>
            <a:r>
              <a:rPr lang="en-IN" sz="2400" dirty="0">
                <a:latin typeface="Times New Roman" panose="02020603050405020304" pitchFamily="18" charset="0"/>
                <a:cs typeface="Times New Roman" panose="02020603050405020304" pitchFamily="18" charset="0"/>
              </a:rPr>
              <a:t>Inheritance enables you to create </a:t>
            </a:r>
            <a:r>
              <a:rPr lang="en-IN" sz="2400" b="1" dirty="0">
                <a:latin typeface="Times New Roman" panose="02020603050405020304" pitchFamily="18" charset="0"/>
                <a:cs typeface="Times New Roman" panose="02020603050405020304" pitchFamily="18" charset="0"/>
              </a:rPr>
              <a:t>new classes </a:t>
            </a:r>
            <a:r>
              <a:rPr lang="en-IN" sz="2400" dirty="0">
                <a:latin typeface="Times New Roman" panose="02020603050405020304" pitchFamily="18" charset="0"/>
                <a:cs typeface="Times New Roman" panose="02020603050405020304" pitchFamily="18" charset="0"/>
              </a:rPr>
              <a:t>that reuse the properties and methods of existing classes, thus reducing the amount of code you need to write.</a:t>
            </a:r>
          </a:p>
          <a:p>
            <a:pPr marL="285750" indent="-285750" algn="just">
              <a:lnSpc>
                <a:spcPct val="150000"/>
              </a:lnSpc>
              <a:spcBef>
                <a:spcPts val="300"/>
              </a:spcBef>
              <a:buFont typeface="Arial" panose="020B0604020202020204" pitchFamily="34" charset="0"/>
              <a:buChar char="•"/>
            </a:pPr>
            <a:r>
              <a:rPr lang="en-IN" sz="2400" b="1" dirty="0">
                <a:solidFill>
                  <a:srgbClr val="0070C0"/>
                </a:solidFill>
                <a:latin typeface="Times New Roman" panose="02020603050405020304" pitchFamily="18" charset="0"/>
                <a:cs typeface="Times New Roman" panose="02020603050405020304" pitchFamily="18" charset="0"/>
              </a:rPr>
              <a:t>Easy maintenance: </a:t>
            </a:r>
            <a:r>
              <a:rPr lang="en-IN" sz="2400" dirty="0">
                <a:latin typeface="Times New Roman" panose="02020603050405020304" pitchFamily="18" charset="0"/>
                <a:cs typeface="Times New Roman" panose="02020603050405020304" pitchFamily="18" charset="0"/>
              </a:rPr>
              <a:t>When you </a:t>
            </a:r>
            <a:r>
              <a:rPr lang="en-IN" sz="2400" b="1" dirty="0">
                <a:latin typeface="Times New Roman" panose="02020603050405020304" pitchFamily="18" charset="0"/>
                <a:cs typeface="Times New Roman" panose="02020603050405020304" pitchFamily="18" charset="0"/>
              </a:rPr>
              <a:t>modify the base class, the changes are automatically reflected in all the derived classes.</a:t>
            </a:r>
            <a:r>
              <a:rPr lang="en-IN" sz="2400" dirty="0">
                <a:latin typeface="Times New Roman" panose="02020603050405020304" pitchFamily="18" charset="0"/>
                <a:cs typeface="Times New Roman" panose="02020603050405020304" pitchFamily="18" charset="0"/>
              </a:rPr>
              <a:t> This makes it easy to maintain code and avoid duplicating code changes in multiple places.</a:t>
            </a:r>
          </a:p>
          <a:p>
            <a:pPr marL="285750" indent="-285750" algn="just">
              <a:lnSpc>
                <a:spcPct val="150000"/>
              </a:lnSpc>
              <a:spcBef>
                <a:spcPts val="300"/>
              </a:spcBef>
              <a:buFont typeface="Arial" panose="020B0604020202020204" pitchFamily="34" charset="0"/>
              <a:buChar char="•"/>
            </a:pPr>
            <a:r>
              <a:rPr lang="en-IN" sz="2400" b="1" dirty="0">
                <a:solidFill>
                  <a:srgbClr val="0070C0"/>
                </a:solidFill>
                <a:latin typeface="Times New Roman" panose="02020603050405020304" pitchFamily="18" charset="0"/>
                <a:cs typeface="Times New Roman" panose="02020603050405020304" pitchFamily="18" charset="0"/>
              </a:rPr>
              <a:t>Polymorphism:</a:t>
            </a:r>
            <a:r>
              <a:rPr lang="en-IN" sz="2400" dirty="0">
                <a:solidFill>
                  <a:srgbClr val="0070C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Inheritance facilitates polymorphism, which allows you to treat objects of different classes as if they were instances of a common base class. This makes it easy to write generic code that can work with multiple types of objects.</a:t>
            </a:r>
          </a:p>
          <a:p>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1833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9FF22E5-FE61-5E9C-61C7-764B48665F47}"/>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0CC1B6A5-7834-6A94-9A4B-39F5A5A63A97}"/>
              </a:ext>
            </a:extLst>
          </p:cNvPr>
          <p:cNvSpPr txBox="1">
            <a:spLocks noGrp="1"/>
          </p:cNvSpPr>
          <p:nvPr>
            <p:ph type="title"/>
          </p:nvPr>
        </p:nvSpPr>
        <p:spPr>
          <a:xfrm>
            <a:off x="646113" y="334184"/>
            <a:ext cx="4063910"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Benefits of Inheritance</a:t>
            </a:r>
          </a:p>
        </p:txBody>
      </p:sp>
      <p:sp>
        <p:nvSpPr>
          <p:cNvPr id="3" name="TextBox 2">
            <a:extLst>
              <a:ext uri="{FF2B5EF4-FFF2-40B4-BE49-F238E27FC236}">
                <a16:creationId xmlns:a16="http://schemas.microsoft.com/office/drawing/2014/main" id="{35732166-24D4-B048-6232-BD7E6CD91D9A}"/>
              </a:ext>
            </a:extLst>
          </p:cNvPr>
          <p:cNvSpPr txBox="1"/>
          <p:nvPr/>
        </p:nvSpPr>
        <p:spPr>
          <a:xfrm>
            <a:off x="493060" y="923366"/>
            <a:ext cx="11178480" cy="5681363"/>
          </a:xfrm>
          <a:prstGeom prst="rect">
            <a:avLst/>
          </a:prstGeom>
          <a:noFill/>
        </p:spPr>
        <p:txBody>
          <a:bodyPr wrap="square">
            <a:spAutoFit/>
          </a:bodyPr>
          <a:lstStyle/>
          <a:p>
            <a:pPr marL="285750" indent="-285750" algn="just">
              <a:lnSpc>
                <a:spcPct val="150000"/>
              </a:lnSpc>
              <a:spcBef>
                <a:spcPts val="300"/>
              </a:spcBef>
              <a:buFont typeface="Arial" panose="020B0604020202020204" pitchFamily="34" charset="0"/>
              <a:buChar char="•"/>
            </a:pPr>
            <a:r>
              <a:rPr lang="en-IN" sz="2400" b="1" dirty="0">
                <a:solidFill>
                  <a:srgbClr val="0070C0"/>
                </a:solidFill>
                <a:latin typeface="Times New Roman" panose="02020603050405020304" pitchFamily="18" charset="0"/>
                <a:cs typeface="Times New Roman" panose="02020603050405020304" pitchFamily="18" charset="0"/>
              </a:rPr>
              <a:t>Flexibility:</a:t>
            </a:r>
            <a:r>
              <a:rPr lang="en-IN" sz="2400" dirty="0">
                <a:solidFill>
                  <a:srgbClr val="0070C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By allowing you to crea</a:t>
            </a:r>
            <a:r>
              <a:rPr lang="en-IN" sz="2400" b="1" dirty="0">
                <a:latin typeface="Times New Roman" panose="02020603050405020304" pitchFamily="18" charset="0"/>
                <a:cs typeface="Times New Roman" panose="02020603050405020304" pitchFamily="18" charset="0"/>
              </a:rPr>
              <a:t>te new classes based on existing ones</a:t>
            </a:r>
            <a:r>
              <a:rPr lang="en-IN" sz="2400" dirty="0">
                <a:latin typeface="Times New Roman" panose="02020603050405020304" pitchFamily="18" charset="0"/>
                <a:cs typeface="Times New Roman" panose="02020603050405020304" pitchFamily="18" charset="0"/>
              </a:rPr>
              <a:t>, inheritance makes it easy to extend and modify code to meet changing requirements.</a:t>
            </a:r>
          </a:p>
          <a:p>
            <a:pPr marL="285750" indent="-285750" algn="just">
              <a:lnSpc>
                <a:spcPct val="150000"/>
              </a:lnSpc>
              <a:spcBef>
                <a:spcPts val="300"/>
              </a:spcBef>
              <a:buFont typeface="Arial" panose="020B0604020202020204" pitchFamily="34" charset="0"/>
              <a:buChar char="•"/>
            </a:pPr>
            <a:r>
              <a:rPr lang="en-IN" sz="2400" b="1" dirty="0">
                <a:solidFill>
                  <a:srgbClr val="0070C0"/>
                </a:solidFill>
                <a:latin typeface="Times New Roman" panose="02020603050405020304" pitchFamily="18" charset="0"/>
                <a:cs typeface="Times New Roman" panose="02020603050405020304" pitchFamily="18" charset="0"/>
              </a:rPr>
              <a:t>Modularity:</a:t>
            </a:r>
            <a:r>
              <a:rPr lang="en-IN" sz="2400" dirty="0">
                <a:solidFill>
                  <a:srgbClr val="0070C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Inheritance promotes modularity by </a:t>
            </a:r>
            <a:r>
              <a:rPr lang="en-IN" sz="2400" b="1" dirty="0">
                <a:latin typeface="Times New Roman" panose="02020603050405020304" pitchFamily="18" charset="0"/>
                <a:cs typeface="Times New Roman" panose="02020603050405020304" pitchFamily="18" charset="0"/>
              </a:rPr>
              <a:t>allowing you to define separate classes for specific functionalities</a:t>
            </a:r>
            <a:r>
              <a:rPr lang="en-IN" sz="2400" dirty="0">
                <a:latin typeface="Times New Roman" panose="02020603050405020304" pitchFamily="18" charset="0"/>
                <a:cs typeface="Times New Roman" panose="02020603050405020304" pitchFamily="18" charset="0"/>
              </a:rPr>
              <a:t> and then combine them using inheritance.</a:t>
            </a:r>
          </a:p>
          <a:p>
            <a:pPr marL="285750" indent="-285750" algn="just">
              <a:lnSpc>
                <a:spcPct val="150000"/>
              </a:lnSpc>
              <a:spcBef>
                <a:spcPts val="300"/>
              </a:spcBef>
              <a:buFont typeface="Arial" panose="020B0604020202020204" pitchFamily="34" charset="0"/>
              <a:buChar char="•"/>
            </a:pPr>
            <a:r>
              <a:rPr lang="en-IN" sz="2400" b="1" dirty="0">
                <a:solidFill>
                  <a:srgbClr val="0070C0"/>
                </a:solidFill>
                <a:latin typeface="Times New Roman" panose="02020603050405020304" pitchFamily="18" charset="0"/>
                <a:cs typeface="Times New Roman" panose="02020603050405020304" pitchFamily="18" charset="0"/>
              </a:rPr>
              <a:t>Reduced complexity:</a:t>
            </a:r>
            <a:r>
              <a:rPr lang="en-IN" sz="2400" dirty="0">
                <a:solidFill>
                  <a:srgbClr val="0070C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Inheritance promotes </a:t>
            </a:r>
            <a:r>
              <a:rPr lang="en-IN" sz="2400" b="1" dirty="0">
                <a:latin typeface="Times New Roman" panose="02020603050405020304" pitchFamily="18" charset="0"/>
                <a:cs typeface="Times New Roman" panose="02020603050405020304" pitchFamily="18" charset="0"/>
              </a:rPr>
              <a:t>hierarchical classification, which reduces the complexity of code </a:t>
            </a:r>
            <a:r>
              <a:rPr lang="en-IN" sz="2400" dirty="0">
                <a:latin typeface="Times New Roman" panose="02020603050405020304" pitchFamily="18" charset="0"/>
                <a:cs typeface="Times New Roman" panose="02020603050405020304" pitchFamily="18" charset="0"/>
              </a:rPr>
              <a:t>by organizing it into a logical and understandable hierarchy.</a:t>
            </a:r>
          </a:p>
          <a:p>
            <a:pPr marL="285750" indent="-285750" algn="just">
              <a:lnSpc>
                <a:spcPct val="150000"/>
              </a:lnSpc>
              <a:spcBef>
                <a:spcPts val="300"/>
              </a:spcBef>
              <a:buFont typeface="Arial" panose="020B0604020202020204" pitchFamily="34" charset="0"/>
              <a:buChar char="•"/>
            </a:pPr>
            <a:r>
              <a:rPr lang="en-IN" sz="2400" b="1" dirty="0">
                <a:solidFill>
                  <a:srgbClr val="0070C0"/>
                </a:solidFill>
                <a:latin typeface="Times New Roman" panose="02020603050405020304" pitchFamily="18" charset="0"/>
                <a:cs typeface="Times New Roman" panose="02020603050405020304" pitchFamily="18" charset="0"/>
              </a:rPr>
              <a:t>Encapsulation:</a:t>
            </a:r>
            <a:r>
              <a:rPr lang="en-IN" sz="2400" dirty="0">
                <a:solidFill>
                  <a:srgbClr val="0070C0"/>
                </a:solidFill>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Inheritance supports encapsulation, as the properties and methods of a base class can be hidden from the derived class, ensuring that the derived class only accesses what it needs to.</a:t>
            </a:r>
          </a:p>
        </p:txBody>
      </p:sp>
    </p:spTree>
    <p:extLst>
      <p:ext uri="{BB962C8B-B14F-4D97-AF65-F5344CB8AC3E}">
        <p14:creationId xmlns:p14="http://schemas.microsoft.com/office/powerpoint/2010/main" val="1507112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67C1C94-8C24-372B-6FD6-8DE94F672768}"/>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679ED5E6-8463-FEC9-F631-A6A11E340203}"/>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Access Mode in </a:t>
            </a:r>
            <a:r>
              <a:rPr lang="en-IN" sz="3200" b="1" dirty="0">
                <a:solidFill>
                  <a:srgbClr val="00A4BE"/>
                </a:solidFill>
                <a:latin typeface="Times New Roman" panose="02020603050405020304" pitchFamily="18" charset="0"/>
                <a:cs typeface="Times New Roman" panose="02020603050405020304" pitchFamily="18" charset="0"/>
              </a:rPr>
              <a:t>C</a:t>
            </a:r>
            <a:r>
              <a:rPr lang="en-IN" sz="3200" b="1" i="0" u="none" strike="noStrike" baseline="0" dirty="0">
                <a:solidFill>
                  <a:srgbClr val="00A4BE"/>
                </a:solidFill>
                <a:latin typeface="Times New Roman" panose="02020603050405020304" pitchFamily="18" charset="0"/>
                <a:cs typeface="Times New Roman" panose="02020603050405020304" pitchFamily="18" charset="0"/>
              </a:rPr>
              <a:t>++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9B80E50-E827-C794-15EA-C65DC19FEEC2}"/>
              </a:ext>
            </a:extLst>
          </p:cNvPr>
          <p:cNvPicPr>
            <a:picLocks noChangeAspect="1"/>
          </p:cNvPicPr>
          <p:nvPr/>
        </p:nvPicPr>
        <p:blipFill>
          <a:blip r:embed="rId3"/>
          <a:stretch>
            <a:fillRect/>
          </a:stretch>
        </p:blipFill>
        <p:spPr>
          <a:xfrm>
            <a:off x="646113" y="994237"/>
            <a:ext cx="10978409" cy="5193102"/>
          </a:xfrm>
          <a:prstGeom prst="rect">
            <a:avLst/>
          </a:prstGeom>
        </p:spPr>
      </p:pic>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A455D6E0-D41B-EC70-7FF2-C1B744857D2D}"/>
                  </a:ext>
                </a:extLst>
              </p14:cNvPr>
              <p14:cNvContentPartPr/>
              <p14:nvPr/>
            </p14:nvContentPartPr>
            <p14:xfrm>
              <a:off x="4302953" y="3146139"/>
              <a:ext cx="1561320" cy="10440"/>
            </p14:xfrm>
          </p:contentPart>
        </mc:Choice>
        <mc:Fallback xmlns="">
          <p:pic>
            <p:nvPicPr>
              <p:cNvPr id="4" name="Ink 3">
                <a:extLst>
                  <a:ext uri="{FF2B5EF4-FFF2-40B4-BE49-F238E27FC236}">
                    <a16:creationId xmlns:a16="http://schemas.microsoft.com/office/drawing/2014/main" id="{A455D6E0-D41B-EC70-7FF2-C1B744857D2D}"/>
                  </a:ext>
                </a:extLst>
              </p:cNvPr>
              <p:cNvPicPr/>
              <p:nvPr/>
            </p:nvPicPr>
            <p:blipFill>
              <a:blip r:embed="rId5"/>
              <a:stretch>
                <a:fillRect/>
              </a:stretch>
            </p:blipFill>
            <p:spPr>
              <a:xfrm>
                <a:off x="4248953" y="3038499"/>
                <a:ext cx="16689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F375D677-48D9-2BC6-96F9-BDD219583105}"/>
                  </a:ext>
                </a:extLst>
              </p14:cNvPr>
              <p14:cNvContentPartPr/>
              <p14:nvPr/>
            </p14:nvContentPartPr>
            <p14:xfrm>
              <a:off x="6266033" y="3083139"/>
              <a:ext cx="1783800" cy="45720"/>
            </p14:xfrm>
          </p:contentPart>
        </mc:Choice>
        <mc:Fallback xmlns="">
          <p:pic>
            <p:nvPicPr>
              <p:cNvPr id="6" name="Ink 5">
                <a:extLst>
                  <a:ext uri="{FF2B5EF4-FFF2-40B4-BE49-F238E27FC236}">
                    <a16:creationId xmlns:a16="http://schemas.microsoft.com/office/drawing/2014/main" id="{F375D677-48D9-2BC6-96F9-BDD219583105}"/>
                  </a:ext>
                </a:extLst>
              </p:cNvPr>
              <p:cNvPicPr/>
              <p:nvPr/>
            </p:nvPicPr>
            <p:blipFill>
              <a:blip r:embed="rId7"/>
              <a:stretch>
                <a:fillRect/>
              </a:stretch>
            </p:blipFill>
            <p:spPr>
              <a:xfrm>
                <a:off x="6212033" y="2975499"/>
                <a:ext cx="189144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1BA0E46-33E9-79E7-7692-647CC506C8E7}"/>
                  </a:ext>
                </a:extLst>
              </p14:cNvPr>
              <p14:cNvContentPartPr/>
              <p14:nvPr/>
            </p14:nvContentPartPr>
            <p14:xfrm>
              <a:off x="8525033" y="3047139"/>
              <a:ext cx="1380240" cy="55080"/>
            </p14:xfrm>
          </p:contentPart>
        </mc:Choice>
        <mc:Fallback xmlns="">
          <p:pic>
            <p:nvPicPr>
              <p:cNvPr id="7" name="Ink 6">
                <a:extLst>
                  <a:ext uri="{FF2B5EF4-FFF2-40B4-BE49-F238E27FC236}">
                    <a16:creationId xmlns:a16="http://schemas.microsoft.com/office/drawing/2014/main" id="{E1BA0E46-33E9-79E7-7692-647CC506C8E7}"/>
                  </a:ext>
                </a:extLst>
              </p:cNvPr>
              <p:cNvPicPr/>
              <p:nvPr/>
            </p:nvPicPr>
            <p:blipFill>
              <a:blip r:embed="rId9"/>
              <a:stretch>
                <a:fillRect/>
              </a:stretch>
            </p:blipFill>
            <p:spPr>
              <a:xfrm>
                <a:off x="8471393" y="2939499"/>
                <a:ext cx="148788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ADBE1885-54EA-412A-E425-DBFBCD68894C}"/>
                  </a:ext>
                </a:extLst>
              </p14:cNvPr>
              <p14:cNvContentPartPr/>
              <p14:nvPr/>
            </p14:nvContentPartPr>
            <p14:xfrm>
              <a:off x="2483153" y="3684339"/>
              <a:ext cx="985320" cy="10440"/>
            </p14:xfrm>
          </p:contentPart>
        </mc:Choice>
        <mc:Fallback xmlns="">
          <p:pic>
            <p:nvPicPr>
              <p:cNvPr id="8" name="Ink 7">
                <a:extLst>
                  <a:ext uri="{FF2B5EF4-FFF2-40B4-BE49-F238E27FC236}">
                    <a16:creationId xmlns:a16="http://schemas.microsoft.com/office/drawing/2014/main" id="{ADBE1885-54EA-412A-E425-DBFBCD68894C}"/>
                  </a:ext>
                </a:extLst>
              </p:cNvPr>
              <p:cNvPicPr/>
              <p:nvPr/>
            </p:nvPicPr>
            <p:blipFill>
              <a:blip r:embed="rId11"/>
              <a:stretch>
                <a:fillRect/>
              </a:stretch>
            </p:blipFill>
            <p:spPr>
              <a:xfrm>
                <a:off x="2429153" y="3576339"/>
                <a:ext cx="10929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6D34EAE5-2AA3-2977-5E56-89D7AB5F5E4E}"/>
                  </a:ext>
                </a:extLst>
              </p14:cNvPr>
              <p14:cNvContentPartPr/>
              <p14:nvPr/>
            </p14:nvContentPartPr>
            <p14:xfrm>
              <a:off x="2465153" y="4240539"/>
              <a:ext cx="1209960" cy="9000"/>
            </p14:xfrm>
          </p:contentPart>
        </mc:Choice>
        <mc:Fallback xmlns="">
          <p:pic>
            <p:nvPicPr>
              <p:cNvPr id="9" name="Ink 8">
                <a:extLst>
                  <a:ext uri="{FF2B5EF4-FFF2-40B4-BE49-F238E27FC236}">
                    <a16:creationId xmlns:a16="http://schemas.microsoft.com/office/drawing/2014/main" id="{6D34EAE5-2AA3-2977-5E56-89D7AB5F5E4E}"/>
                  </a:ext>
                </a:extLst>
              </p:cNvPr>
              <p:cNvPicPr/>
              <p:nvPr/>
            </p:nvPicPr>
            <p:blipFill>
              <a:blip r:embed="rId13"/>
              <a:stretch>
                <a:fillRect/>
              </a:stretch>
            </p:blipFill>
            <p:spPr>
              <a:xfrm>
                <a:off x="2411513" y="4132539"/>
                <a:ext cx="13176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Ink 9">
                <a:extLst>
                  <a:ext uri="{FF2B5EF4-FFF2-40B4-BE49-F238E27FC236}">
                    <a16:creationId xmlns:a16="http://schemas.microsoft.com/office/drawing/2014/main" id="{48748F77-29CE-8D63-64EF-8A7E7726AFF6}"/>
                  </a:ext>
                </a:extLst>
              </p14:cNvPr>
              <p14:cNvContentPartPr/>
              <p14:nvPr/>
            </p14:nvContentPartPr>
            <p14:xfrm>
              <a:off x="2698073" y="4787019"/>
              <a:ext cx="762120" cy="10080"/>
            </p14:xfrm>
          </p:contentPart>
        </mc:Choice>
        <mc:Fallback xmlns="">
          <p:pic>
            <p:nvPicPr>
              <p:cNvPr id="10" name="Ink 9">
                <a:extLst>
                  <a:ext uri="{FF2B5EF4-FFF2-40B4-BE49-F238E27FC236}">
                    <a16:creationId xmlns:a16="http://schemas.microsoft.com/office/drawing/2014/main" id="{48748F77-29CE-8D63-64EF-8A7E7726AFF6}"/>
                  </a:ext>
                </a:extLst>
              </p:cNvPr>
              <p:cNvPicPr/>
              <p:nvPr/>
            </p:nvPicPr>
            <p:blipFill>
              <a:blip r:embed="rId15"/>
              <a:stretch>
                <a:fillRect/>
              </a:stretch>
            </p:blipFill>
            <p:spPr>
              <a:xfrm>
                <a:off x="2644433" y="4679379"/>
                <a:ext cx="86976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3C38B345-315C-15C3-E437-37DF7AA0F496}"/>
                  </a:ext>
                </a:extLst>
              </p14:cNvPr>
              <p14:cNvContentPartPr/>
              <p14:nvPr/>
            </p14:nvContentPartPr>
            <p14:xfrm>
              <a:off x="6293033" y="3092499"/>
              <a:ext cx="1819080" cy="19080"/>
            </p14:xfrm>
          </p:contentPart>
        </mc:Choice>
        <mc:Fallback xmlns="">
          <p:pic>
            <p:nvPicPr>
              <p:cNvPr id="11" name="Ink 10">
                <a:extLst>
                  <a:ext uri="{FF2B5EF4-FFF2-40B4-BE49-F238E27FC236}">
                    <a16:creationId xmlns:a16="http://schemas.microsoft.com/office/drawing/2014/main" id="{3C38B345-315C-15C3-E437-37DF7AA0F496}"/>
                  </a:ext>
                </a:extLst>
              </p:cNvPr>
              <p:cNvPicPr/>
              <p:nvPr/>
            </p:nvPicPr>
            <p:blipFill>
              <a:blip r:embed="rId17"/>
              <a:stretch>
                <a:fillRect/>
              </a:stretch>
            </p:blipFill>
            <p:spPr>
              <a:xfrm>
                <a:off x="6239393" y="2984859"/>
                <a:ext cx="19267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401CC043-96CF-0134-1CDD-510DADAF9520}"/>
                  </a:ext>
                </a:extLst>
              </p14:cNvPr>
              <p14:cNvContentPartPr/>
              <p14:nvPr/>
            </p14:nvContentPartPr>
            <p14:xfrm>
              <a:off x="8525033" y="3083139"/>
              <a:ext cx="1323720" cy="19080"/>
            </p14:xfrm>
          </p:contentPart>
        </mc:Choice>
        <mc:Fallback xmlns="">
          <p:pic>
            <p:nvPicPr>
              <p:cNvPr id="12" name="Ink 11">
                <a:extLst>
                  <a:ext uri="{FF2B5EF4-FFF2-40B4-BE49-F238E27FC236}">
                    <a16:creationId xmlns:a16="http://schemas.microsoft.com/office/drawing/2014/main" id="{401CC043-96CF-0134-1CDD-510DADAF9520}"/>
                  </a:ext>
                </a:extLst>
              </p:cNvPr>
              <p:cNvPicPr/>
              <p:nvPr/>
            </p:nvPicPr>
            <p:blipFill>
              <a:blip r:embed="rId19"/>
              <a:stretch>
                <a:fillRect/>
              </a:stretch>
            </p:blipFill>
            <p:spPr>
              <a:xfrm>
                <a:off x="8471393" y="2975499"/>
                <a:ext cx="1431360" cy="234720"/>
              </a:xfrm>
              <a:prstGeom prst="rect">
                <a:avLst/>
              </a:prstGeom>
            </p:spPr>
          </p:pic>
        </mc:Fallback>
      </mc:AlternateContent>
    </p:spTree>
    <p:extLst>
      <p:ext uri="{BB962C8B-B14F-4D97-AF65-F5344CB8AC3E}">
        <p14:creationId xmlns:p14="http://schemas.microsoft.com/office/powerpoint/2010/main" val="3844819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228E4FB-5F20-4792-1D1E-2B189265A4F5}"/>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BADE8F60-A97A-00D6-F126-103B57752940}"/>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63939F02-DE89-E82B-0F58-B9C4584DEEFE}"/>
              </a:ext>
            </a:extLst>
          </p:cNvPr>
          <p:cNvSpPr txBox="1"/>
          <p:nvPr/>
        </p:nvSpPr>
        <p:spPr>
          <a:xfrm>
            <a:off x="646113" y="1250092"/>
            <a:ext cx="10706249" cy="535531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 syntax for defining a derived class in most programming languages involves specifying the base class from which it inherits. The derived class can then access and use the members (variables and methods) of the base class,</a:t>
            </a:r>
          </a:p>
          <a:p>
            <a:pPr>
              <a:lnSpc>
                <a:spcPct val="150000"/>
              </a:lnSpc>
            </a:pPr>
            <a:r>
              <a:rPr lang="en-IN" sz="2400" b="1" dirty="0">
                <a:solidFill>
                  <a:srgbClr val="0070C0"/>
                </a:solidFill>
                <a:latin typeface="Times New Roman" panose="02020603050405020304" pitchFamily="18" charset="0"/>
                <a:cs typeface="Times New Roman" panose="02020603050405020304" pitchFamily="18" charset="0"/>
              </a:rPr>
              <a:t>Syntax:</a:t>
            </a:r>
          </a:p>
          <a:p>
            <a:pPr marL="612000" lvl="4"/>
            <a:r>
              <a:rPr lang="en-IN" sz="2400" dirty="0">
                <a:solidFill>
                  <a:srgbClr val="FF0000"/>
                </a:solidFill>
                <a:latin typeface="Times New Roman" panose="02020603050405020304" pitchFamily="18" charset="0"/>
                <a:cs typeface="Times New Roman" panose="02020603050405020304" pitchFamily="18" charset="0"/>
              </a:rPr>
              <a:t>class </a:t>
            </a:r>
            <a:r>
              <a:rPr lang="en-IN" sz="2400" dirty="0" err="1">
                <a:solidFill>
                  <a:srgbClr val="FF0000"/>
                </a:solidFill>
                <a:latin typeface="Times New Roman" panose="02020603050405020304" pitchFamily="18" charset="0"/>
                <a:cs typeface="Times New Roman" panose="02020603050405020304" pitchFamily="18" charset="0"/>
              </a:rPr>
              <a:t>base_class_name</a:t>
            </a:r>
            <a:endParaRPr lang="en-IN" sz="2400" dirty="0">
              <a:solidFill>
                <a:srgbClr val="FF0000"/>
              </a:solidFill>
              <a:latin typeface="Times New Roman" panose="02020603050405020304" pitchFamily="18" charset="0"/>
              <a:cs typeface="Times New Roman" panose="02020603050405020304" pitchFamily="18" charset="0"/>
            </a:endParaRPr>
          </a:p>
          <a:p>
            <a:pPr marL="612000" lvl="4"/>
            <a:r>
              <a:rPr lang="en-IN" sz="2400" dirty="0">
                <a:latin typeface="Times New Roman" panose="02020603050405020304" pitchFamily="18" charset="0"/>
                <a:cs typeface="Times New Roman" panose="02020603050405020304" pitchFamily="18" charset="0"/>
              </a:rPr>
              <a:t>{</a:t>
            </a:r>
          </a:p>
          <a:p>
            <a:pPr marL="612000" lvl="4"/>
            <a:r>
              <a:rPr lang="en-IN" sz="2400" dirty="0">
                <a:latin typeface="Times New Roman" panose="02020603050405020304" pitchFamily="18" charset="0"/>
                <a:cs typeface="Times New Roman" panose="02020603050405020304" pitchFamily="18" charset="0"/>
              </a:rPr>
              <a:t>   ..................</a:t>
            </a:r>
          </a:p>
          <a:p>
            <a:pPr marL="612000" lvl="4"/>
            <a:r>
              <a:rPr lang="en-IN" sz="2400" dirty="0">
                <a:latin typeface="Times New Roman" panose="02020603050405020304" pitchFamily="18" charset="0"/>
                <a:cs typeface="Times New Roman" panose="02020603050405020304" pitchFamily="18" charset="0"/>
              </a:rPr>
              <a:t>};</a:t>
            </a:r>
          </a:p>
          <a:p>
            <a:pPr marL="612000" lvl="4"/>
            <a:r>
              <a:rPr lang="en-IN" sz="2400" dirty="0">
                <a:solidFill>
                  <a:srgbClr val="FF0000"/>
                </a:solidFill>
                <a:latin typeface="Times New Roman" panose="02020603050405020304" pitchFamily="18" charset="0"/>
                <a:cs typeface="Times New Roman" panose="02020603050405020304" pitchFamily="18" charset="0"/>
              </a:rPr>
              <a:t>class </a:t>
            </a:r>
            <a:r>
              <a:rPr lang="en-IN" sz="2400" dirty="0" err="1">
                <a:solidFill>
                  <a:srgbClr val="FF0000"/>
                </a:solidFill>
                <a:latin typeface="Times New Roman" panose="02020603050405020304" pitchFamily="18" charset="0"/>
                <a:cs typeface="Times New Roman" panose="02020603050405020304" pitchFamily="18" charset="0"/>
              </a:rPr>
              <a:t>derived_class_name</a:t>
            </a:r>
            <a:r>
              <a:rPr lang="en-IN" sz="2400" dirty="0">
                <a:solidFill>
                  <a:srgbClr val="FF0000"/>
                </a:solidFill>
                <a:latin typeface="Times New Roman" panose="02020603050405020304" pitchFamily="18" charset="0"/>
                <a:cs typeface="Times New Roman" panose="02020603050405020304" pitchFamily="18" charset="0"/>
              </a:rPr>
              <a:t> : </a:t>
            </a:r>
            <a:r>
              <a:rPr lang="en-IN" sz="2400" dirty="0" err="1">
                <a:solidFill>
                  <a:srgbClr val="FF0000"/>
                </a:solidFill>
                <a:latin typeface="Times New Roman" panose="02020603050405020304" pitchFamily="18" charset="0"/>
                <a:cs typeface="Times New Roman" panose="02020603050405020304" pitchFamily="18" charset="0"/>
              </a:rPr>
              <a:t>access_specifier</a:t>
            </a:r>
            <a:r>
              <a:rPr lang="en-IN" sz="2400" dirty="0">
                <a:solidFill>
                  <a:srgbClr val="FF0000"/>
                </a:solidFill>
                <a:latin typeface="Times New Roman" panose="02020603050405020304" pitchFamily="18" charset="0"/>
                <a:cs typeface="Times New Roman" panose="02020603050405020304" pitchFamily="18" charset="0"/>
              </a:rPr>
              <a:t> </a:t>
            </a:r>
            <a:r>
              <a:rPr lang="en-IN" sz="2400" dirty="0" err="1">
                <a:solidFill>
                  <a:srgbClr val="FF0000"/>
                </a:solidFill>
                <a:latin typeface="Times New Roman" panose="02020603050405020304" pitchFamily="18" charset="0"/>
                <a:cs typeface="Times New Roman" panose="02020603050405020304" pitchFamily="18" charset="0"/>
              </a:rPr>
              <a:t>base_class_name</a:t>
            </a:r>
            <a:endParaRPr lang="en-IN" sz="2400" dirty="0">
              <a:solidFill>
                <a:srgbClr val="FF0000"/>
              </a:solidFill>
              <a:latin typeface="Times New Roman" panose="02020603050405020304" pitchFamily="18" charset="0"/>
              <a:cs typeface="Times New Roman" panose="02020603050405020304" pitchFamily="18" charset="0"/>
            </a:endParaRPr>
          </a:p>
          <a:p>
            <a:pPr marL="612000" lvl="4"/>
            <a:r>
              <a:rPr lang="en-IN" sz="2400" dirty="0">
                <a:latin typeface="Times New Roman" panose="02020603050405020304" pitchFamily="18" charset="0"/>
                <a:cs typeface="Times New Roman" panose="02020603050405020304" pitchFamily="18" charset="0"/>
              </a:rPr>
              <a:t>{</a:t>
            </a:r>
          </a:p>
          <a:p>
            <a:pPr marL="612000" lvl="4"/>
            <a:r>
              <a:rPr lang="en-IN" sz="2400" dirty="0">
                <a:latin typeface="Times New Roman" panose="02020603050405020304" pitchFamily="18" charset="0"/>
                <a:cs typeface="Times New Roman" panose="02020603050405020304" pitchFamily="18" charset="0"/>
              </a:rPr>
              <a:t>   ...........</a:t>
            </a:r>
          </a:p>
          <a:p>
            <a:pPr marL="612000" lvl="4"/>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683165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9254A08-A2FA-9E82-7E4E-89DBDF3B02AB}"/>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412B77B0-9788-2E82-E489-D50030F6C8C3}"/>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r>
              <a:rPr lang="en-IN" sz="3200" b="1" i="0" u="none" strike="noStrike" baseline="0" dirty="0">
                <a:solidFill>
                  <a:srgbClr val="00A4BE"/>
                </a:solidFill>
                <a:latin typeface="Times New Roman" panose="02020603050405020304" pitchFamily="18" charset="0"/>
                <a:cs typeface="Times New Roman" panose="02020603050405020304" pitchFamily="18" charset="0"/>
              </a:rPr>
              <a:t>Inheritance – Types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F1CA76A-0CE3-8E9F-CE32-C0A4EDF1B55B}"/>
              </a:ext>
            </a:extLst>
          </p:cNvPr>
          <p:cNvSpPr txBox="1"/>
          <p:nvPr/>
        </p:nvSpPr>
        <p:spPr>
          <a:xfrm>
            <a:off x="394447" y="1250092"/>
            <a:ext cx="11573436" cy="3349956"/>
          </a:xfrm>
          <a:prstGeom prst="rect">
            <a:avLst/>
          </a:prstGeom>
          <a:noFill/>
        </p:spPr>
        <p:txBody>
          <a:bodyPr wrap="square">
            <a:spAutoFit/>
          </a:bodyPr>
          <a:lstStyle/>
          <a:p>
            <a:pPr>
              <a:lnSpc>
                <a:spcPct val="150000"/>
              </a:lnSpc>
            </a:pPr>
            <a:r>
              <a:rPr lang="en-IN" sz="2400" dirty="0">
                <a:latin typeface="Times New Roman" panose="02020603050405020304" pitchFamily="18" charset="0"/>
                <a:cs typeface="Times New Roman" panose="02020603050405020304" pitchFamily="18" charset="0"/>
              </a:rPr>
              <a:t>There are different types of inheritance, such as:</a:t>
            </a:r>
          </a:p>
          <a:p>
            <a:pPr marL="457200" indent="-457200">
              <a:lnSpc>
                <a:spcPct val="150000"/>
              </a:lnSpc>
              <a:buFont typeface="+mj-lt"/>
              <a:buAutoNum type="arabicPeriod"/>
            </a:pPr>
            <a:r>
              <a:rPr lang="en-IN" sz="2400" dirty="0">
                <a:solidFill>
                  <a:srgbClr val="0070C0"/>
                </a:solidFill>
                <a:latin typeface="Times New Roman" panose="02020603050405020304" pitchFamily="18" charset="0"/>
                <a:cs typeface="Times New Roman" panose="02020603050405020304" pitchFamily="18" charset="0"/>
              </a:rPr>
              <a:t>Single inheritance </a:t>
            </a:r>
            <a:r>
              <a:rPr lang="en-IN" sz="2400" dirty="0">
                <a:latin typeface="Times New Roman" panose="02020603050405020304" pitchFamily="18" charset="0"/>
                <a:cs typeface="Times New Roman" panose="02020603050405020304" pitchFamily="18" charset="0"/>
              </a:rPr>
              <a:t>- A derived class inherits from a single base class.</a:t>
            </a:r>
          </a:p>
          <a:p>
            <a:pPr marL="457200" indent="-457200">
              <a:lnSpc>
                <a:spcPct val="150000"/>
              </a:lnSpc>
              <a:buFont typeface="+mj-lt"/>
              <a:buAutoNum type="arabicPeriod"/>
            </a:pPr>
            <a:r>
              <a:rPr lang="en-IN" sz="2400" dirty="0">
                <a:solidFill>
                  <a:srgbClr val="0070C0"/>
                </a:solidFill>
                <a:latin typeface="Times New Roman" panose="02020603050405020304" pitchFamily="18" charset="0"/>
                <a:cs typeface="Times New Roman" panose="02020603050405020304" pitchFamily="18" charset="0"/>
              </a:rPr>
              <a:t>Multiple inheritance </a:t>
            </a:r>
            <a:r>
              <a:rPr lang="en-IN" sz="2400" dirty="0">
                <a:latin typeface="Times New Roman" panose="02020603050405020304" pitchFamily="18" charset="0"/>
                <a:cs typeface="Times New Roman" panose="02020603050405020304" pitchFamily="18" charset="0"/>
              </a:rPr>
              <a:t>- A derived class inherits from multiple base classes.</a:t>
            </a:r>
          </a:p>
          <a:p>
            <a:pPr marL="457200" indent="-457200">
              <a:lnSpc>
                <a:spcPct val="150000"/>
              </a:lnSpc>
              <a:buFont typeface="+mj-lt"/>
              <a:buAutoNum type="arabicPeriod"/>
            </a:pPr>
            <a:r>
              <a:rPr lang="en-IN" sz="2400" dirty="0">
                <a:solidFill>
                  <a:srgbClr val="0070C0"/>
                </a:solidFill>
                <a:latin typeface="Times New Roman" panose="02020603050405020304" pitchFamily="18" charset="0"/>
                <a:cs typeface="Times New Roman" panose="02020603050405020304" pitchFamily="18" charset="0"/>
              </a:rPr>
              <a:t>Multilevel inheritance </a:t>
            </a:r>
            <a:r>
              <a:rPr lang="en-IN" sz="2400" dirty="0">
                <a:latin typeface="Times New Roman" panose="02020603050405020304" pitchFamily="18" charset="0"/>
                <a:cs typeface="Times New Roman" panose="02020603050405020304" pitchFamily="18" charset="0"/>
              </a:rPr>
              <a:t>- A derived class becomes the base class for another derived class.</a:t>
            </a:r>
          </a:p>
          <a:p>
            <a:pPr marL="457200" indent="-457200">
              <a:lnSpc>
                <a:spcPct val="150000"/>
              </a:lnSpc>
              <a:buFont typeface="+mj-lt"/>
              <a:buAutoNum type="arabicPeriod"/>
            </a:pPr>
            <a:r>
              <a:rPr lang="en-IN" sz="2400" dirty="0">
                <a:solidFill>
                  <a:srgbClr val="0070C0"/>
                </a:solidFill>
                <a:latin typeface="Times New Roman" panose="02020603050405020304" pitchFamily="18" charset="0"/>
                <a:cs typeface="Times New Roman" panose="02020603050405020304" pitchFamily="18" charset="0"/>
              </a:rPr>
              <a:t>Hierarchical inheritance </a:t>
            </a:r>
            <a:r>
              <a:rPr lang="en-IN" sz="2400" dirty="0">
                <a:latin typeface="Times New Roman" panose="02020603050405020304" pitchFamily="18" charset="0"/>
                <a:cs typeface="Times New Roman" panose="02020603050405020304" pitchFamily="18" charset="0"/>
              </a:rPr>
              <a:t>- Multiple derived classes inherit from a single base class.</a:t>
            </a:r>
          </a:p>
          <a:p>
            <a:pPr marL="457200" indent="-457200">
              <a:lnSpc>
                <a:spcPct val="150000"/>
              </a:lnSpc>
              <a:buFont typeface="+mj-lt"/>
              <a:buAutoNum type="arabicPeriod"/>
            </a:pPr>
            <a:r>
              <a:rPr lang="en-IN" sz="2400" dirty="0">
                <a:solidFill>
                  <a:srgbClr val="0070C0"/>
                </a:solidFill>
                <a:latin typeface="Times New Roman" panose="02020603050405020304" pitchFamily="18" charset="0"/>
                <a:cs typeface="Times New Roman" panose="02020603050405020304" pitchFamily="18" charset="0"/>
              </a:rPr>
              <a:t>Hybrid inheritance </a:t>
            </a:r>
            <a:r>
              <a:rPr lang="en-IN" sz="2400" dirty="0">
                <a:latin typeface="Times New Roman" panose="02020603050405020304" pitchFamily="18" charset="0"/>
                <a:cs typeface="Times New Roman" panose="02020603050405020304" pitchFamily="18" charset="0"/>
              </a:rPr>
              <a:t>- A combination of multiple inheritance and multilevel inheritance.</a:t>
            </a:r>
          </a:p>
        </p:txBody>
      </p:sp>
    </p:spTree>
    <p:extLst>
      <p:ext uri="{BB962C8B-B14F-4D97-AF65-F5344CB8AC3E}">
        <p14:creationId xmlns:p14="http://schemas.microsoft.com/office/powerpoint/2010/main" val="376300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F80E022-86D1-CB59-9944-DF781BE19DCE}"/>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6C2472C2-40A9-BCC8-5217-109AD0936689}"/>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Single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0E71E42-4B6C-1EBC-1F22-6E352B50D24B}"/>
              </a:ext>
            </a:extLst>
          </p:cNvPr>
          <p:cNvSpPr txBox="1"/>
          <p:nvPr/>
        </p:nvSpPr>
        <p:spPr>
          <a:xfrm>
            <a:off x="646114" y="1250092"/>
            <a:ext cx="5737434" cy="501194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Single inheritance is only </a:t>
            </a:r>
            <a:r>
              <a:rPr lang="en-IN" sz="2400" b="1" dirty="0">
                <a:latin typeface="Times New Roman" panose="02020603050405020304" pitchFamily="18" charset="0"/>
                <a:cs typeface="Times New Roman" panose="02020603050405020304" pitchFamily="18" charset="0"/>
              </a:rPr>
              <a:t>one derived class formed from a base class</a:t>
            </a:r>
            <a:r>
              <a:rPr lang="en-IN" sz="2400" dirty="0">
                <a:latin typeface="Times New Roman" panose="02020603050405020304" pitchFamily="18" charset="0"/>
                <a:cs typeface="Times New Roman" panose="02020603050405020304" pitchFamily="18" charset="0"/>
              </a:rPr>
              <a:t>. In this inheritance, a </a:t>
            </a:r>
            <a:r>
              <a:rPr lang="en-IN" sz="2400" b="1" dirty="0">
                <a:latin typeface="Times New Roman" panose="02020603050405020304" pitchFamily="18" charset="0"/>
                <a:cs typeface="Times New Roman" panose="02020603050405020304" pitchFamily="18" charset="0"/>
              </a:rPr>
              <a:t>single class inherits the properties of a base class</a:t>
            </a:r>
            <a:r>
              <a:rPr lang="en-IN" sz="2400" dirty="0">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 the data members of the </a:t>
            </a:r>
            <a:r>
              <a:rPr lang="en-IN" sz="2400" b="1" dirty="0">
                <a:latin typeface="Times New Roman" panose="02020603050405020304" pitchFamily="18" charset="0"/>
                <a:cs typeface="Times New Roman" panose="02020603050405020304" pitchFamily="18" charset="0"/>
              </a:rPr>
              <a:t>base class are accessed by the derived class </a:t>
            </a:r>
            <a:r>
              <a:rPr lang="en-IN" sz="2400" dirty="0">
                <a:latin typeface="Times New Roman" panose="02020603050405020304" pitchFamily="18" charset="0"/>
                <a:cs typeface="Times New Roman" panose="02020603050405020304" pitchFamily="18" charset="0"/>
              </a:rPr>
              <a:t>according to the visibility mode (i.e., private, protected, and public) that is specified during the inheritance.</a:t>
            </a:r>
          </a:p>
        </p:txBody>
      </p:sp>
      <p:pic>
        <p:nvPicPr>
          <p:cNvPr id="2" name="Picture 1">
            <a:extLst>
              <a:ext uri="{FF2B5EF4-FFF2-40B4-BE49-F238E27FC236}">
                <a16:creationId xmlns:a16="http://schemas.microsoft.com/office/drawing/2014/main" id="{0E05C6D7-A748-6E8D-64A6-E0DF2ED30A5E}"/>
              </a:ext>
            </a:extLst>
          </p:cNvPr>
          <p:cNvPicPr>
            <a:picLocks noChangeAspect="1"/>
          </p:cNvPicPr>
          <p:nvPr/>
        </p:nvPicPr>
        <p:blipFill>
          <a:blip r:embed="rId3"/>
          <a:stretch>
            <a:fillRect/>
          </a:stretch>
        </p:blipFill>
        <p:spPr>
          <a:xfrm>
            <a:off x="6797615" y="1505643"/>
            <a:ext cx="4770406" cy="4500845"/>
          </a:xfrm>
          <a:prstGeom prst="rect">
            <a:avLst/>
          </a:prstGeom>
        </p:spPr>
      </p:pic>
    </p:spTree>
    <p:extLst>
      <p:ext uri="{BB962C8B-B14F-4D97-AF65-F5344CB8AC3E}">
        <p14:creationId xmlns:p14="http://schemas.microsoft.com/office/powerpoint/2010/main" val="338369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446FA2E-A917-2A95-37E7-8AE586EE2274}"/>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D7932664-170D-B3B7-645A-9FFDFC1F3032}"/>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Single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6197382-EC3D-27CB-3315-8F42504E0D6F}"/>
              </a:ext>
            </a:extLst>
          </p:cNvPr>
          <p:cNvSpPr txBox="1"/>
          <p:nvPr/>
        </p:nvSpPr>
        <p:spPr>
          <a:xfrm>
            <a:off x="646112" y="1034431"/>
            <a:ext cx="6561511" cy="5565947"/>
          </a:xfrm>
          <a:prstGeom prst="rect">
            <a:avLst/>
          </a:prstGeom>
          <a:noFill/>
        </p:spPr>
        <p:txBody>
          <a:bodyPr wrap="square">
            <a:spAutoFit/>
          </a:bodyPr>
          <a:lstStyle/>
          <a:p>
            <a:pPr>
              <a:lnSpc>
                <a:spcPct val="150000"/>
              </a:lnSpc>
            </a:pPr>
            <a:r>
              <a:rPr lang="en-IN" sz="2400" b="1" dirty="0">
                <a:solidFill>
                  <a:srgbClr val="0070C0"/>
                </a:solidFill>
                <a:latin typeface="Times New Roman" panose="02020603050405020304" pitchFamily="18" charset="0"/>
                <a:cs typeface="Times New Roman" panose="02020603050405020304" pitchFamily="18" charset="0"/>
              </a:rPr>
              <a:t>Syntax: </a:t>
            </a:r>
          </a:p>
          <a:p>
            <a:pPr marL="361950">
              <a:lnSpc>
                <a:spcPct val="150000"/>
              </a:lnSpc>
            </a:pPr>
            <a:r>
              <a:rPr lang="en-IN" sz="2400" b="0" i="1" dirty="0">
                <a:solidFill>
                  <a:schemeClr val="tx1"/>
                </a:solidFill>
                <a:effectLst/>
                <a:latin typeface="Times New Roman" panose="02020603050405020304" pitchFamily="18" charset="0"/>
                <a:cs typeface="Times New Roman" panose="02020603050405020304" pitchFamily="18" charset="0"/>
              </a:rPr>
              <a:t>class </a:t>
            </a:r>
            <a:r>
              <a:rPr lang="en-IN" sz="2400" b="0" i="1" dirty="0" err="1">
                <a:solidFill>
                  <a:schemeClr val="tx1"/>
                </a:solidFill>
                <a:effectLst/>
                <a:latin typeface="Times New Roman" panose="02020603050405020304" pitchFamily="18" charset="0"/>
                <a:cs typeface="Times New Roman" panose="02020603050405020304" pitchFamily="18" charset="0"/>
              </a:rPr>
              <a:t>Base_class</a:t>
            </a:r>
            <a:br>
              <a:rPr lang="en-IN" sz="2400" dirty="0">
                <a:solidFill>
                  <a:schemeClr val="tx1"/>
                </a:solidFill>
                <a:latin typeface="Times New Roman" panose="02020603050405020304" pitchFamily="18" charset="0"/>
                <a:cs typeface="Times New Roman" panose="02020603050405020304" pitchFamily="18" charset="0"/>
              </a:rPr>
            </a:br>
            <a:r>
              <a:rPr lang="en-IN" sz="2400" b="0" i="1" dirty="0">
                <a:solidFill>
                  <a:schemeClr val="tx1"/>
                </a:solidFill>
                <a:effectLst/>
                <a:latin typeface="Times New Roman" panose="02020603050405020304" pitchFamily="18" charset="0"/>
                <a:cs typeface="Times New Roman" panose="02020603050405020304" pitchFamily="18" charset="0"/>
              </a:rPr>
              <a:t>{</a:t>
            </a:r>
            <a:br>
              <a:rPr lang="en-IN" sz="2400" dirty="0">
                <a:solidFill>
                  <a:schemeClr val="tx1"/>
                </a:solidFill>
                <a:latin typeface="Times New Roman" panose="02020603050405020304" pitchFamily="18" charset="0"/>
                <a:cs typeface="Times New Roman" panose="02020603050405020304" pitchFamily="18" charset="0"/>
              </a:rPr>
            </a:br>
            <a:r>
              <a:rPr lang="en-IN" sz="2400" dirty="0">
                <a:solidFill>
                  <a:schemeClr val="tx1"/>
                </a:solidFill>
                <a:latin typeface="Times New Roman" panose="02020603050405020304" pitchFamily="18" charset="0"/>
                <a:cs typeface="Times New Roman" panose="02020603050405020304" pitchFamily="18" charset="0"/>
              </a:rPr>
              <a:t>	</a:t>
            </a:r>
            <a:r>
              <a:rPr lang="en-IN" sz="2400" b="0" i="1" dirty="0">
                <a:solidFill>
                  <a:schemeClr val="tx1"/>
                </a:solidFill>
                <a:effectLst/>
                <a:latin typeface="Times New Roman" panose="02020603050405020304" pitchFamily="18" charset="0"/>
                <a:cs typeface="Times New Roman" panose="02020603050405020304" pitchFamily="18" charset="0"/>
              </a:rPr>
              <a:t>// Body of the base class</a:t>
            </a:r>
            <a:br>
              <a:rPr lang="en-IN" sz="2400" dirty="0">
                <a:solidFill>
                  <a:schemeClr val="tx1"/>
                </a:solidFill>
                <a:latin typeface="Times New Roman" panose="02020603050405020304" pitchFamily="18" charset="0"/>
                <a:cs typeface="Times New Roman" panose="02020603050405020304" pitchFamily="18" charset="0"/>
              </a:rPr>
            </a:br>
            <a:r>
              <a:rPr lang="en-IN" sz="2400" b="0" i="1" dirty="0">
                <a:solidFill>
                  <a:schemeClr val="tx1"/>
                </a:solidFill>
                <a:effectLst/>
                <a:latin typeface="Times New Roman" panose="02020603050405020304" pitchFamily="18" charset="0"/>
                <a:cs typeface="Times New Roman" panose="02020603050405020304" pitchFamily="18" charset="0"/>
              </a:rPr>
              <a:t>};</a:t>
            </a:r>
            <a:br>
              <a:rPr lang="en-IN" sz="2400" dirty="0">
                <a:solidFill>
                  <a:schemeClr val="tx1"/>
                </a:solidFill>
                <a:latin typeface="Times New Roman" panose="02020603050405020304" pitchFamily="18" charset="0"/>
                <a:cs typeface="Times New Roman" panose="02020603050405020304" pitchFamily="18" charset="0"/>
              </a:rPr>
            </a:br>
            <a:r>
              <a:rPr lang="en-IN" sz="2400" b="0" i="1" dirty="0">
                <a:solidFill>
                  <a:schemeClr val="tx1"/>
                </a:solidFill>
                <a:effectLst/>
                <a:latin typeface="Times New Roman" panose="02020603050405020304" pitchFamily="18" charset="0"/>
                <a:cs typeface="Times New Roman" panose="02020603050405020304" pitchFamily="18" charset="0"/>
              </a:rPr>
              <a:t>class Derived : </a:t>
            </a:r>
            <a:r>
              <a:rPr lang="en-IN" sz="2400" b="0" i="1" dirty="0" err="1">
                <a:solidFill>
                  <a:schemeClr val="tx1"/>
                </a:solidFill>
                <a:effectLst/>
                <a:latin typeface="Times New Roman" panose="02020603050405020304" pitchFamily="18" charset="0"/>
                <a:cs typeface="Times New Roman" panose="02020603050405020304" pitchFamily="18" charset="0"/>
              </a:rPr>
              <a:t>access_specifier</a:t>
            </a:r>
            <a:r>
              <a:rPr lang="en-IN" sz="2400" b="0" i="1" dirty="0">
                <a:solidFill>
                  <a:schemeClr val="tx1"/>
                </a:solidFill>
                <a:effectLst/>
                <a:latin typeface="Times New Roman" panose="02020603050405020304" pitchFamily="18" charset="0"/>
                <a:cs typeface="Times New Roman" panose="02020603050405020304" pitchFamily="18" charset="0"/>
              </a:rPr>
              <a:t> </a:t>
            </a:r>
            <a:r>
              <a:rPr lang="en-IN" sz="2400" b="0" i="1" dirty="0" err="1">
                <a:solidFill>
                  <a:schemeClr val="tx1"/>
                </a:solidFill>
                <a:effectLst/>
                <a:latin typeface="Times New Roman" panose="02020603050405020304" pitchFamily="18" charset="0"/>
                <a:cs typeface="Times New Roman" panose="02020603050405020304" pitchFamily="18" charset="0"/>
              </a:rPr>
              <a:t>Base_class</a:t>
            </a:r>
            <a:br>
              <a:rPr lang="en-IN" sz="2400" dirty="0">
                <a:solidFill>
                  <a:schemeClr val="tx1"/>
                </a:solidFill>
                <a:latin typeface="Times New Roman" panose="02020603050405020304" pitchFamily="18" charset="0"/>
                <a:cs typeface="Times New Roman" panose="02020603050405020304" pitchFamily="18" charset="0"/>
              </a:rPr>
            </a:br>
            <a:r>
              <a:rPr lang="en-IN" sz="2400" b="0" i="1" dirty="0">
                <a:solidFill>
                  <a:schemeClr val="tx1"/>
                </a:solidFill>
                <a:effectLst/>
                <a:latin typeface="Times New Roman" panose="02020603050405020304" pitchFamily="18" charset="0"/>
                <a:cs typeface="Times New Roman" panose="02020603050405020304" pitchFamily="18" charset="0"/>
              </a:rPr>
              <a:t>{</a:t>
            </a:r>
            <a:br>
              <a:rPr lang="en-IN" sz="2400" dirty="0">
                <a:solidFill>
                  <a:schemeClr val="tx1"/>
                </a:solidFill>
                <a:latin typeface="Times New Roman" panose="02020603050405020304" pitchFamily="18" charset="0"/>
                <a:cs typeface="Times New Roman" panose="02020603050405020304" pitchFamily="18" charset="0"/>
              </a:rPr>
            </a:br>
            <a:r>
              <a:rPr lang="en-IN" sz="2400" dirty="0">
                <a:solidFill>
                  <a:schemeClr val="tx1"/>
                </a:solidFill>
                <a:latin typeface="Times New Roman" panose="02020603050405020304" pitchFamily="18" charset="0"/>
                <a:cs typeface="Times New Roman" panose="02020603050405020304" pitchFamily="18" charset="0"/>
              </a:rPr>
              <a:t>	</a:t>
            </a:r>
            <a:r>
              <a:rPr lang="en-IN" sz="2400" b="0" i="1" dirty="0">
                <a:solidFill>
                  <a:schemeClr val="tx1"/>
                </a:solidFill>
                <a:effectLst/>
                <a:latin typeface="Times New Roman" panose="02020603050405020304" pitchFamily="18" charset="0"/>
                <a:cs typeface="Times New Roman" panose="02020603050405020304" pitchFamily="18" charset="0"/>
              </a:rPr>
              <a:t>// Body of the derived class</a:t>
            </a:r>
            <a:br>
              <a:rPr lang="en-IN" sz="2400" dirty="0">
                <a:solidFill>
                  <a:schemeClr val="tx1"/>
                </a:solidFill>
                <a:latin typeface="Times New Roman" panose="02020603050405020304" pitchFamily="18" charset="0"/>
                <a:cs typeface="Times New Roman" panose="02020603050405020304" pitchFamily="18" charset="0"/>
              </a:rPr>
            </a:br>
            <a:r>
              <a:rPr lang="en-IN" sz="2400" b="0" i="1" dirty="0">
                <a:solidFill>
                  <a:schemeClr val="tx1"/>
                </a:solidFill>
                <a:effectLst/>
                <a:latin typeface="Times New Roman" panose="02020603050405020304" pitchFamily="18" charset="0"/>
                <a:cs typeface="Times New Roman" panose="02020603050405020304" pitchFamily="18" charset="0"/>
              </a:rPr>
              <a:t>};</a:t>
            </a:r>
            <a:endParaRPr lang="en-IN" sz="18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87968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975425E-1116-901A-0E5A-BB3EA72F32BF}"/>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462BD4EB-7D31-36DA-05A1-0026BD34E8BC}"/>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Single Inheritance</a:t>
            </a:r>
            <a:r>
              <a:rPr lang="en-IN" sz="3200" b="1" dirty="0">
                <a:solidFill>
                  <a:srgbClr val="00A4BE"/>
                </a:solidFill>
                <a:latin typeface="Times New Roman" panose="02020603050405020304" pitchFamily="18" charset="0"/>
                <a:cs typeface="Times New Roman" panose="02020603050405020304" pitchFamily="18" charset="0"/>
              </a:rPr>
              <a:t> - Example</a:t>
            </a:r>
            <a:r>
              <a:rPr lang="en-IN" sz="3200" b="1" i="0" u="none" strike="noStrike" baseline="0" dirty="0">
                <a:solidFill>
                  <a:srgbClr val="00A4BE"/>
                </a:solidFill>
                <a:latin typeface="Times New Roman" panose="02020603050405020304" pitchFamily="18" charset="0"/>
                <a:cs typeface="Times New Roman" panose="02020603050405020304" pitchFamily="18" charset="0"/>
              </a:rPr>
              <a:t>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9E03E1C-8EF9-AC84-25BD-6F4C74033C20}"/>
              </a:ext>
            </a:extLst>
          </p:cNvPr>
          <p:cNvSpPr txBox="1"/>
          <p:nvPr/>
        </p:nvSpPr>
        <p:spPr>
          <a:xfrm>
            <a:off x="358589" y="1075764"/>
            <a:ext cx="5279007" cy="5324535"/>
          </a:xfrm>
          <a:prstGeom prst="rect">
            <a:avLst/>
          </a:prstGeom>
          <a:noFill/>
        </p:spPr>
        <p:txBody>
          <a:bodyPr wrap="square">
            <a:spAutoFit/>
          </a:bodyPr>
          <a:lstStyle/>
          <a:p>
            <a:pPr>
              <a:spcBef>
                <a:spcPts val="600"/>
              </a:spcBef>
            </a:pPr>
            <a:r>
              <a:rPr lang="en-IN" dirty="0">
                <a:latin typeface="Times New Roman" panose="02020603050405020304" pitchFamily="18" charset="0"/>
                <a:cs typeface="Times New Roman" panose="02020603050405020304" pitchFamily="18" charset="0"/>
              </a:rPr>
              <a:t>#include &lt;iostream&gt;</a:t>
            </a:r>
          </a:p>
          <a:p>
            <a:pPr>
              <a:spcBef>
                <a:spcPts val="600"/>
              </a:spcBef>
            </a:pPr>
            <a:r>
              <a:rPr lang="en-IN" dirty="0">
                <a:latin typeface="Times New Roman" panose="02020603050405020304" pitchFamily="18" charset="0"/>
                <a:cs typeface="Times New Roman" panose="02020603050405020304" pitchFamily="18" charset="0"/>
              </a:rPr>
              <a:t>using namespace std;</a:t>
            </a:r>
          </a:p>
          <a:p>
            <a:pPr>
              <a:spcBef>
                <a:spcPts val="600"/>
              </a:spcBef>
            </a:pPr>
            <a:r>
              <a:rPr lang="en-IN" dirty="0">
                <a:latin typeface="Times New Roman" panose="02020603050405020304" pitchFamily="18" charset="0"/>
                <a:cs typeface="Times New Roman" panose="02020603050405020304" pitchFamily="18" charset="0"/>
              </a:rPr>
              <a:t>class base    </a:t>
            </a:r>
            <a:r>
              <a:rPr lang="en-IN" dirty="0">
                <a:solidFill>
                  <a:srgbClr val="0070C0"/>
                </a:solidFill>
                <a:latin typeface="Times New Roman" panose="02020603050405020304" pitchFamily="18" charset="0"/>
                <a:cs typeface="Times New Roman" panose="02020603050405020304" pitchFamily="18" charset="0"/>
              </a:rPr>
              <a:t>//single base class</a:t>
            </a:r>
          </a:p>
          <a:p>
            <a:pPr>
              <a:spcBef>
                <a:spcPts val="600"/>
              </a:spcBef>
            </a:pPr>
            <a:r>
              <a:rPr lang="en-IN" dirty="0">
                <a:latin typeface="Times New Roman" panose="02020603050405020304" pitchFamily="18" charset="0"/>
                <a:cs typeface="Times New Roman" panose="02020603050405020304" pitchFamily="18" charset="0"/>
              </a:rPr>
              <a:t>{</a:t>
            </a:r>
          </a:p>
          <a:p>
            <a:pPr>
              <a:spcBef>
                <a:spcPts val="600"/>
              </a:spcBef>
            </a:pPr>
            <a:r>
              <a:rPr lang="en-IN" dirty="0">
                <a:latin typeface="Times New Roman" panose="02020603050405020304" pitchFamily="18" charset="0"/>
                <a:cs typeface="Times New Roman" panose="02020603050405020304" pitchFamily="18" charset="0"/>
              </a:rPr>
              <a:t>   public:</a:t>
            </a:r>
          </a:p>
          <a:p>
            <a:pPr>
              <a:spcBef>
                <a:spcPts val="600"/>
              </a:spcBef>
            </a:pPr>
            <a:r>
              <a:rPr lang="en-IN" dirty="0">
                <a:latin typeface="Times New Roman" panose="02020603050405020304" pitchFamily="18" charset="0"/>
                <a:cs typeface="Times New Roman" panose="02020603050405020304" pitchFamily="18" charset="0"/>
              </a:rPr>
              <a:t>     int x;</a:t>
            </a:r>
          </a:p>
          <a:p>
            <a:pPr>
              <a:spcBef>
                <a:spcPts val="600"/>
              </a:spcBef>
            </a:pPr>
            <a:r>
              <a:rPr lang="en-IN" dirty="0">
                <a:latin typeface="Times New Roman" panose="02020603050405020304" pitchFamily="18" charset="0"/>
                <a:cs typeface="Times New Roman" panose="02020603050405020304" pitchFamily="18" charset="0"/>
              </a:rPr>
              <a:t>   void </a:t>
            </a:r>
            <a:r>
              <a:rPr lang="en-IN" dirty="0" err="1">
                <a:latin typeface="Times New Roman" panose="02020603050405020304" pitchFamily="18" charset="0"/>
                <a:cs typeface="Times New Roman" panose="02020603050405020304" pitchFamily="18" charset="0"/>
              </a:rPr>
              <a:t>getdata</a:t>
            </a:r>
            <a:r>
              <a:rPr lang="en-IN" dirty="0">
                <a:latin typeface="Times New Roman" panose="02020603050405020304" pitchFamily="18" charset="0"/>
                <a:cs typeface="Times New Roman" panose="02020603050405020304" pitchFamily="18" charset="0"/>
              </a:rPr>
              <a:t>() {</a:t>
            </a:r>
          </a:p>
          <a:p>
            <a:pPr>
              <a:spcBef>
                <a:spcPts val="600"/>
              </a:spcBef>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cout</a:t>
            </a:r>
            <a:r>
              <a:rPr lang="en-IN" dirty="0">
                <a:latin typeface="Times New Roman" panose="02020603050405020304" pitchFamily="18" charset="0"/>
                <a:cs typeface="Times New Roman" panose="02020603050405020304" pitchFamily="18" charset="0"/>
              </a:rPr>
              <a:t> &lt;&lt; "Enter the value of x = ";</a:t>
            </a:r>
          </a:p>
          <a:p>
            <a:pPr>
              <a:spcBef>
                <a:spcPts val="600"/>
              </a:spcBef>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cin</a:t>
            </a:r>
            <a:r>
              <a:rPr lang="en-IN" dirty="0">
                <a:latin typeface="Times New Roman" panose="02020603050405020304" pitchFamily="18" charset="0"/>
                <a:cs typeface="Times New Roman" panose="02020603050405020304" pitchFamily="18" charset="0"/>
              </a:rPr>
              <a:t> &gt;&gt; x;</a:t>
            </a:r>
          </a:p>
          <a:p>
            <a:pPr>
              <a:spcBef>
                <a:spcPts val="600"/>
              </a:spcBef>
            </a:pPr>
            <a:r>
              <a:rPr lang="en-IN" dirty="0">
                <a:latin typeface="Times New Roman" panose="02020603050405020304" pitchFamily="18" charset="0"/>
                <a:cs typeface="Times New Roman" panose="02020603050405020304" pitchFamily="18" charset="0"/>
              </a:rPr>
              <a:t>   }</a:t>
            </a:r>
          </a:p>
          <a:p>
            <a:pPr>
              <a:spcBef>
                <a:spcPts val="600"/>
              </a:spcBef>
            </a:pPr>
            <a:r>
              <a:rPr lang="en-IN"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class derive : public base   </a:t>
            </a:r>
            <a:r>
              <a:rPr kumimoji="0" lang="en-IN" b="0"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t>//single derived class</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private:</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int y;</a:t>
            </a:r>
          </a:p>
        </p:txBody>
      </p:sp>
      <p:cxnSp>
        <p:nvCxnSpPr>
          <p:cNvPr id="2" name="Straight Connector 1">
            <a:extLst>
              <a:ext uri="{FF2B5EF4-FFF2-40B4-BE49-F238E27FC236}">
                <a16:creationId xmlns:a16="http://schemas.microsoft.com/office/drawing/2014/main" id="{F51F8F4D-9921-6FDF-1F5D-B8495178FF82}"/>
              </a:ext>
            </a:extLst>
          </p:cNvPr>
          <p:cNvCxnSpPr>
            <a:cxnSpLocks/>
          </p:cNvCxnSpPr>
          <p:nvPr/>
        </p:nvCxnSpPr>
        <p:spPr>
          <a:xfrm>
            <a:off x="5694548" y="1153115"/>
            <a:ext cx="0" cy="5436000"/>
          </a:xfrm>
          <a:prstGeom prst="line">
            <a:avLst/>
          </a:prstGeom>
          <a:ln/>
        </p:spPr>
        <p:style>
          <a:lnRef idx="3">
            <a:schemeClr val="accent1"/>
          </a:lnRef>
          <a:fillRef idx="0">
            <a:schemeClr val="accent1"/>
          </a:fillRef>
          <a:effectRef idx="2">
            <a:schemeClr val="accent1"/>
          </a:effectRef>
          <a:fontRef idx="minor">
            <a:schemeClr val="tx1"/>
          </a:fontRef>
        </p:style>
      </p:cxnSp>
      <p:sp>
        <p:nvSpPr>
          <p:cNvPr id="7" name="TextBox 6">
            <a:extLst>
              <a:ext uri="{FF2B5EF4-FFF2-40B4-BE49-F238E27FC236}">
                <a16:creationId xmlns:a16="http://schemas.microsoft.com/office/drawing/2014/main" id="{12DDF801-1DE3-A91E-CF9F-C9B1AF0CB18A}"/>
              </a:ext>
            </a:extLst>
          </p:cNvPr>
          <p:cNvSpPr txBox="1"/>
          <p:nvPr/>
        </p:nvSpPr>
        <p:spPr>
          <a:xfrm>
            <a:off x="5808453" y="1075764"/>
            <a:ext cx="6151498" cy="5444054"/>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public:</a:t>
            </a:r>
          </a:p>
          <a:p>
            <a:pPr lvl="1">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void </a:t>
            </a:r>
            <a:r>
              <a:rPr kumimoji="0" lang="en-IN"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readdata</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lvl="1">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&lt;&lt; "Enter the value of y = ";</a:t>
            </a:r>
          </a:p>
          <a:p>
            <a:pPr lvl="1">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cin</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&gt;&gt; y;</a:t>
            </a:r>
          </a:p>
          <a:p>
            <a:pPr lvl="1">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lang="en-IN" kern="0" dirty="0">
                <a:solidFill>
                  <a:srgbClr val="000000"/>
                </a:solidFill>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void product()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&lt;&lt; "Product = " &lt;&lt; x * 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int main()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derive a</a:t>
            </a:r>
            <a:r>
              <a:rPr kumimoji="0" lang="en-IN" b="0" i="0" u="none" strike="noStrike" kern="0" cap="none" spc="0" normalizeH="0" baseline="0" noProof="0" dirty="0">
                <a:ln>
                  <a:noFill/>
                </a:ln>
                <a:effectLst/>
                <a:uLnTx/>
                <a:uFillTx/>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t>//object of derived class</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a.getdata</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a.readdata</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a.product</a:t>
            </a: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return 0;</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p:txBody>
      </p:sp>
      <p:sp>
        <p:nvSpPr>
          <p:cNvPr id="3" name="TextBox 2">
            <a:extLst>
              <a:ext uri="{FF2B5EF4-FFF2-40B4-BE49-F238E27FC236}">
                <a16:creationId xmlns:a16="http://schemas.microsoft.com/office/drawing/2014/main" id="{84E01B11-5231-5151-9125-6521240092AD}"/>
              </a:ext>
            </a:extLst>
          </p:cNvPr>
          <p:cNvSpPr txBox="1"/>
          <p:nvPr/>
        </p:nvSpPr>
        <p:spPr>
          <a:xfrm>
            <a:off x="9187899" y="4814047"/>
            <a:ext cx="2256143" cy="369332"/>
          </a:xfrm>
          <a:prstGeom prst="rect">
            <a:avLst/>
          </a:prstGeom>
          <a:noFill/>
        </p:spPr>
        <p:txBody>
          <a:bodyPr wrap="square">
            <a:spAutoFit/>
          </a:bodyPr>
          <a:lstStyle/>
          <a:p>
            <a:r>
              <a:rPr lang="en-IN" b="1" dirty="0">
                <a:solidFill>
                  <a:srgbClr val="0070C0"/>
                </a:solidFill>
                <a:latin typeface="Times New Roman" panose="02020603050405020304" pitchFamily="18" charset="0"/>
                <a:cs typeface="Times New Roman" panose="02020603050405020304" pitchFamily="18" charset="0"/>
              </a:rPr>
              <a:t>Output:</a:t>
            </a:r>
          </a:p>
        </p:txBody>
      </p:sp>
      <p:pic>
        <p:nvPicPr>
          <p:cNvPr id="4" name="Picture 3">
            <a:extLst>
              <a:ext uri="{FF2B5EF4-FFF2-40B4-BE49-F238E27FC236}">
                <a16:creationId xmlns:a16="http://schemas.microsoft.com/office/drawing/2014/main" id="{DF26CF68-1C6E-4E5B-70DF-DEABF8BA36B4}"/>
              </a:ext>
            </a:extLst>
          </p:cNvPr>
          <p:cNvPicPr>
            <a:picLocks noChangeAspect="1"/>
          </p:cNvPicPr>
          <p:nvPr/>
        </p:nvPicPr>
        <p:blipFill>
          <a:blip r:embed="rId3"/>
          <a:stretch>
            <a:fillRect/>
          </a:stretch>
        </p:blipFill>
        <p:spPr>
          <a:xfrm>
            <a:off x="9187899" y="5183379"/>
            <a:ext cx="2471891" cy="936836"/>
          </a:xfrm>
          <a:prstGeom prst="rect">
            <a:avLst/>
          </a:prstGeom>
        </p:spPr>
      </p:pic>
    </p:spTree>
    <p:extLst>
      <p:ext uri="{BB962C8B-B14F-4D97-AF65-F5344CB8AC3E}">
        <p14:creationId xmlns:p14="http://schemas.microsoft.com/office/powerpoint/2010/main" val="2504721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6348EF7-F1E3-BC98-58EF-6015AF56A5D1}"/>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16F99D9C-6612-3549-8033-F640BA36C954}"/>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Multiple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EBB1E891-CDDF-E243-E16B-38658E3500E7}"/>
              </a:ext>
            </a:extLst>
          </p:cNvPr>
          <p:cNvSpPr txBox="1"/>
          <p:nvPr/>
        </p:nvSpPr>
        <p:spPr>
          <a:xfrm>
            <a:off x="646114" y="1250092"/>
            <a:ext cx="5369204" cy="390395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dirty="0">
                <a:solidFill>
                  <a:srgbClr val="333333"/>
                </a:solidFill>
                <a:latin typeface="Times New Roman" panose="02020603050405020304" pitchFamily="18" charset="0"/>
                <a:cs typeface="Times New Roman" panose="02020603050405020304" pitchFamily="18" charset="0"/>
              </a:rPr>
              <a:t>W</a:t>
            </a:r>
            <a:r>
              <a:rPr lang="en-IN" sz="2400" b="0" i="0" dirty="0">
                <a:solidFill>
                  <a:srgbClr val="333333"/>
                </a:solidFill>
                <a:effectLst/>
                <a:latin typeface="Times New Roman" panose="02020603050405020304" pitchFamily="18" charset="0"/>
                <a:cs typeface="Times New Roman" panose="02020603050405020304" pitchFamily="18" charset="0"/>
              </a:rPr>
              <a:t>hen the </a:t>
            </a:r>
            <a:r>
              <a:rPr lang="en-IN" sz="2400" b="1" i="0" dirty="0">
                <a:solidFill>
                  <a:srgbClr val="333333"/>
                </a:solidFill>
                <a:effectLst/>
                <a:latin typeface="Times New Roman" panose="02020603050405020304" pitchFamily="18" charset="0"/>
                <a:cs typeface="Times New Roman" panose="02020603050405020304" pitchFamily="18" charset="0"/>
              </a:rPr>
              <a:t>child class inherits its properties from more than one base class</a:t>
            </a:r>
            <a:r>
              <a:rPr lang="en-IN" sz="2400" b="0" i="0" dirty="0">
                <a:solidFill>
                  <a:srgbClr val="333333"/>
                </a:solidFill>
                <a:effectLst/>
                <a:latin typeface="Times New Roman" panose="02020603050405020304" pitchFamily="18" charset="0"/>
                <a:cs typeface="Times New Roman" panose="02020603050405020304" pitchFamily="18" charset="0"/>
              </a:rPr>
              <a:t>. </a:t>
            </a:r>
          </a:p>
          <a:p>
            <a:pPr marL="285750" indent="-285750" algn="just">
              <a:lnSpc>
                <a:spcPct val="150000"/>
              </a:lnSpc>
              <a:buFont typeface="Arial" panose="020B0604020202020204" pitchFamily="34" charset="0"/>
              <a:buChar char="•"/>
            </a:pPr>
            <a:endParaRPr lang="en-IN" sz="2400" b="0" i="0" dirty="0">
              <a:solidFill>
                <a:srgbClr val="333333"/>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400" b="0" i="0" dirty="0">
                <a:solidFill>
                  <a:srgbClr val="333333"/>
                </a:solidFill>
                <a:effectLst/>
                <a:latin typeface="Times New Roman" panose="02020603050405020304" pitchFamily="18" charset="0"/>
                <a:cs typeface="Times New Roman" panose="02020603050405020304" pitchFamily="18" charset="0"/>
              </a:rPr>
              <a:t>If a </a:t>
            </a:r>
            <a:r>
              <a:rPr lang="en-IN" sz="2400" b="1" i="0" dirty="0">
                <a:solidFill>
                  <a:srgbClr val="333333"/>
                </a:solidFill>
                <a:effectLst/>
                <a:latin typeface="Times New Roman" panose="02020603050405020304" pitchFamily="18" charset="0"/>
                <a:cs typeface="Times New Roman" panose="02020603050405020304" pitchFamily="18" charset="0"/>
              </a:rPr>
              <a:t>class is derived from two or more base classes </a:t>
            </a:r>
            <a:r>
              <a:rPr lang="en-IN" sz="2400" b="0" i="0" dirty="0">
                <a:solidFill>
                  <a:srgbClr val="333333"/>
                </a:solidFill>
                <a:effectLst/>
                <a:latin typeface="Times New Roman" panose="02020603050405020304" pitchFamily="18" charset="0"/>
                <a:cs typeface="Times New Roman" panose="02020603050405020304" pitchFamily="18" charset="0"/>
              </a:rPr>
              <a:t>then it is called </a:t>
            </a:r>
            <a:r>
              <a:rPr lang="en-IN" sz="2400" b="1" i="0" dirty="0">
                <a:solidFill>
                  <a:srgbClr val="FF0000"/>
                </a:solidFill>
                <a:effectLst/>
                <a:latin typeface="Times New Roman" panose="02020603050405020304" pitchFamily="18" charset="0"/>
                <a:cs typeface="Times New Roman" panose="02020603050405020304" pitchFamily="18" charset="0"/>
              </a:rPr>
              <a:t>multiple inheritance.</a:t>
            </a:r>
          </a:p>
        </p:txBody>
      </p:sp>
      <p:pic>
        <p:nvPicPr>
          <p:cNvPr id="3" name="Picture 2">
            <a:extLst>
              <a:ext uri="{FF2B5EF4-FFF2-40B4-BE49-F238E27FC236}">
                <a16:creationId xmlns:a16="http://schemas.microsoft.com/office/drawing/2014/main" id="{42D8CDA3-0CD5-A78A-7CC6-7A94E782FCFA}"/>
              </a:ext>
            </a:extLst>
          </p:cNvPr>
          <p:cNvPicPr>
            <a:picLocks noChangeAspect="1"/>
          </p:cNvPicPr>
          <p:nvPr/>
        </p:nvPicPr>
        <p:blipFill>
          <a:blip r:embed="rId3"/>
          <a:stretch>
            <a:fillRect/>
          </a:stretch>
        </p:blipFill>
        <p:spPr>
          <a:xfrm>
            <a:off x="6276748" y="1377950"/>
            <a:ext cx="4991232" cy="3648237"/>
          </a:xfrm>
          <a:prstGeom prst="rect">
            <a:avLst/>
          </a:prstGeom>
        </p:spPr>
      </p:pic>
    </p:spTree>
    <p:extLst>
      <p:ext uri="{BB962C8B-B14F-4D97-AF65-F5344CB8AC3E}">
        <p14:creationId xmlns:p14="http://schemas.microsoft.com/office/powerpoint/2010/main" val="1029817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4E2E733-3817-48B9-0735-BFA8E44B3F7D}"/>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AA9E4BBE-C36E-A8C5-069F-0F0A50355ABB}"/>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Multiple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28846C5-89F0-9A85-4879-56FFE3A98292}"/>
              </a:ext>
            </a:extLst>
          </p:cNvPr>
          <p:cNvSpPr txBox="1"/>
          <p:nvPr/>
        </p:nvSpPr>
        <p:spPr>
          <a:xfrm>
            <a:off x="439272" y="1106948"/>
            <a:ext cx="11089340" cy="5047536"/>
          </a:xfrm>
          <a:prstGeom prst="rect">
            <a:avLst/>
          </a:prstGeom>
          <a:noFill/>
        </p:spPr>
        <p:txBody>
          <a:bodyPr wrap="square">
            <a:spAutoFit/>
          </a:bodyPr>
          <a:lstStyle/>
          <a:p>
            <a:pPr marL="0" marR="0" lvl="0" indent="0" algn="l" defTabSz="914400" rtl="0" eaLnBrk="1" fontAlgn="base" latinLnBrk="0" hangingPunct="1">
              <a:lnSpc>
                <a:spcPct val="100000"/>
              </a:lnSpc>
              <a:spcBef>
                <a:spcPts val="600"/>
              </a:spcBef>
              <a:spcAft>
                <a:spcPts val="0"/>
              </a:spcAft>
              <a:buClr>
                <a:srgbClr val="000000"/>
              </a:buClr>
              <a:buSzTx/>
              <a:buFont typeface="Arial"/>
              <a:buNone/>
              <a:tabLst/>
              <a:defRPr/>
            </a:pPr>
            <a:r>
              <a:rPr kumimoji="0" lang="en-IN" sz="2400" b="1"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t>Syntax</a:t>
            </a:r>
          </a:p>
          <a:p>
            <a:pPr marL="361950" marR="0" lvl="1" indent="0" algn="l" defTabSz="914400" rtl="0" eaLnBrk="1" fontAlgn="base" latinLnBrk="0" hangingPunct="1">
              <a:lnSpc>
                <a:spcPct val="100000"/>
              </a:lnSpc>
              <a:spcBef>
                <a:spcPts val="1200"/>
              </a:spcBef>
              <a:spcAft>
                <a:spcPts val="0"/>
              </a:spcAft>
              <a:buClr>
                <a:srgbClr val="000000"/>
              </a:buClr>
              <a:buSzTx/>
              <a:buFont typeface="Arial"/>
              <a:buNone/>
              <a:tabLst/>
              <a:defRPr/>
            </a:pP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class A </a:t>
            </a:r>
            <a: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 Base class A</a:t>
            </a:r>
            <a:b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 Body of the class A</a:t>
            </a:r>
            <a:b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class B </a:t>
            </a:r>
            <a: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 Base Class B</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 Body of the class B</a:t>
            </a:r>
            <a:b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class C : </a:t>
            </a:r>
            <a:r>
              <a:rPr kumimoji="0" lang="en-IN"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acess_specifier</a:t>
            </a: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 </a:t>
            </a:r>
            <a:r>
              <a:rPr kumimoji="0" lang="en-IN"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access_specifier</a:t>
            </a: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B </a:t>
            </a:r>
            <a:r>
              <a:rPr kumimoji="0" lang="en-IN" sz="2400" b="0"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t>// Derived from</a:t>
            </a:r>
            <a:r>
              <a:rPr lang="en-IN" sz="2400" kern="0" dirty="0">
                <a:solidFill>
                  <a:srgbClr val="0070C0"/>
                </a:solidFill>
                <a:latin typeface="Times New Roman" panose="02020603050405020304" pitchFamily="18" charset="0"/>
                <a:cs typeface="Times New Roman" panose="02020603050405020304" pitchFamily="18" charset="0"/>
                <a:sym typeface="Arial"/>
              </a:rPr>
              <a:t> </a:t>
            </a:r>
            <a:r>
              <a:rPr kumimoji="0" lang="en-IN" sz="2400" b="0"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t>of A and B</a:t>
            </a:r>
            <a:br>
              <a:rPr kumimoji="0" lang="en-IN" sz="2400" b="0"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b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t>// Body of class C</a:t>
            </a:r>
            <a:br>
              <a:rPr kumimoji="0" lang="en-IN" sz="2400" b="0"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a:rPr>
            </a:br>
            <a:r>
              <a:rPr kumimoji="0" lang="en-IN"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p:txBody>
      </p:sp>
    </p:spTree>
    <p:extLst>
      <p:ext uri="{BB962C8B-B14F-4D97-AF65-F5344CB8AC3E}">
        <p14:creationId xmlns:p14="http://schemas.microsoft.com/office/powerpoint/2010/main" val="11678361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D070766-727A-522A-16AE-C796ED82666A}"/>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03794B4E-2DC1-6E2D-7B77-EC9F2829BCFF}"/>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Multiple Inheritance - Example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4506BD3-F019-5639-CBB5-93CBC0E9A085}"/>
              </a:ext>
            </a:extLst>
          </p:cNvPr>
          <p:cNvSpPr txBox="1"/>
          <p:nvPr/>
        </p:nvSpPr>
        <p:spPr>
          <a:xfrm>
            <a:off x="376518" y="965099"/>
            <a:ext cx="5876312" cy="5701561"/>
          </a:xfrm>
          <a:prstGeom prst="rect">
            <a:avLst/>
          </a:prstGeom>
          <a:noFill/>
        </p:spPr>
        <p:txBody>
          <a:bodyPr wrap="square">
            <a:spAutoFit/>
          </a:bodyPr>
          <a:lstStyle/>
          <a:p>
            <a:pPr>
              <a:spcBef>
                <a:spcPts val="100"/>
              </a:spcBef>
            </a:pPr>
            <a:r>
              <a:rPr lang="en-IN" sz="1600" dirty="0">
                <a:latin typeface="Times New Roman" panose="02020603050405020304" pitchFamily="18" charset="0"/>
                <a:cs typeface="Times New Roman" panose="02020603050405020304" pitchFamily="18" charset="0"/>
              </a:rPr>
              <a:t>#include&lt;iostream&gt;</a:t>
            </a:r>
          </a:p>
          <a:p>
            <a:pPr>
              <a:spcBef>
                <a:spcPts val="100"/>
              </a:spcBef>
            </a:pPr>
            <a:r>
              <a:rPr lang="en-IN" sz="1600" dirty="0">
                <a:latin typeface="Times New Roman" panose="02020603050405020304" pitchFamily="18" charset="0"/>
                <a:cs typeface="Times New Roman" panose="02020603050405020304" pitchFamily="18" charset="0"/>
              </a:rPr>
              <a:t>using namespace std;</a:t>
            </a:r>
          </a:p>
          <a:p>
            <a:pPr>
              <a:spcBef>
                <a:spcPts val="100"/>
              </a:spcBef>
            </a:pPr>
            <a:r>
              <a:rPr lang="en-IN" sz="1600" dirty="0">
                <a:latin typeface="Times New Roman" panose="02020603050405020304" pitchFamily="18" charset="0"/>
                <a:cs typeface="Times New Roman" panose="02020603050405020304" pitchFamily="18" charset="0"/>
              </a:rPr>
              <a:t>class A   </a:t>
            </a:r>
            <a:r>
              <a:rPr lang="en-IN" sz="1600" dirty="0">
                <a:solidFill>
                  <a:srgbClr val="FF0000"/>
                </a:solidFill>
                <a:latin typeface="Times New Roman" panose="02020603050405020304" pitchFamily="18" charset="0"/>
                <a:cs typeface="Times New Roman" panose="02020603050405020304" pitchFamily="18" charset="0"/>
              </a:rPr>
              <a:t>// base 1</a:t>
            </a:r>
          </a:p>
          <a:p>
            <a:pPr>
              <a:spcBef>
                <a:spcPts val="100"/>
              </a:spcBef>
            </a:pPr>
            <a:r>
              <a:rPr lang="en-IN" sz="1600" dirty="0">
                <a:latin typeface="Times New Roman" panose="02020603050405020304" pitchFamily="18" charset="0"/>
                <a:cs typeface="Times New Roman" panose="02020603050405020304" pitchFamily="18" charset="0"/>
              </a:rPr>
              <a:t>{</a:t>
            </a:r>
          </a:p>
          <a:p>
            <a:pPr>
              <a:spcBef>
                <a:spcPts val="100"/>
              </a:spcBef>
            </a:pPr>
            <a:r>
              <a:rPr lang="en-IN" sz="1600" dirty="0">
                <a:latin typeface="Times New Roman" panose="02020603050405020304" pitchFamily="18" charset="0"/>
                <a:cs typeface="Times New Roman" panose="02020603050405020304" pitchFamily="18" charset="0"/>
              </a:rPr>
              <a:t> 	public:</a:t>
            </a:r>
          </a:p>
          <a:p>
            <a:pPr>
              <a:spcBef>
                <a:spcPts val="100"/>
              </a:spcBef>
            </a:pPr>
            <a:r>
              <a:rPr lang="en-IN" sz="1600" dirty="0">
                <a:latin typeface="Times New Roman" panose="02020603050405020304" pitchFamily="18" charset="0"/>
                <a:cs typeface="Times New Roman" panose="02020603050405020304" pitchFamily="18" charset="0"/>
              </a:rPr>
              <a:t> 	int x;</a:t>
            </a:r>
          </a:p>
          <a:p>
            <a:pPr>
              <a:spcBef>
                <a:spcPts val="100"/>
              </a:spcBef>
            </a:pPr>
            <a:r>
              <a:rPr lang="en-IN" sz="1600" dirty="0">
                <a:latin typeface="Times New Roman" panose="02020603050405020304" pitchFamily="18" charset="0"/>
                <a:cs typeface="Times New Roman" panose="02020603050405020304" pitchFamily="18" charset="0"/>
              </a:rPr>
              <a:t> 	void </a:t>
            </a:r>
            <a:r>
              <a:rPr lang="en-IN" sz="1600" dirty="0" err="1">
                <a:latin typeface="Times New Roman" panose="02020603050405020304" pitchFamily="18" charset="0"/>
                <a:cs typeface="Times New Roman" panose="02020603050405020304" pitchFamily="18" charset="0"/>
              </a:rPr>
              <a:t>getx</a:t>
            </a:r>
            <a:r>
              <a:rPr lang="en-IN" sz="1600" dirty="0">
                <a:latin typeface="Times New Roman" panose="02020603050405020304" pitchFamily="18" charset="0"/>
                <a:cs typeface="Times New Roman" panose="02020603050405020304" pitchFamily="18" charset="0"/>
              </a:rPr>
              <a:t>()</a:t>
            </a:r>
          </a:p>
          <a:p>
            <a:pPr>
              <a:spcBef>
                <a:spcPts val="100"/>
              </a:spcBef>
            </a:pPr>
            <a:r>
              <a:rPr lang="en-IN" sz="1600" dirty="0">
                <a:latin typeface="Times New Roman" panose="02020603050405020304" pitchFamily="18" charset="0"/>
                <a:cs typeface="Times New Roman" panose="02020603050405020304" pitchFamily="18" charset="0"/>
              </a:rPr>
              <a:t>    {</a:t>
            </a:r>
          </a:p>
          <a:p>
            <a:pPr>
              <a:spcBef>
                <a:spcPts val="100"/>
              </a:spcBef>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 &lt;&lt; "Enter value of x: ";</a:t>
            </a:r>
          </a:p>
          <a:p>
            <a:pPr>
              <a:spcBef>
                <a:spcPts val="100"/>
              </a:spcBef>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cin</a:t>
            </a:r>
            <a:r>
              <a:rPr lang="en-IN" sz="1600" dirty="0">
                <a:latin typeface="Times New Roman" panose="02020603050405020304" pitchFamily="18" charset="0"/>
                <a:cs typeface="Times New Roman" panose="02020603050405020304" pitchFamily="18" charset="0"/>
              </a:rPr>
              <a:t> &gt;&gt; x;</a:t>
            </a:r>
          </a:p>
          <a:p>
            <a:pPr>
              <a:spcBef>
                <a:spcPts val="100"/>
              </a:spcBef>
            </a:pPr>
            <a:r>
              <a:rPr lang="en-IN" sz="1600" dirty="0">
                <a:latin typeface="Times New Roman" panose="02020603050405020304" pitchFamily="18" charset="0"/>
                <a:cs typeface="Times New Roman" panose="02020603050405020304" pitchFamily="18" charset="0"/>
              </a:rPr>
              <a:t>    }</a:t>
            </a:r>
          </a:p>
          <a:p>
            <a:pPr>
              <a:spcBef>
                <a:spcPts val="100"/>
              </a:spcBef>
            </a:pPr>
            <a:r>
              <a:rPr lang="en-IN" sz="1600" dirty="0">
                <a:latin typeface="Times New Roman" panose="02020603050405020304" pitchFamily="18" charset="0"/>
                <a:cs typeface="Times New Roman" panose="02020603050405020304" pitchFamily="18" charset="0"/>
              </a:rPr>
              <a:t>};</a:t>
            </a:r>
          </a:p>
          <a:p>
            <a:pPr>
              <a:spcBef>
                <a:spcPts val="100"/>
              </a:spcBef>
            </a:pPr>
            <a:r>
              <a:rPr lang="en-IN" sz="1600" dirty="0">
                <a:latin typeface="Times New Roman" panose="02020603050405020304" pitchFamily="18" charset="0"/>
                <a:cs typeface="Times New Roman" panose="02020603050405020304" pitchFamily="18" charset="0"/>
              </a:rPr>
              <a:t>class B    </a:t>
            </a:r>
            <a:r>
              <a:rPr lang="en-IN" sz="1600" dirty="0">
                <a:solidFill>
                  <a:srgbClr val="FF0000"/>
                </a:solidFill>
                <a:latin typeface="Times New Roman" panose="02020603050405020304" pitchFamily="18" charset="0"/>
                <a:cs typeface="Times New Roman" panose="02020603050405020304" pitchFamily="18" charset="0"/>
              </a:rPr>
              <a:t>// base 2</a:t>
            </a:r>
          </a:p>
          <a:p>
            <a:pPr>
              <a:spcBef>
                <a:spcPts val="100"/>
              </a:spcBef>
            </a:pPr>
            <a:r>
              <a:rPr lang="en-IN" sz="1600" dirty="0">
                <a:latin typeface="Times New Roman" panose="02020603050405020304" pitchFamily="18" charset="0"/>
                <a:cs typeface="Times New Roman" panose="02020603050405020304" pitchFamily="18" charset="0"/>
              </a:rPr>
              <a:t>{</a:t>
            </a:r>
          </a:p>
          <a:p>
            <a:pPr>
              <a:spcBef>
                <a:spcPts val="100"/>
              </a:spcBef>
            </a:pPr>
            <a:r>
              <a:rPr lang="en-IN" sz="1600" dirty="0">
                <a:latin typeface="Times New Roman" panose="02020603050405020304" pitchFamily="18" charset="0"/>
                <a:cs typeface="Times New Roman" panose="02020603050405020304" pitchFamily="18" charset="0"/>
              </a:rPr>
              <a:t> 	public:</a:t>
            </a:r>
          </a:p>
          <a:p>
            <a:pPr>
              <a:spcBef>
                <a:spcPts val="100"/>
              </a:spcBef>
            </a:pPr>
            <a:r>
              <a:rPr lang="en-IN" sz="1600" dirty="0">
                <a:latin typeface="Times New Roman" panose="02020603050405020304" pitchFamily="18" charset="0"/>
                <a:cs typeface="Times New Roman" panose="02020603050405020304" pitchFamily="18" charset="0"/>
              </a:rPr>
              <a:t> 	int y;</a:t>
            </a:r>
          </a:p>
          <a:p>
            <a:r>
              <a:rPr lang="en-IN" sz="1600" dirty="0">
                <a:latin typeface="Times New Roman" panose="02020603050405020304" pitchFamily="18" charset="0"/>
                <a:cs typeface="Times New Roman" panose="02020603050405020304" pitchFamily="18" charset="0"/>
              </a:rPr>
              <a:t>void </a:t>
            </a:r>
            <a:r>
              <a:rPr lang="en-IN" sz="1600" dirty="0" err="1">
                <a:latin typeface="Times New Roman" panose="02020603050405020304" pitchFamily="18" charset="0"/>
                <a:cs typeface="Times New Roman" panose="02020603050405020304" pitchFamily="18" charset="0"/>
              </a:rPr>
              <a:t>gety</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 &lt;&lt; "Enter value of y: ";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cin</a:t>
            </a:r>
            <a:r>
              <a:rPr lang="en-IN" sz="1600" dirty="0">
                <a:latin typeface="Times New Roman" panose="02020603050405020304" pitchFamily="18" charset="0"/>
                <a:cs typeface="Times New Roman" panose="02020603050405020304" pitchFamily="18" charset="0"/>
              </a:rPr>
              <a:t> &gt;&gt; y;</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a:t>
            </a:r>
          </a:p>
        </p:txBody>
      </p:sp>
      <p:cxnSp>
        <p:nvCxnSpPr>
          <p:cNvPr id="2" name="Straight Connector 1">
            <a:extLst>
              <a:ext uri="{FF2B5EF4-FFF2-40B4-BE49-F238E27FC236}">
                <a16:creationId xmlns:a16="http://schemas.microsoft.com/office/drawing/2014/main" id="{954FF552-BDEA-338D-2902-1B74D77AEB47}"/>
              </a:ext>
            </a:extLst>
          </p:cNvPr>
          <p:cNvCxnSpPr>
            <a:cxnSpLocks/>
          </p:cNvCxnSpPr>
          <p:nvPr/>
        </p:nvCxnSpPr>
        <p:spPr>
          <a:xfrm>
            <a:off x="6167718" y="1155074"/>
            <a:ext cx="0" cy="5436000"/>
          </a:xfrm>
          <a:prstGeom prst="line">
            <a:avLst/>
          </a:prstGeom>
          <a:ln/>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5BAA4533-3D17-E427-FA00-BA4FC0E5FA63}"/>
              </a:ext>
            </a:extLst>
          </p:cNvPr>
          <p:cNvSpPr txBox="1"/>
          <p:nvPr/>
        </p:nvSpPr>
        <p:spPr>
          <a:xfrm>
            <a:off x="6167718" y="1155073"/>
            <a:ext cx="6181111" cy="5632311"/>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class C : public A, public B   </a:t>
            </a:r>
            <a:r>
              <a:rPr lang="en-IN" sz="1600" dirty="0">
                <a:solidFill>
                  <a:srgbClr val="FF0000"/>
                </a:solidFill>
                <a:latin typeface="Times New Roman" panose="02020603050405020304" pitchFamily="18" charset="0"/>
                <a:cs typeface="Times New Roman" panose="02020603050405020304" pitchFamily="18" charset="0"/>
              </a:rPr>
              <a:t>//C is derived from Class A and class B</a:t>
            </a:r>
          </a:p>
          <a:p>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public:</a:t>
            </a:r>
          </a:p>
          <a:p>
            <a:r>
              <a:rPr lang="en-IN" sz="1600" dirty="0">
                <a:latin typeface="Times New Roman" panose="02020603050405020304" pitchFamily="18" charset="0"/>
                <a:cs typeface="Times New Roman" panose="02020603050405020304" pitchFamily="18" charset="0"/>
              </a:rPr>
              <a:t> 	void sum()</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 &lt;&lt; "Sum = " &lt;&lt; x + y&lt;&lt;</a:t>
            </a:r>
            <a:r>
              <a:rPr lang="en-IN" sz="1600" dirty="0" err="1">
                <a:latin typeface="Times New Roman" panose="02020603050405020304" pitchFamily="18" charset="0"/>
                <a:cs typeface="Times New Roman" panose="02020603050405020304" pitchFamily="18" charset="0"/>
              </a:rPr>
              <a:t>endl</a:t>
            </a:r>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void product()</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 &lt;&lt; "Product = " &lt;&lt; x * y;</a:t>
            </a:r>
          </a:p>
          <a:p>
            <a:r>
              <a:rPr lang="en-IN" sz="1600" dirty="0">
                <a:latin typeface="Times New Roman" panose="02020603050405020304" pitchFamily="18" charset="0"/>
                <a:cs typeface="Times New Roman" panose="02020603050405020304" pitchFamily="18" charset="0"/>
              </a:rPr>
              <a:t> 	}</a:t>
            </a:r>
          </a:p>
          <a:p>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int main()</a:t>
            </a:r>
          </a:p>
          <a:p>
            <a:r>
              <a:rPr lang="en-IN" sz="1600" dirty="0">
                <a:latin typeface="Times New Roman" panose="02020603050405020304" pitchFamily="18" charset="0"/>
                <a:cs typeface="Times New Roman" panose="02020603050405020304" pitchFamily="18" charset="0"/>
              </a:rPr>
              <a:t>{</a:t>
            </a:r>
          </a:p>
          <a:p>
            <a:r>
              <a:rPr lang="en-IN" sz="1600" dirty="0">
                <a:latin typeface="Times New Roman" panose="02020603050405020304" pitchFamily="18" charset="0"/>
                <a:cs typeface="Times New Roman" panose="02020603050405020304" pitchFamily="18" charset="0"/>
              </a:rPr>
              <a:t> 	 C obj1; </a:t>
            </a:r>
            <a:r>
              <a:rPr lang="en-IN" sz="1600" dirty="0">
                <a:solidFill>
                  <a:srgbClr val="FF0000"/>
                </a:solidFill>
                <a:latin typeface="Times New Roman" panose="02020603050405020304" pitchFamily="18" charset="0"/>
                <a:cs typeface="Times New Roman" panose="02020603050405020304" pitchFamily="18" charset="0"/>
              </a:rPr>
              <a:t>//object of derived class C</a:t>
            </a:r>
          </a:p>
          <a:p>
            <a:r>
              <a:rPr lang="en-IN" sz="1600" dirty="0">
                <a:latin typeface="Times New Roman" panose="02020603050405020304" pitchFamily="18" charset="0"/>
                <a:cs typeface="Times New Roman" panose="02020603050405020304" pitchFamily="18" charset="0"/>
              </a:rPr>
              <a:t> 	 obj1.getx();</a:t>
            </a:r>
          </a:p>
          <a:p>
            <a:r>
              <a:rPr lang="en-IN" sz="1600" dirty="0">
                <a:latin typeface="Times New Roman" panose="02020603050405020304" pitchFamily="18" charset="0"/>
                <a:cs typeface="Times New Roman" panose="02020603050405020304" pitchFamily="18" charset="0"/>
              </a:rPr>
              <a:t> 	 obj1.gety();</a:t>
            </a:r>
          </a:p>
          <a:p>
            <a:r>
              <a:rPr lang="en-IN" sz="1600" dirty="0">
                <a:latin typeface="Times New Roman" panose="02020603050405020304" pitchFamily="18" charset="0"/>
                <a:cs typeface="Times New Roman" panose="02020603050405020304" pitchFamily="18" charset="0"/>
              </a:rPr>
              <a:t> 	 obj1.sum();</a:t>
            </a:r>
          </a:p>
          <a:p>
            <a:r>
              <a:rPr lang="en-IN" sz="1600" dirty="0">
                <a:latin typeface="Times New Roman" panose="02020603050405020304" pitchFamily="18" charset="0"/>
                <a:cs typeface="Times New Roman" panose="02020603050405020304" pitchFamily="18" charset="0"/>
              </a:rPr>
              <a:t> 	 obj1.product();</a:t>
            </a:r>
          </a:p>
          <a:p>
            <a:r>
              <a:rPr lang="en-IN" sz="1600" dirty="0">
                <a:latin typeface="Times New Roman" panose="02020603050405020304" pitchFamily="18" charset="0"/>
                <a:cs typeface="Times New Roman" panose="02020603050405020304" pitchFamily="18" charset="0"/>
              </a:rPr>
              <a:t>    	return 0;</a:t>
            </a:r>
          </a:p>
          <a:p>
            <a:r>
              <a:rPr lang="en-IN" sz="16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	</a:t>
            </a:r>
          </a:p>
          <a:p>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E88DABD-BBBB-1D26-B710-BF9B2CB86BF5}"/>
              </a:ext>
            </a:extLst>
          </p:cNvPr>
          <p:cNvPicPr>
            <a:picLocks noChangeAspect="1"/>
          </p:cNvPicPr>
          <p:nvPr/>
        </p:nvPicPr>
        <p:blipFill>
          <a:blip r:embed="rId3"/>
          <a:stretch>
            <a:fillRect/>
          </a:stretch>
        </p:blipFill>
        <p:spPr>
          <a:xfrm>
            <a:off x="9300829" y="5230298"/>
            <a:ext cx="1541931" cy="1360776"/>
          </a:xfrm>
          <a:prstGeom prst="rect">
            <a:avLst/>
          </a:prstGeom>
        </p:spPr>
      </p:pic>
    </p:spTree>
    <p:extLst>
      <p:ext uri="{BB962C8B-B14F-4D97-AF65-F5344CB8AC3E}">
        <p14:creationId xmlns:p14="http://schemas.microsoft.com/office/powerpoint/2010/main" val="10243279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A99E36E-DC48-C122-153B-E0E21CE73721}"/>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91B23334-EFEA-FA7D-FA3D-27322DDE23DD}"/>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Multilevel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673319C-E96A-DF19-60AA-C1111D8E38F3}"/>
              </a:ext>
            </a:extLst>
          </p:cNvPr>
          <p:cNvSpPr txBox="1"/>
          <p:nvPr/>
        </p:nvSpPr>
        <p:spPr>
          <a:xfrm>
            <a:off x="313765" y="1202252"/>
            <a:ext cx="5782235" cy="390395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b="0" dirty="0">
                <a:solidFill>
                  <a:schemeClr val="tx1"/>
                </a:solidFill>
                <a:effectLst/>
                <a:latin typeface="Times New Roman" panose="02020603050405020304" pitchFamily="18" charset="0"/>
                <a:cs typeface="Times New Roman" panose="02020603050405020304" pitchFamily="18" charset="0"/>
              </a:rPr>
              <a:t>This type of inheritance is the best way to represent the </a:t>
            </a:r>
            <a:r>
              <a:rPr lang="en-IN" sz="2400" dirty="0">
                <a:solidFill>
                  <a:schemeClr val="tx1"/>
                </a:solidFill>
                <a:effectLst/>
                <a:latin typeface="Times New Roman" panose="02020603050405020304" pitchFamily="18" charset="0"/>
                <a:cs typeface="Times New Roman" panose="02020603050405020304" pitchFamily="18" charset="0"/>
              </a:rPr>
              <a:t>transitive nature </a:t>
            </a:r>
            <a:r>
              <a:rPr lang="en-IN" sz="2400" b="0" dirty="0">
                <a:solidFill>
                  <a:schemeClr val="tx1"/>
                </a:solidFill>
                <a:effectLst/>
                <a:latin typeface="Times New Roman" panose="02020603050405020304" pitchFamily="18" charset="0"/>
                <a:cs typeface="Times New Roman" panose="02020603050405020304" pitchFamily="18" charset="0"/>
              </a:rPr>
              <a:t>of inheritance. </a:t>
            </a:r>
          </a:p>
          <a:p>
            <a:pPr marL="285750" indent="-285750" algn="just">
              <a:lnSpc>
                <a:spcPct val="150000"/>
              </a:lnSpc>
              <a:buFont typeface="Arial" panose="020B0604020202020204" pitchFamily="34" charset="0"/>
              <a:buChar char="•"/>
            </a:pPr>
            <a:r>
              <a:rPr lang="en-IN" sz="2400" b="0" dirty="0">
                <a:solidFill>
                  <a:schemeClr val="tx1"/>
                </a:solidFill>
                <a:effectLst/>
                <a:latin typeface="Times New Roman" panose="02020603050405020304" pitchFamily="18" charset="0"/>
                <a:cs typeface="Times New Roman" panose="02020603050405020304" pitchFamily="18" charset="0"/>
              </a:rPr>
              <a:t>In multilevel inheritance, a </a:t>
            </a:r>
            <a:r>
              <a:rPr lang="en-IN" sz="2400" b="1" dirty="0">
                <a:solidFill>
                  <a:schemeClr val="tx1"/>
                </a:solidFill>
                <a:effectLst/>
                <a:latin typeface="Times New Roman" panose="02020603050405020304" pitchFamily="18" charset="0"/>
                <a:cs typeface="Times New Roman" panose="02020603050405020304" pitchFamily="18" charset="0"/>
              </a:rPr>
              <a:t>derived class inherits all its properties from a class that itself inherits from another class</a:t>
            </a:r>
            <a:r>
              <a:rPr lang="en-IN" sz="2400" b="0" dirty="0">
                <a:solidFill>
                  <a:schemeClr val="tx1"/>
                </a:solidFill>
                <a:effectLst/>
                <a:latin typeface="Times New Roman" panose="02020603050405020304" pitchFamily="18" charset="0"/>
                <a:cs typeface="Times New Roman" panose="02020603050405020304" pitchFamily="18" charset="0"/>
              </a:rPr>
              <a:t>.</a:t>
            </a:r>
            <a:endParaRPr lang="en-IN" sz="2400" dirty="0">
              <a:solidFill>
                <a:schemeClr val="tx1"/>
              </a:solidFill>
              <a:latin typeface="Times New Roman" panose="02020603050405020304" pitchFamily="18"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1A93725-CB0C-D4C2-986E-0E15D7009E3A}"/>
              </a:ext>
            </a:extLst>
          </p:cNvPr>
          <p:cNvPicPr>
            <a:picLocks noChangeAspect="1"/>
          </p:cNvPicPr>
          <p:nvPr/>
        </p:nvPicPr>
        <p:blipFill>
          <a:blip r:embed="rId3"/>
          <a:stretch>
            <a:fillRect/>
          </a:stretch>
        </p:blipFill>
        <p:spPr>
          <a:xfrm>
            <a:off x="6308322" y="1202252"/>
            <a:ext cx="5273425" cy="4821447"/>
          </a:xfrm>
          <a:prstGeom prst="rect">
            <a:avLst/>
          </a:prstGeom>
        </p:spPr>
      </p:pic>
    </p:spTree>
    <p:extLst>
      <p:ext uri="{BB962C8B-B14F-4D97-AF65-F5344CB8AC3E}">
        <p14:creationId xmlns:p14="http://schemas.microsoft.com/office/powerpoint/2010/main" val="186867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F7473EE-DBAE-060A-7817-8857BA5D238A}"/>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947ED3BA-116E-2EF2-B5F1-DCF1439D3DAB}"/>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Multilevel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5BBBC46-CA30-543B-BEE3-3D18BAD0B6C2}"/>
              </a:ext>
            </a:extLst>
          </p:cNvPr>
          <p:cNvSpPr txBox="1"/>
          <p:nvPr/>
        </p:nvSpPr>
        <p:spPr>
          <a:xfrm>
            <a:off x="646112" y="1202252"/>
            <a:ext cx="9941206" cy="4647426"/>
          </a:xfrm>
          <a:prstGeom prst="rect">
            <a:avLst/>
          </a:prstGeom>
          <a:noFill/>
        </p:spPr>
        <p:txBody>
          <a:bodyPr wrap="square">
            <a:spAutoFit/>
          </a:bodyPr>
          <a:lstStyle/>
          <a:p>
            <a:pPr algn="l" fontAlgn="base"/>
            <a:r>
              <a:rPr lang="en-IN" sz="2200" b="1" i="0" dirty="0">
                <a:solidFill>
                  <a:srgbClr val="0070C0"/>
                </a:solidFill>
                <a:effectLst/>
                <a:latin typeface="Times New Roman" panose="02020603050405020304" pitchFamily="18" charset="0"/>
                <a:cs typeface="Times New Roman" panose="02020603050405020304" pitchFamily="18" charset="0"/>
              </a:rPr>
              <a:t>Syntax:</a:t>
            </a:r>
          </a:p>
          <a:p>
            <a:pPr marL="361950" algn="l" fontAlgn="base">
              <a:spcBef>
                <a:spcPts val="1200"/>
              </a:spcBef>
            </a:pPr>
            <a:r>
              <a:rPr lang="en-IN" sz="2200" b="0" dirty="0">
                <a:solidFill>
                  <a:schemeClr val="tx1"/>
                </a:solidFill>
                <a:effectLst/>
                <a:latin typeface="Times New Roman" panose="02020603050405020304" pitchFamily="18" charset="0"/>
                <a:cs typeface="Times New Roman" panose="02020603050405020304" pitchFamily="18" charset="0"/>
              </a:rPr>
              <a:t>class A </a:t>
            </a:r>
            <a:r>
              <a:rPr lang="en-IN" sz="2200" b="0" dirty="0">
                <a:solidFill>
                  <a:srgbClr val="FF0000"/>
                </a:solidFill>
                <a:effectLst/>
                <a:latin typeface="Times New Roman" panose="02020603050405020304" pitchFamily="18" charset="0"/>
                <a:cs typeface="Times New Roman" panose="02020603050405020304" pitchFamily="18" charset="0"/>
              </a:rPr>
              <a:t>// Base class</a:t>
            </a:r>
            <a:br>
              <a:rPr lang="en-IN" sz="2200" b="0" dirty="0">
                <a:solidFill>
                  <a:schemeClr val="tx1"/>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a:t>
            </a:r>
            <a:br>
              <a:rPr lang="en-IN" sz="2200" b="0" dirty="0">
                <a:solidFill>
                  <a:schemeClr val="tx1"/>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	</a:t>
            </a:r>
            <a:r>
              <a:rPr lang="en-IN" sz="2200" b="1" dirty="0">
                <a:solidFill>
                  <a:srgbClr val="0070C0"/>
                </a:solidFill>
                <a:effectLst/>
                <a:latin typeface="Times New Roman" panose="02020603050405020304" pitchFamily="18" charset="0"/>
                <a:cs typeface="Times New Roman" panose="02020603050405020304" pitchFamily="18" charset="0"/>
              </a:rPr>
              <a:t>// Body of class A</a:t>
            </a:r>
            <a:br>
              <a:rPr lang="en-IN" sz="2200" b="1" dirty="0">
                <a:solidFill>
                  <a:srgbClr val="0070C0"/>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a:t>
            </a:r>
            <a:br>
              <a:rPr lang="en-IN" sz="2200" b="0" dirty="0">
                <a:solidFill>
                  <a:schemeClr val="tx1"/>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class B : </a:t>
            </a:r>
            <a:r>
              <a:rPr lang="en-IN" sz="2200" b="0" dirty="0" err="1">
                <a:solidFill>
                  <a:schemeClr val="tx1"/>
                </a:solidFill>
                <a:effectLst/>
                <a:latin typeface="Times New Roman" panose="02020603050405020304" pitchFamily="18" charset="0"/>
                <a:cs typeface="Times New Roman" panose="02020603050405020304" pitchFamily="18" charset="0"/>
              </a:rPr>
              <a:t>acess_specifier</a:t>
            </a:r>
            <a:r>
              <a:rPr lang="en-IN" sz="2200" b="0" dirty="0">
                <a:solidFill>
                  <a:schemeClr val="tx1"/>
                </a:solidFill>
                <a:effectLst/>
                <a:latin typeface="Times New Roman" panose="02020603050405020304" pitchFamily="18" charset="0"/>
                <a:cs typeface="Times New Roman" panose="02020603050405020304" pitchFamily="18" charset="0"/>
              </a:rPr>
              <a:t> A </a:t>
            </a:r>
            <a:r>
              <a:rPr lang="en-IN" sz="2200" b="0" dirty="0">
                <a:solidFill>
                  <a:srgbClr val="FF0000"/>
                </a:solidFill>
                <a:effectLst/>
                <a:latin typeface="Times New Roman" panose="02020603050405020304" pitchFamily="18" charset="0"/>
                <a:cs typeface="Times New Roman" panose="02020603050405020304" pitchFamily="18" charset="0"/>
              </a:rPr>
              <a:t>// Derived class of A</a:t>
            </a:r>
            <a:br>
              <a:rPr lang="en-IN" sz="2200" b="0" dirty="0">
                <a:solidFill>
                  <a:srgbClr val="FF0000"/>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a:t>
            </a:r>
            <a:br>
              <a:rPr lang="en-IN" sz="2200" b="0" dirty="0">
                <a:solidFill>
                  <a:schemeClr val="tx1"/>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	</a:t>
            </a:r>
            <a:r>
              <a:rPr lang="en-IN" sz="2200" b="1" dirty="0">
                <a:solidFill>
                  <a:srgbClr val="0070C0"/>
                </a:solidFill>
                <a:effectLst/>
                <a:latin typeface="Times New Roman" panose="02020603050405020304" pitchFamily="18" charset="0"/>
                <a:cs typeface="Times New Roman" panose="02020603050405020304" pitchFamily="18" charset="0"/>
              </a:rPr>
              <a:t>// Body of class B</a:t>
            </a:r>
            <a:br>
              <a:rPr lang="en-IN" sz="2200" b="1" dirty="0">
                <a:solidFill>
                  <a:srgbClr val="0070C0"/>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a:t>
            </a:r>
            <a:br>
              <a:rPr lang="en-IN" sz="2200" b="0" dirty="0">
                <a:solidFill>
                  <a:schemeClr val="tx1"/>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class C : </a:t>
            </a:r>
            <a:r>
              <a:rPr lang="en-IN" sz="2200" b="0" dirty="0" err="1">
                <a:solidFill>
                  <a:schemeClr val="tx1"/>
                </a:solidFill>
                <a:effectLst/>
                <a:latin typeface="Times New Roman" panose="02020603050405020304" pitchFamily="18" charset="0"/>
                <a:cs typeface="Times New Roman" panose="02020603050405020304" pitchFamily="18" charset="0"/>
              </a:rPr>
              <a:t>access_specifier</a:t>
            </a:r>
            <a:r>
              <a:rPr lang="en-IN" sz="2200" b="0" dirty="0">
                <a:solidFill>
                  <a:schemeClr val="tx1"/>
                </a:solidFill>
                <a:effectLst/>
                <a:latin typeface="Times New Roman" panose="02020603050405020304" pitchFamily="18" charset="0"/>
                <a:cs typeface="Times New Roman" panose="02020603050405020304" pitchFamily="18" charset="0"/>
              </a:rPr>
              <a:t> B </a:t>
            </a:r>
            <a:r>
              <a:rPr lang="en-IN" sz="2200" b="0" dirty="0">
                <a:solidFill>
                  <a:srgbClr val="FF0000"/>
                </a:solidFill>
                <a:effectLst/>
                <a:latin typeface="Times New Roman" panose="02020603050405020304" pitchFamily="18" charset="0"/>
                <a:cs typeface="Times New Roman" panose="02020603050405020304" pitchFamily="18" charset="0"/>
              </a:rPr>
              <a:t>// Derived from derived class B</a:t>
            </a:r>
            <a:br>
              <a:rPr lang="en-IN" sz="2200" b="0" dirty="0">
                <a:solidFill>
                  <a:srgbClr val="FF0000"/>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a:t>
            </a:r>
            <a:br>
              <a:rPr lang="en-IN" sz="2200" b="0" dirty="0">
                <a:solidFill>
                  <a:schemeClr val="tx1"/>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	</a:t>
            </a:r>
            <a:r>
              <a:rPr lang="en-IN" sz="2200" b="1" dirty="0">
                <a:solidFill>
                  <a:srgbClr val="0070C0"/>
                </a:solidFill>
                <a:effectLst/>
                <a:latin typeface="Times New Roman" panose="02020603050405020304" pitchFamily="18" charset="0"/>
                <a:cs typeface="Times New Roman" panose="02020603050405020304" pitchFamily="18" charset="0"/>
              </a:rPr>
              <a:t>// Body of class C</a:t>
            </a:r>
            <a:br>
              <a:rPr lang="en-IN" sz="2200" b="1" dirty="0">
                <a:solidFill>
                  <a:srgbClr val="0070C0"/>
                </a:solidFill>
                <a:effectLst/>
                <a:latin typeface="Times New Roman" panose="02020603050405020304" pitchFamily="18" charset="0"/>
                <a:cs typeface="Times New Roman" panose="02020603050405020304" pitchFamily="18" charset="0"/>
              </a:rPr>
            </a:br>
            <a:r>
              <a:rPr lang="en-IN" sz="2200" b="0" dirty="0">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62969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1F4F1CC-7AB9-269C-ECBC-3D18A4B58C3A}"/>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C7067D7C-C0CD-AD6F-C5B0-0DA8AD06D637}"/>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Multilevel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07D8EB0-576F-B44B-E4C6-D48C40C36D86}"/>
              </a:ext>
            </a:extLst>
          </p:cNvPr>
          <p:cNvSpPr txBox="1"/>
          <p:nvPr/>
        </p:nvSpPr>
        <p:spPr>
          <a:xfrm>
            <a:off x="322729" y="945578"/>
            <a:ext cx="5369859" cy="5588068"/>
          </a:xfrm>
          <a:prstGeom prst="rect">
            <a:avLst/>
          </a:prstGeom>
          <a:noFill/>
        </p:spPr>
        <p:txBody>
          <a:bodyPr wrap="square">
            <a:spAutoFit/>
          </a:bodyPr>
          <a:lstStyle/>
          <a:p>
            <a:pPr>
              <a:lnSpc>
                <a:spcPct val="150000"/>
              </a:lnSpc>
            </a:pPr>
            <a:r>
              <a:rPr lang="en-IN" sz="1600" dirty="0">
                <a:latin typeface="Times New Roman" panose="02020603050405020304" pitchFamily="18" charset="0"/>
                <a:cs typeface="Times New Roman" panose="02020603050405020304" pitchFamily="18" charset="0"/>
              </a:rPr>
              <a:t>#include&lt;iostream&gt;</a:t>
            </a:r>
          </a:p>
          <a:p>
            <a:pPr>
              <a:lnSpc>
                <a:spcPct val="150000"/>
              </a:lnSpc>
            </a:pPr>
            <a:r>
              <a:rPr lang="en-IN" sz="1600" dirty="0">
                <a:latin typeface="Times New Roman" panose="02020603050405020304" pitchFamily="18" charset="0"/>
                <a:cs typeface="Times New Roman" panose="02020603050405020304" pitchFamily="18" charset="0"/>
              </a:rPr>
              <a:t>using namespace std;</a:t>
            </a:r>
          </a:p>
          <a:p>
            <a:pPr>
              <a:lnSpc>
                <a:spcPct val="150000"/>
              </a:lnSpc>
            </a:pPr>
            <a:r>
              <a:rPr lang="en-IN" sz="1600" dirty="0">
                <a:latin typeface="Times New Roman" panose="02020603050405020304" pitchFamily="18" charset="0"/>
                <a:cs typeface="Times New Roman" panose="02020603050405020304" pitchFamily="18" charset="0"/>
              </a:rPr>
              <a:t>class </a:t>
            </a:r>
            <a:r>
              <a:rPr lang="en-IN" sz="1600" b="1" dirty="0">
                <a:solidFill>
                  <a:srgbClr val="FF0000"/>
                </a:solidFill>
                <a:latin typeface="Times New Roman" panose="02020603050405020304" pitchFamily="18" charset="0"/>
                <a:cs typeface="Times New Roman" panose="02020603050405020304" pitchFamily="18" charset="0"/>
              </a:rPr>
              <a:t>Stud</a:t>
            </a:r>
            <a:r>
              <a:rPr lang="en-IN" sz="1600" b="1"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a:t>
            </a:r>
            <a:endParaRPr lang="en-IN" sz="1600"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IN" sz="1600" dirty="0">
                <a:latin typeface="Times New Roman" panose="02020603050405020304" pitchFamily="18" charset="0"/>
                <a:cs typeface="Times New Roman" panose="02020603050405020304" pitchFamily="18" charset="0"/>
              </a:rPr>
              <a:t>        int </a:t>
            </a:r>
            <a:r>
              <a:rPr lang="en-IN" sz="1600" dirty="0" err="1">
                <a:latin typeface="Times New Roman" panose="02020603050405020304" pitchFamily="18" charset="0"/>
                <a:cs typeface="Times New Roman" panose="02020603050405020304" pitchFamily="18" charset="0"/>
              </a:rPr>
              <a:t>rollNo</a:t>
            </a:r>
            <a:r>
              <a:rPr lang="en-IN" sz="1600" dirty="0">
                <a:latin typeface="Times New Roman" panose="02020603050405020304" pitchFamily="18" charset="0"/>
                <a:cs typeface="Times New Roman" panose="02020603050405020304" pitchFamily="18" charset="0"/>
              </a:rPr>
              <a:t>;</a:t>
            </a:r>
          </a:p>
          <a:p>
            <a:pPr>
              <a:lnSpc>
                <a:spcPct val="150000"/>
              </a:lnSpc>
            </a:pPr>
            <a:r>
              <a:rPr lang="en-IN" sz="1600" dirty="0">
                <a:latin typeface="Times New Roman" panose="02020603050405020304" pitchFamily="18" charset="0"/>
                <a:cs typeface="Times New Roman" panose="02020603050405020304" pitchFamily="18" charset="0"/>
              </a:rPr>
              <a:t>        char name[40];</a:t>
            </a:r>
          </a:p>
          <a:p>
            <a:pPr>
              <a:lnSpc>
                <a:spcPct val="150000"/>
              </a:lnSpc>
            </a:pPr>
            <a:r>
              <a:rPr lang="en-IN" sz="1600" b="1" dirty="0">
                <a:latin typeface="Times New Roman" panose="02020603050405020304" pitchFamily="18" charset="0"/>
                <a:cs typeface="Times New Roman" panose="02020603050405020304" pitchFamily="18" charset="0"/>
              </a:rPr>
              <a:t>        public:</a:t>
            </a:r>
          </a:p>
          <a:p>
            <a:pPr>
              <a:lnSpc>
                <a:spcPct val="150000"/>
              </a:lnSpc>
            </a:pPr>
            <a:r>
              <a:rPr lang="en-IN" sz="1600" dirty="0">
                <a:latin typeface="Times New Roman" panose="02020603050405020304" pitchFamily="18" charset="0"/>
                <a:cs typeface="Times New Roman" panose="02020603050405020304" pitchFamily="18" charset="0"/>
              </a:rPr>
              <a:t>        void </a:t>
            </a:r>
            <a:r>
              <a:rPr lang="en-IN" sz="1600" dirty="0" err="1">
                <a:latin typeface="Times New Roman" panose="02020603050405020304" pitchFamily="18" charset="0"/>
                <a:cs typeface="Times New Roman" panose="02020603050405020304" pitchFamily="18" charset="0"/>
              </a:rPr>
              <a:t>get_info</a:t>
            </a:r>
            <a:r>
              <a:rPr lang="en-IN" sz="1600" dirty="0">
                <a:latin typeface="Times New Roman" panose="02020603050405020304" pitchFamily="18" charset="0"/>
                <a:cs typeface="Times New Roman" panose="02020603050405020304" pitchFamily="18" charset="0"/>
              </a:rPr>
              <a:t>() {</a:t>
            </a:r>
          </a:p>
          <a:p>
            <a:pPr>
              <a:lnSpc>
                <a:spcPct val="150000"/>
              </a:lnSpc>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cout</a:t>
            </a:r>
            <a:r>
              <a:rPr lang="en-IN" sz="1600" dirty="0">
                <a:latin typeface="Times New Roman" panose="02020603050405020304" pitchFamily="18" charset="0"/>
                <a:cs typeface="Times New Roman" panose="02020603050405020304" pitchFamily="18" charset="0"/>
              </a:rPr>
              <a:t>&lt;&lt;"Enter the name of student:";</a:t>
            </a:r>
          </a:p>
          <a:p>
            <a:pPr>
              <a:lnSpc>
                <a:spcPct val="150000"/>
              </a:lnSpc>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cin</a:t>
            </a:r>
            <a:r>
              <a:rPr lang="en-IN" sz="1600" dirty="0">
                <a:latin typeface="Times New Roman" panose="02020603050405020304" pitchFamily="18" charset="0"/>
                <a:cs typeface="Times New Roman" panose="02020603050405020304" pitchFamily="18" charset="0"/>
              </a:rPr>
              <a:t>&gt;&gt;name;</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&lt;&lt;"Enter roll number:";</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cin</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&gt;&gt;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rollNo</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void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disp_info</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&lt;&lt;"Name is:"&lt;&lt;name&lt;&lt;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endl</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IN" sz="1600" kern="0" dirty="0">
                <a:solidFill>
                  <a:srgbClr val="000000"/>
                </a:solidFill>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&lt;&lt;"Roll is:"&lt;&lt;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rollNo</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endl</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p:txBody>
      </p:sp>
      <p:sp>
        <p:nvSpPr>
          <p:cNvPr id="2" name="TextBox 1">
            <a:extLst>
              <a:ext uri="{FF2B5EF4-FFF2-40B4-BE49-F238E27FC236}">
                <a16:creationId xmlns:a16="http://schemas.microsoft.com/office/drawing/2014/main" id="{68491791-F4ED-8AF6-BCAC-A0DBB7720431}"/>
              </a:ext>
            </a:extLst>
          </p:cNvPr>
          <p:cNvSpPr txBox="1"/>
          <p:nvPr/>
        </p:nvSpPr>
        <p:spPr>
          <a:xfrm>
            <a:off x="5934635" y="1192306"/>
            <a:ext cx="5438092" cy="5139869"/>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en-IN" sz="1600" kern="0" dirty="0">
                <a:solidFill>
                  <a:srgbClr val="000000"/>
                </a:solidFill>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class </a:t>
            </a:r>
            <a:r>
              <a:rPr kumimoji="0" lang="en-IN" sz="1600" b="1"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t>Exam</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public Stud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public:</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int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phymarks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chemmarks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mathsmarks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void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getmarks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&lt;&lt;"Enter physics marks:"&lt;&lt;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endl</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cin</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&gt;&gt;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phymarks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&lt;&lt;"Enter chemistry marks:"&lt;&lt;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endl</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cin</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&gt;&gt;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chemmarks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&lt;&lt;"Enter maths marks:"&lt;&lt;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endl</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cin</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&gt;&gt;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mathsmarks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a:lnSpc>
                <a:spcPct val="150000"/>
              </a:lnSpc>
              <a:buClr>
                <a:srgbClr val="000000"/>
              </a:buClr>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1013625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88DD746-A09F-9AC3-E932-36921D52A4E5}"/>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A47E0DF3-9881-5D64-AA50-0061F8523D58}"/>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Multilevel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E8474A1-BF8B-2AF8-34E1-0E19350F1259}"/>
              </a:ext>
            </a:extLst>
          </p:cNvPr>
          <p:cNvSpPr txBox="1"/>
          <p:nvPr/>
        </p:nvSpPr>
        <p:spPr>
          <a:xfrm>
            <a:off x="5943600" y="1084728"/>
            <a:ext cx="5778750" cy="2239074"/>
          </a:xfrm>
          <a:prstGeom prst="rect">
            <a:avLst/>
          </a:prstGeom>
          <a:noFill/>
        </p:spPr>
        <p:txBody>
          <a:bodyPr wrap="square">
            <a:spAutoFit/>
          </a:bodyPr>
          <a:lstStyle/>
          <a:p>
            <a:pPr>
              <a:spcBef>
                <a:spcPts val="300"/>
              </a:spcBef>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obj.get_info</a:t>
            </a:r>
            <a:r>
              <a:rPr lang="en-IN" sz="1600" dirty="0">
                <a:latin typeface="Times New Roman" panose="02020603050405020304" pitchFamily="18" charset="0"/>
                <a:cs typeface="Times New Roman" panose="02020603050405020304" pitchFamily="18" charset="0"/>
              </a:rPr>
              <a:t>();</a:t>
            </a:r>
          </a:p>
          <a:p>
            <a:pPr>
              <a:spcBef>
                <a:spcPts val="300"/>
              </a:spcBef>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obj.getmarks</a:t>
            </a:r>
            <a:r>
              <a:rPr lang="en-IN" sz="1600" dirty="0">
                <a:latin typeface="Times New Roman" panose="02020603050405020304" pitchFamily="18" charset="0"/>
                <a:cs typeface="Times New Roman" panose="02020603050405020304" pitchFamily="18" charset="0"/>
              </a:rPr>
              <a:t>();</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obj.disp_info</a:t>
            </a:r>
            <a:r>
              <a:rPr lang="en-IN" sz="1600" dirty="0">
                <a:latin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obj.displaymarks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obj.showResult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return 0;</a:t>
            </a:r>
          </a:p>
          <a:p>
            <a:pPr marL="0" marR="0" lvl="0" indent="0" algn="l" defTabSz="914400" rtl="0" eaLnBrk="1" fontAlgn="auto" latinLnBrk="0" hangingPunct="1">
              <a:lnSpc>
                <a:spcPct val="100000"/>
              </a:lnSpc>
              <a:spcBef>
                <a:spcPts val="6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p:txBody>
      </p:sp>
      <p:sp>
        <p:nvSpPr>
          <p:cNvPr id="3" name="TextBox 2">
            <a:extLst>
              <a:ext uri="{FF2B5EF4-FFF2-40B4-BE49-F238E27FC236}">
                <a16:creationId xmlns:a16="http://schemas.microsoft.com/office/drawing/2014/main" id="{AB29B252-B8E8-D6DC-751E-70FC17C175DB}"/>
              </a:ext>
            </a:extLst>
          </p:cNvPr>
          <p:cNvSpPr txBox="1"/>
          <p:nvPr/>
        </p:nvSpPr>
        <p:spPr>
          <a:xfrm>
            <a:off x="287054" y="1021976"/>
            <a:ext cx="5369675" cy="5439951"/>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void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displaymarks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&lt;&lt;"Physics marks is:"&lt;&lt;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phymarks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nChemistry</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marks is:"&lt;&lt;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chemmarks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&lt;&lt;“\n Maths marks is:"&lt;&lt;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mathsmarks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class </a:t>
            </a:r>
            <a:r>
              <a:rPr kumimoji="0" lang="en-IN" sz="1600" b="1" i="0" u="none" strike="noStrike" kern="0" cap="none" spc="0" normalizeH="0" baseline="0" noProof="0" dirty="0">
                <a:ln>
                  <a:noFill/>
                </a:ln>
                <a:solidFill>
                  <a:srgbClr val="0070C0"/>
                </a:solidFill>
                <a:effectLst/>
                <a:uLnTx/>
                <a:uFillTx/>
                <a:latin typeface="Times New Roman" panose="02020603050405020304" pitchFamily="18" charset="0"/>
                <a:cs typeface="Times New Roman" panose="02020603050405020304" pitchFamily="18" charset="0"/>
                <a:sym typeface="Arial"/>
              </a:rPr>
              <a:t>Result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 public Exam{</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public :</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int total;</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void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showResult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total =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phymarks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chemmarks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mathsmarks</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cout</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&lt;&lt;"Your total is:"&lt;&lt;total&lt;&lt;</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sym typeface="Arial"/>
              </a:rPr>
              <a:t>endl</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    }</a:t>
            </a:r>
          </a:p>
          <a:p>
            <a:pPr marL="0" marR="0" lvl="0" indent="0" algn="l" defTabSz="914400" rtl="0" eaLnBrk="1" fontAlgn="auto" latinLnBrk="0" hangingPunct="1">
              <a:spcBef>
                <a:spcPts val="300"/>
              </a:spcBef>
              <a:spcAft>
                <a:spcPts val="0"/>
              </a:spcAft>
              <a:buClr>
                <a:srgbClr val="000000"/>
              </a:buClr>
              <a:buSzTx/>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rPr>
              <a:t>};</a:t>
            </a:r>
          </a:p>
          <a:p>
            <a:pPr>
              <a:spcBef>
                <a:spcPts val="300"/>
              </a:spcBef>
            </a:pPr>
            <a:r>
              <a:rPr lang="en-IN" sz="1600" dirty="0">
                <a:latin typeface="Times New Roman" panose="02020603050405020304" pitchFamily="18" charset="0"/>
                <a:cs typeface="Times New Roman" panose="02020603050405020304" pitchFamily="18" charset="0"/>
              </a:rPr>
              <a:t>int main()</a:t>
            </a:r>
          </a:p>
          <a:p>
            <a:pPr>
              <a:spcBef>
                <a:spcPts val="300"/>
              </a:spcBef>
            </a:pPr>
            <a:r>
              <a:rPr lang="en-IN" sz="1600" dirty="0">
                <a:latin typeface="Times New Roman" panose="02020603050405020304" pitchFamily="18" charset="0"/>
                <a:cs typeface="Times New Roman" panose="02020603050405020304" pitchFamily="18" charset="0"/>
              </a:rPr>
              <a:t>{</a:t>
            </a:r>
          </a:p>
          <a:p>
            <a:pPr>
              <a:spcBef>
                <a:spcPts val="300"/>
              </a:spcBef>
            </a:pPr>
            <a:r>
              <a:rPr lang="en-IN" sz="1600" dirty="0">
                <a:latin typeface="Times New Roman" panose="02020603050405020304" pitchFamily="18" charset="0"/>
                <a:cs typeface="Times New Roman" panose="02020603050405020304" pitchFamily="18" charset="0"/>
              </a:rPr>
              <a:t>    Result </a:t>
            </a:r>
            <a:r>
              <a:rPr lang="en-IN" sz="1600" dirty="0" err="1">
                <a:latin typeface="Times New Roman" panose="02020603050405020304" pitchFamily="18" charset="0"/>
                <a:cs typeface="Times New Roman" panose="02020603050405020304" pitchFamily="18" charset="0"/>
              </a:rPr>
              <a:t>obj</a:t>
            </a:r>
            <a:r>
              <a:rPr lang="en-IN" sz="1600"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9406D8B5-451F-EB12-0653-185FF093B122}"/>
              </a:ext>
            </a:extLst>
          </p:cNvPr>
          <p:cNvSpPr txBox="1"/>
          <p:nvPr/>
        </p:nvSpPr>
        <p:spPr>
          <a:xfrm>
            <a:off x="7709647" y="3101788"/>
            <a:ext cx="3083859" cy="3400931"/>
          </a:xfrm>
          <a:prstGeom prst="rect">
            <a:avLst/>
          </a:prstGeom>
          <a:noFill/>
        </p:spPr>
        <p:txBody>
          <a:bodyPr wrap="square">
            <a:spAutoFit/>
          </a:bodyPr>
          <a:lstStyle/>
          <a:p>
            <a:pPr>
              <a:spcBef>
                <a:spcPts val="200"/>
              </a:spcBef>
            </a:pPr>
            <a:r>
              <a:rPr lang="en-IN" sz="1500" b="1" dirty="0">
                <a:solidFill>
                  <a:srgbClr val="0070C0"/>
                </a:solidFill>
                <a:latin typeface="Times New Roman" panose="02020603050405020304" pitchFamily="18" charset="0"/>
                <a:cs typeface="Times New Roman" panose="02020603050405020304" pitchFamily="18" charset="0"/>
              </a:rPr>
              <a:t>Output:</a:t>
            </a:r>
          </a:p>
          <a:p>
            <a:pPr>
              <a:spcBef>
                <a:spcPts val="200"/>
              </a:spcBef>
            </a:pPr>
            <a:r>
              <a:rPr lang="en-IN" sz="1500" dirty="0">
                <a:latin typeface="Times New Roman" panose="02020603050405020304" pitchFamily="18" charset="0"/>
                <a:cs typeface="Times New Roman" panose="02020603050405020304" pitchFamily="18" charset="0"/>
              </a:rPr>
              <a:t>Enter the name of student: Shreeja</a:t>
            </a:r>
          </a:p>
          <a:p>
            <a:pPr>
              <a:spcBef>
                <a:spcPts val="200"/>
              </a:spcBef>
            </a:pPr>
            <a:r>
              <a:rPr lang="en-IN" sz="1500" dirty="0">
                <a:latin typeface="Times New Roman" panose="02020603050405020304" pitchFamily="18" charset="0"/>
                <a:cs typeface="Times New Roman" panose="02020603050405020304" pitchFamily="18" charset="0"/>
              </a:rPr>
              <a:t>Enter roll number: 2020201</a:t>
            </a:r>
          </a:p>
          <a:p>
            <a:pPr>
              <a:spcBef>
                <a:spcPts val="200"/>
              </a:spcBef>
            </a:pPr>
            <a:r>
              <a:rPr lang="en-IN" sz="1500" dirty="0">
                <a:latin typeface="Times New Roman" panose="02020603050405020304" pitchFamily="18" charset="0"/>
                <a:cs typeface="Times New Roman" panose="02020603050405020304" pitchFamily="18" charset="0"/>
              </a:rPr>
              <a:t>Enter physics marks: 90</a:t>
            </a:r>
          </a:p>
          <a:p>
            <a:pPr>
              <a:spcBef>
                <a:spcPts val="200"/>
              </a:spcBef>
            </a:pPr>
            <a:r>
              <a:rPr lang="en-IN" sz="1500" dirty="0">
                <a:latin typeface="Times New Roman" panose="02020603050405020304" pitchFamily="18" charset="0"/>
                <a:cs typeface="Times New Roman" panose="02020603050405020304" pitchFamily="18" charset="0"/>
              </a:rPr>
              <a:t>Enter chemistry marks: 89</a:t>
            </a:r>
          </a:p>
          <a:p>
            <a:pPr>
              <a:spcBef>
                <a:spcPts val="200"/>
              </a:spcBef>
            </a:pPr>
            <a:r>
              <a:rPr lang="en-IN" sz="1500" dirty="0">
                <a:latin typeface="Times New Roman" panose="02020603050405020304" pitchFamily="18" charset="0"/>
                <a:cs typeface="Times New Roman" panose="02020603050405020304" pitchFamily="18" charset="0"/>
              </a:rPr>
              <a:t>Enter maths marks: 97</a:t>
            </a:r>
          </a:p>
          <a:p>
            <a:pPr>
              <a:spcBef>
                <a:spcPts val="200"/>
              </a:spcBef>
            </a:pPr>
            <a:endParaRPr lang="en-IN" sz="1500" dirty="0">
              <a:latin typeface="Times New Roman" panose="02020603050405020304" pitchFamily="18" charset="0"/>
              <a:cs typeface="Times New Roman" panose="02020603050405020304" pitchFamily="18" charset="0"/>
            </a:endParaRPr>
          </a:p>
          <a:p>
            <a:pPr>
              <a:spcBef>
                <a:spcPts val="200"/>
              </a:spcBef>
            </a:pPr>
            <a:r>
              <a:rPr lang="en-IN" sz="1500" dirty="0">
                <a:latin typeface="Times New Roman" panose="02020603050405020304" pitchFamily="18" charset="0"/>
                <a:cs typeface="Times New Roman" panose="02020603050405020304" pitchFamily="18" charset="0"/>
              </a:rPr>
              <a:t>Name is: Shreeja</a:t>
            </a:r>
          </a:p>
          <a:p>
            <a:pPr>
              <a:spcBef>
                <a:spcPts val="200"/>
              </a:spcBef>
            </a:pPr>
            <a:r>
              <a:rPr lang="en-IN" sz="1500" dirty="0">
                <a:latin typeface="Times New Roman" panose="02020603050405020304" pitchFamily="18" charset="0"/>
                <a:cs typeface="Times New Roman" panose="02020603050405020304" pitchFamily="18" charset="0"/>
              </a:rPr>
              <a:t>Roll is: 2020201</a:t>
            </a:r>
          </a:p>
          <a:p>
            <a:pPr>
              <a:spcBef>
                <a:spcPts val="200"/>
              </a:spcBef>
            </a:pPr>
            <a:r>
              <a:rPr lang="en-IN" sz="1500" dirty="0">
                <a:latin typeface="Times New Roman" panose="02020603050405020304" pitchFamily="18" charset="0"/>
                <a:cs typeface="Times New Roman" panose="02020603050405020304" pitchFamily="18" charset="0"/>
              </a:rPr>
              <a:t>Physics marks is: 90</a:t>
            </a:r>
          </a:p>
          <a:p>
            <a:pPr>
              <a:spcBef>
                <a:spcPts val="200"/>
              </a:spcBef>
            </a:pPr>
            <a:r>
              <a:rPr lang="en-IN" sz="1500" dirty="0">
                <a:latin typeface="Times New Roman" panose="02020603050405020304" pitchFamily="18" charset="0"/>
                <a:cs typeface="Times New Roman" panose="02020603050405020304" pitchFamily="18" charset="0"/>
              </a:rPr>
              <a:t>Chemistry marks is: 89</a:t>
            </a:r>
          </a:p>
          <a:p>
            <a:pPr>
              <a:spcBef>
                <a:spcPts val="200"/>
              </a:spcBef>
            </a:pPr>
            <a:r>
              <a:rPr lang="en-IN" sz="1500" dirty="0">
                <a:latin typeface="Times New Roman" panose="02020603050405020304" pitchFamily="18" charset="0"/>
                <a:cs typeface="Times New Roman" panose="02020603050405020304" pitchFamily="18" charset="0"/>
              </a:rPr>
              <a:t>Maths marks is: 97</a:t>
            </a:r>
          </a:p>
          <a:p>
            <a:pPr>
              <a:spcBef>
                <a:spcPts val="200"/>
              </a:spcBef>
            </a:pPr>
            <a:r>
              <a:rPr lang="en-IN" sz="1500" dirty="0">
                <a:latin typeface="Times New Roman" panose="02020603050405020304" pitchFamily="18" charset="0"/>
                <a:cs typeface="Times New Roman" panose="02020603050405020304" pitchFamily="18" charset="0"/>
              </a:rPr>
              <a:t>Your total is: 276</a:t>
            </a:r>
          </a:p>
        </p:txBody>
      </p:sp>
    </p:spTree>
    <p:extLst>
      <p:ext uri="{BB962C8B-B14F-4D97-AF65-F5344CB8AC3E}">
        <p14:creationId xmlns:p14="http://schemas.microsoft.com/office/powerpoint/2010/main" val="4273693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2CA750C-7025-BAB0-4468-8BAB939358FC}"/>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24414C8B-9191-C497-EC95-E8C6F4B9E29B}"/>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Hierarchical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D88FDC5-C6BB-6D48-58D2-7B8E321AFF5F}"/>
              </a:ext>
            </a:extLst>
          </p:cNvPr>
          <p:cNvSpPr txBox="1"/>
          <p:nvPr/>
        </p:nvSpPr>
        <p:spPr>
          <a:xfrm>
            <a:off x="469650" y="1169261"/>
            <a:ext cx="5754687" cy="460202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When </a:t>
            </a:r>
            <a:r>
              <a:rPr lang="en-IN" sz="2200" b="1" dirty="0">
                <a:latin typeface="Times New Roman" panose="02020603050405020304" pitchFamily="18" charset="0"/>
                <a:cs typeface="Times New Roman" panose="02020603050405020304" pitchFamily="18" charset="0"/>
              </a:rPr>
              <a:t>multiple child classes inherit their properties from just a single base class</a:t>
            </a:r>
            <a:r>
              <a:rPr lang="en-IN" sz="22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The hierarchical inheritance structure forms a </a:t>
            </a:r>
            <a:r>
              <a:rPr lang="en-IN" sz="2200" b="1" dirty="0">
                <a:latin typeface="Times New Roman" panose="02020603050405020304" pitchFamily="18" charset="0"/>
                <a:cs typeface="Times New Roman" panose="02020603050405020304" pitchFamily="18" charset="0"/>
              </a:rPr>
              <a:t>hierarchy or tree-like structure</a:t>
            </a:r>
            <a:r>
              <a:rPr lang="en-IN" sz="2200" dirty="0">
                <a:latin typeface="Times New Roman" panose="02020603050405020304" pitchFamily="18" charset="0"/>
                <a:cs typeface="Times New Roman" panose="02020603050405020304" pitchFamily="18" charset="0"/>
              </a:rPr>
              <a:t>, where the parent class is at the </a:t>
            </a:r>
            <a:r>
              <a:rPr lang="en-IN" sz="2200" b="1" dirty="0">
                <a:latin typeface="Times New Roman" panose="02020603050405020304" pitchFamily="18" charset="0"/>
                <a:cs typeface="Times New Roman" panose="02020603050405020304" pitchFamily="18" charset="0"/>
              </a:rPr>
              <a:t>top</a:t>
            </a:r>
            <a:r>
              <a:rPr lang="en-IN" sz="2200" dirty="0">
                <a:latin typeface="Times New Roman" panose="02020603050405020304" pitchFamily="18" charset="0"/>
                <a:cs typeface="Times New Roman" panose="02020603050405020304" pitchFamily="18" charset="0"/>
              </a:rPr>
              <a:t>, and the child classes are </a:t>
            </a:r>
            <a:r>
              <a:rPr lang="en-IN" sz="2200" b="1" dirty="0">
                <a:latin typeface="Times New Roman" panose="02020603050405020304" pitchFamily="18" charset="0"/>
                <a:cs typeface="Times New Roman" panose="02020603050405020304" pitchFamily="18" charset="0"/>
              </a:rPr>
              <a:t>below</a:t>
            </a:r>
            <a:r>
              <a:rPr lang="en-IN" sz="2200" dirty="0">
                <a:latin typeface="Times New Roman" panose="02020603050405020304" pitchFamily="18" charset="0"/>
                <a:cs typeface="Times New Roman" panose="02020603050405020304" pitchFamily="18" charset="0"/>
              </a:rPr>
              <a:t> it. </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Each child class inherits the properties and methods of the parent class, and it can also add its own unique properties and methods.</a:t>
            </a:r>
          </a:p>
        </p:txBody>
      </p:sp>
      <p:pic>
        <p:nvPicPr>
          <p:cNvPr id="2" name="Picture 1">
            <a:extLst>
              <a:ext uri="{FF2B5EF4-FFF2-40B4-BE49-F238E27FC236}">
                <a16:creationId xmlns:a16="http://schemas.microsoft.com/office/drawing/2014/main" id="{ED6D7C7F-7B54-1C08-91F5-B26C3EF945A4}"/>
              </a:ext>
            </a:extLst>
          </p:cNvPr>
          <p:cNvPicPr>
            <a:picLocks noChangeAspect="1"/>
          </p:cNvPicPr>
          <p:nvPr/>
        </p:nvPicPr>
        <p:blipFill>
          <a:blip r:embed="rId3"/>
          <a:stretch>
            <a:fillRect/>
          </a:stretch>
        </p:blipFill>
        <p:spPr>
          <a:xfrm>
            <a:off x="6494121" y="1169261"/>
            <a:ext cx="4815092" cy="4919605"/>
          </a:xfrm>
          <a:prstGeom prst="rect">
            <a:avLst/>
          </a:prstGeom>
        </p:spPr>
      </p:pic>
    </p:spTree>
    <p:extLst>
      <p:ext uri="{BB962C8B-B14F-4D97-AF65-F5344CB8AC3E}">
        <p14:creationId xmlns:p14="http://schemas.microsoft.com/office/powerpoint/2010/main" val="4226082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6D5A1EB-85E1-C15A-E334-288E0F8FBEA0}"/>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E26C45B5-1326-4DB0-006F-BC6FE18A84D0}"/>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Hierarchical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26B85DE-DBCB-C850-AEA7-CCBF323EA6FD}"/>
              </a:ext>
            </a:extLst>
          </p:cNvPr>
          <p:cNvSpPr txBox="1"/>
          <p:nvPr/>
        </p:nvSpPr>
        <p:spPr>
          <a:xfrm>
            <a:off x="453608" y="1010245"/>
            <a:ext cx="10008204" cy="5355312"/>
          </a:xfrm>
          <a:prstGeom prst="rect">
            <a:avLst/>
          </a:prstGeom>
          <a:noFill/>
        </p:spPr>
        <p:txBody>
          <a:bodyPr wrap="square">
            <a:spAutoFit/>
          </a:bodyPr>
          <a:lstStyle/>
          <a:p>
            <a:pPr algn="l" fontAlgn="base"/>
            <a:r>
              <a:rPr lang="en-IN" sz="2200" b="1" dirty="0">
                <a:solidFill>
                  <a:srgbClr val="0070C0"/>
                </a:solidFill>
                <a:effectLst/>
                <a:latin typeface="Times New Roman" panose="02020603050405020304" pitchFamily="18" charset="0"/>
                <a:cs typeface="Times New Roman" panose="02020603050405020304" pitchFamily="18" charset="0"/>
              </a:rPr>
              <a:t>Syntax:</a:t>
            </a:r>
          </a:p>
          <a:p>
            <a:pPr marL="361950" algn="l" fontAlgn="base"/>
            <a:r>
              <a:rPr lang="en-IN" sz="2000" b="0" dirty="0">
                <a:solidFill>
                  <a:schemeClr val="tx1"/>
                </a:solidFill>
                <a:effectLst/>
                <a:latin typeface="Times New Roman" panose="02020603050405020304" pitchFamily="18" charset="0"/>
                <a:cs typeface="Times New Roman" panose="02020603050405020304" pitchFamily="18" charset="0"/>
              </a:rPr>
              <a:t>class A // Base class of B</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0070C0"/>
                </a:solidFill>
                <a:effectLst/>
                <a:latin typeface="Times New Roman" panose="02020603050405020304" pitchFamily="18" charset="0"/>
                <a:cs typeface="Times New Roman" panose="02020603050405020304" pitchFamily="18" charset="0"/>
              </a:rPr>
              <a:t>// Body of the program</a:t>
            </a:r>
            <a:br>
              <a:rPr lang="en-IN" sz="2000" b="0" dirty="0">
                <a:solidFill>
                  <a:srgbClr val="0070C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class B : </a:t>
            </a:r>
            <a:r>
              <a:rPr lang="en-IN" sz="2000" b="0" dirty="0" err="1">
                <a:solidFill>
                  <a:schemeClr val="tx1"/>
                </a:solidFill>
                <a:effectLst/>
                <a:latin typeface="Times New Roman" panose="02020603050405020304" pitchFamily="18" charset="0"/>
                <a:cs typeface="Times New Roman" panose="02020603050405020304" pitchFamily="18" charset="0"/>
              </a:rPr>
              <a:t>access_specifier</a:t>
            </a:r>
            <a:r>
              <a:rPr lang="en-IN" sz="2000" b="0" dirty="0">
                <a:solidFill>
                  <a:schemeClr val="tx1"/>
                </a:solidFill>
                <a:effectLst/>
                <a:latin typeface="Times New Roman" panose="02020603050405020304" pitchFamily="18" charset="0"/>
                <a:cs typeface="Times New Roman" panose="02020603050405020304" pitchFamily="18" charset="0"/>
              </a:rPr>
              <a:t> A </a:t>
            </a:r>
            <a:r>
              <a:rPr lang="en-IN" sz="2000" b="0" dirty="0">
                <a:solidFill>
                  <a:srgbClr val="FF0000"/>
                </a:solidFill>
                <a:effectLst/>
                <a:latin typeface="Times New Roman" panose="02020603050405020304" pitchFamily="18" charset="0"/>
                <a:cs typeface="Times New Roman" panose="02020603050405020304" pitchFamily="18" charset="0"/>
              </a:rPr>
              <a:t>// Derived class of A</a:t>
            </a:r>
            <a:br>
              <a:rPr lang="en-IN" sz="2000" b="0" dirty="0">
                <a:solidFill>
                  <a:srgbClr val="FF000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0070C0"/>
                </a:solidFill>
                <a:effectLst/>
                <a:latin typeface="Times New Roman" panose="02020603050405020304" pitchFamily="18" charset="0"/>
                <a:cs typeface="Times New Roman" panose="02020603050405020304" pitchFamily="18" charset="0"/>
              </a:rPr>
              <a:t>// Body of the program</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class C : </a:t>
            </a:r>
            <a:r>
              <a:rPr lang="en-IN" sz="2000" b="0" dirty="0" err="1">
                <a:solidFill>
                  <a:schemeClr val="tx1"/>
                </a:solidFill>
                <a:effectLst/>
                <a:latin typeface="Times New Roman" panose="02020603050405020304" pitchFamily="18" charset="0"/>
                <a:cs typeface="Times New Roman" panose="02020603050405020304" pitchFamily="18" charset="0"/>
              </a:rPr>
              <a:t>access_specifier</a:t>
            </a:r>
            <a:r>
              <a:rPr lang="en-IN" sz="2000" b="0" dirty="0">
                <a:solidFill>
                  <a:schemeClr val="tx1"/>
                </a:solidFill>
                <a:effectLst/>
                <a:latin typeface="Times New Roman" panose="02020603050405020304" pitchFamily="18" charset="0"/>
                <a:cs typeface="Times New Roman" panose="02020603050405020304" pitchFamily="18" charset="0"/>
              </a:rPr>
              <a:t> A </a:t>
            </a:r>
            <a:r>
              <a:rPr lang="en-IN" sz="2000" b="0" dirty="0">
                <a:solidFill>
                  <a:srgbClr val="FF0000"/>
                </a:solidFill>
                <a:effectLst/>
                <a:latin typeface="Times New Roman" panose="02020603050405020304" pitchFamily="18" charset="0"/>
                <a:cs typeface="Times New Roman" panose="02020603050405020304" pitchFamily="18" charset="0"/>
              </a:rPr>
              <a:t>// Derived class of A</a:t>
            </a:r>
            <a:br>
              <a:rPr lang="en-IN" sz="2000" b="0" dirty="0">
                <a:solidFill>
                  <a:srgbClr val="FF000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0070C0"/>
                </a:solidFill>
                <a:effectLst/>
                <a:latin typeface="Times New Roman" panose="02020603050405020304" pitchFamily="18" charset="0"/>
                <a:cs typeface="Times New Roman" panose="02020603050405020304" pitchFamily="18" charset="0"/>
              </a:rPr>
              <a:t>// Body of the program</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class D : </a:t>
            </a:r>
            <a:r>
              <a:rPr lang="en-IN" sz="2000" b="0" dirty="0" err="1">
                <a:solidFill>
                  <a:schemeClr val="tx1"/>
                </a:solidFill>
                <a:effectLst/>
                <a:latin typeface="Times New Roman" panose="02020603050405020304" pitchFamily="18" charset="0"/>
                <a:cs typeface="Times New Roman" panose="02020603050405020304" pitchFamily="18" charset="0"/>
              </a:rPr>
              <a:t>access_specifier</a:t>
            </a:r>
            <a:r>
              <a:rPr lang="en-IN" sz="2000" b="0" dirty="0">
                <a:solidFill>
                  <a:schemeClr val="tx1"/>
                </a:solidFill>
                <a:effectLst/>
                <a:latin typeface="Times New Roman" panose="02020603050405020304" pitchFamily="18" charset="0"/>
                <a:cs typeface="Times New Roman" panose="02020603050405020304" pitchFamily="18" charset="0"/>
              </a:rPr>
              <a:t> A </a:t>
            </a:r>
            <a:r>
              <a:rPr lang="en-IN" sz="2000" b="0" dirty="0">
                <a:solidFill>
                  <a:srgbClr val="FF0000"/>
                </a:solidFill>
                <a:effectLst/>
                <a:latin typeface="Times New Roman" panose="02020603050405020304" pitchFamily="18" charset="0"/>
                <a:cs typeface="Times New Roman" panose="02020603050405020304" pitchFamily="18" charset="0"/>
              </a:rPr>
              <a:t>// Derived class of A</a:t>
            </a:r>
            <a:br>
              <a:rPr lang="en-IN" sz="2000" b="0" dirty="0">
                <a:solidFill>
                  <a:srgbClr val="FF000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0070C0"/>
                </a:solidFill>
                <a:effectLst/>
                <a:latin typeface="Times New Roman" panose="02020603050405020304" pitchFamily="18" charset="0"/>
                <a:cs typeface="Times New Roman" panose="02020603050405020304" pitchFamily="18" charset="0"/>
              </a:rPr>
              <a:t>// Body of the program</a:t>
            </a:r>
            <a:br>
              <a:rPr lang="en-IN" sz="2000" b="0" dirty="0">
                <a:solidFill>
                  <a:srgbClr val="0070C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38202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6C011E6-29A1-D2A6-C16F-FAD472B60333}"/>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BC014C4C-6978-3E04-D7ED-C63B94B48D54}"/>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Hierarchical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D08AF70-D416-9412-4C2D-D380DD8D2460}"/>
              </a:ext>
            </a:extLst>
          </p:cNvPr>
          <p:cNvSpPr txBox="1"/>
          <p:nvPr/>
        </p:nvSpPr>
        <p:spPr>
          <a:xfrm>
            <a:off x="405482" y="1122540"/>
            <a:ext cx="5511223" cy="5847755"/>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#include &lt;iostream&gt;</a:t>
            </a:r>
          </a:p>
          <a:p>
            <a:r>
              <a:rPr lang="en-IN" sz="2200" dirty="0">
                <a:latin typeface="Times New Roman" panose="02020603050405020304" pitchFamily="18" charset="0"/>
                <a:cs typeface="Times New Roman" panose="02020603050405020304" pitchFamily="18" charset="0"/>
              </a:rPr>
              <a:t>using namespace std;</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class A </a:t>
            </a:r>
            <a:r>
              <a:rPr lang="en-IN" sz="2200" dirty="0">
                <a:solidFill>
                  <a:srgbClr val="FF0000"/>
                </a:solidFill>
                <a:latin typeface="Times New Roman" panose="02020603050405020304" pitchFamily="18" charset="0"/>
                <a:cs typeface="Times New Roman" panose="02020603050405020304" pitchFamily="18" charset="0"/>
              </a:rPr>
              <a:t>//single base class</a:t>
            </a:r>
          </a:p>
          <a:p>
            <a:r>
              <a:rPr lang="en-IN" sz="2200" dirty="0">
                <a:latin typeface="Times New Roman" panose="02020603050405020304" pitchFamily="18" charset="0"/>
                <a:cs typeface="Times New Roman" panose="02020603050405020304" pitchFamily="18" charset="0"/>
              </a:rPr>
              <a:t>{</a:t>
            </a:r>
          </a:p>
          <a:p>
            <a:r>
              <a:rPr lang="en-IN" sz="2200" dirty="0">
                <a:latin typeface="Times New Roman" panose="02020603050405020304" pitchFamily="18" charset="0"/>
                <a:cs typeface="Times New Roman" panose="02020603050405020304" pitchFamily="18" charset="0"/>
              </a:rPr>
              <a:t> public:</a:t>
            </a:r>
          </a:p>
          <a:p>
            <a:r>
              <a:rPr lang="en-IN" sz="2200" dirty="0">
                <a:latin typeface="Times New Roman" panose="02020603050405020304" pitchFamily="18" charset="0"/>
                <a:cs typeface="Times New Roman" panose="02020603050405020304" pitchFamily="18" charset="0"/>
              </a:rPr>
              <a:t>    int x, y;</a:t>
            </a:r>
          </a:p>
          <a:p>
            <a:r>
              <a:rPr lang="en-IN" sz="2200" dirty="0">
                <a:latin typeface="Times New Roman" panose="02020603050405020304" pitchFamily="18" charset="0"/>
                <a:cs typeface="Times New Roman" panose="02020603050405020304" pitchFamily="18" charset="0"/>
              </a:rPr>
              <a:t>    void </a:t>
            </a:r>
            <a:r>
              <a:rPr lang="en-IN" sz="2200" dirty="0" err="1">
                <a:latin typeface="Times New Roman" panose="02020603050405020304" pitchFamily="18" charset="0"/>
                <a:cs typeface="Times New Roman" panose="02020603050405020304" pitchFamily="18" charset="0"/>
              </a:rPr>
              <a:t>getdata</a:t>
            </a:r>
            <a:r>
              <a:rPr lang="en-IN" sz="2200" dirty="0">
                <a:latin typeface="Times New Roman" panose="02020603050405020304" pitchFamily="18" charset="0"/>
                <a:cs typeface="Times New Roman" panose="02020603050405020304" pitchFamily="18" charset="0"/>
              </a:rPr>
              <a:t>()</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cout</a:t>
            </a:r>
            <a:r>
              <a:rPr lang="en-IN" sz="2200" dirty="0">
                <a:latin typeface="Times New Roman" panose="02020603050405020304" pitchFamily="18" charset="0"/>
                <a:cs typeface="Times New Roman" panose="02020603050405020304" pitchFamily="18" charset="0"/>
              </a:rPr>
              <a:t> &lt;&lt; "\</a:t>
            </a:r>
            <a:r>
              <a:rPr lang="en-IN" sz="2200" dirty="0" err="1">
                <a:latin typeface="Times New Roman" panose="02020603050405020304" pitchFamily="18" charset="0"/>
                <a:cs typeface="Times New Roman" panose="02020603050405020304" pitchFamily="18" charset="0"/>
              </a:rPr>
              <a:t>nEnter</a:t>
            </a:r>
            <a:r>
              <a:rPr lang="en-IN" sz="2200" dirty="0">
                <a:latin typeface="Times New Roman" panose="02020603050405020304" pitchFamily="18" charset="0"/>
                <a:cs typeface="Times New Roman" panose="02020603050405020304" pitchFamily="18" charset="0"/>
              </a:rPr>
              <a:t> value of x and y:\n";</a:t>
            </a:r>
          </a:p>
          <a:p>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cin</a:t>
            </a:r>
            <a:r>
              <a:rPr lang="en-IN" sz="2200" dirty="0">
                <a:latin typeface="Times New Roman" panose="02020603050405020304" pitchFamily="18" charset="0"/>
                <a:cs typeface="Times New Roman" panose="02020603050405020304" pitchFamily="18" charset="0"/>
              </a:rPr>
              <a:t> &gt;&gt; x &gt;&gt; y;</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a:t>
            </a:r>
          </a:p>
          <a:p>
            <a:r>
              <a:rPr lang="en-IN" sz="2200" dirty="0">
                <a:latin typeface="Times New Roman" panose="02020603050405020304" pitchFamily="18" charset="0"/>
                <a:cs typeface="Times New Roman" panose="02020603050405020304" pitchFamily="18" charset="0"/>
              </a:rPr>
              <a:t>class B : public A </a:t>
            </a:r>
            <a:r>
              <a:rPr lang="en-IN" sz="2200" dirty="0">
                <a:solidFill>
                  <a:srgbClr val="FF0000"/>
                </a:solidFill>
                <a:latin typeface="Times New Roman" panose="02020603050405020304" pitchFamily="18" charset="0"/>
                <a:cs typeface="Times New Roman" panose="02020603050405020304" pitchFamily="18" charset="0"/>
              </a:rPr>
              <a:t>//B is derived from class base</a:t>
            </a:r>
          </a:p>
          <a:p>
            <a:r>
              <a:rPr lang="en-IN" sz="2200" dirty="0">
                <a:latin typeface="Times New Roman" panose="02020603050405020304" pitchFamily="18" charset="0"/>
                <a:cs typeface="Times New Roman" panose="02020603050405020304" pitchFamily="18" charset="0"/>
              </a:rPr>
              <a:t>{</a:t>
            </a:r>
          </a:p>
          <a:p>
            <a:r>
              <a:rPr lang="en-IN" sz="2200" dirty="0">
                <a:latin typeface="Times New Roman" panose="02020603050405020304" pitchFamily="18" charset="0"/>
                <a:cs typeface="Times New Roman" panose="02020603050405020304" pitchFamily="18" charset="0"/>
              </a:rPr>
              <a:t>   public:</a:t>
            </a:r>
          </a:p>
          <a:p>
            <a:r>
              <a:rPr lang="en-IN" sz="2200" dirty="0">
                <a:latin typeface="Times New Roman" panose="02020603050405020304" pitchFamily="18" charset="0"/>
                <a:cs typeface="Times New Roman" panose="02020603050405020304" pitchFamily="18" charset="0"/>
              </a:rPr>
              <a:t> 	</a:t>
            </a:r>
          </a:p>
        </p:txBody>
      </p:sp>
      <p:sp>
        <p:nvSpPr>
          <p:cNvPr id="2" name="TextBox 1">
            <a:extLst>
              <a:ext uri="{FF2B5EF4-FFF2-40B4-BE49-F238E27FC236}">
                <a16:creationId xmlns:a16="http://schemas.microsoft.com/office/drawing/2014/main" id="{FEBF8750-5AFA-4759-4341-72B4BBEAEDB0}"/>
              </a:ext>
            </a:extLst>
          </p:cNvPr>
          <p:cNvSpPr txBox="1"/>
          <p:nvPr/>
        </p:nvSpPr>
        <p:spPr>
          <a:xfrm>
            <a:off x="6420800" y="1122540"/>
            <a:ext cx="5511224" cy="4832092"/>
          </a:xfrm>
          <a:prstGeom prst="rect">
            <a:avLst/>
          </a:prstGeom>
          <a:noFill/>
        </p:spPr>
        <p:txBody>
          <a:bodyPr wrap="square">
            <a:spAutoFit/>
          </a:bodyPr>
          <a:lstStyle/>
          <a:p>
            <a:r>
              <a:rPr lang="en-IN" sz="2200" dirty="0">
                <a:latin typeface="Times New Roman" panose="02020603050405020304" pitchFamily="18" charset="0"/>
                <a:cs typeface="Times New Roman" panose="02020603050405020304" pitchFamily="18" charset="0"/>
              </a:rPr>
              <a:t>void product()</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cout</a:t>
            </a:r>
            <a:r>
              <a:rPr lang="en-IN" sz="2200" dirty="0">
                <a:latin typeface="Times New Roman" panose="02020603050405020304" pitchFamily="18" charset="0"/>
                <a:cs typeface="Times New Roman" panose="02020603050405020304" pitchFamily="18" charset="0"/>
              </a:rPr>
              <a:t> &lt;&lt; "\</a:t>
            </a:r>
            <a:r>
              <a:rPr lang="en-IN" sz="2200" dirty="0" err="1">
                <a:latin typeface="Times New Roman" panose="02020603050405020304" pitchFamily="18" charset="0"/>
                <a:cs typeface="Times New Roman" panose="02020603050405020304" pitchFamily="18" charset="0"/>
              </a:rPr>
              <a:t>nProduct</a:t>
            </a:r>
            <a:r>
              <a:rPr lang="en-IN" sz="2200" dirty="0">
                <a:latin typeface="Times New Roman" panose="02020603050405020304" pitchFamily="18" charset="0"/>
                <a:cs typeface="Times New Roman" panose="02020603050405020304" pitchFamily="18" charset="0"/>
              </a:rPr>
              <a:t>= " &lt;&lt; x * y;</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a:t>
            </a:r>
          </a:p>
          <a:p>
            <a:r>
              <a:rPr lang="en-IN" sz="2200" dirty="0">
                <a:latin typeface="Times New Roman" panose="02020603050405020304" pitchFamily="18" charset="0"/>
                <a:cs typeface="Times New Roman" panose="02020603050405020304" pitchFamily="18" charset="0"/>
              </a:rPr>
              <a:t>class C : public A </a:t>
            </a:r>
            <a:r>
              <a:rPr lang="en-IN" sz="2200" dirty="0">
                <a:solidFill>
                  <a:srgbClr val="FF0000"/>
                </a:solidFill>
                <a:latin typeface="Times New Roman" panose="02020603050405020304" pitchFamily="18" charset="0"/>
                <a:cs typeface="Times New Roman" panose="02020603050405020304" pitchFamily="18" charset="0"/>
              </a:rPr>
              <a:t>//C is also derived from</a:t>
            </a:r>
          </a:p>
          <a:p>
            <a:r>
              <a:rPr lang="en-IN" sz="2200" dirty="0">
                <a:solidFill>
                  <a:srgbClr val="FF0000"/>
                </a:solidFill>
                <a:latin typeface="Times New Roman" panose="02020603050405020304" pitchFamily="18" charset="0"/>
                <a:cs typeface="Times New Roman" panose="02020603050405020304" pitchFamily="18" charset="0"/>
              </a:rPr>
              <a:t>                             // class base A</a:t>
            </a:r>
          </a:p>
          <a:p>
            <a:r>
              <a:rPr lang="en-IN" sz="2200" dirty="0">
                <a:latin typeface="Times New Roman" panose="02020603050405020304" pitchFamily="18" charset="0"/>
                <a:cs typeface="Times New Roman" panose="02020603050405020304" pitchFamily="18" charset="0"/>
              </a:rPr>
              <a:t>{</a:t>
            </a:r>
          </a:p>
          <a:p>
            <a:r>
              <a:rPr lang="en-IN" sz="2200" dirty="0">
                <a:latin typeface="Times New Roman" panose="02020603050405020304" pitchFamily="18" charset="0"/>
                <a:cs typeface="Times New Roman" panose="02020603050405020304" pitchFamily="18" charset="0"/>
              </a:rPr>
              <a:t>   public:</a:t>
            </a:r>
          </a:p>
          <a:p>
            <a:r>
              <a:rPr lang="en-IN" sz="2200" dirty="0">
                <a:latin typeface="Times New Roman" panose="02020603050405020304" pitchFamily="18" charset="0"/>
                <a:cs typeface="Times New Roman" panose="02020603050405020304" pitchFamily="18" charset="0"/>
              </a:rPr>
              <a:t>   void sum()</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cout</a:t>
            </a:r>
            <a:r>
              <a:rPr lang="en-IN" sz="2200" dirty="0">
                <a:latin typeface="Times New Roman" panose="02020603050405020304" pitchFamily="18" charset="0"/>
                <a:cs typeface="Times New Roman" panose="02020603050405020304" pitchFamily="18" charset="0"/>
              </a:rPr>
              <a:t> &lt;&lt; "\</a:t>
            </a:r>
            <a:r>
              <a:rPr lang="en-IN" sz="2200" dirty="0" err="1">
                <a:latin typeface="Times New Roman" panose="02020603050405020304" pitchFamily="18" charset="0"/>
                <a:cs typeface="Times New Roman" panose="02020603050405020304" pitchFamily="18" charset="0"/>
              </a:rPr>
              <a:t>nSum</a:t>
            </a:r>
            <a:r>
              <a:rPr lang="en-IN" sz="2200" dirty="0">
                <a:latin typeface="Times New Roman" panose="02020603050405020304" pitchFamily="18" charset="0"/>
                <a:cs typeface="Times New Roman" panose="02020603050405020304" pitchFamily="18" charset="0"/>
              </a:rPr>
              <a:t>= " &lt;&lt; x + y;</a:t>
            </a:r>
          </a:p>
          <a:p>
            <a:r>
              <a:rPr lang="en-IN" sz="2200" dirty="0">
                <a:latin typeface="Times New Roman" panose="02020603050405020304" pitchFamily="18" charset="0"/>
                <a:cs typeface="Times New Roman" panose="02020603050405020304" pitchFamily="18" charset="0"/>
              </a:rPr>
              <a:t>    }</a:t>
            </a:r>
          </a:p>
          <a:p>
            <a:r>
              <a:rPr lang="en-IN" sz="2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24346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4B5D389-3E75-F642-C9C3-1052A2F137C5}"/>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6B2CE625-7592-9177-2852-EA1AE03401A6}"/>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Hierarchical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E23B66C-8C7E-389C-CE46-17AC2F02DC25}"/>
              </a:ext>
            </a:extLst>
          </p:cNvPr>
          <p:cNvSpPr txBox="1"/>
          <p:nvPr/>
        </p:nvSpPr>
        <p:spPr>
          <a:xfrm>
            <a:off x="405482" y="1122540"/>
            <a:ext cx="5394683" cy="4653646"/>
          </a:xfrm>
          <a:prstGeom prst="rect">
            <a:avLst/>
          </a:prstGeom>
          <a:noFill/>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int main()</a:t>
            </a:r>
          </a:p>
          <a:p>
            <a:pPr>
              <a:lnSpc>
                <a:spcPct val="150000"/>
              </a:lnSpc>
            </a:pPr>
            <a:r>
              <a:rPr lang="en-IN" sz="2000" dirty="0">
                <a:latin typeface="Times New Roman" panose="02020603050405020304" pitchFamily="18" charset="0"/>
                <a:cs typeface="Times New Roman" panose="02020603050405020304" pitchFamily="18" charset="0"/>
              </a:rPr>
              <a:t>{</a:t>
            </a:r>
          </a:p>
          <a:p>
            <a:pPr>
              <a:lnSpc>
                <a:spcPct val="150000"/>
              </a:lnSpc>
            </a:pPr>
            <a:r>
              <a:rPr lang="en-IN" sz="2000" dirty="0">
                <a:latin typeface="Times New Roman" panose="02020603050405020304" pitchFamily="18" charset="0"/>
                <a:cs typeface="Times New Roman" panose="02020603050405020304" pitchFamily="18" charset="0"/>
              </a:rPr>
              <a:t>    B obj1;          </a:t>
            </a:r>
            <a:r>
              <a:rPr lang="en-IN" sz="2000" dirty="0">
                <a:solidFill>
                  <a:srgbClr val="FF0000"/>
                </a:solidFill>
                <a:latin typeface="Times New Roman" panose="02020603050405020304" pitchFamily="18" charset="0"/>
                <a:cs typeface="Times New Roman" panose="02020603050405020304" pitchFamily="18" charset="0"/>
              </a:rPr>
              <a:t>//object of derived class B</a:t>
            </a:r>
          </a:p>
          <a:p>
            <a:pPr>
              <a:lnSpc>
                <a:spcPct val="150000"/>
              </a:lnSpc>
            </a:pPr>
            <a:r>
              <a:rPr lang="en-IN" sz="2000" dirty="0">
                <a:latin typeface="Times New Roman" panose="02020603050405020304" pitchFamily="18" charset="0"/>
                <a:cs typeface="Times New Roman" panose="02020603050405020304" pitchFamily="18" charset="0"/>
              </a:rPr>
              <a:t>    C obj2;          </a:t>
            </a:r>
            <a:r>
              <a:rPr lang="en-IN" sz="2000" dirty="0">
                <a:solidFill>
                  <a:srgbClr val="FF0000"/>
                </a:solidFill>
                <a:latin typeface="Times New Roman" panose="02020603050405020304" pitchFamily="18" charset="0"/>
                <a:cs typeface="Times New Roman" panose="02020603050405020304" pitchFamily="18" charset="0"/>
              </a:rPr>
              <a:t>//object of derived class C</a:t>
            </a:r>
          </a:p>
          <a:p>
            <a:pPr>
              <a:lnSpc>
                <a:spcPct val="150000"/>
              </a:lnSpc>
            </a:pPr>
            <a:r>
              <a:rPr lang="en-IN" sz="2000" dirty="0">
                <a:latin typeface="Times New Roman" panose="02020603050405020304" pitchFamily="18" charset="0"/>
                <a:cs typeface="Times New Roman" panose="02020603050405020304" pitchFamily="18" charset="0"/>
              </a:rPr>
              <a:t>    obj1.getdata();</a:t>
            </a:r>
          </a:p>
          <a:p>
            <a:pPr>
              <a:lnSpc>
                <a:spcPct val="150000"/>
              </a:lnSpc>
            </a:pPr>
            <a:r>
              <a:rPr lang="en-IN" sz="2000" dirty="0">
                <a:latin typeface="Times New Roman" panose="02020603050405020304" pitchFamily="18" charset="0"/>
                <a:cs typeface="Times New Roman" panose="02020603050405020304" pitchFamily="18" charset="0"/>
              </a:rPr>
              <a:t>    obj1.product();</a:t>
            </a:r>
          </a:p>
          <a:p>
            <a:pPr>
              <a:lnSpc>
                <a:spcPct val="150000"/>
              </a:lnSpc>
            </a:pPr>
            <a:r>
              <a:rPr lang="en-IN" sz="2000" dirty="0">
                <a:latin typeface="Times New Roman" panose="02020603050405020304" pitchFamily="18" charset="0"/>
                <a:cs typeface="Times New Roman" panose="02020603050405020304" pitchFamily="18" charset="0"/>
              </a:rPr>
              <a:t>    obj2.getdata();</a:t>
            </a:r>
          </a:p>
          <a:p>
            <a:pPr>
              <a:lnSpc>
                <a:spcPct val="150000"/>
              </a:lnSpc>
            </a:pPr>
            <a:r>
              <a:rPr lang="en-IN" sz="2000" dirty="0">
                <a:latin typeface="Times New Roman" panose="02020603050405020304" pitchFamily="18" charset="0"/>
                <a:cs typeface="Times New Roman" panose="02020603050405020304" pitchFamily="18" charset="0"/>
              </a:rPr>
              <a:t>    obj2.sum();</a:t>
            </a:r>
          </a:p>
          <a:p>
            <a:pPr>
              <a:lnSpc>
                <a:spcPct val="150000"/>
              </a:lnSpc>
            </a:pPr>
            <a:r>
              <a:rPr lang="en-IN" sz="2000" dirty="0">
                <a:latin typeface="Times New Roman" panose="02020603050405020304" pitchFamily="18" charset="0"/>
                <a:cs typeface="Times New Roman" panose="02020603050405020304" pitchFamily="18" charset="0"/>
              </a:rPr>
              <a:t>    return 0;</a:t>
            </a:r>
          </a:p>
          <a:p>
            <a:pPr>
              <a:lnSpc>
                <a:spcPct val="150000"/>
              </a:lnSpc>
            </a:pPr>
            <a:r>
              <a:rPr lang="en-IN" sz="2000" dirty="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7C23D370-A772-A0E6-1D3A-C595E9BB06BE}"/>
              </a:ext>
            </a:extLst>
          </p:cNvPr>
          <p:cNvPicPr>
            <a:picLocks noChangeAspect="1"/>
          </p:cNvPicPr>
          <p:nvPr/>
        </p:nvPicPr>
        <p:blipFill>
          <a:blip r:embed="rId3"/>
          <a:stretch>
            <a:fillRect/>
          </a:stretch>
        </p:blipFill>
        <p:spPr>
          <a:xfrm>
            <a:off x="6096000" y="1122540"/>
            <a:ext cx="4610240" cy="3634283"/>
          </a:xfrm>
          <a:prstGeom prst="rect">
            <a:avLst/>
          </a:prstGeom>
        </p:spPr>
      </p:pic>
    </p:spTree>
    <p:extLst>
      <p:ext uri="{BB962C8B-B14F-4D97-AF65-F5344CB8AC3E}">
        <p14:creationId xmlns:p14="http://schemas.microsoft.com/office/powerpoint/2010/main" val="1983322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550E4AD-D5B1-460D-C586-DF189A60E3B0}"/>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B34B3AD9-C2DF-1CA9-41C6-CB57939E57D7}"/>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Hybrid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48B591-BC25-3792-08AB-6A13041BF2F0}"/>
              </a:ext>
            </a:extLst>
          </p:cNvPr>
          <p:cNvSpPr txBox="1"/>
          <p:nvPr/>
        </p:nvSpPr>
        <p:spPr>
          <a:xfrm>
            <a:off x="469649" y="1169261"/>
            <a:ext cx="6074585" cy="3903954"/>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sz="2400" b="0" i="0" dirty="0">
                <a:solidFill>
                  <a:schemeClr val="tx1"/>
                </a:solidFill>
                <a:effectLst/>
                <a:latin typeface="Times New Roman" panose="02020603050405020304" pitchFamily="18" charset="0"/>
                <a:cs typeface="Times New Roman" panose="02020603050405020304" pitchFamily="18" charset="0"/>
              </a:rPr>
              <a:t>This type of inheritance essentially</a:t>
            </a:r>
            <a:r>
              <a:rPr lang="en-IN" sz="2400" b="0" i="1" dirty="0">
                <a:solidFill>
                  <a:schemeClr val="tx1"/>
                </a:solidFill>
                <a:effectLst/>
                <a:latin typeface="Times New Roman" panose="02020603050405020304" pitchFamily="18" charset="0"/>
                <a:cs typeface="Times New Roman" panose="02020603050405020304" pitchFamily="18" charset="0"/>
              </a:rPr>
              <a:t> </a:t>
            </a:r>
            <a:r>
              <a:rPr lang="en-IN" sz="2400" b="1" dirty="0">
                <a:solidFill>
                  <a:schemeClr val="tx1"/>
                </a:solidFill>
                <a:effectLst/>
                <a:latin typeface="Times New Roman" panose="02020603050405020304" pitchFamily="18" charset="0"/>
                <a:cs typeface="Times New Roman" panose="02020603050405020304" pitchFamily="18" charset="0"/>
              </a:rPr>
              <a:t>combines more than two forms of inheritance. </a:t>
            </a:r>
          </a:p>
          <a:p>
            <a:pPr marL="285750" indent="-285750" algn="just">
              <a:lnSpc>
                <a:spcPct val="150000"/>
              </a:lnSpc>
              <a:buFont typeface="Arial" panose="020B0604020202020204" pitchFamily="34" charset="0"/>
              <a:buChar char="•"/>
            </a:pPr>
            <a:endParaRPr lang="en-IN" sz="2400" b="1" dirty="0">
              <a:solidFill>
                <a:schemeClr val="tx1"/>
              </a:solidFill>
              <a:effectLst/>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IN" sz="2400" b="0" i="0" dirty="0">
                <a:solidFill>
                  <a:schemeClr val="tx1"/>
                </a:solidFill>
                <a:effectLst/>
                <a:latin typeface="Times New Roman" panose="02020603050405020304" pitchFamily="18" charset="0"/>
                <a:cs typeface="Times New Roman" panose="02020603050405020304" pitchFamily="18" charset="0"/>
              </a:rPr>
              <a:t>When a </a:t>
            </a:r>
            <a:r>
              <a:rPr lang="en-IN" sz="2400" b="1" i="0" dirty="0">
                <a:solidFill>
                  <a:schemeClr val="tx1"/>
                </a:solidFill>
                <a:effectLst/>
                <a:latin typeface="Times New Roman" panose="02020603050405020304" pitchFamily="18" charset="0"/>
                <a:cs typeface="Times New Roman" panose="02020603050405020304" pitchFamily="18" charset="0"/>
              </a:rPr>
              <a:t>child class inherits from multiple base classes all of its parent classes </a:t>
            </a:r>
            <a:r>
              <a:rPr lang="en-IN" sz="2400" b="0" i="0" dirty="0">
                <a:solidFill>
                  <a:schemeClr val="tx1"/>
                </a:solidFill>
                <a:effectLst/>
                <a:latin typeface="Times New Roman" panose="02020603050405020304" pitchFamily="18" charset="0"/>
                <a:cs typeface="Times New Roman" panose="02020603050405020304" pitchFamily="18" charset="0"/>
              </a:rPr>
              <a:t>and that child class itself </a:t>
            </a:r>
            <a:r>
              <a:rPr lang="en-IN" sz="2400" b="1" i="0" dirty="0">
                <a:solidFill>
                  <a:schemeClr val="tx1"/>
                </a:solidFill>
                <a:effectLst/>
                <a:latin typeface="Times New Roman" panose="02020603050405020304" pitchFamily="18" charset="0"/>
                <a:cs typeface="Times New Roman" panose="02020603050405020304" pitchFamily="18" charset="0"/>
              </a:rPr>
              <a:t>serves as a base class for 3 of its derived classes</a:t>
            </a:r>
            <a:r>
              <a:rPr lang="en-IN" sz="2400" b="0" i="0" dirty="0">
                <a:solidFill>
                  <a:schemeClr val="tx1"/>
                </a:solidFill>
                <a:effectLst/>
                <a:latin typeface="Times New Roman" panose="02020603050405020304" pitchFamily="18" charset="0"/>
                <a:cs typeface="Times New Roman" panose="02020603050405020304" pitchFamily="18" charset="0"/>
              </a:rPr>
              <a:t>.</a:t>
            </a: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C92CD9F-EA43-0D8C-86E6-62F8FB9EDE93}"/>
              </a:ext>
            </a:extLst>
          </p:cNvPr>
          <p:cNvPicPr>
            <a:picLocks noChangeAspect="1"/>
          </p:cNvPicPr>
          <p:nvPr/>
        </p:nvPicPr>
        <p:blipFill>
          <a:blip r:embed="rId3"/>
          <a:stretch>
            <a:fillRect/>
          </a:stretch>
        </p:blipFill>
        <p:spPr>
          <a:xfrm>
            <a:off x="6719733" y="1169261"/>
            <a:ext cx="5002617" cy="4630328"/>
          </a:xfrm>
          <a:prstGeom prst="rect">
            <a:avLst/>
          </a:prstGeom>
        </p:spPr>
      </p:pic>
    </p:spTree>
    <p:extLst>
      <p:ext uri="{BB962C8B-B14F-4D97-AF65-F5344CB8AC3E}">
        <p14:creationId xmlns:p14="http://schemas.microsoft.com/office/powerpoint/2010/main" val="40275871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6D866DD-44F8-E786-90C0-C291132ADAD2}"/>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8EE99483-F70F-A9A9-DC3C-BBEC328D0B36}"/>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Hybrid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EFD5D55-C980-F6E6-DC50-84D71BD20777}"/>
              </a:ext>
            </a:extLst>
          </p:cNvPr>
          <p:cNvSpPr txBox="1"/>
          <p:nvPr/>
        </p:nvSpPr>
        <p:spPr>
          <a:xfrm>
            <a:off x="469650" y="1010245"/>
            <a:ext cx="4550585" cy="5693866"/>
          </a:xfrm>
          <a:prstGeom prst="rect">
            <a:avLst/>
          </a:prstGeom>
          <a:noFill/>
        </p:spPr>
        <p:txBody>
          <a:bodyPr wrap="square">
            <a:spAutoFit/>
          </a:bodyPr>
          <a:lstStyle/>
          <a:p>
            <a:pPr algn="l" fontAlgn="base"/>
            <a:r>
              <a:rPr lang="en-IN" sz="2200" b="0" dirty="0">
                <a:solidFill>
                  <a:srgbClr val="0070C0"/>
                </a:solidFill>
                <a:effectLst/>
                <a:latin typeface="Times New Roman" panose="02020603050405020304" pitchFamily="18" charset="0"/>
                <a:cs typeface="Times New Roman" panose="02020603050405020304" pitchFamily="18" charset="0"/>
              </a:rPr>
              <a:t>Syntax:</a:t>
            </a:r>
          </a:p>
          <a:p>
            <a:pPr algn="l" fontAlgn="base"/>
            <a:endParaRPr lang="en-IN" sz="2200" b="0" dirty="0">
              <a:solidFill>
                <a:srgbClr val="0070C0"/>
              </a:solidFill>
              <a:effectLst/>
              <a:latin typeface="Times New Roman" panose="02020603050405020304" pitchFamily="18" charset="0"/>
              <a:cs typeface="Times New Roman" panose="02020603050405020304" pitchFamily="18" charset="0"/>
            </a:endParaRPr>
          </a:p>
          <a:p>
            <a:pPr marL="361950" algn="l" fontAlgn="base"/>
            <a:r>
              <a:rPr lang="en-IN" sz="2000" b="0" dirty="0">
                <a:solidFill>
                  <a:schemeClr val="tx1"/>
                </a:solidFill>
                <a:effectLst/>
                <a:latin typeface="Times New Roman" panose="02020603050405020304" pitchFamily="18" charset="0"/>
                <a:cs typeface="Times New Roman" panose="02020603050405020304" pitchFamily="18" charset="0"/>
              </a:rPr>
              <a:t>class A</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FF0000"/>
                </a:solidFill>
                <a:effectLst/>
                <a:latin typeface="Times New Roman" panose="02020603050405020304" pitchFamily="18" charset="0"/>
                <a:cs typeface="Times New Roman" panose="02020603050405020304" pitchFamily="18" charset="0"/>
              </a:rPr>
              <a:t>// Body of the class A</a:t>
            </a:r>
            <a:br>
              <a:rPr lang="en-IN" sz="2000" b="0" dirty="0">
                <a:solidFill>
                  <a:srgbClr val="FF000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class B : public A</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FF0000"/>
                </a:solidFill>
                <a:effectLst/>
                <a:latin typeface="Times New Roman" panose="02020603050405020304" pitchFamily="18" charset="0"/>
                <a:cs typeface="Times New Roman" panose="02020603050405020304" pitchFamily="18" charset="0"/>
              </a:rPr>
              <a:t>// Body of the class B</a:t>
            </a:r>
            <a:br>
              <a:rPr lang="en-IN" sz="2000" b="0" dirty="0">
                <a:solidFill>
                  <a:srgbClr val="FF000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class C</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FF0000"/>
                </a:solidFill>
                <a:effectLst/>
                <a:latin typeface="Times New Roman" panose="02020603050405020304" pitchFamily="18" charset="0"/>
                <a:cs typeface="Times New Roman" panose="02020603050405020304" pitchFamily="18" charset="0"/>
              </a:rPr>
              <a:t>// Body of the class C</a:t>
            </a:r>
            <a:br>
              <a:rPr lang="en-IN" sz="2000" b="0" dirty="0">
                <a:solidFill>
                  <a:srgbClr val="FF000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class D : public B, public C</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br>
              <a:rPr lang="en-IN" sz="2000" b="0" dirty="0">
                <a:solidFill>
                  <a:schemeClr val="tx1"/>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	</a:t>
            </a:r>
            <a:r>
              <a:rPr lang="en-IN" sz="2000" b="0" dirty="0">
                <a:solidFill>
                  <a:srgbClr val="FF0000"/>
                </a:solidFill>
                <a:effectLst/>
                <a:latin typeface="Times New Roman" panose="02020603050405020304" pitchFamily="18" charset="0"/>
                <a:cs typeface="Times New Roman" panose="02020603050405020304" pitchFamily="18" charset="0"/>
              </a:rPr>
              <a:t>// Body of the class D</a:t>
            </a:r>
            <a:br>
              <a:rPr lang="en-IN" sz="2000" b="0" dirty="0">
                <a:solidFill>
                  <a:srgbClr val="FF0000"/>
                </a:solidFill>
                <a:effectLst/>
                <a:latin typeface="Times New Roman" panose="02020603050405020304" pitchFamily="18" charset="0"/>
                <a:cs typeface="Times New Roman" panose="02020603050405020304" pitchFamily="18" charset="0"/>
              </a:rPr>
            </a:br>
            <a:r>
              <a:rPr lang="en-IN" sz="2000" b="0" dirty="0">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85182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8C99A9D-1CC6-D0CB-3DF4-465678ED9121}"/>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BE5A6239-6137-797B-3746-0FEA971E9FBD}"/>
              </a:ext>
            </a:extLst>
          </p:cNvPr>
          <p:cNvSpPr txBox="1">
            <a:spLocks noGrp="1"/>
          </p:cNvSpPr>
          <p:nvPr>
            <p:ph type="title"/>
          </p:nvPr>
        </p:nvSpPr>
        <p:spPr>
          <a:xfrm>
            <a:off x="646113" y="334184"/>
            <a:ext cx="6151502" cy="456022"/>
          </a:xfrm>
          <a:prstGeom prst="rect">
            <a:avLst/>
          </a:prstGeom>
        </p:spPr>
        <p:txBody>
          <a:bodyPr vert="horz" wrap="square" lIns="0" tIns="12700" rIns="0" bIns="0" rtlCol="0">
            <a:spAutoFit/>
          </a:bodyPr>
          <a:lstStyle/>
          <a:p>
            <a:pPr algn="l"/>
            <a:r>
              <a:rPr lang="en-IN" sz="3200" b="1" i="0" u="none" strike="noStrike" baseline="0" dirty="0">
                <a:solidFill>
                  <a:srgbClr val="00A4BE"/>
                </a:solidFill>
                <a:latin typeface="Times New Roman" panose="02020603050405020304" pitchFamily="18" charset="0"/>
                <a:cs typeface="Times New Roman" panose="02020603050405020304" pitchFamily="18" charset="0"/>
              </a:rPr>
              <a:t>Hybrid Inheritance </a:t>
            </a:r>
            <a:endParaRPr lang="en-IN" sz="1050" b="1" dirty="0">
              <a:solidFill>
                <a:srgbClr val="00A4BE"/>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B4180D1-264B-ECEB-40F1-49187838ED01}"/>
              </a:ext>
            </a:extLst>
          </p:cNvPr>
          <p:cNvSpPr txBox="1"/>
          <p:nvPr/>
        </p:nvSpPr>
        <p:spPr>
          <a:xfrm>
            <a:off x="439632" y="1073520"/>
            <a:ext cx="4811523" cy="5632311"/>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#include &lt;iostream&gt;</a:t>
            </a:r>
          </a:p>
          <a:p>
            <a:r>
              <a:rPr lang="en-IN" dirty="0">
                <a:latin typeface="Times New Roman" panose="02020603050405020304" pitchFamily="18" charset="0"/>
                <a:cs typeface="Times New Roman" panose="02020603050405020304" pitchFamily="18" charset="0"/>
              </a:rPr>
              <a:t>using namespace std;</a:t>
            </a:r>
          </a:p>
          <a:p>
            <a:r>
              <a:rPr lang="en-IN" dirty="0">
                <a:latin typeface="Times New Roman" panose="02020603050405020304" pitchFamily="18" charset="0"/>
                <a:cs typeface="Times New Roman" panose="02020603050405020304" pitchFamily="18" charset="0"/>
              </a:rPr>
              <a:t>class A </a:t>
            </a:r>
            <a:r>
              <a:rPr lang="en-IN" dirty="0">
                <a:solidFill>
                  <a:srgbClr val="FF0000"/>
                </a:solidFill>
                <a:latin typeface="Times New Roman" panose="02020603050405020304" pitchFamily="18" charset="0"/>
                <a:cs typeface="Times New Roman" panose="02020603050405020304" pitchFamily="18" charset="0"/>
              </a:rPr>
              <a:t>// base class 1</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public:</a:t>
            </a:r>
          </a:p>
          <a:p>
            <a:r>
              <a:rPr lang="en-IN" dirty="0">
                <a:latin typeface="Times New Roman" panose="02020603050405020304" pitchFamily="18" charset="0"/>
                <a:cs typeface="Times New Roman" panose="02020603050405020304" pitchFamily="18" charset="0"/>
              </a:rPr>
              <a:t> 	int x;</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class B : public A </a:t>
            </a:r>
            <a:r>
              <a:rPr lang="en-IN" dirty="0">
                <a:solidFill>
                  <a:srgbClr val="FF0000"/>
                </a:solidFill>
                <a:latin typeface="Times New Roman" panose="02020603050405020304" pitchFamily="18" charset="0"/>
                <a:cs typeface="Times New Roman" panose="02020603050405020304" pitchFamily="18" charset="0"/>
              </a:rPr>
              <a:t>// derived 1</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public:</a:t>
            </a:r>
          </a:p>
          <a:p>
            <a:r>
              <a:rPr lang="en-IN" dirty="0">
                <a:latin typeface="Times New Roman" panose="02020603050405020304" pitchFamily="18" charset="0"/>
                <a:cs typeface="Times New Roman" panose="02020603050405020304" pitchFamily="18" charset="0"/>
              </a:rPr>
              <a:t> B()  </a:t>
            </a:r>
            <a:r>
              <a:rPr lang="en-IN" dirty="0">
                <a:solidFill>
                  <a:srgbClr val="FF0000"/>
                </a:solidFill>
                <a:latin typeface="Times New Roman" panose="02020603050405020304" pitchFamily="18" charset="0"/>
                <a:cs typeface="Times New Roman" panose="02020603050405020304" pitchFamily="18" charset="0"/>
              </a:rPr>
              <a:t>//constructor to initialize x in base class A</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x = 10;</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class C </a:t>
            </a:r>
            <a:r>
              <a:rPr lang="en-IN" dirty="0">
                <a:solidFill>
                  <a:srgbClr val="FF0000"/>
                </a:solidFill>
                <a:latin typeface="Times New Roman" panose="02020603050405020304" pitchFamily="18" charset="0"/>
                <a:cs typeface="Times New Roman" panose="02020603050405020304" pitchFamily="18" charset="0"/>
              </a:rPr>
              <a:t>// base 2</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public:</a:t>
            </a:r>
          </a:p>
          <a:p>
            <a:r>
              <a:rPr lang="en-IN" dirty="0">
                <a:latin typeface="Times New Roman" panose="02020603050405020304" pitchFamily="18" charset="0"/>
                <a:cs typeface="Times New Roman" panose="02020603050405020304" pitchFamily="18" charset="0"/>
              </a:rPr>
              <a:t> 	int y;</a:t>
            </a:r>
          </a:p>
          <a:p>
            <a:endParaRPr lang="en-IN"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AD1A2C2-9791-77B6-0F95-8A47FDB09506}"/>
              </a:ext>
            </a:extLst>
          </p:cNvPr>
          <p:cNvPicPr>
            <a:picLocks noChangeAspect="1"/>
          </p:cNvPicPr>
          <p:nvPr/>
        </p:nvPicPr>
        <p:blipFill>
          <a:blip r:embed="rId3"/>
          <a:stretch>
            <a:fillRect/>
          </a:stretch>
        </p:blipFill>
        <p:spPr>
          <a:xfrm>
            <a:off x="5251155" y="1164527"/>
            <a:ext cx="18290" cy="5450296"/>
          </a:xfrm>
          <a:prstGeom prst="rect">
            <a:avLst/>
          </a:prstGeom>
        </p:spPr>
      </p:pic>
      <p:sp>
        <p:nvSpPr>
          <p:cNvPr id="3" name="TextBox 2">
            <a:extLst>
              <a:ext uri="{FF2B5EF4-FFF2-40B4-BE49-F238E27FC236}">
                <a16:creationId xmlns:a16="http://schemas.microsoft.com/office/drawing/2014/main" id="{D2C993AE-3F18-3D50-66A5-D331046E6AFE}"/>
              </a:ext>
            </a:extLst>
          </p:cNvPr>
          <p:cNvSpPr txBox="1"/>
          <p:nvPr/>
        </p:nvSpPr>
        <p:spPr>
          <a:xfrm>
            <a:off x="5415043" y="964078"/>
            <a:ext cx="6678528" cy="5721053"/>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	C()   </a:t>
            </a:r>
            <a:r>
              <a:rPr lang="en-IN" dirty="0">
                <a:solidFill>
                  <a:srgbClr val="FF0000"/>
                </a:solidFill>
                <a:latin typeface="Times New Roman" panose="02020603050405020304" pitchFamily="18" charset="0"/>
                <a:cs typeface="Times New Roman" panose="02020603050405020304" pitchFamily="18" charset="0"/>
              </a:rPr>
              <a:t>//constructor to initialize y</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y = 4;</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class D : public B, public C   </a:t>
            </a:r>
            <a:r>
              <a:rPr lang="en-IN" dirty="0">
                <a:solidFill>
                  <a:srgbClr val="FF0000"/>
                </a:solidFill>
                <a:latin typeface="Times New Roman" panose="02020603050405020304" pitchFamily="18" charset="0"/>
                <a:cs typeface="Times New Roman" panose="02020603050405020304" pitchFamily="18" charset="0"/>
              </a:rPr>
              <a:t>//D is derived from class B and  class C</a:t>
            </a:r>
          </a:p>
          <a:p>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public:</a:t>
            </a:r>
          </a:p>
          <a:p>
            <a:r>
              <a:rPr lang="en-IN" dirty="0">
                <a:latin typeface="Times New Roman" panose="02020603050405020304" pitchFamily="18" charset="0"/>
                <a:cs typeface="Times New Roman" panose="02020603050405020304" pitchFamily="18" charset="0"/>
              </a:rPr>
              <a:t> 	void sum()</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cout</a:t>
            </a:r>
            <a:r>
              <a:rPr lang="en-IN" dirty="0">
                <a:latin typeface="Times New Roman" panose="02020603050405020304" pitchFamily="18" charset="0"/>
                <a:cs typeface="Times New Roman" panose="02020603050405020304" pitchFamily="18" charset="0"/>
              </a:rPr>
              <a:t> &lt;&lt; "Sum= " &lt;&lt; x + y;</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t>
            </a:r>
          </a:p>
          <a:p>
            <a:pPr>
              <a:lnSpc>
                <a:spcPct val="150000"/>
              </a:lnSpc>
            </a:pPr>
            <a:r>
              <a:rPr lang="en-IN" dirty="0">
                <a:latin typeface="Times New Roman" panose="02020603050405020304" pitchFamily="18" charset="0"/>
                <a:cs typeface="Times New Roman" panose="02020603050405020304" pitchFamily="18" charset="0"/>
              </a:rPr>
              <a:t>int main() {</a:t>
            </a:r>
          </a:p>
          <a:p>
            <a:pPr>
              <a:lnSpc>
                <a:spcPct val="150000"/>
              </a:lnSpc>
            </a:pPr>
            <a:r>
              <a:rPr lang="en-IN" dirty="0">
                <a:latin typeface="Times New Roman" panose="02020603050405020304" pitchFamily="18" charset="0"/>
                <a:cs typeface="Times New Roman" panose="02020603050405020304" pitchFamily="18" charset="0"/>
              </a:rPr>
              <a:t>    D obj1;   </a:t>
            </a:r>
            <a:r>
              <a:rPr lang="en-IN" dirty="0">
                <a:solidFill>
                  <a:srgbClr val="FF0000"/>
                </a:solidFill>
                <a:latin typeface="Times New Roman" panose="02020603050405020304" pitchFamily="18" charset="0"/>
                <a:cs typeface="Times New Roman" panose="02020603050405020304" pitchFamily="18" charset="0"/>
              </a:rPr>
              <a:t>//object of derived class D</a:t>
            </a:r>
          </a:p>
          <a:p>
            <a:pPr>
              <a:lnSpc>
                <a:spcPct val="150000"/>
              </a:lnSpc>
            </a:pPr>
            <a:r>
              <a:rPr lang="en-IN" dirty="0">
                <a:latin typeface="Times New Roman" panose="02020603050405020304" pitchFamily="18" charset="0"/>
                <a:cs typeface="Times New Roman" panose="02020603050405020304" pitchFamily="18" charset="0"/>
              </a:rPr>
              <a:t>    obj1.sum();</a:t>
            </a:r>
          </a:p>
          <a:p>
            <a:pPr>
              <a:lnSpc>
                <a:spcPct val="150000"/>
              </a:lnSpc>
            </a:pPr>
            <a:r>
              <a:rPr lang="en-IN" dirty="0">
                <a:latin typeface="Times New Roman" panose="02020603050405020304" pitchFamily="18" charset="0"/>
                <a:cs typeface="Times New Roman" panose="02020603050405020304" pitchFamily="18" charset="0"/>
              </a:rPr>
              <a:t>    return 0;</a:t>
            </a:r>
          </a:p>
          <a:p>
            <a:pPr>
              <a:lnSpc>
                <a:spcPct val="150000"/>
              </a:lnSpc>
            </a:pPr>
            <a:r>
              <a:rPr lang="en-IN" dirty="0">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289C2665-EFD1-C8D1-935A-228AE2F93431}"/>
              </a:ext>
            </a:extLst>
          </p:cNvPr>
          <p:cNvPicPr>
            <a:picLocks noChangeAspect="1"/>
          </p:cNvPicPr>
          <p:nvPr/>
        </p:nvPicPr>
        <p:blipFill>
          <a:blip r:embed="rId4"/>
          <a:stretch>
            <a:fillRect/>
          </a:stretch>
        </p:blipFill>
        <p:spPr>
          <a:xfrm>
            <a:off x="8193741" y="5636281"/>
            <a:ext cx="2557022" cy="907331"/>
          </a:xfrm>
          <a:prstGeom prst="rect">
            <a:avLst/>
          </a:prstGeom>
        </p:spPr>
      </p:pic>
    </p:spTree>
    <p:extLst>
      <p:ext uri="{BB962C8B-B14F-4D97-AF65-F5344CB8AC3E}">
        <p14:creationId xmlns:p14="http://schemas.microsoft.com/office/powerpoint/2010/main" val="2944597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7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1643</TotalTime>
  <Words>2176</Words>
  <Application>Microsoft Office PowerPoint</Application>
  <PresentationFormat>Widescreen</PresentationFormat>
  <Paragraphs>302</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Times New Roman</vt:lpstr>
      <vt:lpstr>Trebuchet MS</vt:lpstr>
      <vt:lpstr>Wingdings</vt:lpstr>
      <vt:lpstr>Office Theme</vt:lpstr>
      <vt:lpstr>PowerPoint Presentation</vt:lpstr>
      <vt:lpstr>OUTLINE</vt:lpstr>
      <vt:lpstr>Concept of inheritance</vt:lpstr>
      <vt:lpstr>Benefits of Inheritance</vt:lpstr>
      <vt:lpstr>Benefits of Inheritance</vt:lpstr>
      <vt:lpstr>Access Mode in C++ Inheritance </vt:lpstr>
      <vt:lpstr>Inheritance </vt:lpstr>
      <vt:lpstr>Inheritance – Types   </vt:lpstr>
      <vt:lpstr>Single Inheritance </vt:lpstr>
      <vt:lpstr>Single Inheritance </vt:lpstr>
      <vt:lpstr>Single Inheritance - Example </vt:lpstr>
      <vt:lpstr>Multiple Inheritance </vt:lpstr>
      <vt:lpstr>Multiple Inheritance </vt:lpstr>
      <vt:lpstr>Multiple Inheritance - Example </vt:lpstr>
      <vt:lpstr>Multilevel Inheritance </vt:lpstr>
      <vt:lpstr>Multilevel Inheritance </vt:lpstr>
      <vt:lpstr>Multilevel Inheritance </vt:lpstr>
      <vt:lpstr>Multilevel Inheritance </vt:lpstr>
      <vt:lpstr>Hierarchical Inheritance </vt:lpstr>
      <vt:lpstr>Hierarchical Inheritance </vt:lpstr>
      <vt:lpstr>Hierarchical Inheritance </vt:lpstr>
      <vt:lpstr>Hierarchical Inheritance </vt:lpstr>
      <vt:lpstr>Hybrid Inheritance </vt:lpstr>
      <vt:lpstr>Hybrid Inheritance </vt:lpstr>
      <vt:lpstr>Hybrid Inheritance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Ayush Gour</cp:lastModifiedBy>
  <cp:revision>23</cp:revision>
  <dcterms:created xsi:type="dcterms:W3CDTF">2023-12-05T07:58:57Z</dcterms:created>
  <dcterms:modified xsi:type="dcterms:W3CDTF">2025-03-21T11:42:35Z</dcterms:modified>
</cp:coreProperties>
</file>
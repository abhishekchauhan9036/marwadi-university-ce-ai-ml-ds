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5"/>
  </p:notesMasterIdLst>
  <p:sldIdLst>
    <p:sldId id="265" r:id="rId2"/>
    <p:sldId id="296" r:id="rId3"/>
    <p:sldId id="378" r:id="rId4"/>
    <p:sldId id="380" r:id="rId5"/>
    <p:sldId id="381" r:id="rId6"/>
    <p:sldId id="382" r:id="rId7"/>
    <p:sldId id="383" r:id="rId8"/>
    <p:sldId id="384" r:id="rId9"/>
    <p:sldId id="385" r:id="rId10"/>
    <p:sldId id="421" r:id="rId11"/>
    <p:sldId id="386" r:id="rId12"/>
    <p:sldId id="387" r:id="rId13"/>
    <p:sldId id="422" r:id="rId14"/>
    <p:sldId id="377" r:id="rId15"/>
    <p:sldId id="390" r:id="rId16"/>
    <p:sldId id="397" r:id="rId17"/>
    <p:sldId id="404" r:id="rId18"/>
    <p:sldId id="398" r:id="rId19"/>
    <p:sldId id="407" r:id="rId20"/>
    <p:sldId id="399" r:id="rId21"/>
    <p:sldId id="400" r:id="rId22"/>
    <p:sldId id="410" r:id="rId23"/>
    <p:sldId id="411" r:id="rId24"/>
    <p:sldId id="412" r:id="rId25"/>
    <p:sldId id="413" r:id="rId26"/>
    <p:sldId id="414" r:id="rId27"/>
    <p:sldId id="415" r:id="rId28"/>
    <p:sldId id="416" r:id="rId29"/>
    <p:sldId id="417" r:id="rId30"/>
    <p:sldId id="418" r:id="rId31"/>
    <p:sldId id="419" r:id="rId32"/>
    <p:sldId id="420" r:id="rId33"/>
    <p:sldId id="389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2546"/>
    <a:srgbClr val="D17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787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73703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b6c834fc22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b6c834fc22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103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724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229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4775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6847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563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7353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6859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1730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359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5665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236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406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687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50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3736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917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4656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71260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39166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08509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8145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05471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24286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5426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6597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6071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4664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67948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98936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8163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89965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6860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62054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38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1;p15"/>
          <p:cNvSpPr txBox="1"/>
          <p:nvPr/>
        </p:nvSpPr>
        <p:spPr>
          <a:xfrm>
            <a:off x="103372" y="3657262"/>
            <a:ext cx="385930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Unit – 5</a:t>
            </a:r>
          </a:p>
          <a:p>
            <a:pPr lvl="0"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13" name="Google Shape;71;p15"/>
          <p:cNvSpPr txBox="1"/>
          <p:nvPr/>
        </p:nvSpPr>
        <p:spPr>
          <a:xfrm>
            <a:off x="361105" y="1202465"/>
            <a:ext cx="3859303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Design and Programming 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01AI0403)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18E72-6713-D678-B3E8-D02B06330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87" y="1078086"/>
            <a:ext cx="4106239" cy="3502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645925" y="134250"/>
            <a:ext cx="1743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OUTLINE</a:t>
            </a:r>
            <a:endParaRPr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645925" y="1057884"/>
            <a:ext cx="811671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Overloading unary operations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Overloading binary operators 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Data conversion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Pitfalls of operators overloading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Type conversion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02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77728" y="118245"/>
            <a:ext cx="439424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45C63-774D-04CA-B5DE-E4D6AFC6A774}"/>
              </a:ext>
            </a:extLst>
          </p:cNvPr>
          <p:cNvSpPr txBox="1"/>
          <p:nvPr/>
        </p:nvSpPr>
        <p:spPr>
          <a:xfrm>
            <a:off x="260129" y="881838"/>
            <a:ext cx="8400395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88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overloading a function can be applied to </a:t>
            </a:r>
            <a:r>
              <a:rPr lang="en-IN" sz="1800" b="1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  <a:r>
              <a:rPr lang="en-IN" sz="18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well. C++ has the ability to provide the operators with a special meaning for data type.</a:t>
            </a:r>
          </a:p>
          <a:p>
            <a:pPr marL="5588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mechanism which provides this special meaning to operators is called </a:t>
            </a:r>
            <a:r>
              <a:rPr lang="en-IN" sz="18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overloading. </a:t>
            </a:r>
          </a:p>
          <a:p>
            <a:pPr marL="5588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operator overloading feature of C++ is one of the methods of </a:t>
            </a:r>
            <a:r>
              <a:rPr lang="en-IN" sz="1800" b="1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polymorphism.</a:t>
            </a:r>
          </a:p>
          <a:p>
            <a:pPr marL="5588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 poly refers to </a:t>
            </a:r>
            <a:r>
              <a:rPr lang="en-IN" sz="1800" b="1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or multiple </a:t>
            </a:r>
            <a:r>
              <a:rPr lang="en-IN" sz="18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morphism refers to </a:t>
            </a:r>
            <a:r>
              <a:rPr lang="en-IN" sz="1800" b="1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 or forms</a:t>
            </a:r>
            <a:r>
              <a:rPr lang="en-IN" sz="18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i.e. performing many actions with a single operator.</a:t>
            </a:r>
          </a:p>
          <a:p>
            <a:pPr marL="273050"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87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77728" y="118245"/>
            <a:ext cx="439424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45C63-774D-04CA-B5DE-E4D6AFC6A774}"/>
              </a:ext>
            </a:extLst>
          </p:cNvPr>
          <p:cNvSpPr txBox="1"/>
          <p:nvPr/>
        </p:nvSpPr>
        <p:spPr>
          <a:xfrm>
            <a:off x="399393" y="881838"/>
            <a:ext cx="8366235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indent="-2730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operator overloading concepts are applied to the following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principle areas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1071563" lvl="1" indent="-357188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capability of operators to operate on user defined data, </a:t>
            </a:r>
          </a:p>
          <a:p>
            <a:pPr marL="1071563" lvl="1" indent="-357188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</a:p>
          <a:p>
            <a:pPr marL="357188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overload all the C++ operators 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following:</a:t>
            </a:r>
          </a:p>
          <a:p>
            <a:pPr marL="1071563" lvl="1" indent="-357188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members access operator (. , .*)</a:t>
            </a:r>
          </a:p>
          <a:p>
            <a:pPr marL="1071563" lvl="1" indent="-357188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resolution operator (: :)</a:t>
            </a:r>
          </a:p>
          <a:p>
            <a:pPr marL="1071563" lvl="1" indent="-357188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operator(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071563" lvl="1" indent="-357188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operator (? :)</a:t>
            </a:r>
          </a:p>
          <a:p>
            <a:pPr marL="714375" lvl="1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90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77728" y="118245"/>
            <a:ext cx="439424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45C63-774D-04CA-B5DE-E4D6AFC6A774}"/>
              </a:ext>
            </a:extLst>
          </p:cNvPr>
          <p:cNvSpPr txBox="1"/>
          <p:nvPr/>
        </p:nvSpPr>
        <p:spPr>
          <a:xfrm>
            <a:off x="121920" y="605765"/>
            <a:ext cx="8874935" cy="3992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rules for Operator Overloading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operators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overloaded. If some operators are not present in C++, we cannot overload them.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arity of the operators cannot be changed.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</a:t>
            </a:r>
            <a:r>
              <a:rPr lang="en-US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refers to the number of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 or operands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an operator or function can take.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precedence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operators remains same.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overloaded operator cannot hold the default parameters except function call operator “()”.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cannot overload operators for built-in data types. At least one user defined data types must be there.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38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77728" y="118245"/>
            <a:ext cx="568704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DF904D-7933-03D5-7190-CB1F74A7BB49}"/>
              </a:ext>
            </a:extLst>
          </p:cNvPr>
          <p:cNvSpPr txBox="1"/>
          <p:nvPr/>
        </p:nvSpPr>
        <p:spPr>
          <a:xfrm>
            <a:off x="291661" y="814554"/>
            <a:ext cx="8431925" cy="4242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 operator overloading: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define an additional task to an operator, we must specify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means in relation to the class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which the operator is applied.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done with the help of a special function called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function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describes the task.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357188"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return-type class-name :: operator op(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-list)</a:t>
            </a:r>
          </a:p>
          <a:p>
            <a:pPr marL="357188"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57188"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body</a:t>
            </a:r>
          </a:p>
          <a:p>
            <a:pPr marL="357188"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87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77728" y="118245"/>
            <a:ext cx="568704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overloading – Types 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89F91-E2BA-49EB-B05B-D518C65CEB17}"/>
              </a:ext>
            </a:extLst>
          </p:cNvPr>
          <p:cNvSpPr txBox="1"/>
          <p:nvPr/>
        </p:nvSpPr>
        <p:spPr>
          <a:xfrm>
            <a:off x="386157" y="989041"/>
            <a:ext cx="8371686" cy="2751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functions must be either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function or friend function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basic difference between them is that a friend function will have only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argument for unary operators 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binary operators.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there are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types operator overloading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there. They are,</a:t>
            </a:r>
          </a:p>
          <a:p>
            <a:pPr marL="714375" lvl="1" indent="-357188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 overloading </a:t>
            </a:r>
          </a:p>
          <a:p>
            <a:pPr marL="714375" lvl="1" indent="-357188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 overloading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19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77728" y="118245"/>
            <a:ext cx="568704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 overloading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89F91-E2BA-49EB-B05B-D518C65CEB17}"/>
              </a:ext>
            </a:extLst>
          </p:cNvPr>
          <p:cNvSpPr txBox="1"/>
          <p:nvPr/>
        </p:nvSpPr>
        <p:spPr>
          <a:xfrm>
            <a:off x="386080" y="766478"/>
            <a:ext cx="8371763" cy="337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overload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pre and post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(++),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 and post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(--)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unary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(+)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operators require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operand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this operand itself invokes the overloaded operator function. No arguments are passed to the function.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overload unary “pre and post ++, pre and post  - - and unary +.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the examples of Unary operators.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9475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increment (++) and decrement (--) operators.</a:t>
            </a:r>
          </a:p>
          <a:p>
            <a:pPr marL="879475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unary minus (-) operator.</a:t>
            </a:r>
          </a:p>
          <a:p>
            <a:pPr marL="879475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logical not (!) operator.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68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77728" y="118245"/>
            <a:ext cx="690538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 overloading – Example 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FFB6B-E085-259E-E3E6-FDD5576C5F31}"/>
              </a:ext>
            </a:extLst>
          </p:cNvPr>
          <p:cNvSpPr txBox="1"/>
          <p:nvPr/>
        </p:nvSpPr>
        <p:spPr>
          <a:xfrm>
            <a:off x="172942" y="720255"/>
            <a:ext cx="3437596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m, n;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>
              <a:spcBef>
                <a:spcPts val="600"/>
              </a:spcBef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Constructor to initialize values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 = 8;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 = 9;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Function to display the values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show() {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"m: " &lt;&lt; m &lt;&lt; ", n: " &lt;&lt; n &lt;&lt;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F8867-85A3-25D9-436C-108B4C0C8F89}"/>
              </a:ext>
            </a:extLst>
          </p:cNvPr>
          <p:cNvSpPr txBox="1"/>
          <p:nvPr/>
        </p:nvSpPr>
        <p:spPr>
          <a:xfrm>
            <a:off x="3683638" y="847238"/>
            <a:ext cx="339947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Overloading the pre-decrement operator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operator--() {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--m;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--n;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x.show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--x;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Using the pre-decrement operator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x.show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AFB938-6E0D-ED7A-5C4C-5D0F46336CBB}"/>
              </a:ext>
            </a:extLst>
          </p:cNvPr>
          <p:cNvCxnSpPr/>
          <p:nvPr/>
        </p:nvCxnSpPr>
        <p:spPr>
          <a:xfrm>
            <a:off x="3605749" y="847238"/>
            <a:ext cx="0" cy="429148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F4F044-DB9D-1678-4DBB-00A911AE6E1A}"/>
              </a:ext>
            </a:extLst>
          </p:cNvPr>
          <p:cNvSpPr txBox="1"/>
          <p:nvPr/>
        </p:nvSpPr>
        <p:spPr>
          <a:xfrm>
            <a:off x="7850293" y="2578494"/>
            <a:ext cx="100858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8 9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7 8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33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9525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77728" y="118245"/>
            <a:ext cx="690538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 overloading – Example 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FFB6B-E085-259E-E3E6-FDD5576C5F31}"/>
              </a:ext>
            </a:extLst>
          </p:cNvPr>
          <p:cNvSpPr txBox="1"/>
          <p:nvPr/>
        </p:nvSpPr>
        <p:spPr>
          <a:xfrm>
            <a:off x="172941" y="720255"/>
            <a:ext cx="3781979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m, n;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Constructor to initialize values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 = 8;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 = 9;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Function to display the values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show() {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"m: " &lt;&lt; m &lt;&lt; ", n: " &lt;&lt; n &lt;&lt;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F8867-85A3-25D9-436C-108B4C0C8F89}"/>
              </a:ext>
            </a:extLst>
          </p:cNvPr>
          <p:cNvSpPr txBox="1"/>
          <p:nvPr/>
        </p:nvSpPr>
        <p:spPr>
          <a:xfrm>
            <a:off x="4076207" y="696180"/>
            <a:ext cx="378197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Overloading the post-decrement operator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operator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(int) {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m--;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n--;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x.show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x--;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Using the post-decrement operator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x.show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AFB938-6E0D-ED7A-5C4C-5D0F46336CBB}"/>
              </a:ext>
            </a:extLst>
          </p:cNvPr>
          <p:cNvCxnSpPr/>
          <p:nvPr/>
        </p:nvCxnSpPr>
        <p:spPr>
          <a:xfrm>
            <a:off x="3954920" y="852013"/>
            <a:ext cx="0" cy="429148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E42E5C-FBDB-EE59-813C-D42A97B4279D}"/>
              </a:ext>
            </a:extLst>
          </p:cNvPr>
          <p:cNvSpPr txBox="1"/>
          <p:nvPr/>
        </p:nvSpPr>
        <p:spPr>
          <a:xfrm>
            <a:off x="7850293" y="2578494"/>
            <a:ext cx="100858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8 9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320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77728" y="118245"/>
            <a:ext cx="690538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inary Operator overloading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C2DBC-E6E1-63D6-7D05-CBC5BFEBE2FF}"/>
              </a:ext>
            </a:extLst>
          </p:cNvPr>
          <p:cNvSpPr txBox="1"/>
          <p:nvPr/>
        </p:nvSpPr>
        <p:spPr>
          <a:xfrm>
            <a:off x="407276" y="902103"/>
            <a:ext cx="7874876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overloading binary operator using operator function as class member function,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side operand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an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of the class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side operand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either a built-in type or user defined 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binary operators take arguments and following are the examples of Binary operators.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use binary operators very frequently like addition (+) operator,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subtraction (-) operator and division (/) operator.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03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77728" y="118245"/>
            <a:ext cx="690538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inary Operator overloading – Example 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6533B-9F85-5FF1-A277-45688453B12E}"/>
              </a:ext>
            </a:extLst>
          </p:cNvPr>
          <p:cNvSpPr txBox="1"/>
          <p:nvPr/>
        </p:nvSpPr>
        <p:spPr>
          <a:xfrm>
            <a:off x="216512" y="733768"/>
            <a:ext cx="490412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m, n;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I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Constructor to initialize values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 = 8;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 = 9;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Function to display the values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show()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m &lt;&lt; " " &lt;&lt; n &lt;&lt;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Overloading the + operator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operator+(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y) {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 +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y.m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Adding values current object and parameter object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 +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y.n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Adding values current object and parameter object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b;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Returning the new object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224F20-591F-B8B7-9777-B82D00434CEC}"/>
              </a:ext>
            </a:extLst>
          </p:cNvPr>
          <p:cNvSpPr txBox="1"/>
          <p:nvPr/>
        </p:nvSpPr>
        <p:spPr>
          <a:xfrm>
            <a:off x="5005493" y="766477"/>
            <a:ext cx="385338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x, y, z;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//calls the overloaded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function with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   left operand (implicit this object) and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right operand (parameter y).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z = x + y;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z.show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354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4261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016E1-F518-40F2-FA43-493BDD4A718A}"/>
              </a:ext>
            </a:extLst>
          </p:cNvPr>
          <p:cNvSpPr txBox="1"/>
          <p:nvPr/>
        </p:nvSpPr>
        <p:spPr>
          <a:xfrm>
            <a:off x="365235" y="938908"/>
            <a:ext cx="8211207" cy="2633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mixed expression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 and variables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of different data types. The assignment operations causes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type conversion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operand as per certain rules.</a:t>
            </a:r>
          </a:p>
          <a:p>
            <a:pPr lvl="3"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y;</a:t>
            </a:r>
          </a:p>
          <a:p>
            <a:pPr lvl="3" algn="just"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float n = 2.345;</a:t>
            </a:r>
          </a:p>
          <a:p>
            <a:pPr lvl="3" algn="just"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y = n;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above code snippet, the value of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is converted into integer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is stored into y. Thus,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fractional part is truncated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only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is stored into the 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44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016E1-F518-40F2-FA43-493BDD4A718A}"/>
              </a:ext>
            </a:extLst>
          </p:cNvPr>
          <p:cNvSpPr txBox="1"/>
          <p:nvPr/>
        </p:nvSpPr>
        <p:spPr>
          <a:xfrm>
            <a:off x="304800" y="938908"/>
            <a:ext cx="8554075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type conversion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performed only when only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types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involved in an expression. When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defined types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involved in an expression then automatic type conversion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be performed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to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operator functions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(casting operator functions) for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conversions with user defined types.</a:t>
            </a:r>
            <a:endParaRPr lang="en-IN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data types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designed by the user to suit their requirements, the compiler does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support automatic type conversions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such data types therefore, the user needs to design the conversion routines by themselves if required.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43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9CD00-3096-0E7F-9A1C-77619ED1E6ED}"/>
              </a:ext>
            </a:extLst>
          </p:cNvPr>
          <p:cNvSpPr txBox="1"/>
          <p:nvPr/>
        </p:nvSpPr>
        <p:spPr>
          <a:xfrm>
            <a:off x="584638" y="976844"/>
            <a:ext cx="7651735" cy="222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3 types of situations that may come in the data conversion between incompatible data types:</a:t>
            </a:r>
          </a:p>
          <a:p>
            <a:pPr marL="357188" lvl="1"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Conversion from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in type to class 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7188" lvl="1"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Conversion from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type to built in 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7188" lvl="1"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Conversion from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class type to another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78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730BC-2F33-FCED-5F2C-A634215A9F13}"/>
              </a:ext>
            </a:extLst>
          </p:cNvPr>
          <p:cNvSpPr txBox="1"/>
          <p:nvPr/>
        </p:nvSpPr>
        <p:spPr>
          <a:xfrm>
            <a:off x="252248" y="774449"/>
            <a:ext cx="8336340" cy="341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Conversion from built in type to class type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type of conversion the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type is basic type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 type is class type.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</a:t>
            </a: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data type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converted into the </a:t>
            </a: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type using Constructor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create objects using the variables of primary data types then it is called as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to class type conversion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Generally, we use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argument constructor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type conversion from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type to class type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1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23492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7" y="72715"/>
            <a:ext cx="5825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asic to class using constructor 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9965E-E0CC-0A72-B775-5D94ACABED49}"/>
              </a:ext>
            </a:extLst>
          </p:cNvPr>
          <p:cNvSpPr txBox="1"/>
          <p:nvPr/>
        </p:nvSpPr>
        <p:spPr>
          <a:xfrm>
            <a:off x="244105" y="765387"/>
            <a:ext cx="3887629" cy="411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a;</a:t>
            </a:r>
          </a:p>
          <a:p>
            <a:pPr>
              <a:spcBef>
                <a:spcPts val="300"/>
              </a:spcBef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Constructor with argument passing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a1) {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 = a1;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300"/>
              </a:spcBef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Function to display the value of 'a'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getdata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"Value of a: " &lt;&lt; a &lt;&lt;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7B039-467D-C5A7-2700-2832F97418D0}"/>
              </a:ext>
            </a:extLst>
          </p:cNvPr>
          <p:cNvSpPr txBox="1"/>
          <p:nvPr/>
        </p:nvSpPr>
        <p:spPr>
          <a:xfrm>
            <a:off x="4610150" y="765388"/>
            <a:ext cx="428974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b = 10;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Implicitly calling the parameterized constructor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obj1;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 = obj1;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Display the value of 'a' using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getdata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obj1.getdata();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 a: 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39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730BC-2F33-FCED-5F2C-A634215A9F13}"/>
              </a:ext>
            </a:extLst>
          </p:cNvPr>
          <p:cNvSpPr txBox="1"/>
          <p:nvPr/>
        </p:nvSpPr>
        <p:spPr>
          <a:xfrm>
            <a:off x="196426" y="605765"/>
            <a:ext cx="8795173" cy="4687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Conversion from Class type to Basic type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type of conversion the </a:t>
            </a:r>
            <a:r>
              <a:rPr lang="en-IN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type is class type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destination type is basic type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Means  class data type is converted into the basic type.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assign an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to a primitive data type’s variable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it is called as </a:t>
            </a:r>
            <a:r>
              <a:rPr lang="en-US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type to basic conversion.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class type to basic type conversion we have to </a:t>
            </a:r>
            <a:r>
              <a:rPr lang="en-US" sz="1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casting operator function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casting operator function must be a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of the class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casting operator function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any </a:t>
            </a:r>
            <a:r>
              <a:rPr lang="en-US" sz="1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datatype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 does not take any </a:t>
            </a:r>
            <a:r>
              <a:rPr lang="en-US" sz="1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datatype()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___________;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___________;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50000"/>
              </a:lnSpc>
            </a:pPr>
            <a:endParaRPr lang="en-IN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61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A05059-A996-7F83-A058-6EACDC695F81}"/>
              </a:ext>
            </a:extLst>
          </p:cNvPr>
          <p:cNvSpPr txBox="1"/>
          <p:nvPr/>
        </p:nvSpPr>
        <p:spPr>
          <a:xfrm>
            <a:off x="264160" y="720927"/>
            <a:ext cx="463909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a;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Constructor to initialize 'a'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(int a1) {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 = a1;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Function to display the value of 'a'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getdata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a &lt;&lt;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Conversion operator: class to basic type (int) using syntax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operator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int()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a;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Returns the value of 'a’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1569C8-E09C-E8A0-AFEF-5F43AD24859F}"/>
              </a:ext>
            </a:extLst>
          </p:cNvPr>
          <p:cNvSpPr txBox="1"/>
          <p:nvPr/>
        </p:nvSpPr>
        <p:spPr>
          <a:xfrm>
            <a:off x="5046133" y="720926"/>
            <a:ext cx="394546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b = 10, z;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obj1 = b;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Displaying the value of 'a’ 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obj1.getdata();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Converting class object to basic type (int)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x = obj1;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Equivalent to obj1.operator int()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"Class to basic: " &lt;&lt; x &lt;&lt;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to basic : 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18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730BC-2F33-FCED-5F2C-A634215A9F13}"/>
              </a:ext>
            </a:extLst>
          </p:cNvPr>
          <p:cNvSpPr txBox="1"/>
          <p:nvPr/>
        </p:nvSpPr>
        <p:spPr>
          <a:xfrm>
            <a:off x="263923" y="716417"/>
            <a:ext cx="8606627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Conversion from one Class to another Class type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type of conversion both the type that is source type and the destination type are of class type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Means  the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source type is of class type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destination type is also of the class type.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</a:t>
            </a: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class data type is converted into the another class 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assign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of a class into the object of another class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it is called as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to class conversion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class to class conversion can be performed either by defining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casting operator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in source class or using the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destination class.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76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730BC-2F33-FCED-5F2C-A634215A9F13}"/>
              </a:ext>
            </a:extLst>
          </p:cNvPr>
          <p:cNvSpPr txBox="1"/>
          <p:nvPr/>
        </p:nvSpPr>
        <p:spPr>
          <a:xfrm>
            <a:off x="144518" y="663901"/>
            <a:ext cx="4198737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rectangle {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width, length; 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float area; 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Constructor to initialize width and length, and calculate area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rectangle(int w, int l) {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width = w;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length = l;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area = width * length; </a:t>
            </a:r>
            <a:r>
              <a:rPr lang="en-I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Calculate area of the rectangle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Method to display rectangle's properties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show() {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nWidth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 &lt;&lt; width;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 "\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nLength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 &lt;&lt; length;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 "\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nArea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 &lt;&lt; area;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300"/>
              </a:spcBef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F7417-051F-7D30-CB96-980C3BBBBC0B}"/>
              </a:ext>
            </a:extLst>
          </p:cNvPr>
          <p:cNvSpPr txBox="1"/>
          <p:nvPr/>
        </p:nvSpPr>
        <p:spPr>
          <a:xfrm>
            <a:off x="4338518" y="663900"/>
            <a:ext cx="4282243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triangle {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int base, height; 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float area; 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public: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Constructor to initialize base and height, and calculate area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triangle(int b, int h) {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base = b; 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height = h; 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area = 0.5 * base * height;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Calculate area of the triangle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}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Method to display triangle's properties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void print() {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</a:t>
            </a:r>
            <a:r>
              <a:rPr kumimoji="0" lang="en-I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&lt;&lt; "\</a:t>
            </a:r>
            <a:r>
              <a:rPr kumimoji="0" lang="en-I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nHeight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 " &lt;&lt; height; 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</a:t>
            </a:r>
            <a:r>
              <a:rPr kumimoji="0" lang="en-I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&lt;&lt; "\</a:t>
            </a:r>
            <a:r>
              <a:rPr kumimoji="0" lang="en-I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nBase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 " &lt;&lt; base;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</a:t>
            </a:r>
            <a:r>
              <a:rPr kumimoji="0" lang="en-I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&lt;&lt; "\</a:t>
            </a:r>
            <a:r>
              <a:rPr kumimoji="0" lang="en-I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nArea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 " &lt;&lt; area;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DB6B3B-3E42-2783-DA34-FE382337730B}"/>
              </a:ext>
            </a:extLst>
          </p:cNvPr>
          <p:cNvCxnSpPr>
            <a:cxnSpLocks/>
          </p:cNvCxnSpPr>
          <p:nvPr/>
        </p:nvCxnSpPr>
        <p:spPr>
          <a:xfrm>
            <a:off x="4343256" y="698500"/>
            <a:ext cx="0" cy="43722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09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730BC-2F33-FCED-5F2C-A634215A9F13}"/>
              </a:ext>
            </a:extLst>
          </p:cNvPr>
          <p:cNvSpPr txBox="1"/>
          <p:nvPr/>
        </p:nvSpPr>
        <p:spPr>
          <a:xfrm>
            <a:off x="237066" y="778932"/>
            <a:ext cx="483819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Conversion operator to convert a triangle object into a rectangle object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operator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rectangle()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{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rectangle </a:t>
            </a:r>
            <a:r>
              <a:rPr kumimoji="0" lang="en-I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tmp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(base, height);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Convert using base and height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   return </a:t>
            </a:r>
            <a:r>
              <a:rPr kumimoji="0" lang="en-I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tmp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; 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}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};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 main() {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triangle t(10, 20);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// Use the conversion operator to create a rectangle object from the triangle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rectangle r;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= t;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t.print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();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r.show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();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return 0; 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873B3-BF43-0677-8B96-B0BE2EF203F5}"/>
              </a:ext>
            </a:extLst>
          </p:cNvPr>
          <p:cNvSpPr txBox="1"/>
          <p:nvPr/>
        </p:nvSpPr>
        <p:spPr>
          <a:xfrm>
            <a:off x="5913120" y="720926"/>
            <a:ext cx="16367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 :20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:10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:100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 :10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:20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:200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26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80652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Pitfalls(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in using operator Overloading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730BC-2F33-FCED-5F2C-A634215A9F13}"/>
              </a:ext>
            </a:extLst>
          </p:cNvPr>
          <p:cNvSpPr txBox="1"/>
          <p:nvPr/>
        </p:nvSpPr>
        <p:spPr>
          <a:xfrm>
            <a:off x="318347" y="1149933"/>
            <a:ext cx="8288725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cannot change the operator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precedence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overloading operators.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Overloading an operator cannot change its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associativity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not possible to create new operators only new versions of existing ones.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meaning on the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types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be changed.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19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730BC-2F33-FCED-5F2C-A634215A9F13}"/>
              </a:ext>
            </a:extLst>
          </p:cNvPr>
          <p:cNvSpPr txBox="1"/>
          <p:nvPr/>
        </p:nvSpPr>
        <p:spPr>
          <a:xfrm>
            <a:off x="241738" y="731159"/>
            <a:ext cx="8617137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type cast is basically a conversion from </a:t>
            </a:r>
            <a:r>
              <a:rPr lang="en-IN" sz="1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type to another</a:t>
            </a:r>
            <a:r>
              <a:rPr lang="en-IN" sz="18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There are two types of type conversion,</a:t>
            </a:r>
          </a:p>
          <a:p>
            <a:pPr marL="893763" indent="-357188" algn="just">
              <a:lnSpc>
                <a:spcPct val="150000"/>
              </a:lnSpc>
              <a:buFont typeface="+mj-lt"/>
              <a:buAutoNum type="arabicPeriod"/>
              <a:tabLst>
                <a:tab pos="809625" algn="l"/>
              </a:tabLst>
            </a:pP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Implicit Type Conversion</a:t>
            </a:r>
          </a:p>
          <a:p>
            <a:pPr marL="893763" indent="-357188" algn="just">
              <a:lnSpc>
                <a:spcPct val="150000"/>
              </a:lnSpc>
              <a:buFont typeface="+mj-lt"/>
              <a:buAutoNum type="arabicPeriod"/>
              <a:tabLst>
                <a:tab pos="809625" algn="l"/>
              </a:tabLst>
            </a:pP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 Type Conversion</a:t>
            </a:r>
          </a:p>
          <a:p>
            <a:pPr algn="just">
              <a:lnSpc>
                <a:spcPct val="150000"/>
              </a:lnSpc>
              <a:tabLst>
                <a:tab pos="714375" algn="l"/>
              </a:tabLst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Implicit Type Conversion: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is also known as ‘</a:t>
            </a:r>
            <a:r>
              <a:rPr lang="en-IN" sz="18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type conversion</a:t>
            </a: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’. Done by the compiler on its own, without any external trigger from the user.</a:t>
            </a:r>
          </a:p>
          <a:p>
            <a:pPr marL="357188" indent="-357188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Generally takes place when in an </a:t>
            </a:r>
            <a:r>
              <a:rPr lang="en-IN" sz="18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 more than one data type is present</a:t>
            </a: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 such condition type conversion (type promotion) takes place to </a:t>
            </a:r>
            <a:r>
              <a:rPr lang="en-IN" sz="18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lose of data</a:t>
            </a: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62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730BC-2F33-FCED-5F2C-A634215A9F13}"/>
              </a:ext>
            </a:extLst>
          </p:cNvPr>
          <p:cNvSpPr txBox="1"/>
          <p:nvPr/>
        </p:nvSpPr>
        <p:spPr>
          <a:xfrm>
            <a:off x="357351" y="731159"/>
            <a:ext cx="8501524" cy="352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marR="0" lvl="0" indent="-357188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All the data types of the variables are upgraded to the data type of the variable with largest data type.</a:t>
            </a:r>
          </a:p>
          <a:p>
            <a:pPr marL="893763" lvl="2" indent="-26352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 → char → short int → int</a:t>
            </a:r>
            <a:r>
              <a:rPr lang="en-IN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unsigned int → long → unsigned → long </a:t>
            </a:r>
            <a:r>
              <a:rPr lang="en-US" sz="1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float → double → long double</a:t>
            </a:r>
          </a:p>
          <a:p>
            <a:pPr marL="893763" lvl="2" indent="-26352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for </a:t>
            </a:r>
            <a:r>
              <a:rPr lang="en-IN" sz="18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implicit conversions to lose information</a:t>
            </a: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signs can be lost (when signed is implicitly converted to unsigned), and </a:t>
            </a:r>
            <a:r>
              <a:rPr lang="en-IN" sz="18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 can occur </a:t>
            </a: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(when long </a:t>
            </a:r>
            <a:r>
              <a:rPr lang="en-IN" sz="1800" dirty="0" err="1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IN" sz="1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implicitly converted to float).</a:t>
            </a:r>
          </a:p>
          <a:p>
            <a:pPr marL="630238" lvl="2">
              <a:lnSpc>
                <a:spcPct val="150000"/>
              </a:lnSpc>
            </a:pPr>
            <a:endParaRPr lang="en-IN"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4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93BC3-7554-2283-2D89-C5DE8E3E1BF7}"/>
              </a:ext>
            </a:extLst>
          </p:cNvPr>
          <p:cNvSpPr txBox="1"/>
          <p:nvPr/>
        </p:nvSpPr>
        <p:spPr>
          <a:xfrm>
            <a:off x="243840" y="605766"/>
            <a:ext cx="8017291" cy="393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for implicit conversion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x = 10;         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y = 'a';       </a:t>
            </a:r>
            <a:r>
              <a:rPr lang="en-I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Character y initialized to 'a' (ASCII value 97)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Adding integer x and character y (y is implicitly converted to int)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 = x + y;          </a:t>
            </a:r>
            <a:r>
              <a:rPr lang="en-I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x = 10 + 97 (result: 107)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Adding float value 1.0 to integer x (x is implicitly converted to float)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z = x + 1.0;  // z = 107 + 1.0 (result: 108.0 as float)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Output the values of x, y, and z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"x = " &lt;&lt; x &lt;&lt;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"y = " &lt;&lt; y &lt;&lt;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"z = " &lt;&lt; z &lt;&lt;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A4108-73C4-5322-EA6A-CB70D61BC6C9}"/>
              </a:ext>
            </a:extLst>
          </p:cNvPr>
          <p:cNvSpPr txBox="1"/>
          <p:nvPr/>
        </p:nvSpPr>
        <p:spPr>
          <a:xfrm>
            <a:off x="5665076" y="1289439"/>
            <a:ext cx="1947042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107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a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108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2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5B8BA-C560-FCD8-0C03-ABACE55008FF}"/>
              </a:ext>
            </a:extLst>
          </p:cNvPr>
          <p:cNvSpPr txBox="1"/>
          <p:nvPr/>
        </p:nvSpPr>
        <p:spPr>
          <a:xfrm>
            <a:off x="257387" y="663900"/>
            <a:ext cx="8234971" cy="3751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Explicit Type Conversion: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is also called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casting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 is 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user-defined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Here the user can typecast the result to make it of a particular data type.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C++, it can be done by two ways:</a:t>
            </a:r>
          </a:p>
          <a:p>
            <a:pPr marL="714375" indent="-357188" algn="just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Converting by assignment</a:t>
            </a:r>
          </a:p>
          <a:p>
            <a:pPr marL="714375" indent="-357188" algn="just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using Cast operator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02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5B8BA-C560-FCD8-0C03-ABACE55008FF}"/>
              </a:ext>
            </a:extLst>
          </p:cNvPr>
          <p:cNvSpPr txBox="1"/>
          <p:nvPr/>
        </p:nvSpPr>
        <p:spPr>
          <a:xfrm>
            <a:off x="354725" y="873527"/>
            <a:ext cx="8095592" cy="299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Converting by assignment: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done by explicitly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the required type in front of the expression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parenthesis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can be also considered as forceful casting.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(type) expression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type indicates the data type to which the final result is converted.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751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5B8BA-C560-FCD8-0C03-ABACE55008FF}"/>
              </a:ext>
            </a:extLst>
          </p:cNvPr>
          <p:cNvSpPr txBox="1"/>
          <p:nvPr/>
        </p:nvSpPr>
        <p:spPr>
          <a:xfrm>
            <a:off x="216748" y="591426"/>
            <a:ext cx="4948101" cy="415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- Converting by assignment</a:t>
            </a:r>
            <a:endParaRPr lang="en-IN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double x = 1.2;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Explicit conversion from double to int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sum = (int)x + 1;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"Sum = " &lt;&lt; sum;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25B2AC-E902-13B7-DC52-177FBCE38739}"/>
              </a:ext>
            </a:extLst>
          </p:cNvPr>
          <p:cNvSpPr txBox="1"/>
          <p:nvPr/>
        </p:nvSpPr>
        <p:spPr>
          <a:xfrm>
            <a:off x="6500648" y="1446321"/>
            <a:ext cx="1298028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= 2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46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BD7EC-FE13-BAD1-C388-523EC541925F}"/>
              </a:ext>
            </a:extLst>
          </p:cNvPr>
          <p:cNvSpPr txBox="1"/>
          <p:nvPr/>
        </p:nvSpPr>
        <p:spPr>
          <a:xfrm>
            <a:off x="223520" y="614653"/>
            <a:ext cx="8351520" cy="341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Conversion using Cast operator: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Cast operator is an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forces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data type to be converted into another data type.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supports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types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casting:</a:t>
            </a:r>
          </a:p>
          <a:p>
            <a:pPr marL="893763" indent="-357188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Cast</a:t>
            </a:r>
          </a:p>
          <a:p>
            <a:pPr marL="893763" indent="-357188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Cast</a:t>
            </a:r>
          </a:p>
          <a:p>
            <a:pPr marL="893763" indent="-357188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Cast</a:t>
            </a:r>
          </a:p>
          <a:p>
            <a:pPr marL="893763" indent="-357188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Reinterpret Cast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75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-27934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4B57A-8E76-3AF7-C0CF-3E85306F9D31}"/>
              </a:ext>
            </a:extLst>
          </p:cNvPr>
          <p:cNvSpPr txBox="1"/>
          <p:nvPr/>
        </p:nvSpPr>
        <p:spPr>
          <a:xfrm>
            <a:off x="270933" y="720925"/>
            <a:ext cx="750485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f = 3.5;              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 float variable initialized with 3.5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Using cast operator to convert float to int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b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static_cast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&lt;int&gt;(f); 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Explicitly casting float to int (truncates decimal part)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b;                  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Output the integer value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100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32709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E1D5B-2628-AA08-19B5-8BCAF1FED716}"/>
              </a:ext>
            </a:extLst>
          </p:cNvPr>
          <p:cNvSpPr txBox="1"/>
          <p:nvPr/>
        </p:nvSpPr>
        <p:spPr>
          <a:xfrm>
            <a:off x="144518" y="72715"/>
            <a:ext cx="5520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4B57A-8E76-3AF7-C0CF-3E85306F9D31}"/>
              </a:ext>
            </a:extLst>
          </p:cNvPr>
          <p:cNvSpPr txBox="1"/>
          <p:nvPr/>
        </p:nvSpPr>
        <p:spPr>
          <a:xfrm>
            <a:off x="331893" y="534402"/>
            <a:ext cx="8297334" cy="222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200000"/>
              </a:lnSpc>
            </a:pPr>
            <a:r>
              <a:rPr lang="en-IN" sz="1800" b="1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Type Conversion:</a:t>
            </a:r>
            <a:endParaRPr lang="en-IN" sz="1800" b="0" i="0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done to take advantage of certain features of </a:t>
            </a:r>
            <a:r>
              <a:rPr lang="en-IN" sz="1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 hierarchies or type representations.</a:t>
            </a:r>
          </a:p>
          <a:p>
            <a:pPr marL="285750" indent="-285750" algn="just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to compute </a:t>
            </a:r>
            <a:r>
              <a:rPr lang="en-IN" sz="1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expressions </a:t>
            </a:r>
            <a:r>
              <a:rPr lang="en-IN" sz="18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containing variables </a:t>
            </a:r>
            <a:r>
              <a:rPr lang="en-IN" sz="18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1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 types</a:t>
            </a:r>
            <a:r>
              <a:rPr lang="en-IN" sz="18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22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2280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467CB6-5A59-26F9-A7FF-966FE3AC71AD}"/>
              </a:ext>
            </a:extLst>
          </p:cNvPr>
          <p:cNvSpPr txBox="1"/>
          <p:nvPr/>
        </p:nvSpPr>
        <p:spPr>
          <a:xfrm>
            <a:off x="1757030" y="1987497"/>
            <a:ext cx="53242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670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17528</TotalTime>
  <Words>2989</Words>
  <Application>Microsoft Office PowerPoint</Application>
  <PresentationFormat>On-screen Show (16:9)</PresentationFormat>
  <Paragraphs>406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Wingdings</vt:lpstr>
      <vt:lpstr>Times New Roman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prema</dc:creator>
  <cp:lastModifiedBy>Ayush Gour</cp:lastModifiedBy>
  <cp:revision>726</cp:revision>
  <dcterms:modified xsi:type="dcterms:W3CDTF">2025-03-20T09:21:12Z</dcterms:modified>
</cp:coreProperties>
</file>